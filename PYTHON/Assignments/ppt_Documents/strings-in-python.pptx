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85" r:id="rId12"/>
    <p:sldId id="286" r:id="rId13"/>
    <p:sldId id="295" r:id="rId14"/>
    <p:sldId id="296" r:id="rId15"/>
    <p:sldId id="294" r:id="rId16"/>
    <p:sldId id="269" r:id="rId17"/>
    <p:sldId id="270" r:id="rId18"/>
    <p:sldId id="271" r:id="rId19"/>
    <p:sldId id="272" r:id="rId20"/>
    <p:sldId id="273" r:id="rId21"/>
    <p:sldId id="278" r:id="rId22"/>
    <p:sldId id="279" r:id="rId23"/>
    <p:sldId id="280" r:id="rId24"/>
    <p:sldId id="281" r:id="rId25"/>
    <p:sldId id="297" r:id="rId26"/>
    <p:sldId id="298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81BF1-24E6-4C9E-875D-3AA987F436DB}" type="datetimeFigureOut">
              <a:rPr lang="en-US" smtClean="0"/>
              <a:pPr/>
              <a:t>10/21/2021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36595-B4BE-49C5-AA07-B9FC8C85FD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C14E3D-C6D0-034A-AEEA-E3EDA6F90C84}" type="slidenum">
              <a:rPr lang="en-US">
                <a:latin typeface="Times New Roman" pitchFamily="1" charset="0"/>
              </a:rPr>
              <a:pPr/>
              <a:t>11</a:t>
            </a:fld>
            <a:endParaRPr lang="en-US">
              <a:latin typeface="Times New Roman" pitchFamily="1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8348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C14E3D-C6D0-034A-AEEA-E3EDA6F90C84}" type="slidenum">
              <a:rPr lang="en-US">
                <a:latin typeface="Times New Roman" pitchFamily="1" charset="0"/>
              </a:rPr>
              <a:pPr/>
              <a:t>12</a:t>
            </a:fld>
            <a:endParaRPr lang="en-US">
              <a:latin typeface="Times New Roman" pitchFamily="1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9277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647C6C-A236-5C4A-9266-45C49391E26D}" type="slidenum">
              <a:rPr lang="en-US">
                <a:latin typeface="Times New Roman" pitchFamily="1" charset="0"/>
              </a:rPr>
              <a:pPr/>
              <a:t>13</a:t>
            </a:fld>
            <a:endParaRPr lang="en-US">
              <a:latin typeface="Times New Roman" pitchFamily="1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23676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647C6C-A236-5C4A-9266-45C49391E26D}" type="slidenum">
              <a:rPr lang="en-US">
                <a:latin typeface="Times New Roman" pitchFamily="1" charset="0"/>
              </a:rPr>
              <a:pPr/>
              <a:t>14</a:t>
            </a:fld>
            <a:endParaRPr lang="en-US">
              <a:latin typeface="Times New Roman" pitchFamily="1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7309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10/21/2021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10/21/2021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10/21/2021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4745" y="478358"/>
            <a:ext cx="179450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Rockwell"/>
                <a:cs typeface="Rockwel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850" y="1390650"/>
            <a:ext cx="4591050" cy="467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54502" y="6465214"/>
            <a:ext cx="263461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14257" y="6465214"/>
            <a:ext cx="2063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77923" y="2574035"/>
            <a:ext cx="6356604" cy="1153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91981" y="6465214"/>
            <a:ext cx="1282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25400">
                <a:lnSpc>
                  <a:spcPts val="1240"/>
                </a:lnSpc>
              </a:p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600136"/>
            <a:ext cx="8229600" cy="4526280"/>
          </a:xfrm>
          <a:custGeom>
            <a:avLst/>
            <a:gdLst/>
            <a:ahLst/>
            <a:cxnLst/>
            <a:rect l="l" t="t" r="r" b="b"/>
            <a:pathLst>
              <a:path w="8229600" h="4526280">
                <a:moveTo>
                  <a:pt x="0" y="4526026"/>
                </a:moveTo>
                <a:lnTo>
                  <a:pt x="8229600" y="4526026"/>
                </a:lnTo>
                <a:lnTo>
                  <a:pt x="8229600" y="0"/>
                </a:lnTo>
                <a:lnTo>
                  <a:pt x="0" y="0"/>
                </a:lnTo>
                <a:lnTo>
                  <a:pt x="0" y="45260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" y="1600136"/>
            <a:ext cx="8229600" cy="4526280"/>
          </a:xfrm>
          <a:custGeom>
            <a:avLst/>
            <a:gdLst/>
            <a:ahLst/>
            <a:cxnLst/>
            <a:rect l="l" t="t" r="r" b="b"/>
            <a:pathLst>
              <a:path w="8229600" h="4526280">
                <a:moveTo>
                  <a:pt x="0" y="4526026"/>
                </a:moveTo>
                <a:lnTo>
                  <a:pt x="8229600" y="4526026"/>
                </a:lnTo>
                <a:lnTo>
                  <a:pt x="8229600" y="0"/>
                </a:lnTo>
                <a:lnTo>
                  <a:pt x="0" y="0"/>
                </a:lnTo>
                <a:lnTo>
                  <a:pt x="0" y="4526026"/>
                </a:lnTo>
                <a:close/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5693" y="2418714"/>
            <a:ext cx="8059420" cy="20262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065" marR="5080" indent="-1905" algn="ctr">
              <a:lnSpc>
                <a:spcPct val="99100"/>
              </a:lnSpc>
              <a:spcBef>
                <a:spcPts val="150"/>
              </a:spcBef>
              <a:tabLst>
                <a:tab pos="2030095" algn="l"/>
              </a:tabLst>
            </a:pPr>
            <a:r>
              <a:rPr dirty="0">
                <a:latin typeface="Times New Roman"/>
                <a:cs typeface="Times New Roman"/>
              </a:rPr>
              <a:t>Strings:	string slices, </a:t>
            </a:r>
            <a:r>
              <a:rPr spc="-25" dirty="0">
                <a:latin typeface="Times New Roman"/>
                <a:cs typeface="Times New Roman"/>
              </a:rPr>
              <a:t>immutability,  </a:t>
            </a:r>
            <a:r>
              <a:rPr dirty="0">
                <a:latin typeface="Times New Roman"/>
                <a:cs typeface="Times New Roman"/>
              </a:rPr>
              <a:t>string functions and methods,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string  module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91981" y="6465214"/>
            <a:ext cx="1282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25400">
                <a:lnSpc>
                  <a:spcPts val="1240"/>
                </a:lnSpc>
              </a:pPr>
              <a:t>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9885" y="478358"/>
            <a:ext cx="1826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Strings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91981" y="6465214"/>
            <a:ext cx="1282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pPr marL="25400">
                <a:lnSpc>
                  <a:spcPts val="1240"/>
                </a:lnSpc>
              </a:p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2932"/>
            <a:ext cx="7441565" cy="401250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String is a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sequence of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characters.</a:t>
            </a:r>
            <a:endParaRPr sz="3200" dirty="0">
              <a:latin typeface="Times New Roman"/>
              <a:cs typeface="Times New Roman"/>
            </a:endParaRPr>
          </a:p>
          <a:p>
            <a:pPr marL="355600" marR="53340" indent="-342900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String </a:t>
            </a:r>
            <a:r>
              <a:rPr sz="3200" dirty="0">
                <a:latin typeface="Times New Roman"/>
                <a:cs typeface="Times New Roman"/>
              </a:rPr>
              <a:t>may contain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alphabets, numbers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and  special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characters</a:t>
            </a:r>
            <a:r>
              <a:rPr sz="3200" dirty="0">
                <a:latin typeface="Times New Roman"/>
                <a:cs typeface="Times New Roman"/>
              </a:rPr>
              <a:t>.</a:t>
            </a: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Usually strings are enclosed within 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single  quotes and double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quotes</a:t>
            </a:r>
            <a:r>
              <a:rPr sz="3200" spc="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 smtClean="0">
                <a:latin typeface="Times New Roman"/>
                <a:cs typeface="Times New Roman"/>
              </a:rPr>
              <a:t>Example</a:t>
            </a:r>
            <a:r>
              <a:rPr sz="3200" dirty="0">
                <a:latin typeface="Times New Roman"/>
                <a:cs typeface="Times New Roman"/>
              </a:rPr>
              <a:t>:</a:t>
            </a:r>
          </a:p>
          <a:p>
            <a:pPr marL="927100" marR="4284345">
              <a:lnSpc>
                <a:spcPct val="110000"/>
              </a:lnSpc>
              <a:spcBef>
                <a:spcPts val="5"/>
              </a:spcBef>
            </a:pPr>
            <a:r>
              <a:rPr sz="2800" spc="-45" dirty="0" smtClean="0">
                <a:latin typeface="Times New Roman"/>
                <a:cs typeface="Times New Roman"/>
              </a:rPr>
              <a:t>a=</a:t>
            </a:r>
            <a:r>
              <a:rPr lang="en-US" sz="2800" spc="-45" dirty="0" smtClean="0">
                <a:latin typeface="Times New Roman"/>
                <a:cs typeface="Times New Roman"/>
              </a:rPr>
              <a:t>"</a:t>
            </a:r>
            <a:r>
              <a:rPr sz="2800" spc="-45" dirty="0" smtClean="0">
                <a:latin typeface="Times New Roman"/>
                <a:cs typeface="Times New Roman"/>
              </a:rPr>
              <a:t>hello </a:t>
            </a:r>
            <a:r>
              <a:rPr sz="2800" spc="-60" dirty="0" smtClean="0">
                <a:latin typeface="Times New Roman"/>
                <a:cs typeface="Times New Roman"/>
              </a:rPr>
              <a:t>world</a:t>
            </a:r>
            <a:r>
              <a:rPr lang="en-US" sz="2800" spc="-60" dirty="0" smtClean="0">
                <a:latin typeface="Times New Roman"/>
                <a:cs typeface="Times New Roman"/>
              </a:rPr>
              <a:t>"</a:t>
            </a:r>
            <a:r>
              <a:rPr sz="2800" spc="-60" dirty="0" smtClean="0">
                <a:latin typeface="Times New Roman"/>
                <a:cs typeface="Times New Roman"/>
              </a:rPr>
              <a:t>  </a:t>
            </a:r>
            <a:r>
              <a:rPr sz="2800" dirty="0" smtClean="0">
                <a:latin typeface="Times New Roman"/>
                <a:cs typeface="Times New Roman"/>
              </a:rPr>
              <a:t>b=</a:t>
            </a:r>
            <a:r>
              <a:rPr lang="en-US" sz="2800" dirty="0" smtClean="0">
                <a:latin typeface="Times New Roman"/>
                <a:cs typeface="Times New Roman"/>
              </a:rPr>
              <a:t>'</a:t>
            </a:r>
            <a:r>
              <a:rPr sz="2800" dirty="0" smtClean="0">
                <a:latin typeface="Times New Roman"/>
                <a:cs typeface="Times New Roman"/>
              </a:rPr>
              <a:t>Python</a:t>
            </a:r>
            <a:r>
              <a:rPr lang="en-US" sz="2800" dirty="0">
                <a:latin typeface="Times New Roman"/>
                <a:cs typeface="Times New Roman"/>
              </a:rPr>
              <a:t>'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457200"/>
            <a:ext cx="8229600" cy="2954655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&gt;&gt;&gt; str1="Hello"</a:t>
            </a:r>
          </a:p>
          <a:p>
            <a:pPr>
              <a:buFontTx/>
              <a:buNone/>
            </a:pPr>
            <a:r>
              <a:rPr lang="en-US" sz="2400" dirty="0"/>
              <a:t>&gt;&gt;&gt; str2='spam'</a:t>
            </a:r>
          </a:p>
          <a:p>
            <a:pPr>
              <a:buFontTx/>
              <a:buNone/>
            </a:pPr>
            <a:r>
              <a:rPr lang="en-US" sz="2400" dirty="0"/>
              <a:t>&gt;&gt;&gt; print(str1, str2)</a:t>
            </a:r>
          </a:p>
          <a:p>
            <a:pPr>
              <a:buFontTx/>
              <a:buNone/>
            </a:pPr>
            <a:r>
              <a:rPr lang="en-US" sz="2400" dirty="0"/>
              <a:t>Hello spam</a:t>
            </a:r>
          </a:p>
          <a:p>
            <a:pPr>
              <a:buFontTx/>
              <a:buNone/>
            </a:pPr>
            <a:r>
              <a:rPr lang="en-US" sz="2400" dirty="0"/>
              <a:t>&gt;&gt;&gt; type(str1)</a:t>
            </a:r>
          </a:p>
          <a:p>
            <a:pPr>
              <a:buFontTx/>
              <a:buNone/>
            </a:pPr>
            <a:r>
              <a:rPr lang="en-US" sz="2400" dirty="0"/>
              <a:t>&lt;class '</a:t>
            </a:r>
            <a:r>
              <a:rPr lang="en-US" sz="2400" dirty="0" err="1"/>
              <a:t>str</a:t>
            </a:r>
            <a:r>
              <a:rPr lang="en-US" sz="2400" dirty="0"/>
              <a:t>'&gt;</a:t>
            </a:r>
          </a:p>
          <a:p>
            <a:pPr>
              <a:buFontTx/>
              <a:buNone/>
            </a:pPr>
            <a:r>
              <a:rPr lang="en-US" sz="2400" dirty="0"/>
              <a:t>&gt;&gt;&gt; type(str2)</a:t>
            </a:r>
          </a:p>
          <a:p>
            <a:pPr>
              <a:buFontTx/>
              <a:buNone/>
            </a:pPr>
            <a:r>
              <a:rPr lang="en-US" sz="2400" dirty="0"/>
              <a:t>&lt;class '</a:t>
            </a:r>
            <a:r>
              <a:rPr lang="en-US" sz="2400" dirty="0" err="1"/>
              <a:t>str</a:t>
            </a:r>
            <a:r>
              <a:rPr lang="en-US" sz="2400" dirty="0"/>
              <a:t>'&gt;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4038600"/>
            <a:ext cx="7010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Getting a string as input</a:t>
            </a:r>
          </a:p>
          <a:p>
            <a:pPr lvl="1">
              <a:buFontTx/>
              <a:buNone/>
            </a:pPr>
            <a:endParaRPr lang="en-US" sz="2000" dirty="0" smtClean="0"/>
          </a:p>
          <a:p>
            <a:pPr lvl="1">
              <a:buFontTx/>
              <a:buNone/>
            </a:pPr>
            <a:r>
              <a:rPr lang="en-US" sz="2400" dirty="0" smtClean="0"/>
              <a:t>&gt;&gt;&gt; </a:t>
            </a:r>
            <a:r>
              <a:rPr lang="en-US" sz="2400" dirty="0" err="1" smtClean="0"/>
              <a:t>firstName</a:t>
            </a:r>
            <a:r>
              <a:rPr lang="en-US" sz="2400" dirty="0" smtClean="0"/>
              <a:t> = input("Please enter your name: ")</a:t>
            </a:r>
          </a:p>
          <a:p>
            <a:pPr lvl="1">
              <a:buFontTx/>
              <a:buNone/>
            </a:pPr>
            <a:r>
              <a:rPr lang="en-US" sz="2400" dirty="0" smtClean="0"/>
              <a:t>Please enter your name: John</a:t>
            </a:r>
          </a:p>
          <a:p>
            <a:pPr lvl="1">
              <a:buFontTx/>
              <a:buNone/>
            </a:pPr>
            <a:r>
              <a:rPr lang="en-US" sz="2400" dirty="0" smtClean="0"/>
              <a:t>&gt;&gt;&gt; print("Hello", </a:t>
            </a:r>
            <a:r>
              <a:rPr lang="en-US" sz="2400" dirty="0" err="1" smtClean="0"/>
              <a:t>firstName</a:t>
            </a:r>
            <a:r>
              <a:rPr lang="en-US" sz="2400" dirty="0" smtClean="0"/>
              <a:t>)</a:t>
            </a:r>
          </a:p>
          <a:p>
            <a:pPr lvl="1">
              <a:buFontTx/>
              <a:buNone/>
            </a:pPr>
            <a:r>
              <a:rPr lang="en-US" sz="2400" dirty="0" smtClean="0"/>
              <a:t>Hello John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61"/>
          <p:cNvGraphicFramePr>
            <a:graphicFrameLocks noGrp="1"/>
          </p:cNvGraphicFramePr>
          <p:nvPr/>
        </p:nvGraphicFramePr>
        <p:xfrm>
          <a:off x="1066800" y="1371600"/>
          <a:ext cx="6096000" cy="3482976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Concatenation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Repetition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&lt;string&gt;[]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Indexing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&lt;string&gt;[:]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Slicing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len(&lt;string&gt;)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81200" y="304800"/>
            <a:ext cx="3341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Operation in String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372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just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One of the more familiar operations available to Python strings is </a:t>
            </a:r>
            <a:r>
              <a:rPr lang="en-US" sz="2400" i="1" dirty="0"/>
              <a:t>concatenation</a:t>
            </a:r>
            <a:r>
              <a:rPr lang="en-US" sz="2400" b="0" i="1" dirty="0"/>
              <a:t>,</a:t>
            </a:r>
            <a:r>
              <a:rPr lang="en-US" sz="2400" b="0" dirty="0"/>
              <a:t> which consists of combining two strings end to end with no intervening characters.</a:t>
            </a:r>
          </a:p>
          <a:p>
            <a:pPr marL="342900" indent="-342900" algn="just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Concatenation is built into Python in the form of the </a:t>
            </a:r>
            <a:r>
              <a:rPr lang="en-US" sz="2000" dirty="0">
                <a:latin typeface="Courier New" pitchFamily="1" charset="0"/>
              </a:rPr>
              <a:t>+</a:t>
            </a:r>
            <a:r>
              <a:rPr lang="en-US" sz="2400" b="0" dirty="0"/>
              <a:t> operator.  This is consistent with how JavaScript (and Java, and C++) supports concatenation.</a:t>
            </a:r>
          </a:p>
          <a:p>
            <a:pPr marL="342900" indent="-342900" algn="just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Noteworthy difference between Python and JavaScript: Python interprets the </a:t>
            </a:r>
            <a:r>
              <a:rPr lang="en-US" sz="2000" dirty="0">
                <a:latin typeface="Courier New" pitchFamily="1" charset="0"/>
              </a:rPr>
              <a:t>+</a:t>
            </a:r>
            <a:r>
              <a:rPr lang="en-US" sz="2400" b="0" dirty="0"/>
              <a:t> operator as concatenation only if </a:t>
            </a:r>
            <a:r>
              <a:rPr lang="en-US" sz="2400" dirty="0"/>
              <a:t>both</a:t>
            </a:r>
            <a:r>
              <a:rPr lang="en-US" sz="2400" b="0" dirty="0"/>
              <a:t> operands are strings.  If one of the operands is something other than a string, then string concatenation isn’t applied</a:t>
            </a:r>
            <a:r>
              <a:rPr lang="en-US" sz="2400" b="0" dirty="0" smtClean="0"/>
              <a:t>.</a:t>
            </a:r>
            <a:endParaRPr lang="en-US" sz="2400" b="0" dirty="0"/>
          </a:p>
        </p:txBody>
      </p:sp>
      <p:sp>
        <p:nvSpPr>
          <p:cNvPr id="5" name="Rectangle 4"/>
          <p:cNvSpPr/>
          <p:nvPr/>
        </p:nvSpPr>
        <p:spPr>
          <a:xfrm>
            <a:off x="2971800" y="228600"/>
            <a:ext cx="30675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Concatenation(+)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533400"/>
            <a:ext cx="586740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3200" dirty="0"/>
              <a:t>&gt;&gt;&gt; "spam" + "eggs"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3200" dirty="0"/>
              <a:t>'</a:t>
            </a:r>
            <a:r>
              <a:rPr lang="en-US" sz="3200" dirty="0" err="1"/>
              <a:t>spameggs</a:t>
            </a:r>
            <a:r>
              <a:rPr lang="en-US" sz="3200" dirty="0"/>
              <a:t>'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3200" dirty="0"/>
              <a:t>&gt;&gt;&gt; "Spam" + "And" + "Eggs"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3200" dirty="0"/>
              <a:t>'</a:t>
            </a:r>
            <a:r>
              <a:rPr lang="en-US" sz="3200" dirty="0" err="1"/>
              <a:t>SpamAndEggs</a:t>
            </a:r>
            <a:r>
              <a:rPr lang="en-US" sz="3200" dirty="0"/>
              <a:t>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19400"/>
            <a:ext cx="70032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S1=“Hello”</a:t>
            </a:r>
          </a:p>
          <a:p>
            <a:r>
              <a:rPr lang="en-US" sz="3200" dirty="0"/>
              <a:t>S2=“Good Morning”</a:t>
            </a:r>
          </a:p>
          <a:p>
            <a:r>
              <a:rPr lang="en-US" sz="3200" dirty="0"/>
              <a:t>Print(s1+s2)---------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 err="1">
                <a:sym typeface="Wingdings" pitchFamily="2" charset="2"/>
              </a:rPr>
              <a:t>HelloGood</a:t>
            </a:r>
            <a:r>
              <a:rPr lang="en-US" sz="3200" dirty="0">
                <a:sym typeface="Wingdings" pitchFamily="2" charset="2"/>
              </a:rPr>
              <a:t> Morning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15553"/>
          </a:xfrm>
          <a:noFill/>
        </p:spPr>
        <p:txBody>
          <a:bodyPr/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Repetition(*)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516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lnSpc>
                <a:spcPct val="90000"/>
              </a:lnSpc>
              <a:spcAft>
                <a:spcPts val="1400"/>
              </a:spcAft>
              <a:buFontTx/>
              <a:buChar char="•"/>
            </a:pPr>
            <a:r>
              <a:rPr lang="en-US" sz="2400" b="0" dirty="0"/>
              <a:t>In much the same way that Python redefines the </a:t>
            </a:r>
            <a:r>
              <a:rPr lang="en-US" sz="2000" dirty="0">
                <a:latin typeface="Courier New"/>
                <a:cs typeface="Courier New"/>
              </a:rPr>
              <a:t>+</a:t>
            </a:r>
            <a:r>
              <a:rPr lang="en-US" sz="2400" b="0" dirty="0"/>
              <a:t> operator to indicate string concatenation, it also redefines the </a:t>
            </a:r>
            <a:r>
              <a:rPr lang="en-US" sz="2000" dirty="0">
                <a:latin typeface="Courier New"/>
                <a:cs typeface="Courier New"/>
              </a:rPr>
              <a:t>*</a:t>
            </a:r>
            <a:r>
              <a:rPr lang="en-US" sz="2400" b="0" dirty="0"/>
              <a:t> operator for strings to indicate repetition, so that the expression </a:t>
            </a:r>
            <a:r>
              <a:rPr lang="en-US" sz="2000" dirty="0" err="1">
                <a:latin typeface="Courier New"/>
                <a:cs typeface="Courier New"/>
              </a:rPr>
              <a:t>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ourier New"/>
                <a:cs typeface="Courier New"/>
              </a:rPr>
              <a:t>*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Courier New"/>
                <a:cs typeface="Courier New"/>
              </a:rPr>
              <a:t>n</a:t>
            </a:r>
            <a:r>
              <a:rPr lang="en-US" sz="2400" b="0" dirty="0"/>
              <a:t> indicates </a:t>
            </a:r>
            <a:r>
              <a:rPr lang="en-US" sz="2000" dirty="0" err="1">
                <a:latin typeface="Courier New"/>
                <a:cs typeface="Courier New"/>
              </a:rPr>
              <a:t>n</a:t>
            </a:r>
            <a:r>
              <a:rPr lang="en-US" sz="2400" b="0" dirty="0"/>
              <a:t> copies of the string </a:t>
            </a:r>
            <a:r>
              <a:rPr lang="en-US" sz="2000" dirty="0" err="1">
                <a:latin typeface="Courier New"/>
                <a:cs typeface="Courier New"/>
              </a:rPr>
              <a:t>s</a:t>
            </a:r>
            <a:r>
              <a:rPr lang="en-US" sz="2400" b="0" dirty="0"/>
              <a:t> concatenated together.</a:t>
            </a:r>
          </a:p>
          <a:p>
            <a:pPr marL="342900" indent="-342900">
              <a:lnSpc>
                <a:spcPct val="90000"/>
              </a:lnSpc>
              <a:spcAft>
                <a:spcPts val="1400"/>
              </a:spcAft>
              <a:buFontTx/>
              <a:buChar char="•"/>
            </a:pPr>
            <a:r>
              <a:rPr lang="en-US" sz="2400" b="0" dirty="0"/>
              <a:t>The expression </a:t>
            </a:r>
            <a:r>
              <a:rPr lang="en-US" sz="2000" dirty="0">
                <a:latin typeface="Courier New"/>
                <a:cs typeface="Courier New"/>
              </a:rPr>
              <a:t>"la"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ourier New"/>
                <a:cs typeface="Courier New"/>
              </a:rPr>
              <a:t>*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ourier New"/>
                <a:cs typeface="Courier New"/>
              </a:rPr>
              <a:t>3</a:t>
            </a:r>
            <a:r>
              <a:rPr lang="en-US" sz="2400" b="0" dirty="0"/>
              <a:t> therefore returns </a:t>
            </a:r>
            <a:r>
              <a:rPr lang="en-US" sz="2000" dirty="0" smtClean="0">
                <a:latin typeface="Courier New"/>
                <a:cs typeface="Courier New"/>
              </a:rPr>
              <a:t>‘</a:t>
            </a:r>
            <a:r>
              <a:rPr lang="en-US" sz="2000" dirty="0" err="1" smtClean="0">
                <a:latin typeface="Courier New"/>
                <a:cs typeface="Courier New"/>
              </a:rPr>
              <a:t>lalala</a:t>
            </a:r>
            <a:r>
              <a:rPr lang="en-US" sz="2000" dirty="0" smtClean="0">
                <a:latin typeface="Courier New"/>
                <a:cs typeface="Courier New"/>
              </a:rPr>
              <a:t>’</a:t>
            </a:r>
            <a:r>
              <a:rPr lang="en-US" sz="2400" b="0" dirty="0" smtClean="0"/>
              <a:t>, </a:t>
            </a:r>
            <a:r>
              <a:rPr lang="en-US" sz="2400" b="0" dirty="0"/>
              <a:t>which is three copies of the string </a:t>
            </a:r>
            <a:r>
              <a:rPr lang="en-US" sz="2000" dirty="0">
                <a:latin typeface="Courier New"/>
                <a:cs typeface="Courier New"/>
              </a:rPr>
              <a:t>"la"</a:t>
            </a:r>
            <a:r>
              <a:rPr lang="en-US" sz="2400" b="0" dirty="0"/>
              <a:t> concatenated together.</a:t>
            </a:r>
          </a:p>
          <a:p>
            <a:pPr marL="342900" indent="-342900">
              <a:lnSpc>
                <a:spcPct val="90000"/>
              </a:lnSpc>
              <a:spcAft>
                <a:spcPts val="1400"/>
              </a:spcAft>
              <a:buFontTx/>
              <a:buChar char="•"/>
            </a:pPr>
            <a:r>
              <a:rPr lang="en-US" sz="2400" b="0" dirty="0"/>
              <a:t>Note that this interpretation is consistent with the idea that multiplication is repeated addition:</a:t>
            </a:r>
          </a:p>
          <a:p>
            <a:pPr marL="342900" indent="685800" algn="just">
              <a:lnSpc>
                <a:spcPct val="90000"/>
              </a:lnSpc>
              <a:spcAft>
                <a:spcPts val="2000"/>
              </a:spcAft>
            </a:pPr>
            <a:r>
              <a:rPr lang="en-US" sz="2000" dirty="0">
                <a:latin typeface="Courier New"/>
                <a:cs typeface="Courier New"/>
              </a:rPr>
              <a:t>"la" * 3  </a:t>
            </a:r>
            <a:r>
              <a:rPr lang="en-US" sz="2000" dirty="0" err="1">
                <a:sym typeface="Symbol"/>
              </a:rPr>
              <a:t></a:t>
            </a:r>
            <a:r>
              <a:rPr lang="en-US" sz="2000" dirty="0">
                <a:latin typeface="Courier New"/>
                <a:cs typeface="Courier New"/>
                <a:sym typeface="Symbol"/>
              </a:rPr>
              <a:t>  "la" + "la" + "la"</a:t>
            </a: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90000"/>
              </a:lnSpc>
              <a:spcAft>
                <a:spcPts val="1400"/>
              </a:spcAft>
              <a:buFontTx/>
              <a:buChar char="•"/>
            </a:pPr>
            <a:r>
              <a:rPr lang="en-US" sz="2400" b="0" dirty="0"/>
              <a:t>You can use this feature, for example, to print a line of 72 hyphens like this:</a:t>
            </a:r>
            <a:endParaRPr lang="en-US" sz="2800" b="0" dirty="0"/>
          </a:p>
          <a:p>
            <a:pPr marL="342900" indent="685800" algn="just">
              <a:lnSpc>
                <a:spcPct val="90000"/>
              </a:lnSpc>
              <a:spcAft>
                <a:spcPts val="2000"/>
              </a:spcAft>
            </a:pPr>
            <a:r>
              <a:rPr lang="en-US" sz="2000" dirty="0">
                <a:latin typeface="Courier New"/>
                <a:cs typeface="Courier New"/>
              </a:rPr>
              <a:t>print("-" * 72)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4692" y="478358"/>
            <a:ext cx="5679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Strings </a:t>
            </a:r>
            <a:r>
              <a:rPr spc="-75" dirty="0"/>
              <a:t>are</a:t>
            </a:r>
            <a:r>
              <a:rPr spc="-65" dirty="0"/>
              <a:t> </a:t>
            </a:r>
            <a:r>
              <a:rPr spc="-5" dirty="0"/>
              <a:t>immutable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7847330" cy="168402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Strings are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immutable character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sets</a:t>
            </a:r>
            <a:r>
              <a:rPr sz="3200" spc="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Once a string is generated,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you cannot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change  any character within the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7452" y="3352800"/>
            <a:ext cx="8133969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10</a:t>
            </a:fld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33400" y="99060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s="Hello"</a:t>
            </a:r>
          </a:p>
          <a:p>
            <a:r>
              <a:rPr lang="en-US" sz="2400" dirty="0" smtClean="0"/>
              <a:t>print(s)</a:t>
            </a:r>
          </a:p>
          <a:p>
            <a:r>
              <a:rPr lang="en-US" sz="2400" dirty="0" smtClean="0"/>
              <a:t>print(s[0])</a:t>
            </a:r>
          </a:p>
          <a:p>
            <a:r>
              <a:rPr lang="en-US" sz="2400" dirty="0" smtClean="0"/>
              <a:t>s[1]='k'</a:t>
            </a:r>
          </a:p>
          <a:p>
            <a:r>
              <a:rPr lang="en-US" sz="2400" dirty="0" smtClean="0"/>
              <a:t>print(s[1])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33400" y="4724400"/>
            <a:ext cx="80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 Python, a string is immutable. You cannot overwrite the values of immutable objects.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62000" y="281940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000" y="37338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Error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2743200"/>
            <a:ext cx="198120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91000" y="2286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&gt;&gt;&gt; phrase = 'how you like me now'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&gt;&gt;&gt; phrase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how you like me now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&gt;&gt;&gt; phrase = 'do you feel lucky'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&gt;&gt;&gt; phrase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do you feel lucky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15553"/>
          </a:xfrm>
          <a:noFill/>
        </p:spPr>
        <p:txBody>
          <a:bodyPr/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String Indexing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lnSpc>
                <a:spcPct val="90000"/>
              </a:lnSpc>
              <a:spcAft>
                <a:spcPts val="1400"/>
              </a:spcAft>
              <a:buFontTx/>
              <a:buChar char="•"/>
            </a:pPr>
            <a:r>
              <a:rPr lang="en-US" sz="2400" b="0" dirty="0"/>
              <a:t>A string is (still) an ordered collection of characters. The character positions in a Python string are, as in most computer languages, identified by an </a:t>
            </a:r>
            <a:r>
              <a:rPr lang="en-US" sz="2400" i="1" dirty="0"/>
              <a:t>index</a:t>
            </a:r>
            <a:r>
              <a:rPr lang="en-US" sz="2400" b="0" dirty="0"/>
              <a:t> beginning at 0.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82600" y="4648200"/>
            <a:ext cx="8131175" cy="1765300"/>
            <a:chOff x="304" y="2776"/>
            <a:chExt cx="5122" cy="1112"/>
          </a:xfrm>
        </p:grpSpPr>
        <p:sp>
          <p:nvSpPr>
            <p:cNvPr id="49159" name="Rectangle 32"/>
            <p:cNvSpPr>
              <a:spLocks noChangeArrowheads="1"/>
            </p:cNvSpPr>
            <p:nvPr/>
          </p:nvSpPr>
          <p:spPr bwMode="auto">
            <a:xfrm>
              <a:off x="304" y="2776"/>
              <a:ext cx="5122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>
                <a:lnSpc>
                  <a:spcPct val="90000"/>
                </a:lnSpc>
                <a:spcAft>
                  <a:spcPct val="20000"/>
                </a:spcAft>
                <a:buFontTx/>
                <a:buChar char="•"/>
              </a:pPr>
              <a:r>
                <a:rPr lang="en-US" sz="2400" b="0" dirty="0"/>
                <a:t>You can select an individual character using the syntax </a:t>
              </a:r>
              <a:r>
                <a:rPr lang="en-US" sz="2000" b="0" i="1" dirty="0">
                  <a:latin typeface="Times New Roman"/>
                  <a:cs typeface="Times New Roman"/>
                </a:rPr>
                <a:t>str</a:t>
              </a:r>
              <a:r>
                <a:rPr lang="en-US" sz="2000" dirty="0">
                  <a:latin typeface="Courier New" pitchFamily="1" charset="0"/>
                </a:rPr>
                <a:t>[</a:t>
              </a:r>
              <a:r>
                <a:rPr lang="en-US" sz="2000" b="0" i="1" dirty="0"/>
                <a:t>k</a:t>
              </a:r>
              <a:r>
                <a:rPr lang="en-US" sz="2000" dirty="0">
                  <a:latin typeface="Courier New" pitchFamily="1" charset="0"/>
                </a:rPr>
                <a:t>]</a:t>
              </a:r>
              <a:r>
                <a:rPr lang="en-US" sz="2400" b="0" dirty="0"/>
                <a:t>, where </a:t>
              </a:r>
              <a:r>
                <a:rPr lang="en-US" sz="2400" b="0" i="1" dirty="0"/>
                <a:t>k</a:t>
              </a:r>
              <a:r>
                <a:rPr lang="en-US" sz="2400" b="0" dirty="0"/>
                <a:t> is the index of the desired character.  The expression  </a:t>
              </a:r>
            </a:p>
          </p:txBody>
        </p:sp>
        <p:sp>
          <p:nvSpPr>
            <p:cNvPr id="49160" name="Rectangle 33"/>
            <p:cNvSpPr>
              <a:spLocks noChangeArrowheads="1"/>
            </p:cNvSpPr>
            <p:nvPr/>
          </p:nvSpPr>
          <p:spPr bwMode="auto">
            <a:xfrm>
              <a:off x="304" y="3552"/>
              <a:ext cx="512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algn="just">
                <a:lnSpc>
                  <a:spcPct val="90000"/>
                </a:lnSpc>
                <a:spcAft>
                  <a:spcPct val="50000"/>
                </a:spcAft>
              </a:pPr>
              <a:r>
                <a:rPr lang="en-US" sz="2400" b="0" dirty="0"/>
                <a:t>returns the one-character string </a:t>
              </a:r>
              <a:r>
                <a:rPr lang="en-US" sz="2000" dirty="0">
                  <a:latin typeface="Courier New" pitchFamily="1" charset="0"/>
                </a:rPr>
                <a:t>"w"</a:t>
              </a:r>
              <a:r>
                <a:rPr lang="en-US" sz="2400" b="0" dirty="0"/>
                <a:t> that appears at index 7.</a:t>
              </a:r>
            </a:p>
          </p:txBody>
        </p:sp>
        <p:sp>
          <p:nvSpPr>
            <p:cNvPr id="49161" name="Rectangle 34"/>
            <p:cNvSpPr>
              <a:spLocks noChangeArrowheads="1"/>
            </p:cNvSpPr>
            <p:nvPr/>
          </p:nvSpPr>
          <p:spPr bwMode="auto">
            <a:xfrm>
              <a:off x="2534" y="3285"/>
              <a:ext cx="504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dirty="0">
                  <a:latin typeface="Courier New" pitchFamily="1" charset="0"/>
                </a:rPr>
                <a:t>s[7]</a:t>
              </a:r>
            </a:p>
          </p:txBody>
        </p:sp>
      </p:grpSp>
      <p:grpSp>
        <p:nvGrpSpPr>
          <p:cNvPr id="3" name="Group 96"/>
          <p:cNvGrpSpPr/>
          <p:nvPr/>
        </p:nvGrpSpPr>
        <p:grpSpPr>
          <a:xfrm>
            <a:off x="482600" y="2326673"/>
            <a:ext cx="8131175" cy="2232027"/>
            <a:chOff x="482600" y="2568573"/>
            <a:chExt cx="8131175" cy="2232027"/>
          </a:xfrm>
        </p:grpSpPr>
        <p:sp>
          <p:nvSpPr>
            <p:cNvPr id="49162" name="Rectangle 5"/>
            <p:cNvSpPr>
              <a:spLocks noChangeArrowheads="1"/>
            </p:cNvSpPr>
            <p:nvPr/>
          </p:nvSpPr>
          <p:spPr bwMode="auto">
            <a:xfrm>
              <a:off x="482600" y="2568573"/>
              <a:ext cx="8131175" cy="1397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 algn="just">
                <a:lnSpc>
                  <a:spcPct val="90000"/>
                </a:lnSpc>
                <a:spcAft>
                  <a:spcPct val="50000"/>
                </a:spcAft>
                <a:buFontTx/>
                <a:buChar char="•"/>
              </a:pPr>
              <a:r>
                <a:rPr lang="en-US" sz="2400" b="0" dirty="0"/>
                <a:t>For example, if </a:t>
              </a:r>
              <a:r>
                <a:rPr lang="en-US" sz="2000" dirty="0" err="1">
                  <a:latin typeface="Courier New"/>
                  <a:cs typeface="Courier New"/>
                </a:rPr>
                <a:t>s</a:t>
              </a:r>
              <a:r>
                <a:rPr lang="en-US" sz="2400" b="0" dirty="0"/>
                <a:t> is initialized as</a:t>
              </a:r>
            </a:p>
            <a:p>
              <a:pPr marL="342900" algn="just">
                <a:lnSpc>
                  <a:spcPct val="90000"/>
                </a:lnSpc>
                <a:spcAft>
                  <a:spcPct val="50000"/>
                </a:spcAft>
              </a:pPr>
              <a:r>
                <a:rPr lang="en-US" sz="2000" b="0" dirty="0">
                  <a:latin typeface="Courier New"/>
                  <a:cs typeface="Courier New"/>
                </a:rPr>
                <a:t>    </a:t>
              </a:r>
              <a:r>
                <a:rPr lang="en-US" sz="2000" dirty="0">
                  <a:latin typeface="Courier New"/>
                  <a:cs typeface="Courier New"/>
                </a:rPr>
                <a:t>s = "hello, world"</a:t>
              </a:r>
              <a:endParaRPr lang="en-US" sz="2000" b="0" dirty="0">
                <a:latin typeface="Courier New"/>
                <a:cs typeface="Courier New"/>
              </a:endParaRPr>
            </a:p>
            <a:p>
              <a:pPr marL="342900" algn="just">
                <a:lnSpc>
                  <a:spcPct val="90000"/>
                </a:lnSpc>
                <a:spcAft>
                  <a:spcPct val="50000"/>
                </a:spcAft>
              </a:pPr>
              <a:r>
                <a:rPr lang="en-US" sz="2400" b="0" dirty="0"/>
                <a:t>the characters in</a:t>
              </a:r>
              <a:r>
                <a:rPr lang="en-US" sz="2000" b="0" dirty="0"/>
                <a:t> </a:t>
              </a:r>
              <a:r>
                <a:rPr lang="en-US" sz="2000" dirty="0">
                  <a:latin typeface="Courier New" pitchFamily="1" charset="0"/>
                </a:rPr>
                <a:t>s</a:t>
              </a:r>
              <a:r>
                <a:rPr lang="en-US" sz="2400" b="0" dirty="0" smtClean="0"/>
                <a:t> </a:t>
              </a:r>
              <a:r>
                <a:rPr lang="en-US" sz="2400" b="0" dirty="0"/>
                <a:t>are arranged like this:</a:t>
              </a:r>
            </a:p>
          </p:txBody>
        </p:sp>
        <p:sp>
          <p:nvSpPr>
            <p:cNvPr id="49164" name="Text Box 7"/>
            <p:cNvSpPr txBox="1">
              <a:spLocks noChangeArrowheads="1"/>
            </p:cNvSpPr>
            <p:nvPr/>
          </p:nvSpPr>
          <p:spPr bwMode="auto">
            <a:xfrm>
              <a:off x="19129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0</a:t>
              </a:r>
            </a:p>
          </p:txBody>
        </p:sp>
        <p:sp>
          <p:nvSpPr>
            <p:cNvPr id="49166" name="Text Box 9"/>
            <p:cNvSpPr txBox="1">
              <a:spLocks noChangeArrowheads="1"/>
            </p:cNvSpPr>
            <p:nvPr/>
          </p:nvSpPr>
          <p:spPr bwMode="auto">
            <a:xfrm>
              <a:off x="23701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1</a:t>
              </a:r>
            </a:p>
          </p:txBody>
        </p:sp>
        <p:sp>
          <p:nvSpPr>
            <p:cNvPr id="49168" name="Text Box 11"/>
            <p:cNvSpPr txBox="1">
              <a:spLocks noChangeArrowheads="1"/>
            </p:cNvSpPr>
            <p:nvPr/>
          </p:nvSpPr>
          <p:spPr bwMode="auto">
            <a:xfrm>
              <a:off x="28273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2</a:t>
              </a:r>
            </a:p>
          </p:txBody>
        </p:sp>
        <p:sp>
          <p:nvSpPr>
            <p:cNvPr id="49170" name="Text Box 13"/>
            <p:cNvSpPr txBox="1">
              <a:spLocks noChangeArrowheads="1"/>
            </p:cNvSpPr>
            <p:nvPr/>
          </p:nvSpPr>
          <p:spPr bwMode="auto">
            <a:xfrm>
              <a:off x="32845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3</a:t>
              </a:r>
            </a:p>
          </p:txBody>
        </p:sp>
        <p:sp>
          <p:nvSpPr>
            <p:cNvPr id="49172" name="Text Box 15"/>
            <p:cNvSpPr txBox="1">
              <a:spLocks noChangeArrowheads="1"/>
            </p:cNvSpPr>
            <p:nvPr/>
          </p:nvSpPr>
          <p:spPr bwMode="auto">
            <a:xfrm>
              <a:off x="37417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4</a:t>
              </a:r>
            </a:p>
          </p:txBody>
        </p:sp>
        <p:sp>
          <p:nvSpPr>
            <p:cNvPr id="49174" name="Text Box 17"/>
            <p:cNvSpPr txBox="1">
              <a:spLocks noChangeArrowheads="1"/>
            </p:cNvSpPr>
            <p:nvPr/>
          </p:nvSpPr>
          <p:spPr bwMode="auto">
            <a:xfrm>
              <a:off x="41989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5</a:t>
              </a:r>
            </a:p>
          </p:txBody>
        </p:sp>
        <p:sp>
          <p:nvSpPr>
            <p:cNvPr id="49176" name="Text Box 19"/>
            <p:cNvSpPr txBox="1">
              <a:spLocks noChangeArrowheads="1"/>
            </p:cNvSpPr>
            <p:nvPr/>
          </p:nvSpPr>
          <p:spPr bwMode="auto">
            <a:xfrm>
              <a:off x="46561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6</a:t>
              </a:r>
            </a:p>
          </p:txBody>
        </p:sp>
        <p:sp>
          <p:nvSpPr>
            <p:cNvPr id="49178" name="Text Box 21"/>
            <p:cNvSpPr txBox="1">
              <a:spLocks noChangeArrowheads="1"/>
            </p:cNvSpPr>
            <p:nvPr/>
          </p:nvSpPr>
          <p:spPr bwMode="auto">
            <a:xfrm>
              <a:off x="51133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7</a:t>
              </a:r>
            </a:p>
          </p:txBody>
        </p:sp>
        <p:sp>
          <p:nvSpPr>
            <p:cNvPr id="49180" name="Text Box 23"/>
            <p:cNvSpPr txBox="1">
              <a:spLocks noChangeArrowheads="1"/>
            </p:cNvSpPr>
            <p:nvPr/>
          </p:nvSpPr>
          <p:spPr bwMode="auto">
            <a:xfrm>
              <a:off x="55705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8</a:t>
              </a:r>
            </a:p>
          </p:txBody>
        </p:sp>
        <p:sp>
          <p:nvSpPr>
            <p:cNvPr id="49182" name="Text Box 25"/>
            <p:cNvSpPr txBox="1">
              <a:spLocks noChangeArrowheads="1"/>
            </p:cNvSpPr>
            <p:nvPr/>
          </p:nvSpPr>
          <p:spPr bwMode="auto">
            <a:xfrm>
              <a:off x="60277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9</a:t>
              </a:r>
            </a:p>
          </p:txBody>
        </p:sp>
        <p:sp>
          <p:nvSpPr>
            <p:cNvPr id="49184" name="Text Box 27"/>
            <p:cNvSpPr txBox="1">
              <a:spLocks noChangeArrowheads="1"/>
            </p:cNvSpPr>
            <p:nvPr/>
          </p:nvSpPr>
          <p:spPr bwMode="auto">
            <a:xfrm>
              <a:off x="64849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10</a:t>
              </a:r>
            </a:p>
          </p:txBody>
        </p:sp>
        <p:sp>
          <p:nvSpPr>
            <p:cNvPr id="49186" name="Text Box 29"/>
            <p:cNvSpPr txBox="1">
              <a:spLocks noChangeArrowheads="1"/>
            </p:cNvSpPr>
            <p:nvPr/>
          </p:nvSpPr>
          <p:spPr bwMode="auto">
            <a:xfrm>
              <a:off x="6942138" y="4538662"/>
              <a:ext cx="449263" cy="261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/>
                <a:t>11</a:t>
              </a:r>
            </a:p>
          </p:txBody>
        </p:sp>
        <p:grpSp>
          <p:nvGrpSpPr>
            <p:cNvPr id="4" name="Group 71"/>
            <p:cNvGrpSpPr/>
            <p:nvPr/>
          </p:nvGrpSpPr>
          <p:grpSpPr>
            <a:xfrm>
              <a:off x="1905000" y="4104826"/>
              <a:ext cx="5486400" cy="457201"/>
              <a:chOff x="1905000" y="4032256"/>
              <a:chExt cx="5486400" cy="457201"/>
            </a:xfrm>
          </p:grpSpPr>
          <p:sp>
            <p:nvSpPr>
              <p:cNvPr id="73" name="Rectangle 72"/>
              <p:cNvSpPr/>
              <p:nvPr/>
            </p:nvSpPr>
            <p:spPr bwMode="auto">
              <a:xfrm>
                <a:off x="1905000" y="4032256"/>
                <a:ext cx="5486400" cy="4572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cxnSp>
            <p:nvCxnSpPr>
              <p:cNvPr id="74" name="Straight Connector 73"/>
              <p:cNvCxnSpPr/>
              <p:nvPr/>
            </p:nvCxnSpPr>
            <p:spPr bwMode="auto">
              <a:xfrm rot="16200000" flipH="1">
                <a:off x="2134328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Straight Connector 74"/>
              <p:cNvCxnSpPr/>
              <p:nvPr/>
            </p:nvCxnSpPr>
            <p:spPr bwMode="auto">
              <a:xfrm rot="16200000" flipH="1">
                <a:off x="2591462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Straight Connector 75"/>
              <p:cNvCxnSpPr/>
              <p:nvPr/>
            </p:nvCxnSpPr>
            <p:spPr bwMode="auto">
              <a:xfrm rot="16200000" flipH="1">
                <a:off x="3048596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Straight Connector 76"/>
              <p:cNvCxnSpPr/>
              <p:nvPr/>
            </p:nvCxnSpPr>
            <p:spPr bwMode="auto">
              <a:xfrm rot="16200000" flipH="1">
                <a:off x="3505730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Straight Connector 77"/>
              <p:cNvCxnSpPr/>
              <p:nvPr/>
            </p:nvCxnSpPr>
            <p:spPr bwMode="auto">
              <a:xfrm rot="16200000" flipH="1">
                <a:off x="3962864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Straight Connector 78"/>
              <p:cNvCxnSpPr/>
              <p:nvPr/>
            </p:nvCxnSpPr>
            <p:spPr bwMode="auto">
              <a:xfrm rot="16200000" flipH="1">
                <a:off x="4419998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Straight Connector 79"/>
              <p:cNvCxnSpPr/>
              <p:nvPr/>
            </p:nvCxnSpPr>
            <p:spPr bwMode="auto">
              <a:xfrm rot="16200000" flipH="1">
                <a:off x="4877132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Straight Connector 80"/>
              <p:cNvCxnSpPr/>
              <p:nvPr/>
            </p:nvCxnSpPr>
            <p:spPr bwMode="auto">
              <a:xfrm rot="16200000" flipH="1">
                <a:off x="5334266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Straight Connector 81"/>
              <p:cNvCxnSpPr/>
              <p:nvPr/>
            </p:nvCxnSpPr>
            <p:spPr bwMode="auto">
              <a:xfrm rot="16200000" flipH="1">
                <a:off x="5791400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Straight Connector 82"/>
              <p:cNvCxnSpPr/>
              <p:nvPr/>
            </p:nvCxnSpPr>
            <p:spPr bwMode="auto">
              <a:xfrm rot="16200000" flipH="1">
                <a:off x="6248534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Straight Connector 83"/>
              <p:cNvCxnSpPr/>
              <p:nvPr/>
            </p:nvCxnSpPr>
            <p:spPr bwMode="auto">
              <a:xfrm rot="16200000" flipH="1">
                <a:off x="6705668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85" name="TextBox 84"/>
            <p:cNvSpPr txBox="1"/>
            <p:nvPr/>
          </p:nvSpPr>
          <p:spPr>
            <a:xfrm>
              <a:off x="1911890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h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368464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e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2825038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l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281612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l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738186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o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194760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,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651334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 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107908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w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564482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o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021056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r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477630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l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934200" y="412802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d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9867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15553"/>
          </a:xfrm>
          <a:noFill/>
        </p:spPr>
        <p:txBody>
          <a:bodyPr/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Negative Indexing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685800" y="4953000"/>
            <a:ext cx="8131175" cy="1160463"/>
            <a:chOff x="304" y="2776"/>
            <a:chExt cx="5122" cy="731"/>
          </a:xfrm>
        </p:grpSpPr>
        <p:sp>
          <p:nvSpPr>
            <p:cNvPr id="49159" name="Rectangle 32"/>
            <p:cNvSpPr>
              <a:spLocks noChangeArrowheads="1"/>
            </p:cNvSpPr>
            <p:nvPr/>
          </p:nvSpPr>
          <p:spPr bwMode="auto">
            <a:xfrm>
              <a:off x="304" y="2776"/>
              <a:ext cx="5122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>
                <a:lnSpc>
                  <a:spcPct val="90000"/>
                </a:lnSpc>
                <a:spcAft>
                  <a:spcPct val="20000"/>
                </a:spcAft>
                <a:buFontTx/>
                <a:buChar char="•"/>
              </a:pPr>
              <a:r>
                <a:rPr lang="en-US" sz="2400" b="0" dirty="0"/>
                <a:t>You can select the </a:t>
              </a:r>
              <a:r>
                <a:rPr lang="en-US" sz="2000" dirty="0">
                  <a:latin typeface="Courier New"/>
                  <a:cs typeface="Courier New"/>
                </a:rPr>
                <a:t>"w"</a:t>
              </a:r>
              <a:r>
                <a:rPr lang="en-US" sz="2400" b="0" dirty="0"/>
                <a:t> toward the end of this string using the expression</a:t>
              </a:r>
            </a:p>
          </p:txBody>
        </p:sp>
        <p:sp>
          <p:nvSpPr>
            <p:cNvPr id="49161" name="Rectangle 34"/>
            <p:cNvSpPr>
              <a:spLocks noChangeArrowheads="1"/>
            </p:cNvSpPr>
            <p:nvPr/>
          </p:nvSpPr>
          <p:spPr bwMode="auto">
            <a:xfrm>
              <a:off x="2160" y="3270"/>
              <a:ext cx="601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dirty="0">
                  <a:latin typeface="Courier New" pitchFamily="1" charset="0"/>
                </a:rPr>
                <a:t>s[-5]</a:t>
              </a:r>
            </a:p>
          </p:txBody>
        </p:sp>
      </p:grpSp>
      <p:grpSp>
        <p:nvGrpSpPr>
          <p:cNvPr id="3" name="Group 61"/>
          <p:cNvGrpSpPr/>
          <p:nvPr/>
        </p:nvGrpSpPr>
        <p:grpSpPr>
          <a:xfrm>
            <a:off x="533400" y="1295400"/>
            <a:ext cx="8131175" cy="2620732"/>
            <a:chOff x="482600" y="1371600"/>
            <a:chExt cx="8131175" cy="2620732"/>
          </a:xfrm>
        </p:grpSpPr>
        <p:sp>
          <p:nvSpPr>
            <p:cNvPr id="49162" name="Rectangle 5"/>
            <p:cNvSpPr>
              <a:spLocks noChangeArrowheads="1"/>
            </p:cNvSpPr>
            <p:nvPr/>
          </p:nvSpPr>
          <p:spPr bwMode="auto">
            <a:xfrm>
              <a:off x="482600" y="1371600"/>
              <a:ext cx="8131175" cy="860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marL="342900" indent="-342900">
                <a:lnSpc>
                  <a:spcPct val="90000"/>
                </a:lnSpc>
                <a:spcAft>
                  <a:spcPct val="50000"/>
                </a:spcAft>
                <a:buFontTx/>
                <a:buChar char="•"/>
              </a:pPr>
              <a:r>
                <a:rPr lang="en-US" sz="2400" b="0" dirty="0"/>
                <a:t>Unlike JavaScript, Python allows you to specify a character position in a string by using negative index numbers, which count backwards from the end of the string.  The characters in the </a:t>
              </a:r>
              <a:r>
                <a:rPr lang="en-US" sz="2000" dirty="0">
                  <a:latin typeface="Courier New"/>
                  <a:cs typeface="Courier New"/>
                </a:rPr>
                <a:t>"hello,</a:t>
              </a:r>
              <a:r>
                <a:rPr lang="en-US" sz="2000" dirty="0">
                  <a:latin typeface="Times New Roman"/>
                  <a:cs typeface="Times New Roman"/>
                </a:rPr>
                <a:t> </a:t>
              </a:r>
              <a:r>
                <a:rPr lang="en-US" sz="2000" dirty="0">
                  <a:latin typeface="Courier New"/>
                  <a:cs typeface="Courier New"/>
                </a:rPr>
                <a:t>world"</a:t>
              </a:r>
              <a:r>
                <a:rPr lang="en-US" sz="2400" b="0" dirty="0"/>
                <a:t> string </a:t>
              </a:r>
              <a:r>
                <a:rPr lang="en-US" sz="2400" b="0" dirty="0" smtClean="0"/>
                <a:t>can  </a:t>
              </a:r>
              <a:r>
                <a:rPr lang="en-US" sz="2400" b="0" dirty="0"/>
                <a:t>be numbered using the following indices:</a:t>
              </a:r>
            </a:p>
          </p:txBody>
        </p:sp>
        <p:sp>
          <p:nvSpPr>
            <p:cNvPr id="49164" name="Text Box 7"/>
            <p:cNvSpPr txBox="1">
              <a:spLocks noChangeArrowheads="1"/>
            </p:cNvSpPr>
            <p:nvPr/>
          </p:nvSpPr>
          <p:spPr bwMode="auto">
            <a:xfrm>
              <a:off x="1912938" y="3700326"/>
              <a:ext cx="550862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dirty="0"/>
                <a:t>-</a:t>
              </a:r>
              <a:r>
                <a:rPr lang="en-US" sz="1200" b="0" dirty="0" smtClean="0"/>
                <a:t>12</a:t>
              </a:r>
              <a:endParaRPr lang="en-US" sz="1200" b="0" dirty="0"/>
            </a:p>
          </p:txBody>
        </p:sp>
        <p:sp>
          <p:nvSpPr>
            <p:cNvPr id="49166" name="Text Box 9"/>
            <p:cNvSpPr txBox="1">
              <a:spLocks noChangeArrowheads="1"/>
            </p:cNvSpPr>
            <p:nvPr/>
          </p:nvSpPr>
          <p:spPr bwMode="auto">
            <a:xfrm>
              <a:off x="23701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–11</a:t>
              </a:r>
            </a:p>
          </p:txBody>
        </p:sp>
        <p:sp>
          <p:nvSpPr>
            <p:cNvPr id="49168" name="Text Box 11"/>
            <p:cNvSpPr txBox="1">
              <a:spLocks noChangeArrowheads="1"/>
            </p:cNvSpPr>
            <p:nvPr/>
          </p:nvSpPr>
          <p:spPr bwMode="auto">
            <a:xfrm>
              <a:off x="28273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 smtClean="0"/>
                <a:t>–10</a:t>
              </a:r>
              <a:endParaRPr lang="en-US" sz="1200" b="0" dirty="0"/>
            </a:p>
          </p:txBody>
        </p:sp>
        <p:sp>
          <p:nvSpPr>
            <p:cNvPr id="49170" name="Text Box 13"/>
            <p:cNvSpPr txBox="1">
              <a:spLocks noChangeArrowheads="1"/>
            </p:cNvSpPr>
            <p:nvPr/>
          </p:nvSpPr>
          <p:spPr bwMode="auto">
            <a:xfrm>
              <a:off x="32845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–9</a:t>
              </a:r>
            </a:p>
          </p:txBody>
        </p:sp>
        <p:sp>
          <p:nvSpPr>
            <p:cNvPr id="49172" name="Text Box 15"/>
            <p:cNvSpPr txBox="1">
              <a:spLocks noChangeArrowheads="1"/>
            </p:cNvSpPr>
            <p:nvPr/>
          </p:nvSpPr>
          <p:spPr bwMode="auto">
            <a:xfrm>
              <a:off x="37417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–8</a:t>
              </a:r>
            </a:p>
          </p:txBody>
        </p:sp>
        <p:sp>
          <p:nvSpPr>
            <p:cNvPr id="49174" name="Text Box 17"/>
            <p:cNvSpPr txBox="1">
              <a:spLocks noChangeArrowheads="1"/>
            </p:cNvSpPr>
            <p:nvPr/>
          </p:nvSpPr>
          <p:spPr bwMode="auto">
            <a:xfrm>
              <a:off x="41989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–7</a:t>
              </a:r>
            </a:p>
          </p:txBody>
        </p:sp>
        <p:sp>
          <p:nvSpPr>
            <p:cNvPr id="49176" name="Text Box 19"/>
            <p:cNvSpPr txBox="1">
              <a:spLocks noChangeArrowheads="1"/>
            </p:cNvSpPr>
            <p:nvPr/>
          </p:nvSpPr>
          <p:spPr bwMode="auto">
            <a:xfrm>
              <a:off x="46561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–6</a:t>
              </a:r>
            </a:p>
          </p:txBody>
        </p:sp>
        <p:sp>
          <p:nvSpPr>
            <p:cNvPr id="49178" name="Text Box 21"/>
            <p:cNvSpPr txBox="1">
              <a:spLocks noChangeArrowheads="1"/>
            </p:cNvSpPr>
            <p:nvPr/>
          </p:nvSpPr>
          <p:spPr bwMode="auto">
            <a:xfrm>
              <a:off x="51133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–5</a:t>
              </a:r>
            </a:p>
          </p:txBody>
        </p:sp>
        <p:sp>
          <p:nvSpPr>
            <p:cNvPr id="49180" name="Text Box 23"/>
            <p:cNvSpPr txBox="1">
              <a:spLocks noChangeArrowheads="1"/>
            </p:cNvSpPr>
            <p:nvPr/>
          </p:nvSpPr>
          <p:spPr bwMode="auto">
            <a:xfrm>
              <a:off x="5570538" y="3700326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–4</a:t>
              </a:r>
            </a:p>
          </p:txBody>
        </p:sp>
        <p:sp>
          <p:nvSpPr>
            <p:cNvPr id="49182" name="Text Box 25"/>
            <p:cNvSpPr txBox="1">
              <a:spLocks noChangeArrowheads="1"/>
            </p:cNvSpPr>
            <p:nvPr/>
          </p:nvSpPr>
          <p:spPr bwMode="auto">
            <a:xfrm>
              <a:off x="6045200" y="3733800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–3</a:t>
              </a:r>
            </a:p>
          </p:txBody>
        </p:sp>
        <p:sp>
          <p:nvSpPr>
            <p:cNvPr id="49184" name="Text Box 27"/>
            <p:cNvSpPr txBox="1">
              <a:spLocks noChangeArrowheads="1"/>
            </p:cNvSpPr>
            <p:nvPr/>
          </p:nvSpPr>
          <p:spPr bwMode="auto">
            <a:xfrm>
              <a:off x="6578600" y="3733800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–2</a:t>
              </a:r>
            </a:p>
          </p:txBody>
        </p:sp>
        <p:sp>
          <p:nvSpPr>
            <p:cNvPr id="49186" name="Text Box 29"/>
            <p:cNvSpPr txBox="1">
              <a:spLocks noChangeArrowheads="1"/>
            </p:cNvSpPr>
            <p:nvPr/>
          </p:nvSpPr>
          <p:spPr bwMode="auto">
            <a:xfrm>
              <a:off x="7035800" y="3733800"/>
              <a:ext cx="449263" cy="258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–1</a:t>
              </a:r>
            </a:p>
          </p:txBody>
        </p:sp>
        <p:grpSp>
          <p:nvGrpSpPr>
            <p:cNvPr id="4" name="Group 36"/>
            <p:cNvGrpSpPr/>
            <p:nvPr/>
          </p:nvGrpSpPr>
          <p:grpSpPr>
            <a:xfrm>
              <a:off x="1905000" y="3305320"/>
              <a:ext cx="5486400" cy="457201"/>
              <a:chOff x="1905000" y="4032256"/>
              <a:chExt cx="5486400" cy="457201"/>
            </a:xfrm>
          </p:grpSpPr>
          <p:sp>
            <p:nvSpPr>
              <p:cNvPr id="38" name="Rectangle 37"/>
              <p:cNvSpPr/>
              <p:nvPr/>
            </p:nvSpPr>
            <p:spPr bwMode="auto">
              <a:xfrm>
                <a:off x="1905000" y="4032256"/>
                <a:ext cx="5486400" cy="4572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cxnSp>
            <p:nvCxnSpPr>
              <p:cNvPr id="39" name="Straight Connector 38"/>
              <p:cNvCxnSpPr/>
              <p:nvPr/>
            </p:nvCxnSpPr>
            <p:spPr bwMode="auto">
              <a:xfrm rot="16200000" flipH="1">
                <a:off x="2134328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Straight Connector 39"/>
              <p:cNvCxnSpPr/>
              <p:nvPr/>
            </p:nvCxnSpPr>
            <p:spPr bwMode="auto">
              <a:xfrm rot="16200000" flipH="1">
                <a:off x="2591462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 rot="16200000" flipH="1">
                <a:off x="3048596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Straight Connector 41"/>
              <p:cNvCxnSpPr/>
              <p:nvPr/>
            </p:nvCxnSpPr>
            <p:spPr bwMode="auto">
              <a:xfrm rot="16200000" flipH="1">
                <a:off x="3505730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/>
              <p:cNvCxnSpPr/>
              <p:nvPr/>
            </p:nvCxnSpPr>
            <p:spPr bwMode="auto">
              <a:xfrm rot="16200000" flipH="1">
                <a:off x="3962864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Straight Connector 43"/>
              <p:cNvCxnSpPr/>
              <p:nvPr/>
            </p:nvCxnSpPr>
            <p:spPr bwMode="auto">
              <a:xfrm rot="16200000" flipH="1">
                <a:off x="4419998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Straight Connector 44"/>
              <p:cNvCxnSpPr/>
              <p:nvPr/>
            </p:nvCxnSpPr>
            <p:spPr bwMode="auto">
              <a:xfrm rot="16200000" flipH="1">
                <a:off x="4877132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Straight Connector 45"/>
              <p:cNvCxnSpPr/>
              <p:nvPr/>
            </p:nvCxnSpPr>
            <p:spPr bwMode="auto">
              <a:xfrm rot="16200000" flipH="1">
                <a:off x="5334266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Straight Connector 46"/>
              <p:cNvCxnSpPr/>
              <p:nvPr/>
            </p:nvCxnSpPr>
            <p:spPr bwMode="auto">
              <a:xfrm rot="16200000" flipH="1">
                <a:off x="5791400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Straight Connector 47"/>
              <p:cNvCxnSpPr/>
              <p:nvPr/>
            </p:nvCxnSpPr>
            <p:spPr bwMode="auto">
              <a:xfrm rot="16200000" flipH="1">
                <a:off x="6248534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Straight Connector 48"/>
              <p:cNvCxnSpPr/>
              <p:nvPr/>
            </p:nvCxnSpPr>
            <p:spPr bwMode="auto">
              <a:xfrm rot="16200000" flipH="1">
                <a:off x="6705668" y="4260857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0" name="TextBox 49"/>
            <p:cNvSpPr txBox="1"/>
            <p:nvPr/>
          </p:nvSpPr>
          <p:spPr>
            <a:xfrm>
              <a:off x="1911890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h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368464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e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825038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l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81612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l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738186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o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194760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,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651334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 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107908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w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564482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o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21056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r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477630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l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934200" y="3328514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d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981200" y="2971800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0        1      2       3      4      5       6       7      8       9      10     11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1972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15553"/>
          </a:xfrm>
          <a:noFill/>
        </p:spPr>
        <p:txBody>
          <a:bodyPr/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Slicing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547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Python allows you to extract a substring by specifying a range of index positions inside the square brackets.  This operation is known as </a:t>
            </a:r>
            <a:r>
              <a:rPr lang="en-US" sz="2400" i="1" dirty="0"/>
              <a:t>slicing</a:t>
            </a:r>
            <a:r>
              <a:rPr lang="en-US" sz="2400" b="0" i="1" dirty="0"/>
              <a:t>.</a:t>
            </a:r>
            <a:endParaRPr lang="en-US" sz="2400" b="0" dirty="0"/>
          </a:p>
          <a:p>
            <a:pPr marL="342900" indent="-342900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The simplest specification of a slice is </a:t>
            </a:r>
            <a:r>
              <a:rPr lang="en-US" sz="2000" dirty="0">
                <a:latin typeface="Courier New"/>
                <a:cs typeface="Courier New"/>
              </a:rPr>
              <a:t>[</a:t>
            </a:r>
            <a:r>
              <a:rPr lang="en-US" sz="2000" b="0" i="1" dirty="0" err="1">
                <a:latin typeface="Times New Roman"/>
                <a:cs typeface="Times New Roman"/>
              </a:rPr>
              <a:t>start</a:t>
            </a:r>
            <a:r>
              <a:rPr lang="en-US" sz="2000" dirty="0" err="1">
                <a:latin typeface="Courier New"/>
                <a:cs typeface="Courier New"/>
              </a:rPr>
              <a:t>:</a:t>
            </a:r>
            <a:r>
              <a:rPr lang="en-US" sz="2000" b="0" i="1" dirty="0" err="1">
                <a:latin typeface="Times New Roman"/>
                <a:cs typeface="Times New Roman"/>
              </a:rPr>
              <a:t>limit</a:t>
            </a:r>
            <a:r>
              <a:rPr lang="en-US" sz="2000" dirty="0">
                <a:latin typeface="Courier New"/>
                <a:cs typeface="Courier New"/>
              </a:rPr>
              <a:t>]</a:t>
            </a:r>
            <a:r>
              <a:rPr lang="en-US" sz="2400" b="0" dirty="0">
                <a:latin typeface="Times New Roman"/>
                <a:cs typeface="Times New Roman"/>
              </a:rPr>
              <a:t>, where </a:t>
            </a:r>
            <a:r>
              <a:rPr lang="en-US" sz="2400" b="0" i="1" dirty="0">
                <a:latin typeface="Times New Roman"/>
                <a:cs typeface="Times New Roman"/>
              </a:rPr>
              <a:t>start</a:t>
            </a:r>
            <a:r>
              <a:rPr lang="en-US" sz="2400" b="0" dirty="0">
                <a:latin typeface="Times New Roman"/>
                <a:cs typeface="Times New Roman"/>
              </a:rPr>
              <a:t> is the index position at which the slice begins and </a:t>
            </a:r>
            <a:r>
              <a:rPr lang="en-US" sz="2400" b="0" i="1" dirty="0">
                <a:latin typeface="Times New Roman"/>
                <a:cs typeface="Times New Roman"/>
              </a:rPr>
              <a:t>limit</a:t>
            </a:r>
            <a:r>
              <a:rPr lang="en-US" sz="2400" b="0" dirty="0">
                <a:latin typeface="Times New Roman"/>
                <a:cs typeface="Times New Roman"/>
              </a:rPr>
              <a:t> is the index position before which the slice ends.</a:t>
            </a:r>
          </a:p>
          <a:p>
            <a:pPr marL="342900" indent="-342900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latin typeface="Times New Roman"/>
                <a:cs typeface="Times New Roman"/>
              </a:rPr>
              <a:t>The </a:t>
            </a:r>
            <a:r>
              <a:rPr lang="en-US" sz="2400" b="0" i="1" dirty="0">
                <a:latin typeface="Times New Roman"/>
                <a:cs typeface="Times New Roman"/>
              </a:rPr>
              <a:t>start</a:t>
            </a:r>
            <a:r>
              <a:rPr lang="en-US" sz="2400" b="0" dirty="0">
                <a:latin typeface="Times New Roman"/>
                <a:cs typeface="Times New Roman"/>
              </a:rPr>
              <a:t> and </a:t>
            </a:r>
            <a:r>
              <a:rPr lang="en-US" sz="2400" b="0" i="1" dirty="0">
                <a:latin typeface="Times New Roman"/>
                <a:cs typeface="Times New Roman"/>
              </a:rPr>
              <a:t>limit</a:t>
            </a:r>
            <a:r>
              <a:rPr lang="en-US" sz="2400" b="0" dirty="0">
                <a:latin typeface="Times New Roman"/>
                <a:cs typeface="Times New Roman"/>
              </a:rPr>
              <a:t> components of a slice are optional, but the colon must be present.  If </a:t>
            </a:r>
            <a:r>
              <a:rPr lang="en-US" sz="2400" b="0" i="1" dirty="0">
                <a:latin typeface="Times New Roman"/>
                <a:cs typeface="Times New Roman"/>
              </a:rPr>
              <a:t>start</a:t>
            </a:r>
            <a:r>
              <a:rPr lang="en-US" sz="2400" b="0" dirty="0">
                <a:latin typeface="Times New Roman"/>
                <a:cs typeface="Times New Roman"/>
              </a:rPr>
              <a:t> is missing, it defaults to 0; if </a:t>
            </a:r>
            <a:r>
              <a:rPr lang="en-US" sz="2400" b="0" i="1" dirty="0">
                <a:latin typeface="Times New Roman"/>
                <a:cs typeface="Times New Roman"/>
              </a:rPr>
              <a:t>limit</a:t>
            </a:r>
            <a:r>
              <a:rPr lang="en-US" sz="2400" b="0" dirty="0">
                <a:latin typeface="Times New Roman"/>
                <a:cs typeface="Times New Roman"/>
              </a:rPr>
              <a:t> is missing, it defaults to the length of the string.</a:t>
            </a:r>
          </a:p>
          <a:p>
            <a:pPr marL="342900" indent="-342900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latin typeface="Times New Roman"/>
                <a:cs typeface="Times New Roman"/>
              </a:rPr>
              <a:t>A slice specification may also contain a third component called a </a:t>
            </a:r>
            <a:r>
              <a:rPr lang="en-US" sz="2400" i="1" dirty="0">
                <a:latin typeface="Times New Roman"/>
                <a:cs typeface="Times New Roman"/>
              </a:rPr>
              <a:t>stride</a:t>
            </a:r>
            <a:r>
              <a:rPr lang="en-US" sz="2400" b="0" dirty="0">
                <a:latin typeface="Times New Roman"/>
                <a:cs typeface="Times New Roman"/>
              </a:rPr>
              <a:t>, as with </a:t>
            </a:r>
            <a:r>
              <a:rPr lang="en-US" sz="2400" dirty="0">
                <a:latin typeface="Courier New"/>
                <a:cs typeface="Courier New"/>
              </a:rPr>
              <a:t>[</a:t>
            </a:r>
            <a:r>
              <a:rPr lang="en-US" sz="2400" b="0" i="1" dirty="0" err="1">
                <a:latin typeface="Times New Roman"/>
                <a:cs typeface="Times New Roman"/>
              </a:rPr>
              <a:t>start</a:t>
            </a:r>
            <a:r>
              <a:rPr lang="en-US" sz="2400" dirty="0" err="1">
                <a:latin typeface="Courier New"/>
                <a:cs typeface="Courier New"/>
              </a:rPr>
              <a:t>:</a:t>
            </a:r>
            <a:r>
              <a:rPr lang="en-US" sz="2400" b="0" i="1" dirty="0" err="1">
                <a:latin typeface="Times New Roman"/>
                <a:cs typeface="Times New Roman"/>
              </a:rPr>
              <a:t>limit</a:t>
            </a:r>
            <a:r>
              <a:rPr lang="en-US" sz="2400" dirty="0" err="1">
                <a:latin typeface="Courier New"/>
                <a:cs typeface="Courier New"/>
              </a:rPr>
              <a:t>:</a:t>
            </a:r>
            <a:r>
              <a:rPr lang="en-US" sz="2400" b="0" i="1" dirty="0" err="1">
                <a:latin typeface="Times New Roman"/>
                <a:cs typeface="Times New Roman"/>
              </a:rPr>
              <a:t>stride</a:t>
            </a:r>
            <a:r>
              <a:rPr lang="en-US" sz="2400" dirty="0">
                <a:latin typeface="Courier New"/>
                <a:cs typeface="Courier New"/>
              </a:rPr>
              <a:t>]</a:t>
            </a:r>
            <a:r>
              <a:rPr lang="en-US" sz="2400" b="0" dirty="0">
                <a:latin typeface="Times New Roman"/>
                <a:cs typeface="Times New Roman"/>
              </a:rPr>
              <a:t>. Strides indicate how many positions are omitted between selected characters.</a:t>
            </a:r>
          </a:p>
          <a:p>
            <a:pPr marL="342900" indent="-342900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>
                <a:latin typeface="Times New Roman"/>
                <a:cs typeface="Times New Roman"/>
              </a:rPr>
              <a:t>The </a:t>
            </a:r>
            <a:r>
              <a:rPr lang="en-US" sz="2400" b="0" i="1" dirty="0">
                <a:latin typeface="Times New Roman"/>
                <a:cs typeface="Times New Roman"/>
              </a:rPr>
              <a:t>stride</a:t>
            </a:r>
            <a:r>
              <a:rPr lang="en-US" sz="2400" b="0" dirty="0">
                <a:latin typeface="Times New Roman"/>
                <a:cs typeface="Times New Roman"/>
              </a:rPr>
              <a:t> component can be negative, in which case the selection occurs backwards from the end of the string.</a:t>
            </a:r>
            <a:endParaRPr lang="en-US"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786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15553"/>
          </a:xfrm>
          <a:noFill/>
        </p:spPr>
        <p:txBody>
          <a:bodyPr/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Example: </a:t>
            </a:r>
            <a:r>
              <a:rPr lang="en-US" sz="4000" dirty="0">
                <a:solidFill>
                  <a:srgbClr val="FF0000"/>
                </a:solidFill>
              </a:rPr>
              <a:t>Slicing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82600" y="1155700"/>
            <a:ext cx="812800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just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Suppose that you have initialized </a:t>
            </a:r>
            <a:r>
              <a:rPr lang="en-US" sz="2000" dirty="0">
                <a:latin typeface="Courier New"/>
                <a:cs typeface="Courier New"/>
              </a:rPr>
              <a:t>ALPHABET</a:t>
            </a:r>
            <a:r>
              <a:rPr lang="en-US" sz="2400" b="0" dirty="0"/>
              <a:t> as</a:t>
            </a:r>
          </a:p>
          <a:p>
            <a:pPr marL="342900" indent="457200" algn="just">
              <a:lnSpc>
                <a:spcPct val="90000"/>
              </a:lnSpc>
              <a:spcAft>
                <a:spcPct val="50000"/>
              </a:spcAft>
            </a:pPr>
            <a:r>
              <a:rPr lang="en-US" sz="2000" dirty="0">
                <a:latin typeface="Courier New"/>
                <a:cs typeface="Courier New"/>
              </a:rPr>
              <a:t>ALPHABET = "ABCDEFGHIJKLMNOPQRSTUVWXYZ"</a:t>
            </a:r>
          </a:p>
          <a:p>
            <a:pPr marL="342900" algn="just">
              <a:lnSpc>
                <a:spcPct val="90000"/>
              </a:lnSpc>
              <a:spcAft>
                <a:spcPct val="50000"/>
              </a:spcAft>
            </a:pPr>
            <a:r>
              <a:rPr lang="en-US" sz="2400" b="0" dirty="0">
                <a:latin typeface="Times New Roman"/>
                <a:cs typeface="Times New Roman"/>
              </a:rPr>
              <a:t>so that the index numbers (in both directions) run like this:</a:t>
            </a:r>
          </a:p>
        </p:txBody>
      </p:sp>
      <p:grpSp>
        <p:nvGrpSpPr>
          <p:cNvPr id="2" name="Group 166"/>
          <p:cNvGrpSpPr/>
          <p:nvPr/>
        </p:nvGrpSpPr>
        <p:grpSpPr>
          <a:xfrm>
            <a:off x="838200" y="2602670"/>
            <a:ext cx="7708070" cy="865010"/>
            <a:chOff x="914400" y="3276600"/>
            <a:chExt cx="7708070" cy="865010"/>
          </a:xfrm>
        </p:grpSpPr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4970648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12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260380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11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5550112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10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5839844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9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6129576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8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6419308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7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6709040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6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6998772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5</a:t>
              </a: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7288504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4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7578236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3</a:t>
              </a: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7867968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</a:t>
              </a: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8157707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</a:t>
              </a:r>
            </a:p>
          </p:txBody>
        </p:sp>
        <p:grpSp>
          <p:nvGrpSpPr>
            <p:cNvPr id="3" name="Group 125"/>
            <p:cNvGrpSpPr/>
            <p:nvPr/>
          </p:nvGrpSpPr>
          <p:grpSpPr>
            <a:xfrm>
              <a:off x="990600" y="3276600"/>
              <a:ext cx="7543800" cy="457201"/>
              <a:chOff x="990600" y="3276600"/>
              <a:chExt cx="7543800" cy="457201"/>
            </a:xfrm>
          </p:grpSpPr>
          <p:sp>
            <p:nvSpPr>
              <p:cNvPr id="31" name="Rectangle 30"/>
              <p:cNvSpPr/>
              <p:nvPr/>
            </p:nvSpPr>
            <p:spPr bwMode="auto">
              <a:xfrm>
                <a:off x="990600" y="3276600"/>
                <a:ext cx="7543800" cy="4572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endParaRPr>
              </a:p>
            </p:txBody>
          </p:sp>
          <p:cxnSp>
            <p:nvCxnSpPr>
              <p:cNvPr id="34" name="Straight Connector 33"/>
              <p:cNvCxnSpPr/>
              <p:nvPr/>
            </p:nvCxnSpPr>
            <p:spPr bwMode="auto">
              <a:xfrm rot="16200000" flipH="1">
                <a:off x="1052147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Straight Connector 34"/>
              <p:cNvCxnSpPr/>
              <p:nvPr/>
            </p:nvCxnSpPr>
            <p:spPr bwMode="auto">
              <a:xfrm rot="16200000" flipH="1">
                <a:off x="1342293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Straight Connector 35"/>
              <p:cNvCxnSpPr/>
              <p:nvPr/>
            </p:nvCxnSpPr>
            <p:spPr bwMode="auto">
              <a:xfrm rot="16200000" flipH="1">
                <a:off x="1632439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Straight Connector 36"/>
              <p:cNvCxnSpPr/>
              <p:nvPr/>
            </p:nvCxnSpPr>
            <p:spPr bwMode="auto">
              <a:xfrm rot="16200000" flipH="1">
                <a:off x="1922585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Straight Connector 37"/>
              <p:cNvCxnSpPr/>
              <p:nvPr/>
            </p:nvCxnSpPr>
            <p:spPr bwMode="auto">
              <a:xfrm rot="16200000" flipH="1">
                <a:off x="2212731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/>
              <p:cNvCxnSpPr/>
              <p:nvPr/>
            </p:nvCxnSpPr>
            <p:spPr bwMode="auto">
              <a:xfrm rot="16200000" flipH="1">
                <a:off x="3083169" y="3505200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Straight Connector 39"/>
              <p:cNvCxnSpPr/>
              <p:nvPr/>
            </p:nvCxnSpPr>
            <p:spPr bwMode="auto">
              <a:xfrm rot="16200000" flipH="1">
                <a:off x="3953607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 rot="16200000" flipH="1">
                <a:off x="4824045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Straight Connector 41"/>
              <p:cNvCxnSpPr/>
              <p:nvPr/>
            </p:nvCxnSpPr>
            <p:spPr bwMode="auto">
              <a:xfrm rot="16200000" flipH="1">
                <a:off x="5694483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Straight Connector 68"/>
              <p:cNvCxnSpPr/>
              <p:nvPr/>
            </p:nvCxnSpPr>
            <p:spPr bwMode="auto">
              <a:xfrm rot="16200000" flipH="1">
                <a:off x="6564921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/>
              <p:cNvCxnSpPr/>
              <p:nvPr/>
            </p:nvCxnSpPr>
            <p:spPr bwMode="auto">
              <a:xfrm rot="16200000" flipH="1">
                <a:off x="7435359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Straight Connector 84"/>
              <p:cNvCxnSpPr/>
              <p:nvPr/>
            </p:nvCxnSpPr>
            <p:spPr bwMode="auto">
              <a:xfrm rot="16200000" flipH="1">
                <a:off x="7725505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" name="Straight Connector 85"/>
              <p:cNvCxnSpPr/>
              <p:nvPr/>
            </p:nvCxnSpPr>
            <p:spPr bwMode="auto">
              <a:xfrm rot="16200000" flipH="1">
                <a:off x="8015651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Straight Connector 87"/>
              <p:cNvCxnSpPr/>
              <p:nvPr/>
            </p:nvCxnSpPr>
            <p:spPr bwMode="auto">
              <a:xfrm rot="16200000" flipH="1">
                <a:off x="6855067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Straight Connector 88"/>
              <p:cNvCxnSpPr/>
              <p:nvPr/>
            </p:nvCxnSpPr>
            <p:spPr bwMode="auto">
              <a:xfrm rot="16200000" flipH="1">
                <a:off x="7145213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Straight Connector 89"/>
              <p:cNvCxnSpPr/>
              <p:nvPr/>
            </p:nvCxnSpPr>
            <p:spPr bwMode="auto">
              <a:xfrm rot="16200000" flipH="1">
                <a:off x="5984629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Straight Connector 90"/>
              <p:cNvCxnSpPr/>
              <p:nvPr/>
            </p:nvCxnSpPr>
            <p:spPr bwMode="auto">
              <a:xfrm rot="16200000" flipH="1">
                <a:off x="6274775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2" name="Straight Connector 91"/>
              <p:cNvCxnSpPr/>
              <p:nvPr/>
            </p:nvCxnSpPr>
            <p:spPr bwMode="auto">
              <a:xfrm rot="16200000" flipH="1">
                <a:off x="5114191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3" name="Straight Connector 92"/>
              <p:cNvCxnSpPr/>
              <p:nvPr/>
            </p:nvCxnSpPr>
            <p:spPr bwMode="auto">
              <a:xfrm rot="16200000" flipH="1">
                <a:off x="5404337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" name="Straight Connector 94"/>
              <p:cNvCxnSpPr/>
              <p:nvPr/>
            </p:nvCxnSpPr>
            <p:spPr bwMode="auto">
              <a:xfrm rot="16200000" flipH="1">
                <a:off x="4243753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6" name="Straight Connector 95"/>
              <p:cNvCxnSpPr/>
              <p:nvPr/>
            </p:nvCxnSpPr>
            <p:spPr bwMode="auto">
              <a:xfrm rot="16200000" flipH="1">
                <a:off x="4533899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7" name="Straight Connector 96"/>
              <p:cNvCxnSpPr/>
              <p:nvPr/>
            </p:nvCxnSpPr>
            <p:spPr bwMode="auto">
              <a:xfrm rot="16200000" flipH="1">
                <a:off x="3373315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8" name="Straight Connector 97"/>
              <p:cNvCxnSpPr/>
              <p:nvPr/>
            </p:nvCxnSpPr>
            <p:spPr bwMode="auto">
              <a:xfrm rot="16200000" flipH="1">
                <a:off x="3663461" y="3505201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9" name="Straight Connector 98"/>
              <p:cNvCxnSpPr/>
              <p:nvPr/>
            </p:nvCxnSpPr>
            <p:spPr bwMode="auto">
              <a:xfrm rot="16200000" flipH="1">
                <a:off x="2502877" y="3505200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0" name="Straight Connector 99"/>
              <p:cNvCxnSpPr/>
              <p:nvPr/>
            </p:nvCxnSpPr>
            <p:spPr bwMode="auto">
              <a:xfrm rot="16200000" flipH="1">
                <a:off x="2793023" y="3505200"/>
                <a:ext cx="4572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01" name="TextBox 100"/>
            <p:cNvSpPr txBox="1"/>
            <p:nvPr/>
          </p:nvSpPr>
          <p:spPr>
            <a:xfrm>
              <a:off x="120443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B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49447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C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78450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D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07454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E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36457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F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65461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G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94464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H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23468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I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52471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J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81475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K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10478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L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39482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M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68485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N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497489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O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26492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P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55496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Q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84499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R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13503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S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642506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T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71510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U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700513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V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29517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W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7585205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X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87524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Y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816527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ourier New"/>
                  <a:cs typeface="Courier New"/>
                </a:rPr>
                <a:t>Z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14400" y="3288470"/>
              <a:ext cx="457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ourier New"/>
                  <a:cs typeface="Courier New"/>
                </a:rPr>
                <a:t>A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  <p:sp>
          <p:nvSpPr>
            <p:cNvPr id="127" name="Text Box 7"/>
            <p:cNvSpPr txBox="1">
              <a:spLocks noChangeArrowheads="1"/>
            </p:cNvSpPr>
            <p:nvPr/>
          </p:nvSpPr>
          <p:spPr bwMode="auto">
            <a:xfrm>
              <a:off x="1493864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24</a:t>
              </a:r>
            </a:p>
          </p:txBody>
        </p:sp>
        <p:sp>
          <p:nvSpPr>
            <p:cNvPr id="128" name="Text Box 9"/>
            <p:cNvSpPr txBox="1">
              <a:spLocks noChangeArrowheads="1"/>
            </p:cNvSpPr>
            <p:nvPr/>
          </p:nvSpPr>
          <p:spPr bwMode="auto">
            <a:xfrm>
              <a:off x="1783596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23</a:t>
              </a:r>
            </a:p>
          </p:txBody>
        </p:sp>
        <p:sp>
          <p:nvSpPr>
            <p:cNvPr id="129" name="Text Box 11"/>
            <p:cNvSpPr txBox="1">
              <a:spLocks noChangeArrowheads="1"/>
            </p:cNvSpPr>
            <p:nvPr/>
          </p:nvSpPr>
          <p:spPr bwMode="auto">
            <a:xfrm>
              <a:off x="2073328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22</a:t>
              </a:r>
            </a:p>
          </p:txBody>
        </p:sp>
        <p:sp>
          <p:nvSpPr>
            <p:cNvPr id="130" name="Text Box 13"/>
            <p:cNvSpPr txBox="1">
              <a:spLocks noChangeArrowheads="1"/>
            </p:cNvSpPr>
            <p:nvPr/>
          </p:nvSpPr>
          <p:spPr bwMode="auto">
            <a:xfrm>
              <a:off x="2363060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21</a:t>
              </a:r>
            </a:p>
          </p:txBody>
        </p:sp>
        <p:sp>
          <p:nvSpPr>
            <p:cNvPr id="131" name="Text Box 15"/>
            <p:cNvSpPr txBox="1">
              <a:spLocks noChangeArrowheads="1"/>
            </p:cNvSpPr>
            <p:nvPr/>
          </p:nvSpPr>
          <p:spPr bwMode="auto">
            <a:xfrm>
              <a:off x="2652792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20</a:t>
              </a:r>
            </a:p>
          </p:txBody>
        </p:sp>
        <p:sp>
          <p:nvSpPr>
            <p:cNvPr id="132" name="Text Box 17"/>
            <p:cNvSpPr txBox="1">
              <a:spLocks noChangeArrowheads="1"/>
            </p:cNvSpPr>
            <p:nvPr/>
          </p:nvSpPr>
          <p:spPr bwMode="auto">
            <a:xfrm>
              <a:off x="2942524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19</a:t>
              </a:r>
            </a:p>
          </p:txBody>
        </p:sp>
        <p:sp>
          <p:nvSpPr>
            <p:cNvPr id="133" name="Text Box 19"/>
            <p:cNvSpPr txBox="1">
              <a:spLocks noChangeArrowheads="1"/>
            </p:cNvSpPr>
            <p:nvPr/>
          </p:nvSpPr>
          <p:spPr bwMode="auto">
            <a:xfrm>
              <a:off x="3232256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18</a:t>
              </a:r>
            </a:p>
          </p:txBody>
        </p:sp>
        <p:sp>
          <p:nvSpPr>
            <p:cNvPr id="134" name="Text Box 21"/>
            <p:cNvSpPr txBox="1">
              <a:spLocks noChangeArrowheads="1"/>
            </p:cNvSpPr>
            <p:nvPr/>
          </p:nvSpPr>
          <p:spPr bwMode="auto">
            <a:xfrm>
              <a:off x="3521988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17</a:t>
              </a:r>
            </a:p>
          </p:txBody>
        </p:sp>
        <p:sp>
          <p:nvSpPr>
            <p:cNvPr id="135" name="Text Box 23"/>
            <p:cNvSpPr txBox="1">
              <a:spLocks noChangeArrowheads="1"/>
            </p:cNvSpPr>
            <p:nvPr/>
          </p:nvSpPr>
          <p:spPr bwMode="auto">
            <a:xfrm>
              <a:off x="3811720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16</a:t>
              </a:r>
            </a:p>
          </p:txBody>
        </p:sp>
        <p:sp>
          <p:nvSpPr>
            <p:cNvPr id="136" name="Text Box 25"/>
            <p:cNvSpPr txBox="1">
              <a:spLocks noChangeArrowheads="1"/>
            </p:cNvSpPr>
            <p:nvPr/>
          </p:nvSpPr>
          <p:spPr bwMode="auto">
            <a:xfrm>
              <a:off x="4101452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15</a:t>
              </a:r>
            </a:p>
          </p:txBody>
        </p:sp>
        <p:sp>
          <p:nvSpPr>
            <p:cNvPr id="137" name="Text Box 27"/>
            <p:cNvSpPr txBox="1">
              <a:spLocks noChangeArrowheads="1"/>
            </p:cNvSpPr>
            <p:nvPr/>
          </p:nvSpPr>
          <p:spPr bwMode="auto">
            <a:xfrm>
              <a:off x="4391184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14</a:t>
              </a:r>
            </a:p>
          </p:txBody>
        </p:sp>
        <p:sp>
          <p:nvSpPr>
            <p:cNvPr id="138" name="Text Box 29"/>
            <p:cNvSpPr txBox="1">
              <a:spLocks noChangeArrowheads="1"/>
            </p:cNvSpPr>
            <p:nvPr/>
          </p:nvSpPr>
          <p:spPr bwMode="auto">
            <a:xfrm>
              <a:off x="4680916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13</a:t>
              </a:r>
            </a:p>
          </p:txBody>
        </p:sp>
        <p:sp>
          <p:nvSpPr>
            <p:cNvPr id="139" name="Text Box 7"/>
            <p:cNvSpPr txBox="1">
              <a:spLocks noChangeArrowheads="1"/>
            </p:cNvSpPr>
            <p:nvPr/>
          </p:nvSpPr>
          <p:spPr bwMode="auto">
            <a:xfrm>
              <a:off x="914400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26</a:t>
              </a:r>
            </a:p>
          </p:txBody>
        </p:sp>
        <p:sp>
          <p:nvSpPr>
            <p:cNvPr id="140" name="Text Box 9"/>
            <p:cNvSpPr txBox="1">
              <a:spLocks noChangeArrowheads="1"/>
            </p:cNvSpPr>
            <p:nvPr/>
          </p:nvSpPr>
          <p:spPr bwMode="auto">
            <a:xfrm>
              <a:off x="1204132" y="3880000"/>
              <a:ext cx="449263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200" b="0" dirty="0"/>
                <a:t>–</a:t>
              </a:r>
              <a:r>
                <a:rPr lang="en-US" sz="1100" b="0" dirty="0"/>
                <a:t>25</a:t>
              </a:r>
            </a:p>
          </p:txBody>
        </p:sp>
        <p:sp>
          <p:nvSpPr>
            <p:cNvPr id="141" name="Text Box 7"/>
            <p:cNvSpPr txBox="1">
              <a:spLocks noChangeArrowheads="1"/>
            </p:cNvSpPr>
            <p:nvPr/>
          </p:nvSpPr>
          <p:spPr bwMode="auto">
            <a:xfrm>
              <a:off x="4980608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14</a:t>
              </a:r>
            </a:p>
          </p:txBody>
        </p:sp>
        <p:sp>
          <p:nvSpPr>
            <p:cNvPr id="142" name="Text Box 9"/>
            <p:cNvSpPr txBox="1">
              <a:spLocks noChangeArrowheads="1"/>
            </p:cNvSpPr>
            <p:nvPr/>
          </p:nvSpPr>
          <p:spPr bwMode="auto">
            <a:xfrm>
              <a:off x="5270340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15</a:t>
              </a:r>
            </a:p>
          </p:txBody>
        </p:sp>
        <p:sp>
          <p:nvSpPr>
            <p:cNvPr id="143" name="Text Box 11"/>
            <p:cNvSpPr txBox="1">
              <a:spLocks noChangeArrowheads="1"/>
            </p:cNvSpPr>
            <p:nvPr/>
          </p:nvSpPr>
          <p:spPr bwMode="auto">
            <a:xfrm>
              <a:off x="5560072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16</a:t>
              </a:r>
            </a:p>
          </p:txBody>
        </p:sp>
        <p:sp>
          <p:nvSpPr>
            <p:cNvPr id="144" name="Text Box 13"/>
            <p:cNvSpPr txBox="1">
              <a:spLocks noChangeArrowheads="1"/>
            </p:cNvSpPr>
            <p:nvPr/>
          </p:nvSpPr>
          <p:spPr bwMode="auto">
            <a:xfrm>
              <a:off x="5849804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17</a:t>
              </a:r>
            </a:p>
          </p:txBody>
        </p:sp>
        <p:sp>
          <p:nvSpPr>
            <p:cNvPr id="145" name="Text Box 15"/>
            <p:cNvSpPr txBox="1">
              <a:spLocks noChangeArrowheads="1"/>
            </p:cNvSpPr>
            <p:nvPr/>
          </p:nvSpPr>
          <p:spPr bwMode="auto">
            <a:xfrm>
              <a:off x="6139536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18</a:t>
              </a:r>
            </a:p>
          </p:txBody>
        </p:sp>
        <p:sp>
          <p:nvSpPr>
            <p:cNvPr id="146" name="Text Box 17"/>
            <p:cNvSpPr txBox="1">
              <a:spLocks noChangeArrowheads="1"/>
            </p:cNvSpPr>
            <p:nvPr/>
          </p:nvSpPr>
          <p:spPr bwMode="auto">
            <a:xfrm>
              <a:off x="6429268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19</a:t>
              </a:r>
            </a:p>
          </p:txBody>
        </p:sp>
        <p:sp>
          <p:nvSpPr>
            <p:cNvPr id="147" name="Text Box 19"/>
            <p:cNvSpPr txBox="1">
              <a:spLocks noChangeArrowheads="1"/>
            </p:cNvSpPr>
            <p:nvPr/>
          </p:nvSpPr>
          <p:spPr bwMode="auto">
            <a:xfrm>
              <a:off x="6719000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20</a:t>
              </a:r>
            </a:p>
          </p:txBody>
        </p:sp>
        <p:sp>
          <p:nvSpPr>
            <p:cNvPr id="148" name="Text Box 21"/>
            <p:cNvSpPr txBox="1">
              <a:spLocks noChangeArrowheads="1"/>
            </p:cNvSpPr>
            <p:nvPr/>
          </p:nvSpPr>
          <p:spPr bwMode="auto">
            <a:xfrm>
              <a:off x="7008732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21</a:t>
              </a:r>
            </a:p>
          </p:txBody>
        </p:sp>
        <p:sp>
          <p:nvSpPr>
            <p:cNvPr id="149" name="Text Box 23"/>
            <p:cNvSpPr txBox="1">
              <a:spLocks noChangeArrowheads="1"/>
            </p:cNvSpPr>
            <p:nvPr/>
          </p:nvSpPr>
          <p:spPr bwMode="auto">
            <a:xfrm>
              <a:off x="7298464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22</a:t>
              </a:r>
            </a:p>
          </p:txBody>
        </p:sp>
        <p:sp>
          <p:nvSpPr>
            <p:cNvPr id="150" name="Text Box 25"/>
            <p:cNvSpPr txBox="1">
              <a:spLocks noChangeArrowheads="1"/>
            </p:cNvSpPr>
            <p:nvPr/>
          </p:nvSpPr>
          <p:spPr bwMode="auto">
            <a:xfrm>
              <a:off x="7588196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23</a:t>
              </a:r>
            </a:p>
          </p:txBody>
        </p:sp>
        <p:sp>
          <p:nvSpPr>
            <p:cNvPr id="151" name="Text Box 27"/>
            <p:cNvSpPr txBox="1">
              <a:spLocks noChangeArrowheads="1"/>
            </p:cNvSpPr>
            <p:nvPr/>
          </p:nvSpPr>
          <p:spPr bwMode="auto">
            <a:xfrm>
              <a:off x="7877928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24</a:t>
              </a:r>
            </a:p>
          </p:txBody>
        </p:sp>
        <p:sp>
          <p:nvSpPr>
            <p:cNvPr id="152" name="Text Box 29"/>
            <p:cNvSpPr txBox="1">
              <a:spLocks noChangeArrowheads="1"/>
            </p:cNvSpPr>
            <p:nvPr/>
          </p:nvSpPr>
          <p:spPr bwMode="auto">
            <a:xfrm>
              <a:off x="8167667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25</a:t>
              </a:r>
            </a:p>
          </p:txBody>
        </p:sp>
        <p:sp>
          <p:nvSpPr>
            <p:cNvPr id="153" name="Text Box 7"/>
            <p:cNvSpPr txBox="1">
              <a:spLocks noChangeArrowheads="1"/>
            </p:cNvSpPr>
            <p:nvPr/>
          </p:nvSpPr>
          <p:spPr bwMode="auto">
            <a:xfrm>
              <a:off x="1503824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2</a:t>
              </a:r>
            </a:p>
          </p:txBody>
        </p:sp>
        <p:sp>
          <p:nvSpPr>
            <p:cNvPr id="154" name="Text Box 9"/>
            <p:cNvSpPr txBox="1">
              <a:spLocks noChangeArrowheads="1"/>
            </p:cNvSpPr>
            <p:nvPr/>
          </p:nvSpPr>
          <p:spPr bwMode="auto">
            <a:xfrm>
              <a:off x="1793556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3</a:t>
              </a:r>
            </a:p>
          </p:txBody>
        </p:sp>
        <p:sp>
          <p:nvSpPr>
            <p:cNvPr id="155" name="Text Box 11"/>
            <p:cNvSpPr txBox="1">
              <a:spLocks noChangeArrowheads="1"/>
            </p:cNvSpPr>
            <p:nvPr/>
          </p:nvSpPr>
          <p:spPr bwMode="auto">
            <a:xfrm>
              <a:off x="2083288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4</a:t>
              </a:r>
            </a:p>
          </p:txBody>
        </p:sp>
        <p:sp>
          <p:nvSpPr>
            <p:cNvPr id="156" name="Text Box 13"/>
            <p:cNvSpPr txBox="1">
              <a:spLocks noChangeArrowheads="1"/>
            </p:cNvSpPr>
            <p:nvPr/>
          </p:nvSpPr>
          <p:spPr bwMode="auto">
            <a:xfrm>
              <a:off x="2373020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5</a:t>
              </a:r>
            </a:p>
          </p:txBody>
        </p:sp>
        <p:sp>
          <p:nvSpPr>
            <p:cNvPr id="157" name="Text Box 15"/>
            <p:cNvSpPr txBox="1">
              <a:spLocks noChangeArrowheads="1"/>
            </p:cNvSpPr>
            <p:nvPr/>
          </p:nvSpPr>
          <p:spPr bwMode="auto">
            <a:xfrm>
              <a:off x="2662752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6</a:t>
              </a:r>
            </a:p>
          </p:txBody>
        </p:sp>
        <p:sp>
          <p:nvSpPr>
            <p:cNvPr id="158" name="Text Box 17"/>
            <p:cNvSpPr txBox="1">
              <a:spLocks noChangeArrowheads="1"/>
            </p:cNvSpPr>
            <p:nvPr/>
          </p:nvSpPr>
          <p:spPr bwMode="auto">
            <a:xfrm>
              <a:off x="2952484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7</a:t>
              </a:r>
            </a:p>
          </p:txBody>
        </p:sp>
        <p:sp>
          <p:nvSpPr>
            <p:cNvPr id="159" name="Text Box 19"/>
            <p:cNvSpPr txBox="1">
              <a:spLocks noChangeArrowheads="1"/>
            </p:cNvSpPr>
            <p:nvPr/>
          </p:nvSpPr>
          <p:spPr bwMode="auto">
            <a:xfrm>
              <a:off x="3242216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8</a:t>
              </a:r>
            </a:p>
          </p:txBody>
        </p:sp>
        <p:sp>
          <p:nvSpPr>
            <p:cNvPr id="160" name="Text Box 21"/>
            <p:cNvSpPr txBox="1">
              <a:spLocks noChangeArrowheads="1"/>
            </p:cNvSpPr>
            <p:nvPr/>
          </p:nvSpPr>
          <p:spPr bwMode="auto">
            <a:xfrm>
              <a:off x="3531948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9</a:t>
              </a:r>
            </a:p>
          </p:txBody>
        </p:sp>
        <p:sp>
          <p:nvSpPr>
            <p:cNvPr id="161" name="Text Box 23"/>
            <p:cNvSpPr txBox="1">
              <a:spLocks noChangeArrowheads="1"/>
            </p:cNvSpPr>
            <p:nvPr/>
          </p:nvSpPr>
          <p:spPr bwMode="auto">
            <a:xfrm>
              <a:off x="3821680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10</a:t>
              </a:r>
            </a:p>
          </p:txBody>
        </p:sp>
        <p:sp>
          <p:nvSpPr>
            <p:cNvPr id="162" name="Text Box 25"/>
            <p:cNvSpPr txBox="1">
              <a:spLocks noChangeArrowheads="1"/>
            </p:cNvSpPr>
            <p:nvPr/>
          </p:nvSpPr>
          <p:spPr bwMode="auto">
            <a:xfrm>
              <a:off x="4111412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11</a:t>
              </a:r>
            </a:p>
          </p:txBody>
        </p:sp>
        <p:sp>
          <p:nvSpPr>
            <p:cNvPr id="163" name="Text Box 27"/>
            <p:cNvSpPr txBox="1">
              <a:spLocks noChangeArrowheads="1"/>
            </p:cNvSpPr>
            <p:nvPr/>
          </p:nvSpPr>
          <p:spPr bwMode="auto">
            <a:xfrm>
              <a:off x="4401144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12</a:t>
              </a:r>
            </a:p>
          </p:txBody>
        </p:sp>
        <p:sp>
          <p:nvSpPr>
            <p:cNvPr id="164" name="Text Box 29"/>
            <p:cNvSpPr txBox="1">
              <a:spLocks noChangeArrowheads="1"/>
            </p:cNvSpPr>
            <p:nvPr/>
          </p:nvSpPr>
          <p:spPr bwMode="auto">
            <a:xfrm>
              <a:off x="4690876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13</a:t>
              </a:r>
            </a:p>
          </p:txBody>
        </p:sp>
        <p:sp>
          <p:nvSpPr>
            <p:cNvPr id="165" name="Text Box 7"/>
            <p:cNvSpPr txBox="1">
              <a:spLocks noChangeArrowheads="1"/>
            </p:cNvSpPr>
            <p:nvPr/>
          </p:nvSpPr>
          <p:spPr bwMode="auto">
            <a:xfrm>
              <a:off x="924360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0</a:t>
              </a:r>
            </a:p>
          </p:txBody>
        </p:sp>
        <p:sp>
          <p:nvSpPr>
            <p:cNvPr id="166" name="Text Box 9"/>
            <p:cNvSpPr txBox="1">
              <a:spLocks noChangeArrowheads="1"/>
            </p:cNvSpPr>
            <p:nvPr/>
          </p:nvSpPr>
          <p:spPr bwMode="auto">
            <a:xfrm>
              <a:off x="1214092" y="3716950"/>
              <a:ext cx="449263" cy="247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sz="1100" b="0" dirty="0"/>
                <a:t>1</a:t>
              </a:r>
            </a:p>
          </p:txBody>
        </p:sp>
      </p:grpSp>
      <p:sp>
        <p:nvSpPr>
          <p:cNvPr id="168" name="Rectangle 167"/>
          <p:cNvSpPr>
            <a:spLocks noChangeArrowheads="1"/>
          </p:cNvSpPr>
          <p:nvPr/>
        </p:nvSpPr>
        <p:spPr bwMode="auto">
          <a:xfrm>
            <a:off x="482600" y="3517900"/>
            <a:ext cx="8128000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algn="just">
              <a:lnSpc>
                <a:spcPct val="90000"/>
              </a:lnSpc>
              <a:spcAft>
                <a:spcPct val="50000"/>
              </a:spcAft>
              <a:buFontTx/>
              <a:buChar char="•"/>
            </a:pPr>
            <a:r>
              <a:rPr lang="en-US" sz="2400" b="0" dirty="0"/>
              <a:t>What are the values of the following slice expressions?</a:t>
            </a:r>
            <a:endParaRPr lang="en-US" sz="2400" b="0" dirty="0">
              <a:latin typeface="Times New Roman"/>
              <a:cs typeface="Times New Roman"/>
            </a:endParaRPr>
          </a:p>
        </p:txBody>
      </p:sp>
      <p:grpSp>
        <p:nvGrpSpPr>
          <p:cNvPr id="5" name="Group 170"/>
          <p:cNvGrpSpPr/>
          <p:nvPr/>
        </p:nvGrpSpPr>
        <p:grpSpPr>
          <a:xfrm>
            <a:off x="838200" y="4038600"/>
            <a:ext cx="3352800" cy="400110"/>
            <a:chOff x="838200" y="4038600"/>
            <a:chExt cx="3352800" cy="400110"/>
          </a:xfrm>
        </p:grpSpPr>
        <p:sp>
          <p:nvSpPr>
            <p:cNvPr id="169" name="TextBox 168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(a)</a:t>
              </a: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ALPHABET[7:9]</a:t>
              </a:r>
            </a:p>
          </p:txBody>
        </p:sp>
      </p:grpSp>
      <p:grpSp>
        <p:nvGrpSpPr>
          <p:cNvPr id="6" name="Group 171"/>
          <p:cNvGrpSpPr/>
          <p:nvPr/>
        </p:nvGrpSpPr>
        <p:grpSpPr>
          <a:xfrm>
            <a:off x="838200" y="4471973"/>
            <a:ext cx="3352800" cy="400110"/>
            <a:chOff x="838200" y="4038600"/>
            <a:chExt cx="3352800" cy="400110"/>
          </a:xfrm>
        </p:grpSpPr>
        <p:sp>
          <p:nvSpPr>
            <p:cNvPr id="173" name="TextBox 172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b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ALPHABET[-3:-1]</a:t>
              </a:r>
            </a:p>
          </p:txBody>
        </p:sp>
      </p:grpSp>
      <p:grpSp>
        <p:nvGrpSpPr>
          <p:cNvPr id="7" name="Group 174"/>
          <p:cNvGrpSpPr/>
          <p:nvPr/>
        </p:nvGrpSpPr>
        <p:grpSpPr>
          <a:xfrm>
            <a:off x="838200" y="4905346"/>
            <a:ext cx="3352800" cy="400110"/>
            <a:chOff x="838200" y="4038600"/>
            <a:chExt cx="3352800" cy="400110"/>
          </a:xfrm>
        </p:grpSpPr>
        <p:sp>
          <p:nvSpPr>
            <p:cNvPr id="176" name="TextBox 175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c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ALPHABET[:3]</a:t>
              </a:r>
            </a:p>
          </p:txBody>
        </p:sp>
      </p:grpSp>
      <p:grpSp>
        <p:nvGrpSpPr>
          <p:cNvPr id="9" name="Group 177"/>
          <p:cNvGrpSpPr/>
          <p:nvPr/>
        </p:nvGrpSpPr>
        <p:grpSpPr>
          <a:xfrm>
            <a:off x="838200" y="5338719"/>
            <a:ext cx="3352800" cy="400110"/>
            <a:chOff x="838200" y="4038600"/>
            <a:chExt cx="3352800" cy="400110"/>
          </a:xfrm>
        </p:grpSpPr>
        <p:sp>
          <p:nvSpPr>
            <p:cNvPr id="179" name="TextBox 178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d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ALPHABET[-1:]</a:t>
              </a:r>
            </a:p>
          </p:txBody>
        </p:sp>
      </p:grpSp>
      <p:grpSp>
        <p:nvGrpSpPr>
          <p:cNvPr id="13" name="Group 186"/>
          <p:cNvGrpSpPr/>
          <p:nvPr/>
        </p:nvGrpSpPr>
        <p:grpSpPr>
          <a:xfrm>
            <a:off x="5029200" y="4038600"/>
            <a:ext cx="3352800" cy="400110"/>
            <a:chOff x="838200" y="4038600"/>
            <a:chExt cx="3352800" cy="400110"/>
          </a:xfrm>
        </p:grpSpPr>
        <p:sp>
          <p:nvSpPr>
            <p:cNvPr id="188" name="TextBox 187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f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ALPHABET[1:-1]</a:t>
              </a:r>
            </a:p>
          </p:txBody>
        </p:sp>
      </p:grpSp>
      <p:grpSp>
        <p:nvGrpSpPr>
          <p:cNvPr id="15" name="Group 189"/>
          <p:cNvGrpSpPr/>
          <p:nvPr/>
        </p:nvGrpSpPr>
        <p:grpSpPr>
          <a:xfrm>
            <a:off x="5029200" y="4471973"/>
            <a:ext cx="3352800" cy="400110"/>
            <a:chOff x="838200" y="4038600"/>
            <a:chExt cx="3352800" cy="400110"/>
          </a:xfrm>
        </p:grpSpPr>
        <p:sp>
          <p:nvSpPr>
            <p:cNvPr id="191" name="TextBox 190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g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ALPHABET[0:5:2]</a:t>
              </a:r>
            </a:p>
          </p:txBody>
        </p:sp>
      </p:grpSp>
      <p:grpSp>
        <p:nvGrpSpPr>
          <p:cNvPr id="17" name="Group 192"/>
          <p:cNvGrpSpPr/>
          <p:nvPr/>
        </p:nvGrpSpPr>
        <p:grpSpPr>
          <a:xfrm>
            <a:off x="5029200" y="4905346"/>
            <a:ext cx="3352800" cy="400110"/>
            <a:chOff x="838200" y="4038600"/>
            <a:chExt cx="3352800" cy="400110"/>
          </a:xfrm>
        </p:grpSpPr>
        <p:sp>
          <p:nvSpPr>
            <p:cNvPr id="194" name="TextBox 193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h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ALPHABET[::-1]</a:t>
              </a:r>
            </a:p>
          </p:txBody>
        </p:sp>
      </p:grpSp>
      <p:grpSp>
        <p:nvGrpSpPr>
          <p:cNvPr id="19" name="Group 195"/>
          <p:cNvGrpSpPr/>
          <p:nvPr/>
        </p:nvGrpSpPr>
        <p:grpSpPr>
          <a:xfrm>
            <a:off x="5029200" y="5338719"/>
            <a:ext cx="3352800" cy="400110"/>
            <a:chOff x="838200" y="4038600"/>
            <a:chExt cx="3352800" cy="400110"/>
          </a:xfrm>
        </p:grpSpPr>
        <p:sp>
          <p:nvSpPr>
            <p:cNvPr id="197" name="TextBox 196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i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ALPHABET[5:2:-1]</a:t>
              </a:r>
            </a:p>
          </p:txBody>
        </p:sp>
      </p:grpSp>
      <p:grpSp>
        <p:nvGrpSpPr>
          <p:cNvPr id="21" name="Group 198"/>
          <p:cNvGrpSpPr/>
          <p:nvPr/>
        </p:nvGrpSpPr>
        <p:grpSpPr>
          <a:xfrm>
            <a:off x="5029200" y="5772090"/>
            <a:ext cx="3429000" cy="400110"/>
            <a:chOff x="838200" y="4038600"/>
            <a:chExt cx="3429000" cy="400110"/>
          </a:xfrm>
        </p:grpSpPr>
        <p:sp>
          <p:nvSpPr>
            <p:cNvPr id="200" name="TextBox 199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j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1295400" y="4038600"/>
              <a:ext cx="297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ALPHABET[14:10:-2]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62517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70"/>
          <p:cNvGrpSpPr/>
          <p:nvPr/>
        </p:nvGrpSpPr>
        <p:grpSpPr>
          <a:xfrm>
            <a:off x="381000" y="838200"/>
            <a:ext cx="3352800" cy="400110"/>
            <a:chOff x="838200" y="4038600"/>
            <a:chExt cx="3352800" cy="400110"/>
          </a:xfrm>
        </p:grpSpPr>
        <p:sp>
          <p:nvSpPr>
            <p:cNvPr id="6" name="TextBox 5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(a)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ALPHABET[7:9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HI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8" name="Group 171"/>
          <p:cNvGrpSpPr/>
          <p:nvPr/>
        </p:nvGrpSpPr>
        <p:grpSpPr>
          <a:xfrm>
            <a:off x="381000" y="1271573"/>
            <a:ext cx="3962400" cy="400110"/>
            <a:chOff x="838200" y="4038600"/>
            <a:chExt cx="3962400" cy="400110"/>
          </a:xfrm>
        </p:grpSpPr>
        <p:sp>
          <p:nvSpPr>
            <p:cNvPr id="9" name="TextBox 8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b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95400" y="4038600"/>
              <a:ext cx="3505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ALPHABET[-3:-1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XY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11" name="Group 174"/>
          <p:cNvGrpSpPr/>
          <p:nvPr/>
        </p:nvGrpSpPr>
        <p:grpSpPr>
          <a:xfrm>
            <a:off x="381000" y="1704946"/>
            <a:ext cx="3352800" cy="400110"/>
            <a:chOff x="838200" y="4038600"/>
            <a:chExt cx="3352800" cy="400110"/>
          </a:xfrm>
        </p:grpSpPr>
        <p:sp>
          <p:nvSpPr>
            <p:cNvPr id="12" name="TextBox 11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c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ALPHABET[:3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ABC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14" name="Group 177"/>
          <p:cNvGrpSpPr/>
          <p:nvPr/>
        </p:nvGrpSpPr>
        <p:grpSpPr>
          <a:xfrm>
            <a:off x="381000" y="2138319"/>
            <a:ext cx="3352800" cy="400110"/>
            <a:chOff x="838200" y="4038600"/>
            <a:chExt cx="3352800" cy="400110"/>
          </a:xfrm>
        </p:grpSpPr>
        <p:sp>
          <p:nvSpPr>
            <p:cNvPr id="15" name="TextBox 14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d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ALPHABET[-1</a:t>
              </a:r>
              <a:r>
                <a:rPr lang="en-US" sz="2000" dirty="0" smtClean="0">
                  <a:latin typeface="Courier New"/>
                  <a:cs typeface="Courier New"/>
                </a:rPr>
                <a:t>:]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Z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17" name="Group 180"/>
          <p:cNvGrpSpPr/>
          <p:nvPr/>
        </p:nvGrpSpPr>
        <p:grpSpPr>
          <a:xfrm>
            <a:off x="381000" y="2571690"/>
            <a:ext cx="3886200" cy="400110"/>
            <a:chOff x="838200" y="4038600"/>
            <a:chExt cx="3886200" cy="400110"/>
          </a:xfrm>
        </p:grpSpPr>
        <p:sp>
          <p:nvSpPr>
            <p:cNvPr id="18" name="TextBox 17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e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95400" y="4038600"/>
              <a:ext cx="3429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ALPHABET[14:-12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[]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20" name="Group 186"/>
          <p:cNvGrpSpPr/>
          <p:nvPr/>
        </p:nvGrpSpPr>
        <p:grpSpPr>
          <a:xfrm>
            <a:off x="4572000" y="838200"/>
            <a:ext cx="4114800" cy="400110"/>
            <a:chOff x="838200" y="4038600"/>
            <a:chExt cx="4114800" cy="400110"/>
          </a:xfrm>
        </p:grpSpPr>
        <p:sp>
          <p:nvSpPr>
            <p:cNvPr id="21" name="TextBox 20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f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95400" y="4038600"/>
              <a:ext cx="3657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ALPHABET[1:-1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B to Y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23" name="Group 189"/>
          <p:cNvGrpSpPr/>
          <p:nvPr/>
        </p:nvGrpSpPr>
        <p:grpSpPr>
          <a:xfrm>
            <a:off x="4572000" y="1271573"/>
            <a:ext cx="3810000" cy="400110"/>
            <a:chOff x="838200" y="4038600"/>
            <a:chExt cx="3810000" cy="400110"/>
          </a:xfrm>
        </p:grpSpPr>
        <p:sp>
          <p:nvSpPr>
            <p:cNvPr id="24" name="TextBox 23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g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95400" y="4038600"/>
              <a:ext cx="3352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ALPHABET[0:5:2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ACE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26" name="Group 192"/>
          <p:cNvGrpSpPr/>
          <p:nvPr/>
        </p:nvGrpSpPr>
        <p:grpSpPr>
          <a:xfrm>
            <a:off x="4572000" y="1704946"/>
            <a:ext cx="3352800" cy="400110"/>
            <a:chOff x="838200" y="4038600"/>
            <a:chExt cx="3352800" cy="400110"/>
          </a:xfrm>
        </p:grpSpPr>
        <p:sp>
          <p:nvSpPr>
            <p:cNvPr id="27" name="TextBox 26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h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95400" y="40386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</a:t>
              </a:r>
              <a:r>
                <a:rPr lang="en-US" sz="2000" dirty="0" smtClean="0">
                  <a:latin typeface="Courier New"/>
                  <a:cs typeface="Courier New"/>
                </a:rPr>
                <a:t>[:]A to Z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29" name="Group 195"/>
          <p:cNvGrpSpPr/>
          <p:nvPr/>
        </p:nvGrpSpPr>
        <p:grpSpPr>
          <a:xfrm>
            <a:off x="4572000" y="2138319"/>
            <a:ext cx="3962400" cy="707886"/>
            <a:chOff x="838200" y="4038600"/>
            <a:chExt cx="3352800" cy="707886"/>
          </a:xfrm>
        </p:grpSpPr>
        <p:sp>
          <p:nvSpPr>
            <p:cNvPr id="30" name="TextBox 29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i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295400" y="4038600"/>
              <a:ext cx="2895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ALPHABET[5:2:-1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FED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grpSp>
        <p:nvGrpSpPr>
          <p:cNvPr id="32" name="Group 198"/>
          <p:cNvGrpSpPr/>
          <p:nvPr/>
        </p:nvGrpSpPr>
        <p:grpSpPr>
          <a:xfrm>
            <a:off x="4572000" y="2571690"/>
            <a:ext cx="4038600" cy="400110"/>
            <a:chOff x="838200" y="4038600"/>
            <a:chExt cx="4038600" cy="400110"/>
          </a:xfrm>
        </p:grpSpPr>
        <p:sp>
          <p:nvSpPr>
            <p:cNvPr id="33" name="TextBox 32"/>
            <p:cNvSpPr txBox="1"/>
            <p:nvPr/>
          </p:nvSpPr>
          <p:spPr>
            <a:xfrm>
              <a:off x="838200" y="4038600"/>
              <a:ext cx="533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0" dirty="0">
                  <a:latin typeface="Times New Roman"/>
                  <a:cs typeface="Times New Roman"/>
                </a:rPr>
                <a:t>(</a:t>
              </a:r>
              <a:r>
                <a:rPr lang="en-US" sz="2000" b="0" dirty="0" err="1">
                  <a:latin typeface="Times New Roman"/>
                  <a:cs typeface="Times New Roman"/>
                </a:rPr>
                <a:t>j</a:t>
              </a:r>
              <a:r>
                <a:rPr lang="en-US" sz="2000" b="0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95400" y="4038600"/>
              <a:ext cx="3581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urier New"/>
                  <a:cs typeface="Courier New"/>
                </a:rPr>
                <a:t>ALPHABET[14:10:-2</a:t>
              </a:r>
              <a:r>
                <a:rPr lang="en-US" sz="2000" dirty="0" smtClean="0">
                  <a:latin typeface="Courier New"/>
                  <a:cs typeface="Courier New"/>
                </a:rPr>
                <a:t>]</a:t>
              </a:r>
              <a:r>
                <a:rPr lang="en-US" sz="2000" dirty="0" smtClean="0">
                  <a:latin typeface="Courier New"/>
                  <a:cs typeface="Courier New"/>
                  <a:sym typeface="Wingdings" pitchFamily="2" charset="2"/>
                </a:rPr>
                <a:t>OM</a:t>
              </a:r>
              <a:endParaRPr lang="en-US" sz="2000" dirty="0">
                <a:latin typeface="Courier New"/>
                <a:cs typeface="Courier New"/>
              </a:endParaRPr>
            </a:p>
          </p:txBody>
        </p:sp>
      </p:grpSp>
      <p:sp>
        <p:nvSpPr>
          <p:cNvPr id="36" name="Rectangle 1"/>
          <p:cNvSpPr>
            <a:spLocks noChangeArrowheads="1"/>
          </p:cNvSpPr>
          <p:nvPr/>
        </p:nvSpPr>
        <p:spPr bwMode="auto">
          <a:xfrm>
            <a:off x="609600" y="3962400"/>
            <a:ext cx="5029200" cy="12772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text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=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cs typeface="Arial" pitchFamily="34" charset="0"/>
              </a:rPr>
              <a:t>'SHIFT'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for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in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range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cs typeface="Arial" pitchFamily="34" charset="0"/>
              </a:rPr>
              <a:t>0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,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cs typeface="Arial" pitchFamily="34" charset="0"/>
              </a:rPr>
              <a:t>6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):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	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newtext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=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text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[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:]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+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text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[: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]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	print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newtext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97" y="478358"/>
            <a:ext cx="79152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pc="15" dirty="0" smtClean="0">
                <a:solidFill>
                  <a:srgbClr val="FF0000"/>
                </a:solidFill>
              </a:rPr>
              <a:t>S</a:t>
            </a:r>
            <a:r>
              <a:rPr spc="15" dirty="0" smtClean="0">
                <a:solidFill>
                  <a:srgbClr val="FF0000"/>
                </a:solidFill>
              </a:rPr>
              <a:t>tring</a:t>
            </a:r>
            <a:r>
              <a:rPr spc="-85" dirty="0" smtClean="0">
                <a:solidFill>
                  <a:srgbClr val="FF0000"/>
                </a:solidFill>
              </a:rPr>
              <a:t> </a:t>
            </a:r>
            <a:r>
              <a:rPr spc="10" dirty="0">
                <a:solidFill>
                  <a:srgbClr val="FF0000"/>
                </a:solidFill>
              </a:rPr>
              <a:t>comparision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555942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60115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str1="</a:t>
            </a:r>
            <a:r>
              <a:rPr sz="3200" spc="5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reen"  str2="black"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3200" dirty="0">
                <a:latin typeface="Times New Roman"/>
                <a:cs typeface="Times New Roman"/>
              </a:rPr>
              <a:t>print("Is both Equal:",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str1==str2)  print("Is str1&gt; str2:", str1&gt;str2)  print("Is str1&lt; str2:",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str1&lt;str2)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9800" y="4800536"/>
            <a:ext cx="2286000" cy="147764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spc="-25" dirty="0"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92075" marR="4095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both </a:t>
            </a:r>
            <a:r>
              <a:rPr sz="1800" spc="-10" dirty="0">
                <a:latin typeface="Calibri"/>
                <a:cs typeface="Calibri"/>
              </a:rPr>
              <a:t>Equal: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False 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str1&gt; str2: </a:t>
            </a:r>
            <a:r>
              <a:rPr sz="1800" spc="-30" dirty="0">
                <a:latin typeface="Calibri"/>
                <a:cs typeface="Calibri"/>
              </a:rPr>
              <a:t>True 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str1&lt; str2:</a:t>
            </a:r>
            <a:r>
              <a:rPr sz="1800" spc="-15" dirty="0">
                <a:latin typeface="Calibri"/>
                <a:cs typeface="Calibri"/>
              </a:rPr>
              <a:t> False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3698" y="478358"/>
            <a:ext cx="67570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" dirty="0">
                <a:solidFill>
                  <a:srgbClr val="FF0000"/>
                </a:solidFill>
              </a:rPr>
              <a:t>String </a:t>
            </a:r>
            <a:r>
              <a:rPr spc="5" dirty="0">
                <a:solidFill>
                  <a:srgbClr val="FF0000"/>
                </a:solidFill>
              </a:rPr>
              <a:t>formatting</a:t>
            </a:r>
            <a:r>
              <a:rPr spc="-90" dirty="0">
                <a:solidFill>
                  <a:srgbClr val="FF0000"/>
                </a:solidFill>
              </a:rPr>
              <a:t> </a:t>
            </a:r>
            <a:r>
              <a:rPr spc="-15" dirty="0">
                <a:solidFill>
                  <a:srgbClr val="FF0000"/>
                </a:solidFill>
              </a:rPr>
              <a:t>operator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619833"/>
            <a:ext cx="8686800" cy="22089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197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String formatting operator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% </a:t>
            </a:r>
            <a:r>
              <a:rPr sz="2400" dirty="0">
                <a:latin typeface="Times New Roman"/>
                <a:cs typeface="Times New Roman"/>
              </a:rPr>
              <a:t>is unique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 strings.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Example:</a:t>
            </a:r>
            <a:endParaRPr sz="2400" dirty="0">
              <a:latin typeface="Times New Roman"/>
              <a:cs typeface="Times New Roman"/>
            </a:endParaRPr>
          </a:p>
          <a:p>
            <a:pPr marL="12700" marR="329565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cs typeface="Times New Roman"/>
              </a:rPr>
              <a:t>print(</a:t>
            </a:r>
            <a:r>
              <a:rPr sz="2000" b="1" dirty="0">
                <a:solidFill>
                  <a:srgbClr val="00AF50"/>
                </a:solidFill>
                <a:cs typeface="Times New Roman"/>
              </a:rPr>
              <a:t>"My name is </a:t>
            </a:r>
            <a:r>
              <a:rPr sz="2000" b="1" dirty="0">
                <a:solidFill>
                  <a:srgbClr val="FF0000"/>
                </a:solidFill>
                <a:cs typeface="Times New Roman"/>
              </a:rPr>
              <a:t>%s </a:t>
            </a:r>
            <a:r>
              <a:rPr sz="2000" b="1" dirty="0">
                <a:solidFill>
                  <a:srgbClr val="00AF50"/>
                </a:solidFill>
                <a:cs typeface="Times New Roman"/>
              </a:rPr>
              <a:t>and </a:t>
            </a:r>
            <a:r>
              <a:rPr lang="en-US" sz="2000" b="1" dirty="0" smtClean="0">
                <a:solidFill>
                  <a:srgbClr val="00AF50"/>
                </a:solidFill>
                <a:cs typeface="Times New Roman"/>
              </a:rPr>
              <a:t>I </a:t>
            </a:r>
            <a:r>
              <a:rPr sz="2000" b="1" spc="-10" dirty="0" smtClean="0">
                <a:solidFill>
                  <a:srgbClr val="00AF50"/>
                </a:solidFill>
                <a:cs typeface="Times New Roman"/>
              </a:rPr>
              <a:t>secured</a:t>
            </a:r>
            <a:r>
              <a:rPr sz="2000" b="1" spc="-95" dirty="0" smtClean="0">
                <a:solidFill>
                  <a:srgbClr val="00AF50"/>
                </a:solidFill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cs typeface="Times New Roman"/>
              </a:rPr>
              <a:t>%d  </a:t>
            </a:r>
            <a:r>
              <a:rPr sz="2000" b="1" dirty="0">
                <a:solidFill>
                  <a:srgbClr val="00AF50"/>
                </a:solidFill>
                <a:cs typeface="Times New Roman"/>
              </a:rPr>
              <a:t>marks in </a:t>
            </a:r>
            <a:r>
              <a:rPr sz="2000" b="1" spc="-5" dirty="0">
                <a:solidFill>
                  <a:srgbClr val="00AF50"/>
                </a:solidFill>
                <a:cs typeface="Times New Roman"/>
              </a:rPr>
              <a:t>python”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%</a:t>
            </a:r>
            <a:r>
              <a:rPr sz="2000" spc="-5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dirty="0">
                <a:cs typeface="Times New Roman"/>
              </a:rPr>
              <a:t>("Arbaz",92))</a:t>
            </a:r>
          </a:p>
          <a:p>
            <a:pPr marL="355600" indent="-342900"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Output:</a:t>
            </a:r>
          </a:p>
          <a:p>
            <a:pPr marL="12700" marR="5080">
              <a:lnSpc>
                <a:spcPct val="100000"/>
              </a:lnSpc>
              <a:spcBef>
                <a:spcPts val="765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	</a:t>
            </a:r>
            <a:r>
              <a:rPr sz="2400" dirty="0" smtClean="0">
                <a:latin typeface="Times New Roman"/>
                <a:cs typeface="Times New Roman"/>
              </a:rPr>
              <a:t>My </a:t>
            </a:r>
            <a:r>
              <a:rPr sz="2400" dirty="0">
                <a:latin typeface="Times New Roman"/>
                <a:cs typeface="Times New Roman"/>
              </a:rPr>
              <a:t>name is Arbaz and </a:t>
            </a:r>
            <a:r>
              <a:rPr lang="en-US" sz="2400" dirty="0" smtClean="0">
                <a:latin typeface="Times New Roman"/>
                <a:cs typeface="Times New Roman"/>
              </a:rPr>
              <a:t>I</a:t>
            </a:r>
            <a:r>
              <a:rPr sz="2400" dirty="0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secured 92 marks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6414" y="478358"/>
            <a:ext cx="74980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5" dirty="0"/>
              <a:t>String </a:t>
            </a:r>
            <a:r>
              <a:rPr dirty="0"/>
              <a:t>functions and</a:t>
            </a:r>
            <a:r>
              <a:rPr spc="-60" dirty="0"/>
              <a:t> </a:t>
            </a:r>
            <a:r>
              <a:rPr spc="-5" dirty="0"/>
              <a:t>methods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18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593850"/>
          <a:ext cx="8534398" cy="472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6880"/>
                <a:gridCol w="1706880"/>
                <a:gridCol w="1706880"/>
                <a:gridCol w="1706879"/>
                <a:gridCol w="1706879"/>
              </a:tblGrid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len()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min()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max()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isalnum()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isalpha()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isdigit()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islower()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isuppe()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isspace()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isidentifier()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endswith()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startswith()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find()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count()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capitalize()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title()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lower()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upper()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swapcase()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replace()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center()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ljust()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rjust()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center()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isstrip()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rstrip()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strip()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506" y="478358"/>
            <a:ext cx="7552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mtClean="0"/>
              <a:t> </a:t>
            </a:r>
            <a:r>
              <a:rPr spc="-15" dirty="0"/>
              <a:t>Converting </a:t>
            </a:r>
            <a:r>
              <a:rPr spc="15" dirty="0"/>
              <a:t>string</a:t>
            </a:r>
            <a:r>
              <a:rPr spc="-25" dirty="0"/>
              <a:t> </a:t>
            </a:r>
            <a:r>
              <a:rPr dirty="0"/>
              <a:t>functions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19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390650"/>
          <a:ext cx="7620000" cy="47891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/>
                <a:gridCol w="4800600"/>
              </a:tblGrid>
              <a:tr h="701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captitalize()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Only First character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capitalized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96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lower()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All character converted to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lowercase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upper()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All character converted to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uppercase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title()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First character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capitalized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 each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word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293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swapcase()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083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Lower case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letters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 converted to  Uppercase and Uppercase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letters</a:t>
                      </a:r>
                      <a:r>
                        <a:rPr sz="20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  converted to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Lowercase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963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replace(old,new)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Replaces old string with </a:t>
                      </a:r>
                      <a:r>
                        <a:rPr sz="2000" dirty="0" smtClean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lang="en-US" sz="2000" dirty="0" smtClean="0">
                          <a:latin typeface="Times New Roman"/>
                          <a:cs typeface="Times New Roman"/>
                        </a:rPr>
                        <a:t>ew</a:t>
                      </a:r>
                      <a:r>
                        <a:rPr sz="2000" spc="-11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1724"/>
            <a:ext cx="5229225" cy="30988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0" dirty="0">
                <a:latin typeface="Times New Roman"/>
                <a:cs typeface="Times New Roman"/>
              </a:rPr>
              <a:t>Program:</a:t>
            </a: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400" dirty="0">
                <a:latin typeface="Times New Roman"/>
                <a:cs typeface="Times New Roman"/>
              </a:rPr>
              <a:t>str=input("Enter any string:")  print("String </a:t>
            </a:r>
            <a:r>
              <a:rPr sz="2400" spc="-5" dirty="0">
                <a:latin typeface="Times New Roman"/>
                <a:cs typeface="Times New Roman"/>
              </a:rPr>
              <a:t>Capitalized:",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str.capitalize()</a:t>
            </a:r>
            <a:r>
              <a:rPr sz="2400" spc="-10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lower case:",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str.lower()</a:t>
            </a:r>
            <a:r>
              <a:rPr sz="2400" spc="-10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upper case:",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str.upper()</a:t>
            </a:r>
            <a:r>
              <a:rPr sz="2400" spc="-10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title case:",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str.title()</a:t>
            </a:r>
            <a:r>
              <a:rPr sz="2400" spc="-15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</a:t>
            </a:r>
            <a:r>
              <a:rPr sz="2400" spc="-5" dirty="0">
                <a:latin typeface="Times New Roman"/>
                <a:cs typeface="Times New Roman"/>
              </a:rPr>
              <a:t>swap </a:t>
            </a:r>
            <a:r>
              <a:rPr sz="2400" dirty="0">
                <a:latin typeface="Times New Roman"/>
                <a:cs typeface="Times New Roman"/>
              </a:rPr>
              <a:t>case:",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str.swapcase()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3247720"/>
            <a:ext cx="9032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2555" algn="l"/>
              </a:tabLst>
            </a:pPr>
            <a:r>
              <a:rPr sz="2400" dirty="0">
                <a:latin typeface="Times New Roman"/>
                <a:cs typeface="Times New Roman"/>
              </a:rPr>
              <a:t>print("String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	</a:t>
            </a:r>
            <a:r>
              <a:rPr sz="2400" spc="-5" dirty="0">
                <a:latin typeface="Times New Roman"/>
                <a:cs typeface="Times New Roman"/>
              </a:rPr>
              <a:t>case:",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str.replace("python","python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programming")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7202" y="6477914"/>
            <a:ext cx="53282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  <a:tabLst>
                <a:tab pos="5172075" algn="l"/>
              </a:tabLst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oblem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S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olving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yt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on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og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ammi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g	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8000" y="3995661"/>
            <a:ext cx="6065520" cy="2585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b="1" spc="-5" dirty="0"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92075" marR="211963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Enter </a:t>
            </a:r>
            <a:r>
              <a:rPr sz="1800" spc="-15" dirty="0">
                <a:latin typeface="Calibri"/>
                <a:cs typeface="Calibri"/>
              </a:rPr>
              <a:t>any </a:t>
            </a:r>
            <a:r>
              <a:rPr sz="1800" spc="-10" dirty="0">
                <a:latin typeface="Calibri"/>
                <a:cs typeface="Calibri"/>
              </a:rPr>
              <a:t>string: </a:t>
            </a:r>
            <a:r>
              <a:rPr sz="1800" spc="-15" dirty="0">
                <a:latin typeface="Calibri"/>
                <a:cs typeface="Calibri"/>
              </a:rPr>
              <a:t>Welcome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python  </a:t>
            </a:r>
            <a:r>
              <a:rPr sz="1800" spc="-5" dirty="0">
                <a:latin typeface="Calibri"/>
                <a:cs typeface="Calibri"/>
              </a:rPr>
              <a:t>String </a:t>
            </a:r>
            <a:r>
              <a:rPr sz="1800" spc="-10" dirty="0">
                <a:latin typeface="Calibri"/>
                <a:cs typeface="Calibri"/>
              </a:rPr>
              <a:t>Capitalized: </a:t>
            </a:r>
            <a:r>
              <a:rPr sz="1800" spc="-15" dirty="0">
                <a:latin typeface="Calibri"/>
                <a:cs typeface="Calibri"/>
              </a:rPr>
              <a:t>Welcome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python  </a:t>
            </a:r>
            <a:r>
              <a:rPr sz="1800" spc="-5" dirty="0">
                <a:latin typeface="Calibri"/>
                <a:cs typeface="Calibri"/>
              </a:rPr>
              <a:t>String </a:t>
            </a:r>
            <a:r>
              <a:rPr sz="1800" spc="-10" dirty="0">
                <a:latin typeface="Calibri"/>
                <a:cs typeface="Calibri"/>
              </a:rPr>
              <a:t>lower </a:t>
            </a:r>
            <a:r>
              <a:rPr sz="1800" spc="-5" dirty="0">
                <a:latin typeface="Calibri"/>
                <a:cs typeface="Calibri"/>
              </a:rPr>
              <a:t>case: </a:t>
            </a:r>
            <a:r>
              <a:rPr sz="1800" spc="-10" dirty="0">
                <a:latin typeface="Calibri"/>
                <a:cs typeface="Calibri"/>
              </a:rPr>
              <a:t>welcome to </a:t>
            </a:r>
            <a:r>
              <a:rPr sz="1800" dirty="0">
                <a:latin typeface="Calibri"/>
                <a:cs typeface="Calibri"/>
              </a:rPr>
              <a:t>python  </a:t>
            </a:r>
            <a:r>
              <a:rPr sz="1800" spc="-5" dirty="0">
                <a:latin typeface="Calibri"/>
                <a:cs typeface="Calibri"/>
              </a:rPr>
              <a:t>String upper case: </a:t>
            </a:r>
            <a:r>
              <a:rPr sz="1800" spc="-10" dirty="0">
                <a:latin typeface="Calibri"/>
                <a:cs typeface="Calibri"/>
              </a:rPr>
              <a:t>WELCOME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PYTHON  </a:t>
            </a:r>
            <a:r>
              <a:rPr sz="1800" spc="-5" dirty="0">
                <a:latin typeface="Calibri"/>
                <a:cs typeface="Calibri"/>
              </a:rPr>
              <a:t>String </a:t>
            </a:r>
            <a:r>
              <a:rPr sz="1800" spc="-10" dirty="0">
                <a:latin typeface="Calibri"/>
                <a:cs typeface="Calibri"/>
              </a:rPr>
              <a:t>title </a:t>
            </a:r>
            <a:r>
              <a:rPr sz="1800" spc="-5" dirty="0">
                <a:latin typeface="Calibri"/>
                <a:cs typeface="Calibri"/>
              </a:rPr>
              <a:t>case: </a:t>
            </a:r>
            <a:r>
              <a:rPr sz="1800" spc="-15" dirty="0">
                <a:latin typeface="Calibri"/>
                <a:cs typeface="Calibri"/>
              </a:rPr>
              <a:t>Welcome </a:t>
            </a:r>
            <a:r>
              <a:rPr sz="1800" spc="-8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Python  </a:t>
            </a:r>
            <a:r>
              <a:rPr sz="1800" spc="-5" dirty="0">
                <a:latin typeface="Calibri"/>
                <a:cs typeface="Calibri"/>
              </a:rPr>
              <a:t>String </a:t>
            </a:r>
            <a:r>
              <a:rPr sz="1800" spc="-10" dirty="0">
                <a:latin typeface="Calibri"/>
                <a:cs typeface="Calibri"/>
              </a:rPr>
              <a:t>swap </a:t>
            </a:r>
            <a:r>
              <a:rPr sz="1800" spc="-5" dirty="0">
                <a:latin typeface="Calibri"/>
                <a:cs typeface="Calibri"/>
              </a:rPr>
              <a:t>case: </a:t>
            </a:r>
            <a:r>
              <a:rPr sz="1800" spc="-10" dirty="0">
                <a:latin typeface="Calibri"/>
                <a:cs typeface="Calibri"/>
              </a:rPr>
              <a:t>wELCOME </a:t>
            </a:r>
            <a:r>
              <a:rPr sz="1800" spc="-25" dirty="0">
                <a:latin typeface="Calibri"/>
                <a:cs typeface="Calibri"/>
              </a:rPr>
              <a:t>TO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PYTHON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String replace case: </a:t>
            </a:r>
            <a:r>
              <a:rPr sz="1800" spc="-15" dirty="0">
                <a:latin typeface="Calibri"/>
                <a:cs typeface="Calibri"/>
              </a:rPr>
              <a:t>Welcome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862" y="478358"/>
            <a:ext cx="7183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 smtClean="0"/>
              <a:t> </a:t>
            </a:r>
            <a:r>
              <a:rPr spc="-35" dirty="0"/>
              <a:t>Testing</a:t>
            </a:r>
            <a:r>
              <a:rPr spc="-215" dirty="0"/>
              <a:t> </a:t>
            </a:r>
            <a:r>
              <a:rPr dirty="0"/>
              <a:t>String/Character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67202" y="6477914"/>
            <a:ext cx="53282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  <a:tabLst>
                <a:tab pos="5172075" algn="l"/>
              </a:tabLst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oblem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S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olving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yt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on</a:t>
            </a:r>
            <a:r>
              <a:rPr sz="12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og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ammi</a:t>
            </a:r>
            <a:r>
              <a:rPr sz="1200" spc="5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g	23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850" y="1390650"/>
          <a:ext cx="8611235" cy="5239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6285"/>
                <a:gridCol w="6584950"/>
              </a:tblGrid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isalnum()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52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 alphanumeric and there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atleast one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isalpha()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alphabetic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isdigit()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contains only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74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islower()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 lowercase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letters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174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isupper()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 uppercase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letters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74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isspace()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contains only whitespace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characters.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045" y="186893"/>
            <a:ext cx="1959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latin typeface="Calibri"/>
                <a:cs typeface="Calibri"/>
              </a:rPr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89050"/>
            <a:ext cx="578104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a=input(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"Enter any string:")  </a:t>
            </a:r>
            <a:r>
              <a:rPr sz="3200" dirty="0">
                <a:latin typeface="Times New Roman"/>
                <a:cs typeface="Times New Roman"/>
              </a:rPr>
              <a:t>pri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5" dirty="0">
                <a:latin typeface="Times New Roman"/>
                <a:cs typeface="Times New Roman"/>
              </a:rPr>
              <a:t>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"Alphanumer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c:</a:t>
            </a:r>
            <a:r>
              <a:rPr sz="3200" spc="5" dirty="0">
                <a:solidFill>
                  <a:srgbClr val="00AF50"/>
                </a:solidFill>
                <a:latin typeface="Times New Roman"/>
                <a:cs typeface="Times New Roman"/>
              </a:rPr>
              <a:t>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a.isalnu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"Alphabetic:"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a.isalpha()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"Digits:"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a.isdigit()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"Lowecase:"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a.islower()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4013072"/>
            <a:ext cx="43815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"Upper:"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a.isupper()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88991" y="4279391"/>
            <a:ext cx="3927348" cy="1938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3000" y="4343400"/>
            <a:ext cx="3745103" cy="17564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33950" y="4324350"/>
            <a:ext cx="3783329" cy="1794510"/>
          </a:xfrm>
          <a:custGeom>
            <a:avLst/>
            <a:gdLst/>
            <a:ahLst/>
            <a:cxnLst/>
            <a:rect l="l" t="t" r="r" b="b"/>
            <a:pathLst>
              <a:path w="3783329" h="1794510">
                <a:moveTo>
                  <a:pt x="0" y="1794510"/>
                </a:moveTo>
                <a:lnTo>
                  <a:pt x="3783203" y="1794510"/>
                </a:lnTo>
                <a:lnTo>
                  <a:pt x="3783203" y="0"/>
                </a:lnTo>
                <a:lnTo>
                  <a:pt x="0" y="0"/>
                </a:lnTo>
                <a:lnTo>
                  <a:pt x="0" y="179451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37757" y="3828669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Output: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226" y="478358"/>
            <a:ext cx="6697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mtClean="0"/>
              <a:t> </a:t>
            </a:r>
            <a:r>
              <a:rPr spc="-20" dirty="0"/>
              <a:t>Searching </a:t>
            </a:r>
            <a:r>
              <a:rPr spc="25" dirty="0"/>
              <a:t>for</a:t>
            </a:r>
            <a:r>
              <a:rPr spc="-5" dirty="0"/>
              <a:t> </a:t>
            </a:r>
            <a:r>
              <a:rPr spc="10" dirty="0"/>
              <a:t>substring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23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850" y="1390650"/>
          <a:ext cx="8611235" cy="3321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6285"/>
                <a:gridCol w="6584950"/>
              </a:tblGrid>
              <a:tr h="5565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Endswith()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ends with 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Startswith()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starts with 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Find()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lowest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index or -1 if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found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7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Count()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 occurrences 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445" y="478358"/>
            <a:ext cx="2226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</a:t>
            </a:r>
            <a:r>
              <a:rPr spc="-190" dirty="0"/>
              <a:t>r</a:t>
            </a:r>
            <a:r>
              <a:rPr spc="-5" dirty="0"/>
              <a:t>og</a:t>
            </a:r>
            <a:r>
              <a:rPr spc="-120" dirty="0"/>
              <a:t>r</a:t>
            </a:r>
            <a:r>
              <a:rPr dirty="0"/>
              <a:t>am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dirty="0"/>
              <a:pPr marL="25400">
                <a:lnSpc>
                  <a:spcPts val="1240"/>
                </a:lnSpc>
              </a:pPr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5391"/>
            <a:ext cx="7885430" cy="2586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Times New Roman"/>
                <a:cs typeface="Times New Roman"/>
              </a:rPr>
              <a:t>a=input(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"Enter any</a:t>
            </a:r>
            <a:r>
              <a:rPr sz="28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string:"</a:t>
            </a:r>
            <a:r>
              <a:rPr sz="280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800" dirty="0">
                <a:latin typeface="Times New Roman"/>
                <a:cs typeface="Times New Roman"/>
              </a:rPr>
              <a:t>print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("Is string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ends with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thon:"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a.endswith("thon")</a:t>
            </a:r>
            <a:r>
              <a:rPr sz="2800" spc="-5" dirty="0">
                <a:latin typeface="Times New Roman"/>
                <a:cs typeface="Times New Roman"/>
              </a:rPr>
              <a:t>)  </a:t>
            </a:r>
            <a:r>
              <a:rPr sz="2800" dirty="0">
                <a:latin typeface="Times New Roman"/>
                <a:cs typeface="Times New Roman"/>
              </a:rPr>
              <a:t>print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("Is string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starts with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good:"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a.startswith("good")</a:t>
            </a:r>
            <a:r>
              <a:rPr sz="2800" dirty="0">
                <a:latin typeface="Times New Roman"/>
                <a:cs typeface="Times New Roman"/>
              </a:rPr>
              <a:t>)  print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("Find:"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a.find("ython")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"Count:"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a.count(“o")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5200" y="4495762"/>
            <a:ext cx="4572000" cy="20313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800" b="1" spc="-5" dirty="0">
                <a:latin typeface="Times New Roman"/>
                <a:cs typeface="Times New Roman"/>
              </a:rPr>
              <a:t>Output: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92075" marR="10795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Enter any string : </a:t>
            </a:r>
            <a:r>
              <a:rPr sz="1800" spc="-5" dirty="0">
                <a:latin typeface="Times New Roman"/>
                <a:cs typeface="Times New Roman"/>
              </a:rPr>
              <a:t>welcome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 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string ends with thon: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True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string starts with good: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False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Find: </a:t>
            </a:r>
            <a:r>
              <a:rPr sz="1800" dirty="0">
                <a:latin typeface="Times New Roman"/>
                <a:cs typeface="Times New Roman"/>
              </a:rPr>
              <a:t>12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Count: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533400"/>
            <a:ext cx="86106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Q. Write a program in python that accepts a string to setup a  passwords. Your entered password must meet the following requirements: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* The password must be at least eight characters long.</a:t>
            </a:r>
            <a:br>
              <a:rPr lang="en-US" b="1" dirty="0" smtClean="0"/>
            </a:br>
            <a:r>
              <a:rPr lang="en-US" b="1" dirty="0" smtClean="0"/>
              <a:t>* It must contain at least one uppercase letter.</a:t>
            </a:r>
            <a:br>
              <a:rPr lang="en-US" b="1" dirty="0" smtClean="0"/>
            </a:br>
            <a:r>
              <a:rPr lang="en-US" b="1" dirty="0" smtClean="0"/>
              <a:t>* It must contain at least one lowercase letter.</a:t>
            </a:r>
            <a:br>
              <a:rPr lang="en-US" b="1" dirty="0" smtClean="0"/>
            </a:br>
            <a:r>
              <a:rPr lang="en-US" b="1" dirty="0" smtClean="0"/>
              <a:t>* It must contain at least one numeric digit.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304800" y="25908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Your program should  perform this validation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33400" y="533400"/>
            <a:ext cx="5334000" cy="55861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length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lower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upper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digit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False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FMono-Regular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password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input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SFMono-Regular"/>
                <a:cs typeface="Arial" pitchFamily="34" charset="0"/>
              </a:rPr>
              <a:t>'Enter the password: '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666600"/>
              </a:solidFill>
              <a:effectLst/>
              <a:latin typeface="SFMono-Regular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len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password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)&gt;=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SFMono-Regular"/>
                <a:cs typeface="Arial" pitchFamily="34" charset="0"/>
              </a:rPr>
              <a:t>8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SFMono-Regular"/>
                <a:cs typeface="Arial" pitchFamily="34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length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True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88"/>
                </a:solidFill>
                <a:latin typeface="SFMono-Regular"/>
                <a:cs typeface="Arial" pitchFamily="34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for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letter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in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password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666600"/>
                </a:solidFill>
                <a:latin typeface="SFMono-Regular"/>
                <a:cs typeface="Arial" pitchFamily="34" charset="0"/>
              </a:rPr>
              <a:t>	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letter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.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islower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():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SFMono-Regular"/>
                <a:cs typeface="Arial" pitchFamily="34" charset="0"/>
              </a:rPr>
              <a:t>	      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lower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True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SFMono-Regular"/>
                <a:cs typeface="Arial" pitchFamily="34" charset="0"/>
              </a:rPr>
              <a:t>                   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elif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letter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.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isupper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():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SFMono-Regular"/>
                <a:cs typeface="Arial" pitchFamily="34" charset="0"/>
              </a:rPr>
              <a:t>                   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upper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True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SFMono-Regular"/>
                <a:cs typeface="Arial" pitchFamily="34" charset="0"/>
              </a:rPr>
              <a:t>                  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elif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letter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.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isdigit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():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SFMono-Regular"/>
                <a:cs typeface="Arial" pitchFamily="34" charset="0"/>
              </a:rPr>
              <a:t>                       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digit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True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length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and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lower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and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upper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and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digit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666600"/>
              </a:solidFill>
              <a:effectLst/>
              <a:latin typeface="SFMono-Regular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666600"/>
                </a:solidFill>
                <a:latin typeface="SFMono-Regular"/>
                <a:cs typeface="Arial" pitchFamily="34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print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SFMono-Regular"/>
                <a:cs typeface="Arial" pitchFamily="34" charset="0"/>
              </a:rPr>
              <a:t>'That is a valid password.'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else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666600"/>
                </a:solidFill>
                <a:latin typeface="SFMono-Regular"/>
                <a:cs typeface="Arial" pitchFamily="34" charset="0"/>
              </a:rPr>
              <a:t>	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SFMono-Regular"/>
                <a:cs typeface="Arial" pitchFamily="34" charset="0"/>
              </a:rPr>
              <a:t>print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SFMono-Regular"/>
                <a:cs typeface="Arial" pitchFamily="34" charset="0"/>
              </a:rPr>
              <a:t>'That password is not valid.'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SFMono-Regular"/>
                <a:cs typeface="Arial" pitchFamily="34" charset="0"/>
              </a:rPr>
              <a:t>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</TotalTime>
  <Words>1782</Words>
  <Application>Microsoft Office PowerPoint</Application>
  <PresentationFormat>On-screen Show (4:3)</PresentationFormat>
  <Paragraphs>428</Paragraphs>
  <Slides>26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Strings: string slices, immutability,  string functions and methods, string  module</vt:lpstr>
      <vt:lpstr>Strings</vt:lpstr>
      <vt:lpstr>Slide 4</vt:lpstr>
      <vt:lpstr>Slide 5</vt:lpstr>
      <vt:lpstr>Slide 6</vt:lpstr>
      <vt:lpstr>Slide 7</vt:lpstr>
      <vt:lpstr>Repetition(*)</vt:lpstr>
      <vt:lpstr>Strings are immutable</vt:lpstr>
      <vt:lpstr>Slide 10</vt:lpstr>
      <vt:lpstr>String Indexing</vt:lpstr>
      <vt:lpstr>Negative Indexing</vt:lpstr>
      <vt:lpstr>Slicing</vt:lpstr>
      <vt:lpstr>Example: Slicing</vt:lpstr>
      <vt:lpstr>Slide 15</vt:lpstr>
      <vt:lpstr>String comparision</vt:lpstr>
      <vt:lpstr>String formatting operator</vt:lpstr>
      <vt:lpstr>String functions and methods</vt:lpstr>
      <vt:lpstr> Converting string functions</vt:lpstr>
      <vt:lpstr>Program: str=input("Enter any string:")  print("String Capitalized:", str.capitalize())  print("String lower case:", str.lower())  print("String upper case:", str.upper())  print("String title case:", str.title())  print("String swap case:", str.swapcase())</vt:lpstr>
      <vt:lpstr> Testing String/Character</vt:lpstr>
      <vt:lpstr>Program</vt:lpstr>
      <vt:lpstr> Searching for substring</vt:lpstr>
      <vt:lpstr>Program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VizhiPrabha</dc:creator>
  <cp:lastModifiedBy>HOD MCA</cp:lastModifiedBy>
  <cp:revision>62</cp:revision>
  <dcterms:created xsi:type="dcterms:W3CDTF">2021-01-29T04:01:01Z</dcterms:created>
  <dcterms:modified xsi:type="dcterms:W3CDTF">2021-10-21T02:20:28Z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2021-01-29T00:00:00Z</vt:filetime>
  </property>
</Properties>
</file>