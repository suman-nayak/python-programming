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0"/>
  </p:notesMasterIdLst>
  <p:sldIdLst>
    <p:sldId id="268" r:id="rId3"/>
    <p:sldId id="257" r:id="rId4"/>
    <p:sldId id="258" r:id="rId5"/>
    <p:sldId id="259" r:id="rId6"/>
    <p:sldId id="260" r:id="rId7"/>
    <p:sldId id="261" r:id="rId8"/>
    <p:sldId id="264" r:id="rId9"/>
    <p:sldId id="262" r:id="rId10"/>
    <p:sldId id="263" r:id="rId11"/>
    <p:sldId id="265" r:id="rId12"/>
    <p:sldId id="266" r:id="rId13"/>
    <p:sldId id="269" r:id="rId14"/>
    <p:sldId id="308" r:id="rId15"/>
    <p:sldId id="270" r:id="rId16"/>
    <p:sldId id="267" r:id="rId17"/>
    <p:sldId id="271" r:id="rId18"/>
    <p:sldId id="274" r:id="rId19"/>
    <p:sldId id="272" r:id="rId20"/>
    <p:sldId id="273" r:id="rId21"/>
    <p:sldId id="278" r:id="rId22"/>
    <p:sldId id="276" r:id="rId23"/>
    <p:sldId id="279" r:id="rId24"/>
    <p:sldId id="277" r:id="rId25"/>
    <p:sldId id="280" r:id="rId26"/>
    <p:sldId id="281" r:id="rId27"/>
    <p:sldId id="282" r:id="rId28"/>
    <p:sldId id="283" r:id="rId29"/>
    <p:sldId id="286" r:id="rId30"/>
    <p:sldId id="284" r:id="rId31"/>
    <p:sldId id="285" r:id="rId32"/>
    <p:sldId id="287" r:id="rId33"/>
    <p:sldId id="288" r:id="rId34"/>
    <p:sldId id="290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12" r:id="rId51"/>
    <p:sldId id="314" r:id="rId52"/>
    <p:sldId id="313" r:id="rId53"/>
    <p:sldId id="310" r:id="rId54"/>
    <p:sldId id="311" r:id="rId55"/>
    <p:sldId id="309" r:id="rId56"/>
    <p:sldId id="307" r:id="rId57"/>
    <p:sldId id="305" r:id="rId58"/>
    <p:sldId id="306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6ED92-4A4E-4A8B-9FD9-E9A1AB9601DC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0A2C0-2FB6-47A8-AD62-9C4B70F245C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BEAAF7-FEF0-4003-855C-D012F478E5DF}" type="slidenum">
              <a:rPr lang="en-US"/>
              <a:pPr/>
              <a:t>20</a:t>
            </a:fld>
            <a:endParaRPr 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706AF3-FA84-4D8D-899A-E8FBB879AD7C}" type="slidenum">
              <a:rPr lang="en-US"/>
              <a:pPr/>
              <a:t>22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/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eaLnBrk="1" hangingPunct="1"/>
            <a:r>
              <a:rPr lang="en-US" altLang="en-US" sz="1200">
                <a:latin typeface="Times New Roman" pitchFamily="18" charset="0"/>
              </a:rPr>
              <a:t>Recursion in Pascal</a:t>
            </a:r>
          </a:p>
        </p:txBody>
      </p:sp>
      <p:sp>
        <p:nvSpPr>
          <p:cNvPr id="6758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eaLnBrk="1" hangingPunct="1"/>
            <a:fld id="{6F8BF6EC-96BF-483C-A000-AE1BEB99FA3A}" type="slidenum">
              <a:rPr lang="en-US" altLang="en-US" sz="1200">
                <a:latin typeface="Times New Roman" pitchFamily="18" charset="0"/>
              </a:rPr>
              <a:pPr algn="r" eaLnBrk="1" hangingPunct="1"/>
              <a:t>52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67588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defTabSz="896938" eaLnBrk="1" hangingPunct="1"/>
            <a:endParaRPr lang="en-US" altLang="en-US" smtClean="0">
              <a:ea typeface="ＭＳ Ｐゴシック" pitchFamily="-108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6"/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eaLnBrk="1" hangingPunct="1"/>
            <a:r>
              <a:rPr lang="en-US" altLang="en-US" sz="1200">
                <a:latin typeface="Times New Roman" pitchFamily="18" charset="0"/>
              </a:rPr>
              <a:t>Recursion in Pascal</a:t>
            </a:r>
          </a:p>
        </p:txBody>
      </p:sp>
      <p:sp>
        <p:nvSpPr>
          <p:cNvPr id="78851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eaLnBrk="1" hangingPunct="1"/>
            <a:fld id="{2DC3F695-7F86-47FA-B355-C4C30EE2C1D3}" type="slidenum">
              <a:rPr lang="en-US" altLang="en-US" sz="1200">
                <a:latin typeface="Times New Roman" pitchFamily="18" charset="0"/>
              </a:rPr>
              <a:pPr algn="r" eaLnBrk="1" hangingPunct="1"/>
              <a:t>53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78852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defTabSz="896938" eaLnBrk="1" hangingPunct="1"/>
            <a:endParaRPr lang="en-US" altLang="en-US" smtClean="0">
              <a:ea typeface="ＭＳ Ｐゴシック" pitchFamily="-108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2E9957C3-E9CD-4DAE-A934-471D73EB61B5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B7961A27-4E87-4545-918C-C753BAD4FA7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7924800" y="6567488"/>
            <a:ext cx="1219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 smtClean="0">
                <a:ea typeface="+mn-ea"/>
                <a:cs typeface="Arial" charset="0"/>
              </a:rPr>
              <a:t>James Tam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>
            <a:lvl1pPr>
              <a:defRPr sz="3200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400" baseline="0"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C60D8741-4A2B-4B5B-9E0E-4D65423043E8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1211CE74-C555-4EAB-BCB3-F9BA77967C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90EA9BAB-E3D9-4F4D-ADE2-3A0277E72161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B26FEBB7-B84A-44E3-AE53-A9E145A1E6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65345331-0E82-4AC6-BD01-5656E087858D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C6B1FAC7-4A86-4E02-BA09-2F05351D1F2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DE6B1F63-EEC7-4402-9D9B-B023E815CC23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B8D44189-851E-4FFA-867F-815F9E3DA40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0C26B9A6-CA9F-4E1A-A77D-FF1BBB938C49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96D4F6A3-8A34-408B-8200-0FA16459D8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3048F4C0-F1D3-4CE7-9D1C-B644CF6999F8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CC6DF32D-8C1A-4E74-B439-3FE149F319D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D6F0AF18-C1A9-483E-85F8-D475F4BDE092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CDC75039-AC9E-40B9-96FE-79C65ED71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F9CF9A81-979D-4D33-A2EF-E67850489C1B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16E046D0-6815-4F0D-A632-7313B393753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  <a:ea typeface="MS PGothic" pitchFamily="34" charset="-128"/>
              </a:defRPr>
            </a:lvl1pPr>
          </a:lstStyle>
          <a:p>
            <a:pPr>
              <a:defRPr/>
            </a:pPr>
            <a:fld id="{9E95A9A6-6A98-4965-9A66-8CAFC77D75AF}" type="datetimeFigureOut">
              <a:rPr lang="en-US" altLang="en-US"/>
              <a:pPr>
                <a:defRPr/>
              </a:pPr>
              <a:t>2/24/2026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1B648544-5C7C-4D19-9768-79230EC24B5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82380-6CEA-4248-81A9-9BDA038EBEFF}" type="datetimeFigureOut">
              <a:rPr lang="en-US" smtClean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B414F-06EB-46C6-A053-4F41680504B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48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James Tam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Calibri" pitchFamily="34" charset="0"/>
          <a:ea typeface="ＭＳ Ｐゴシック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5715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7429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9715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590800"/>
            <a:ext cx="5181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Introduction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smtClean="0"/>
              <a:t>A </a:t>
            </a:r>
            <a:r>
              <a:rPr lang="en-US" sz="2800" dirty="0"/>
              <a:t>set is an unordered collection of </a:t>
            </a:r>
            <a:r>
              <a:rPr lang="en-US" sz="2800" dirty="0" smtClean="0"/>
              <a:t> elements. </a:t>
            </a:r>
            <a:endParaRPr lang="en-US" sz="2800" dirty="0"/>
          </a:p>
          <a:p>
            <a:pPr algn="just"/>
            <a:r>
              <a:rPr lang="en-US" sz="2800" dirty="0" smtClean="0"/>
              <a:t>A set is created by placing all the elements inside curly braces {}, separated by comma or by using the built-in function set().</a:t>
            </a:r>
          </a:p>
          <a:p>
            <a:pPr algn="just"/>
            <a:r>
              <a:rPr lang="en-US" sz="2800" dirty="0" smtClean="0"/>
              <a:t>The elements can be of different types (integer, float, </a:t>
            </a:r>
            <a:r>
              <a:rPr lang="en-US" sz="2800" dirty="0" err="1" smtClean="0"/>
              <a:t>tuple</a:t>
            </a:r>
            <a:r>
              <a:rPr lang="en-US" sz="2800" dirty="0" smtClean="0"/>
              <a:t>, string etc.). </a:t>
            </a:r>
          </a:p>
          <a:p>
            <a:pPr algn="just"/>
            <a:r>
              <a:rPr lang="en-US" sz="2800" dirty="0" smtClean="0"/>
              <a:t>Set cannot have multiple occurrences of the same element. </a:t>
            </a:r>
          </a:p>
          <a:p>
            <a:pPr algn="just"/>
            <a:r>
              <a:rPr lang="en-US" sz="2800" dirty="0" smtClean="0"/>
              <a:t>Sets can be used to perform mathematical set operations like union, intersection, symmetric difference etc.</a:t>
            </a:r>
          </a:p>
          <a:p>
            <a:pPr algn="just"/>
            <a:r>
              <a:rPr lang="en-US" sz="2800" dirty="0" smtClean="0"/>
              <a:t>Set always contains unique elements.</a:t>
            </a:r>
          </a:p>
          <a:p>
            <a:pPr algn="just"/>
            <a:endParaRPr lang="en-US" sz="2800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Set Creation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1066800"/>
            <a:ext cx="609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00B050"/>
                </a:solidFill>
              </a:rPr>
              <a:t>Creating Empty Set:</a:t>
            </a:r>
          </a:p>
          <a:p>
            <a:pPr>
              <a:buNone/>
            </a:pPr>
            <a:r>
              <a:rPr lang="en-US" sz="2400" dirty="0" err="1" smtClean="0"/>
              <a:t>empty_set</a:t>
            </a:r>
            <a:r>
              <a:rPr lang="en-US" sz="2400" dirty="0" smtClean="0"/>
              <a:t>=set()</a:t>
            </a:r>
          </a:p>
          <a:p>
            <a:pPr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empty_set</a:t>
            </a:r>
            <a:r>
              <a:rPr lang="en-US" sz="2400" dirty="0" smtClean="0"/>
              <a:t>) # output: set()</a:t>
            </a:r>
            <a:br>
              <a:rPr lang="en-US" sz="2400" dirty="0" smtClean="0"/>
            </a:br>
            <a:endParaRPr lang="en-US" sz="2400" dirty="0" smtClean="0"/>
          </a:p>
          <a:p>
            <a:pPr>
              <a:buNone/>
            </a:pPr>
            <a:r>
              <a:rPr lang="en-US" sz="2400" dirty="0" smtClean="0">
                <a:solidFill>
                  <a:srgbClr val="00B050"/>
                </a:solidFill>
              </a:rPr>
              <a:t>Initialization Set:</a:t>
            </a:r>
          </a:p>
          <a:p>
            <a:pPr>
              <a:buNone/>
            </a:pPr>
            <a:r>
              <a:rPr lang="en-US" sz="2400" dirty="0" err="1" smtClean="0"/>
              <a:t>my_set</a:t>
            </a:r>
            <a:r>
              <a:rPr lang="en-US" sz="2400" dirty="0" smtClean="0"/>
              <a:t>={1,2,3,3,4,5}</a:t>
            </a:r>
          </a:p>
          <a:p>
            <a:pPr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my_set</a:t>
            </a:r>
            <a:r>
              <a:rPr lang="en-US" sz="2400" dirty="0" smtClean="0"/>
              <a:t>) #output: {1,2,3,4,5}</a:t>
            </a:r>
          </a:p>
          <a:p>
            <a:pPr>
              <a:buNone/>
            </a:pPr>
            <a:r>
              <a:rPr lang="en-US" sz="2400" dirty="0" err="1" smtClean="0"/>
              <a:t>my_set</a:t>
            </a:r>
            <a:r>
              <a:rPr lang="en-US" sz="2400" dirty="0" smtClean="0"/>
              <a:t>={}    #output Dictionary</a:t>
            </a:r>
          </a:p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914400" y="4495800"/>
            <a:ext cx="6248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 smtClean="0"/>
              <a:t>my_set</a:t>
            </a:r>
            <a:r>
              <a:rPr lang="en-US" sz="2400" dirty="0" smtClean="0"/>
              <a:t> ={2,4.5,”Hello”,(5,6,7)}</a:t>
            </a:r>
          </a:p>
          <a:p>
            <a:pPr>
              <a:buNone/>
            </a:pPr>
            <a:r>
              <a:rPr lang="en-US" sz="2400" dirty="0" smtClean="0"/>
              <a:t>print(</a:t>
            </a:r>
            <a:r>
              <a:rPr lang="en-US" sz="2400" dirty="0" err="1" smtClean="0"/>
              <a:t>my_set</a:t>
            </a:r>
            <a:r>
              <a:rPr lang="en-US" sz="2400" dirty="0" smtClean="0"/>
              <a:t>)  #output: {2,4.5,’Hello’,(5,6,7)}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229600" cy="5257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#Converting List ,  </a:t>
            </a:r>
            <a:r>
              <a:rPr lang="en-US" sz="2800" dirty="0" err="1" smtClean="0">
                <a:solidFill>
                  <a:srgbClr val="FF0000"/>
                </a:solidFill>
              </a:rPr>
              <a:t>Tuple</a:t>
            </a:r>
            <a:r>
              <a:rPr lang="en-US" sz="2800" dirty="0" smtClean="0">
                <a:solidFill>
                  <a:srgbClr val="FF0000"/>
                </a:solidFill>
              </a:rPr>
              <a:t>, and String  into Set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s1=set([1,2,3,2,1,4]) #output: {1,2,3,4}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S2=set((4,5,6,1)) #Output:{4,5,6,1}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s3 = set(“</a:t>
            </a:r>
            <a:r>
              <a:rPr lang="en-US" sz="2400" dirty="0" err="1" smtClean="0"/>
              <a:t>abbcdccdd</a:t>
            </a:r>
            <a:r>
              <a:rPr lang="en-US" sz="2400" dirty="0" smtClean="0"/>
              <a:t>”)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print(s3)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 smtClean="0"/>
              <a:t>Output: {‘</a:t>
            </a:r>
            <a:r>
              <a:rPr lang="en-US" sz="2400" dirty="0" err="1" smtClean="0"/>
              <a:t>a’,’b</a:t>
            </a:r>
            <a:r>
              <a:rPr lang="en-US" sz="2400" dirty="0" smtClean="0"/>
              <a:t>’, ‘</a:t>
            </a:r>
            <a:r>
              <a:rPr lang="en-US" sz="2400" dirty="0" err="1" smtClean="0"/>
              <a:t>c’,’d</a:t>
            </a:r>
            <a:r>
              <a:rPr lang="en-US" sz="2400" dirty="0" smtClean="0"/>
              <a:t>’}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762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Operation in Set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Python Set add() method</a:t>
            </a:r>
            <a:r>
              <a:rPr lang="en-US" dirty="0" smtClean="0"/>
              <a:t> is used to add an element to a Set. Since Set doesn’t allow duplicates, if you try to add an already existing element to a Set, it won’t do anything.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2400" y="914400"/>
            <a:ext cx="2771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6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 Method: 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438400"/>
            <a:ext cx="32562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</a:rPr>
              <a:t> add() Method Syntax:</a:t>
            </a:r>
          </a:p>
          <a:p>
            <a:r>
              <a:rPr lang="en-US" sz="2400" dirty="0" smtClean="0"/>
              <a:t> 	</a:t>
            </a:r>
            <a:r>
              <a:rPr lang="en-US" sz="2400" dirty="0" err="1" smtClean="0"/>
              <a:t>set.add</a:t>
            </a:r>
            <a:r>
              <a:rPr lang="en-US" sz="2400" dirty="0" smtClean="0"/>
              <a:t>(element)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524000" y="3429000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 smtClean="0"/>
              <a:t># Set add() method example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myset</a:t>
            </a:r>
            <a:r>
              <a:rPr lang="en-US" sz="2000" dirty="0" smtClean="0"/>
              <a:t> = {1, 2, "hello", 5, "bye"}</a:t>
            </a:r>
          </a:p>
          <a:p>
            <a:endParaRPr lang="en-US" sz="2000" dirty="0" smtClean="0"/>
          </a:p>
          <a:p>
            <a:r>
              <a:rPr lang="en-US" sz="2000" dirty="0" smtClean="0"/>
              <a:t>#adding an element to a the Set </a:t>
            </a:r>
            <a:r>
              <a:rPr lang="en-US" sz="2000" dirty="0" err="1" smtClean="0"/>
              <a:t>myset</a:t>
            </a:r>
            <a:endParaRPr lang="en-US" sz="2000" dirty="0" smtClean="0"/>
          </a:p>
          <a:p>
            <a:r>
              <a:rPr lang="en-US" sz="2000" dirty="0" err="1" smtClean="0"/>
              <a:t>myset.add</a:t>
            </a:r>
            <a:r>
              <a:rPr lang="en-US" sz="2000" dirty="0" smtClean="0"/>
              <a:t>("</a:t>
            </a:r>
            <a:r>
              <a:rPr lang="en-US" sz="2000" dirty="0" err="1" smtClean="0"/>
              <a:t>BeginnersBook</a:t>
            </a:r>
            <a:r>
              <a:rPr lang="en-US" sz="2000" dirty="0" smtClean="0"/>
              <a:t>")</a:t>
            </a:r>
          </a:p>
          <a:p>
            <a:endParaRPr lang="en-US" sz="2000" dirty="0" smtClean="0"/>
          </a:p>
          <a:p>
            <a:r>
              <a:rPr lang="en-US" sz="2000" dirty="0" smtClean="0"/>
              <a:t># displaying set after adding an element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myset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853239" y="6248400"/>
            <a:ext cx="6121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Output: {1, 2, ’hello’ , ‘ </a:t>
            </a:r>
            <a:r>
              <a:rPr lang="en-US" sz="2400" dirty="0" err="1" smtClean="0">
                <a:solidFill>
                  <a:srgbClr val="FF0000"/>
                </a:solidFill>
              </a:rPr>
              <a:t>BeginnersBook</a:t>
            </a:r>
            <a:r>
              <a:rPr lang="en-US" sz="2400" dirty="0" smtClean="0">
                <a:solidFill>
                  <a:srgbClr val="FF0000"/>
                </a:solidFill>
              </a:rPr>
              <a:t>’, 5, ‘bye’}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Update Method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000" y="1066800"/>
            <a:ext cx="838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/>
              <a:t>The Set update() method accepts another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such as Set, List, String, Dictionary as a parameter and adds the elements of these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to the calling set.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4232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update() method Syntax: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1981200" y="2667000"/>
            <a:ext cx="3505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8B"/>
                </a:solidFill>
                <a:effectLst/>
                <a:cs typeface="Consolas" pitchFamily="49" charset="0"/>
              </a:rPr>
              <a:t>set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Consolas" pitchFamily="49" charset="0"/>
              </a:rPr>
              <a:t>.update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nsolas" pitchFamily="49" charset="0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cs typeface="Consolas" pitchFamily="49" charset="0"/>
              </a:rPr>
              <a:t>parameters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Consolas" pitchFamily="49" charset="0"/>
              </a:rPr>
              <a:t>)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342900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Parameters:</a:t>
            </a:r>
            <a:r>
              <a:rPr lang="en-US" dirty="0" smtClean="0"/>
              <a:t> This method accepts </a:t>
            </a:r>
            <a:r>
              <a:rPr lang="en-US" dirty="0" err="1" smtClean="0"/>
              <a:t>iterable</a:t>
            </a:r>
            <a:r>
              <a:rPr lang="en-US" dirty="0" smtClean="0"/>
              <a:t> (list, </a:t>
            </a:r>
            <a:r>
              <a:rPr lang="en-US" dirty="0" err="1" smtClean="0"/>
              <a:t>tuple</a:t>
            </a:r>
            <a:r>
              <a:rPr lang="en-US" dirty="0" smtClean="0"/>
              <a:t>, dictionary etc.) as parameters.</a:t>
            </a:r>
            <a:br>
              <a:rPr lang="en-US" dirty="0" smtClean="0"/>
            </a:br>
            <a:r>
              <a:rPr lang="en-US" b="1" dirty="0" smtClean="0"/>
              <a:t>Return Value:</a:t>
            </a:r>
            <a:r>
              <a:rPr lang="en-US" dirty="0" smtClean="0"/>
              <a:t> It does not return anything, it just updates the calling Set.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" y="43434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Set X</a:t>
            </a:r>
          </a:p>
          <a:p>
            <a:r>
              <a:rPr lang="en-US" dirty="0" smtClean="0"/>
              <a:t>X = {1, 2, 3}</a:t>
            </a:r>
          </a:p>
          <a:p>
            <a:endParaRPr lang="en-US" dirty="0" smtClean="0"/>
          </a:p>
          <a:p>
            <a:r>
              <a:rPr lang="en-US" dirty="0" smtClean="0"/>
              <a:t># Set Y</a:t>
            </a:r>
          </a:p>
          <a:p>
            <a:r>
              <a:rPr lang="en-US" dirty="0" smtClean="0"/>
              <a:t>Y = {2, 3, 4}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962400" y="44196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Calling update() method</a:t>
            </a:r>
          </a:p>
          <a:p>
            <a:r>
              <a:rPr lang="en-US" dirty="0" err="1" smtClean="0"/>
              <a:t>X.update</a:t>
            </a:r>
            <a:r>
              <a:rPr lang="en-US" dirty="0" smtClean="0"/>
              <a:t>(Y)</a:t>
            </a:r>
          </a:p>
          <a:p>
            <a:endParaRPr lang="en-US" dirty="0" smtClean="0"/>
          </a:p>
          <a:p>
            <a:r>
              <a:rPr lang="en-US" dirty="0" smtClean="0"/>
              <a:t># Displaying X after update()</a:t>
            </a:r>
          </a:p>
          <a:p>
            <a:r>
              <a:rPr lang="en-US" dirty="0" smtClean="0"/>
              <a:t>print("X is:",X)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971800" y="6248400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Output: {1,2,3,4}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228600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Set X</a:t>
            </a:r>
          </a:p>
          <a:p>
            <a:r>
              <a:rPr lang="en-US" dirty="0" smtClean="0"/>
              <a:t>X = {1, 2, 3}</a:t>
            </a:r>
          </a:p>
          <a:p>
            <a:endParaRPr lang="en-US" dirty="0" smtClean="0"/>
          </a:p>
          <a:p>
            <a:r>
              <a:rPr lang="en-US" dirty="0" smtClean="0"/>
              <a:t># List </a:t>
            </a:r>
            <a:r>
              <a:rPr lang="en-US" dirty="0" err="1" smtClean="0"/>
              <a:t>lis</a:t>
            </a:r>
            <a:endParaRPr lang="en-US" dirty="0" smtClean="0"/>
          </a:p>
          <a:p>
            <a:r>
              <a:rPr lang="en-US" dirty="0" err="1" smtClean="0"/>
              <a:t>lis</a:t>
            </a:r>
            <a:r>
              <a:rPr lang="en-US" dirty="0" smtClean="0"/>
              <a:t> = [3, 5]</a:t>
            </a:r>
          </a:p>
          <a:p>
            <a:endParaRPr lang="en-US" dirty="0" smtClean="0"/>
          </a:p>
          <a:p>
            <a:r>
              <a:rPr lang="en-US" dirty="0" smtClean="0"/>
              <a:t># </a:t>
            </a:r>
            <a:r>
              <a:rPr lang="en-US" dirty="0" err="1" smtClean="0"/>
              <a:t>tuple</a:t>
            </a:r>
            <a:endParaRPr lang="en-US" dirty="0" smtClean="0"/>
          </a:p>
          <a:p>
            <a:r>
              <a:rPr lang="en-US" dirty="0" smtClean="0"/>
              <a:t>t = (77, 99)</a:t>
            </a:r>
          </a:p>
          <a:p>
            <a:endParaRPr lang="en-US" dirty="0" smtClean="0"/>
          </a:p>
          <a:p>
            <a:r>
              <a:rPr lang="en-US" dirty="0" smtClean="0"/>
              <a:t># String</a:t>
            </a:r>
          </a:p>
          <a:p>
            <a:r>
              <a:rPr lang="en-US" dirty="0" smtClean="0"/>
              <a:t>s = "</a:t>
            </a:r>
            <a:r>
              <a:rPr lang="en-US" dirty="0" err="1" smtClean="0"/>
              <a:t>abc</a:t>
            </a:r>
            <a:r>
              <a:rPr lang="en-US" dirty="0" smtClean="0"/>
              <a:t>"</a:t>
            </a:r>
          </a:p>
          <a:p>
            <a:endParaRPr lang="en-US" dirty="0" smtClean="0"/>
          </a:p>
          <a:p>
            <a:r>
              <a:rPr lang="en-US" dirty="0" smtClean="0"/>
              <a:t># Dictionary </a:t>
            </a:r>
            <a:r>
              <a:rPr lang="en-US" dirty="0" err="1" smtClean="0"/>
              <a:t>dict</a:t>
            </a:r>
            <a:endParaRPr lang="en-US" dirty="0" smtClean="0"/>
          </a:p>
          <a:p>
            <a:r>
              <a:rPr lang="en-US" dirty="0" err="1" smtClean="0"/>
              <a:t>dict</a:t>
            </a:r>
            <a:r>
              <a:rPr lang="en-US" dirty="0" smtClean="0"/>
              <a:t> = {"one": 1, "two": 2}</a:t>
            </a:r>
          </a:p>
          <a:p>
            <a:endParaRPr lang="en-US" dirty="0" smtClean="0"/>
          </a:p>
          <a:p>
            <a:r>
              <a:rPr lang="en-US" dirty="0" smtClean="0"/>
              <a:t># Calling update() method</a:t>
            </a:r>
          </a:p>
          <a:p>
            <a:r>
              <a:rPr lang="en-US" dirty="0" err="1" smtClean="0"/>
              <a:t>X.update</a:t>
            </a:r>
            <a:r>
              <a:rPr lang="en-US" dirty="0" smtClean="0"/>
              <a:t>(</a:t>
            </a:r>
            <a:r>
              <a:rPr lang="en-US" dirty="0" err="1" smtClean="0"/>
              <a:t>lis</a:t>
            </a:r>
            <a:r>
              <a:rPr lang="en-US" dirty="0" smtClean="0"/>
              <a:t>, t, s, </a:t>
            </a:r>
            <a:r>
              <a:rPr lang="en-US" dirty="0" err="1" smtClean="0"/>
              <a:t>dict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# Displaying X after update()</a:t>
            </a:r>
          </a:p>
          <a:p>
            <a:r>
              <a:rPr lang="en-US" dirty="0" smtClean="0"/>
              <a:t>print("X is:",X)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86000" y="6096000"/>
            <a:ext cx="6549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Output:</a:t>
            </a:r>
            <a:r>
              <a:rPr lang="en-US" sz="2400" dirty="0" smtClean="0">
                <a:solidFill>
                  <a:srgbClr val="FF0000"/>
                </a:solidFill>
              </a:rPr>
              <a:t> {1, 2, 3, 99, 5, ’two’  ,77,  ’c’, ‘b’, ‘one’ , ’a’}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Remove item(s) from Python set:</a:t>
            </a:r>
            <a:br>
              <a:rPr lang="en-US" dirty="0" smtClean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28600" y="1230868"/>
            <a:ext cx="8229600" cy="32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935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"/>
                <a:cs typeface="Arial" pitchFamily="34" charset="0"/>
              </a:rPr>
              <a:t>			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Helvetica"/>
                <a:cs typeface="Arial" pitchFamily="34" charset="0"/>
              </a:rPr>
              <a:t>pop() function: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My_set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={2,3,4,1,5}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my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_set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pop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990B8"/>
                </a:solidFill>
                <a:effectLst/>
                <a:latin typeface="Consolas" pitchFamily="49" charset="0"/>
                <a:cs typeface="Consolas" pitchFamily="49" charset="0"/>
              </a:rPr>
              <a:t>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(</a:t>
            </a:r>
            <a:r>
              <a:rPr lang="en-US" sz="2000" dirty="0" err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my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_set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#Output: {2,3,4,5}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rgbClr val="5F6364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4267200" y="2057400"/>
            <a:ext cx="4572000" cy="199033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This operation removes and return an arbitrary element from the set. If there are no elements to remove, it raises a 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effectLst/>
                <a:cs typeface="Arial" pitchFamily="34" charset="0"/>
              </a:rPr>
              <a:t>KeyError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04800" y="202794"/>
            <a:ext cx="7162800" cy="291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935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solidFill>
                  <a:srgbClr val="00B050"/>
                </a:solidFill>
                <a:latin typeface="Helvetica"/>
                <a:cs typeface="Arial" pitchFamily="34" charset="0"/>
              </a:rPr>
              <a:t>R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Helvetica"/>
                <a:cs typeface="Arial" pitchFamily="34" charset="0"/>
              </a:rPr>
              <a:t>emove() function: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B05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itchFamily="49" charset="0"/>
                <a:cs typeface="Consolas" pitchFamily="49" charset="0"/>
              </a:rPr>
              <a:t>&gt;&gt;&gt;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num_set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itchFamily="49" charset="0"/>
                <a:cs typeface="Consolas" pitchFamily="49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{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0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2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3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5</a:t>
            </a:r>
            <a:r>
              <a:rPr lang="en-US" sz="2000" dirty="0" smtClean="0">
                <a:solidFill>
                  <a:srgbClr val="5F6364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itchFamily="49" charset="0"/>
                <a:cs typeface="Consolas" pitchFamily="49" charset="0"/>
              </a:rPr>
              <a:t>&gt;&gt;&gt;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num_set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.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remove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0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A67F59"/>
                </a:solidFill>
                <a:effectLst/>
                <a:latin typeface="Consolas" pitchFamily="49" charset="0"/>
                <a:cs typeface="Consolas" pitchFamily="49" charset="0"/>
              </a:rPr>
              <a:t>&gt;&gt;&gt;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1990B8"/>
                </a:solidFill>
                <a:effectLst/>
                <a:latin typeface="Consolas" pitchFamily="49" charset="0"/>
                <a:cs typeface="Consolas" pitchFamily="49" charset="0"/>
              </a:rPr>
              <a:t>print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num_set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   {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2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3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4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C92C2C"/>
                </a:solidFill>
                <a:effectLst/>
                <a:latin typeface="Consolas" pitchFamily="49" charset="0"/>
                <a:cs typeface="Consolas" pitchFamily="49" charset="0"/>
              </a:rPr>
              <a:t>5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5F6364"/>
                </a:solidFill>
                <a:effectLst/>
                <a:latin typeface="Consolas" pitchFamily="49" charset="0"/>
                <a:cs typeface="Consolas" pitchFamily="49" charset="0"/>
              </a:rPr>
              <a:t>}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itchFamily="49" charset="0"/>
                <a:cs typeface="Consolas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04800" y="3015734"/>
            <a:ext cx="6705600" cy="291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7935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B050"/>
                </a:solidFill>
                <a:latin typeface="Helvetica"/>
                <a:cs typeface="Arial" pitchFamily="34" charset="0"/>
              </a:rPr>
              <a:t>Discard() function: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&gt;&gt;&gt; </a:t>
            </a:r>
            <a:r>
              <a:rPr lang="en-US" sz="2000" dirty="0" err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num_set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= {0, 1, 2, 3, 4, 5}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&gt;&gt;&gt; </a:t>
            </a:r>
            <a:r>
              <a:rPr lang="en-US" sz="2000" dirty="0" err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num_set.discard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(3)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&gt;&gt;&gt; print(</a:t>
            </a:r>
            <a:r>
              <a:rPr lang="en-US" sz="2000" dirty="0" err="1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num_set</a:t>
            </a: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)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{0, 1, 2, 4, 5}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181600" y="762000"/>
            <a:ext cx="3657600" cy="2337078"/>
          </a:xfrm>
          <a:prstGeom prst="ellipse">
            <a:avLst/>
          </a:prstGeom>
          <a:solidFill>
            <a:schemeClr val="bg1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latin typeface="+mn-lt"/>
                <a:cs typeface="Arial" pitchFamily="34" charset="0"/>
              </a:rPr>
              <a:t>This operation removes element  from the set. If element  does not exist, it raises a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effectLst/>
                <a:latin typeface="+mn-lt"/>
                <a:cs typeface="Arial" pitchFamily="34" charset="0"/>
              </a:rPr>
              <a:t>KeyError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latin typeface="+mn-lt"/>
                <a:cs typeface="Arial" pitchFamily="34" charset="0"/>
              </a:rPr>
              <a:t>. The 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effectLst/>
                <a:latin typeface="+mn-lt"/>
                <a:cs typeface="Arial" pitchFamily="34" charset="0"/>
              </a:rPr>
              <a:t>remove(x)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latin typeface="+mn-lt"/>
                <a:cs typeface="Arial" pitchFamily="34" charset="0"/>
              </a:rPr>
              <a:t>operation returns None. 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486400" y="4331196"/>
            <a:ext cx="3276600" cy="1838801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This operation also removes element  from the set.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If element  does not exist, it 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does not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 raise a 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effectLst/>
                <a:cs typeface="Arial" pitchFamily="34" charset="0"/>
              </a:rPr>
              <a:t>KeyError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.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The </a:t>
            </a:r>
            <a:r>
              <a:rPr kumimoji="0" lang="en-US" b="0" i="1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discard(x)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effectLst/>
                <a:cs typeface="Arial" pitchFamily="34" charset="0"/>
              </a:rPr>
              <a:t> operation returns None.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971800" y="152400"/>
            <a:ext cx="2521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00B050"/>
                </a:solidFill>
              </a:rPr>
              <a:t>union() method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914400"/>
            <a:ext cx="84582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 </a:t>
            </a:r>
            <a:r>
              <a:rPr lang="en-US" b="1" dirty="0" smtClean="0"/>
              <a:t>Set union() method</a:t>
            </a:r>
            <a:r>
              <a:rPr lang="en-US" dirty="0" smtClean="0"/>
              <a:t> returns a new set with the distinct elements from all the given sets.</a:t>
            </a:r>
            <a:br>
              <a:rPr lang="en-US" dirty="0" smtClean="0"/>
            </a:br>
            <a:r>
              <a:rPr lang="en-US" sz="2400" dirty="0" smtClean="0"/>
              <a:t>Syntax:</a:t>
            </a:r>
            <a:br>
              <a:rPr lang="en-US" sz="2400" dirty="0" smtClean="0"/>
            </a:br>
            <a:r>
              <a:rPr lang="en-US" dirty="0" err="1" smtClean="0"/>
              <a:t>Set.union</a:t>
            </a:r>
            <a:r>
              <a:rPr lang="en-US" dirty="0" smtClean="0"/>
              <a:t>(parameters)</a:t>
            </a:r>
            <a:br>
              <a:rPr lang="en-US" dirty="0" smtClean="0"/>
            </a:br>
            <a:r>
              <a:rPr lang="en-US" b="1" dirty="0" smtClean="0"/>
              <a:t>Parameters:</a:t>
            </a:r>
            <a:r>
              <a:rPr lang="en-US" dirty="0" smtClean="0"/>
              <a:t> This method accepts sets as parameters.</a:t>
            </a:r>
            <a:br>
              <a:rPr lang="en-US" dirty="0" smtClean="0"/>
            </a:br>
            <a:r>
              <a:rPr lang="en-US" b="1" dirty="0" smtClean="0"/>
              <a:t>Return value:</a:t>
            </a:r>
            <a:r>
              <a:rPr lang="en-US" dirty="0" smtClean="0"/>
              <a:t> This method returns a set with the distinct elements of all the sets.</a:t>
            </a:r>
          </a:p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09600" y="289560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Set X</a:t>
            </a:r>
          </a:p>
          <a:p>
            <a:r>
              <a:rPr lang="en-US" dirty="0" smtClean="0"/>
              <a:t>X = {1, 2, 3}</a:t>
            </a:r>
          </a:p>
          <a:p>
            <a:endParaRPr lang="en-US" dirty="0" smtClean="0"/>
          </a:p>
          <a:p>
            <a:r>
              <a:rPr lang="en-US" dirty="0" smtClean="0"/>
              <a:t># Set Y</a:t>
            </a:r>
          </a:p>
          <a:p>
            <a:r>
              <a:rPr lang="en-US" dirty="0" smtClean="0"/>
              <a:t>Y = {2, 3, 4}</a:t>
            </a:r>
          </a:p>
          <a:p>
            <a:endParaRPr lang="en-US" dirty="0" smtClean="0"/>
          </a:p>
          <a:p>
            <a:r>
              <a:rPr lang="en-US" dirty="0" smtClean="0"/>
              <a:t># Set Z</a:t>
            </a:r>
          </a:p>
          <a:p>
            <a:r>
              <a:rPr lang="en-US" dirty="0" smtClean="0"/>
              <a:t>Z = {5, 6, 7}</a:t>
            </a:r>
          </a:p>
          <a:p>
            <a:endParaRPr lang="en-US" dirty="0" smtClean="0"/>
          </a:p>
          <a:p>
            <a:r>
              <a:rPr lang="en-US" dirty="0" smtClean="0"/>
              <a:t>print("X ∪ Y:", </a:t>
            </a:r>
            <a:r>
              <a:rPr lang="en-US" dirty="0" err="1" smtClean="0"/>
              <a:t>X.union</a:t>
            </a:r>
            <a:r>
              <a:rPr lang="en-US" dirty="0" smtClean="0"/>
              <a:t>(Y))</a:t>
            </a:r>
          </a:p>
          <a:p>
            <a:r>
              <a:rPr lang="en-US" dirty="0" smtClean="0"/>
              <a:t>print("X ∪ Z:", </a:t>
            </a:r>
            <a:r>
              <a:rPr lang="en-US" dirty="0" err="1" smtClean="0"/>
              <a:t>X.union</a:t>
            </a:r>
            <a:r>
              <a:rPr lang="en-US" dirty="0" smtClean="0"/>
              <a:t>(Z))</a:t>
            </a:r>
          </a:p>
          <a:p>
            <a:r>
              <a:rPr lang="en-US" dirty="0" smtClean="0"/>
              <a:t>print("X ∪ Y ∪ Z:", </a:t>
            </a:r>
            <a:r>
              <a:rPr lang="en-US" dirty="0" err="1" smtClean="0"/>
              <a:t>X.union</a:t>
            </a:r>
            <a:r>
              <a:rPr lang="en-US" dirty="0" smtClean="0"/>
              <a:t>(Y, Z))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791200" y="4648200"/>
            <a:ext cx="1872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Output:{1,2,3,4}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6019800" y="5181600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Output:{1,2,3,5,6,7}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0" y="6172200"/>
            <a:ext cx="2454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Output:{1,2,3,4,5,6,7}</a:t>
            </a:r>
            <a:endParaRPr lang="en-US" sz="20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3048000" y="4953000"/>
            <a:ext cx="2743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3048000" y="5381655"/>
            <a:ext cx="2971800" cy="4095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2" idx="1"/>
          </p:cNvCxnSpPr>
          <p:nvPr/>
        </p:nvCxnSpPr>
        <p:spPr>
          <a:xfrm>
            <a:off x="3657600" y="6172200"/>
            <a:ext cx="2286000" cy="2000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228600"/>
            <a:ext cx="8458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B050"/>
                </a:solidFill>
              </a:rPr>
              <a:t>intersection()</a:t>
            </a:r>
            <a:r>
              <a:rPr lang="en-US" sz="2400" dirty="0" smtClean="0">
                <a:solidFill>
                  <a:srgbClr val="00B050"/>
                </a:solidFill>
              </a:rPr>
              <a:t>: </a:t>
            </a:r>
          </a:p>
          <a:p>
            <a:pPr algn="just"/>
            <a:r>
              <a:rPr lang="en-US" sz="2000" dirty="0" smtClean="0"/>
              <a:t>Returns a new set which contains the elements that are common to all the sets.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838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B050"/>
                </a:solidFill>
              </a:rPr>
              <a:t>difference()</a:t>
            </a:r>
            <a:r>
              <a:rPr lang="en-US" sz="2400" dirty="0" smtClean="0">
                <a:solidFill>
                  <a:srgbClr val="00B050"/>
                </a:solidFill>
              </a:rPr>
              <a:t>:</a:t>
            </a:r>
          </a:p>
          <a:p>
            <a:pPr algn="just"/>
            <a:r>
              <a:rPr lang="en-US" sz="2400" dirty="0" smtClean="0"/>
              <a:t> </a:t>
            </a:r>
            <a:r>
              <a:rPr lang="en-US" sz="2000" dirty="0" smtClean="0"/>
              <a:t>This method returns a new set which is a difference between two given sets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685800" y="3962400"/>
            <a:ext cx="792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 Set X</a:t>
            </a:r>
          </a:p>
          <a:p>
            <a:r>
              <a:rPr lang="en-US" dirty="0" smtClean="0"/>
              <a:t>X = {"hello", 9, 10, "hi"}</a:t>
            </a:r>
          </a:p>
          <a:p>
            <a:r>
              <a:rPr lang="en-US" dirty="0" smtClean="0"/>
              <a:t># Set Y</a:t>
            </a:r>
          </a:p>
          <a:p>
            <a:r>
              <a:rPr lang="en-US" dirty="0" smtClean="0"/>
              <a:t>Y = {9, "hi", 6, "</a:t>
            </a:r>
            <a:r>
              <a:rPr lang="en-US" dirty="0" err="1" smtClean="0"/>
              <a:t>BeginnersBook</a:t>
            </a:r>
            <a:r>
              <a:rPr lang="en-US" dirty="0" smtClean="0"/>
              <a:t>"}</a:t>
            </a:r>
          </a:p>
          <a:p>
            <a:r>
              <a:rPr lang="en-US" dirty="0" smtClean="0"/>
              <a:t># Equivalent to X - Y</a:t>
            </a:r>
          </a:p>
          <a:p>
            <a:r>
              <a:rPr lang="en-US" dirty="0" smtClean="0"/>
              <a:t>print("X-Y is:",</a:t>
            </a:r>
            <a:r>
              <a:rPr lang="en-US" dirty="0" err="1" smtClean="0"/>
              <a:t>X.difference</a:t>
            </a:r>
            <a:r>
              <a:rPr lang="en-US" dirty="0" smtClean="0"/>
              <a:t>(Y))   #output: {10, ‘hello’}</a:t>
            </a:r>
          </a:p>
          <a:p>
            <a:r>
              <a:rPr lang="en-US" dirty="0" smtClean="0"/>
              <a:t># Equivalent to Y - X</a:t>
            </a:r>
          </a:p>
          <a:p>
            <a:r>
              <a:rPr lang="en-US" dirty="0" smtClean="0"/>
              <a:t>print("Y-X is:",</a:t>
            </a:r>
            <a:r>
              <a:rPr lang="en-US" dirty="0" err="1" smtClean="0"/>
              <a:t>Y.difference</a:t>
            </a:r>
            <a:r>
              <a:rPr lang="en-US" dirty="0" smtClean="0"/>
              <a:t>(X))    #output: {‘BeginnersBook’,6}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1066800"/>
            <a:ext cx="5867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A = {2, 3, 5, 4}</a:t>
            </a:r>
          </a:p>
          <a:p>
            <a:r>
              <a:rPr lang="en-US" sz="1600" dirty="0" smtClean="0"/>
              <a:t>B = {2, 5, 100}</a:t>
            </a:r>
          </a:p>
          <a:p>
            <a:r>
              <a:rPr lang="en-US" sz="1600" dirty="0" smtClean="0"/>
              <a:t>C = {2, 3, 8, 9, 10}</a:t>
            </a:r>
          </a:p>
          <a:p>
            <a:endParaRPr lang="en-US" sz="1600" dirty="0" smtClean="0"/>
          </a:p>
          <a:p>
            <a:r>
              <a:rPr lang="en-US" sz="1600" dirty="0" smtClean="0"/>
              <a:t>print(</a:t>
            </a:r>
            <a:r>
              <a:rPr lang="en-US" sz="1600" dirty="0" err="1" smtClean="0"/>
              <a:t>B.intersection</a:t>
            </a:r>
            <a:r>
              <a:rPr lang="en-US" sz="1600" dirty="0" smtClean="0"/>
              <a:t>(A)) #output: {2,5}</a:t>
            </a:r>
          </a:p>
          <a:p>
            <a:r>
              <a:rPr lang="en-US" sz="1600" dirty="0" smtClean="0"/>
              <a:t>print(</a:t>
            </a:r>
            <a:r>
              <a:rPr lang="en-US" sz="1600" dirty="0" err="1" smtClean="0"/>
              <a:t>B.intersection</a:t>
            </a:r>
            <a:r>
              <a:rPr lang="en-US" sz="1600" dirty="0" smtClean="0"/>
              <a:t>(C))  #output:{2}</a:t>
            </a:r>
          </a:p>
          <a:p>
            <a:r>
              <a:rPr lang="en-US" sz="1600" dirty="0" smtClean="0"/>
              <a:t>print(</a:t>
            </a:r>
            <a:r>
              <a:rPr lang="en-US" sz="1600" dirty="0" err="1" smtClean="0"/>
              <a:t>A.intersection</a:t>
            </a:r>
            <a:r>
              <a:rPr lang="en-US" sz="1600" dirty="0" smtClean="0"/>
              <a:t>(C))  #output:{2,3}</a:t>
            </a:r>
          </a:p>
          <a:p>
            <a:r>
              <a:rPr lang="en-US" sz="1600" dirty="0" smtClean="0"/>
              <a:t>print(</a:t>
            </a:r>
            <a:r>
              <a:rPr lang="en-US" sz="1600" dirty="0" err="1" smtClean="0"/>
              <a:t>C.intersection</a:t>
            </a:r>
            <a:r>
              <a:rPr lang="en-US" sz="1600" dirty="0" smtClean="0"/>
              <a:t>(A, B)) #output:{2}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" y="457200"/>
            <a:ext cx="5404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Using the </a:t>
            </a:r>
            <a:r>
              <a:rPr lang="en-US" sz="2400" dirty="0" err="1" smtClean="0">
                <a:solidFill>
                  <a:srgbClr val="C00000"/>
                </a:solidFill>
              </a:rPr>
              <a:t>symmetric_difference</a:t>
            </a:r>
            <a:r>
              <a:rPr lang="en-US" sz="2400" dirty="0" smtClean="0">
                <a:solidFill>
                  <a:srgbClr val="C00000"/>
                </a:solidFill>
              </a:rPr>
              <a:t>() method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1066800"/>
            <a:ext cx="701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set1 = {1, 2, 3, 4}</a:t>
            </a:r>
          </a:p>
          <a:p>
            <a:r>
              <a:rPr lang="en-US" sz="2400" dirty="0" smtClean="0"/>
              <a:t>set2 = {3, 4, 5, 6}</a:t>
            </a:r>
          </a:p>
          <a:p>
            <a:endParaRPr lang="en-US" sz="2400" dirty="0" smtClean="0"/>
          </a:p>
          <a:p>
            <a:r>
              <a:rPr lang="en-US" sz="2400" dirty="0" smtClean="0"/>
              <a:t># Using the method</a:t>
            </a:r>
          </a:p>
          <a:p>
            <a:r>
              <a:rPr lang="en-US" sz="2400" dirty="0" err="1" smtClean="0"/>
              <a:t>sym_diff</a:t>
            </a:r>
            <a:r>
              <a:rPr lang="en-US" sz="2400" dirty="0" smtClean="0"/>
              <a:t> = set1.symmetric_difference(set2)</a:t>
            </a:r>
          </a:p>
          <a:p>
            <a:endParaRPr lang="en-US" sz="2400" dirty="0" smtClean="0"/>
          </a:p>
          <a:p>
            <a:r>
              <a:rPr lang="en-US" sz="2400" dirty="0" smtClean="0"/>
              <a:t>print(</a:t>
            </a:r>
            <a:r>
              <a:rPr lang="en-US" sz="2400" dirty="0" err="1" smtClean="0"/>
              <a:t>sym_diff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# Output: {1, 2, 5, 6}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838200" y="4572000"/>
            <a:ext cx="6858000" cy="17543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 smtClean="0"/>
              <a:t>set_a</a:t>
            </a:r>
            <a:r>
              <a:rPr lang="en-US" dirty="0" smtClean="0"/>
              <a:t> = {10, 20, 30}</a:t>
            </a:r>
          </a:p>
          <a:p>
            <a:r>
              <a:rPr lang="en-US" dirty="0" err="1" smtClean="0"/>
              <a:t>list_b</a:t>
            </a:r>
            <a:r>
              <a:rPr lang="en-US" dirty="0" smtClean="0"/>
              <a:t> = [20, 40, 50]</a:t>
            </a:r>
          </a:p>
          <a:p>
            <a:endParaRPr lang="en-US" dirty="0" smtClean="0"/>
          </a:p>
          <a:p>
            <a:r>
              <a:rPr lang="en-US" dirty="0" smtClean="0"/>
              <a:t>result = </a:t>
            </a:r>
            <a:r>
              <a:rPr lang="en-US" dirty="0" err="1" smtClean="0"/>
              <a:t>set_a.symmetric_difference</a:t>
            </a:r>
            <a:r>
              <a:rPr lang="en-US" dirty="0" smtClean="0"/>
              <a:t>(</a:t>
            </a:r>
            <a:r>
              <a:rPr lang="en-US" dirty="0" err="1" smtClean="0"/>
              <a:t>list_b</a:t>
            </a:r>
            <a:r>
              <a:rPr lang="en-US" dirty="0" smtClean="0"/>
              <a:t>)</a:t>
            </a:r>
          </a:p>
          <a:p>
            <a:r>
              <a:rPr lang="en-US" dirty="0" smtClean="0"/>
              <a:t>print(result)</a:t>
            </a:r>
          </a:p>
          <a:p>
            <a:r>
              <a:rPr lang="en-US" dirty="0" smtClean="0"/>
              <a:t># Output: {50, 10, 40, 30}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286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err="1" smtClean="0"/>
              <a:t>set_a</a:t>
            </a:r>
            <a:r>
              <a:rPr lang="en-US" sz="2400" dirty="0" smtClean="0"/>
              <a:t> = {1, 2, 3, 4}</a:t>
            </a:r>
          </a:p>
          <a:p>
            <a:pPr>
              <a:buNone/>
            </a:pPr>
            <a:r>
              <a:rPr lang="en-US" sz="2400" dirty="0" err="1" smtClean="0"/>
              <a:t>set_b</a:t>
            </a:r>
            <a:r>
              <a:rPr lang="en-US" sz="2400" dirty="0" smtClean="0"/>
              <a:t> = {3, 4, 5, 6}</a:t>
            </a:r>
          </a:p>
          <a:p>
            <a:pPr>
              <a:buNone/>
            </a:pPr>
            <a:r>
              <a:rPr lang="en-US" sz="2400" dirty="0" err="1" smtClean="0"/>
              <a:t>set_c</a:t>
            </a:r>
            <a:r>
              <a:rPr lang="en-US" sz="2400" dirty="0" smtClean="0"/>
              <a:t> = {4, 5, 6, 7}</a:t>
            </a:r>
          </a:p>
          <a:p>
            <a:pPr>
              <a:buNone/>
            </a:pPr>
            <a:r>
              <a:rPr lang="en-US" sz="2400" dirty="0" smtClean="0"/>
              <a:t># Symmetric difference of multiple sets</a:t>
            </a:r>
          </a:p>
          <a:p>
            <a:pPr>
              <a:buNone/>
            </a:pPr>
            <a:r>
              <a:rPr lang="en-US" sz="2400" dirty="0" smtClean="0"/>
              <a:t>result = </a:t>
            </a:r>
            <a:r>
              <a:rPr lang="en-US" sz="2400" dirty="0" err="1" smtClean="0"/>
              <a:t>set_a</a:t>
            </a:r>
            <a:r>
              <a:rPr lang="en-US" sz="2400" dirty="0" smtClean="0"/>
              <a:t> ^ </a:t>
            </a:r>
            <a:r>
              <a:rPr lang="en-US" sz="2400" dirty="0" err="1" smtClean="0"/>
              <a:t>set_b</a:t>
            </a:r>
            <a:r>
              <a:rPr lang="en-US" sz="2400" dirty="0" smtClean="0"/>
              <a:t> ^ </a:t>
            </a:r>
            <a:r>
              <a:rPr lang="en-US" sz="2400" dirty="0" err="1" smtClean="0"/>
              <a:t>set_c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print(result)</a:t>
            </a:r>
          </a:p>
          <a:p>
            <a:pPr>
              <a:buNone/>
            </a:pPr>
            <a:r>
              <a:rPr lang="en-US" sz="2400" dirty="0" smtClean="0"/>
              <a:t># Output: {1, 2, 7}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3505200"/>
            <a:ext cx="8001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/>
              <a:t>Problem:</a:t>
            </a:r>
            <a:r>
              <a:rPr lang="en-US" sz="2000" dirty="0" smtClean="0"/>
              <a:t> A club has two email lists, one for the "Hiking Club" and one for the "Book Club". We want to find the members who belong to </a:t>
            </a:r>
            <a:r>
              <a:rPr lang="en-US" sz="2000" i="1" dirty="0" smtClean="0"/>
              <a:t>only one</a:t>
            </a:r>
            <a:r>
              <a:rPr lang="en-US" sz="2000" dirty="0" smtClean="0"/>
              <a:t> club, to send them information about upcoming joint social events that target non-overlapping members.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09600" y="5257800"/>
            <a:ext cx="8153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Problem:</a:t>
            </a:r>
            <a:r>
              <a:rPr lang="en-US" sz="2000" dirty="0" smtClean="0"/>
              <a:t> Write a code to count the number of unique words in the given a sentence.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457200"/>
          <a:ext cx="7467600" cy="5682776"/>
        </p:xfrm>
        <a:graphic>
          <a:graphicData uri="http://schemas.openxmlformats.org/drawingml/2006/table">
            <a:tbl>
              <a:tblPr/>
              <a:tblGrid>
                <a:gridCol w="3771900"/>
                <a:gridCol w="3695700"/>
              </a:tblGrid>
              <a:tr h="176760"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 smtClean="0">
                          <a:solidFill>
                            <a:srgbClr val="C00000"/>
                          </a:solidFill>
                        </a:rPr>
                        <a:t>Method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Description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76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clear()</a:t>
                      </a:r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/>
                        <a:t>Removes all the elements from the set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76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copy()</a:t>
                      </a:r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copy of the set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i="0" dirty="0" err="1" smtClean="0"/>
                        <a:t>difference_update</a:t>
                      </a:r>
                      <a:r>
                        <a:rPr lang="en-US" sz="1800" i="0" dirty="0" smtClean="0"/>
                        <a:t>()</a:t>
                      </a:r>
                      <a:endParaRPr lang="en-US" sz="1800" i="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Removes the items in this set that are also included in another, specified set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17676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discard()</a:t>
                      </a:r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Remove the specified item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 smtClean="0"/>
                        <a:t>Intersection_update</a:t>
                      </a:r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Removes the items in this set that are not present in other, specified set(s)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 smtClean="0"/>
                        <a:t>isdisjoint</a:t>
                      </a:r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whether two sets have a intersection or not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 smtClean="0"/>
                        <a:t>issubset</a:t>
                      </a:r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whether another set contains this set or not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 smtClean="0"/>
                        <a:t>issuperset</a:t>
                      </a:r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whether this set contains another set or not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 err="1" smtClean="0"/>
                        <a:t>Symmetric_difference</a:t>
                      </a:r>
                      <a:r>
                        <a:rPr lang="en-US" sz="1800" dirty="0" smtClean="0"/>
                        <a:t>()</a:t>
                      </a:r>
                      <a:endParaRPr lang="en-US" sz="1800" dirty="0"/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Returns a set with the symmetric differences of two sets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392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symmetric_difference_update()</a:t>
                      </a:r>
                    </a:p>
                  </a:txBody>
                  <a:tcPr marL="59415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/>
                        <a:t>inserts the symmetric differences from this set and another</a:t>
                      </a:r>
                    </a:p>
                  </a:txBody>
                  <a:tcPr marL="29708" marR="29708" marT="29708" marB="29708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838200"/>
            <a:ext cx="8001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 smtClean="0"/>
              <a:t>Returns a new set with all items from both sets by removing duplicates</a:t>
            </a:r>
          </a:p>
          <a:p>
            <a:pPr marL="457200" indent="-457200"/>
            <a:r>
              <a:rPr lang="en-US" sz="2400" dirty="0" smtClean="0"/>
              <a:t>Input:set1 = {10, 20, 30, 40, 50}</a:t>
            </a:r>
          </a:p>
          <a:p>
            <a:pPr marL="457200" indent="-457200"/>
            <a:r>
              <a:rPr lang="en-US" sz="2400" dirty="0" smtClean="0"/>
              <a:t>           set2 = {30, 40, 50, 60, 70}</a:t>
            </a:r>
          </a:p>
          <a:p>
            <a:pPr marL="457200" indent="-457200"/>
            <a:endParaRPr lang="en-US" sz="2400" dirty="0" smtClean="0"/>
          </a:p>
          <a:p>
            <a:pPr marL="457200" indent="-457200"/>
            <a:r>
              <a:rPr lang="en-US" sz="2400" dirty="0" smtClean="0"/>
              <a:t>Output: {70, 40, 10, 50, 20, 60, 30}</a:t>
            </a:r>
          </a:p>
          <a:p>
            <a:pPr marL="457200" indent="-457200"/>
            <a:endParaRPr lang="en-US" sz="2400" dirty="0" smtClean="0"/>
          </a:p>
          <a:p>
            <a:pPr marL="457200" indent="-457200">
              <a:buFontTx/>
              <a:buAutoNum type="arabicPeriod"/>
            </a:pPr>
            <a:r>
              <a:rPr lang="en-US" sz="2400" dirty="0" smtClean="0"/>
              <a:t>Given two Python sets, update first set with items that exist only in the first set and not in the second set.</a:t>
            </a:r>
          </a:p>
          <a:p>
            <a:pPr marL="457200" indent="-457200"/>
            <a:r>
              <a:rPr lang="en-US" sz="2400" dirty="0" smtClean="0"/>
              <a:t>        input: </a:t>
            </a:r>
            <a:r>
              <a:rPr lang="da-DK" sz="2400" dirty="0" smtClean="0"/>
              <a:t>set1 = {10, 20, 30}</a:t>
            </a:r>
          </a:p>
          <a:p>
            <a:pPr marL="457200" indent="-457200"/>
            <a:r>
              <a:rPr lang="da-DK" sz="2400" dirty="0" smtClean="0"/>
              <a:t>		       set2 = {20, 40, 50}</a:t>
            </a:r>
          </a:p>
          <a:p>
            <a:pPr marL="457200" indent="-457200"/>
            <a:r>
              <a:rPr lang="da-DK" sz="2400" dirty="0" smtClean="0"/>
              <a:t>        output:{10,30}</a:t>
            </a:r>
          </a:p>
          <a:p>
            <a:pPr marL="457200" indent="-457200"/>
            <a:r>
              <a:rPr lang="da-DK" sz="2400" dirty="0" smtClean="0"/>
              <a:t>     set1.difference_update(set2)</a:t>
            </a:r>
          </a:p>
          <a:p>
            <a:pPr marL="457200" indent="-457200"/>
            <a:endParaRPr lang="da-DK" sz="2400" dirty="0" smtClean="0"/>
          </a:p>
          <a:p>
            <a:pPr marL="457200" indent="-457200"/>
            <a:endParaRPr lang="da-DK" sz="2400" dirty="0" smtClean="0"/>
          </a:p>
          <a:p>
            <a:pPr marL="457200" indent="-457200"/>
            <a:endParaRPr lang="da-DK" sz="2400" dirty="0" smtClean="0"/>
          </a:p>
          <a:p>
            <a:pPr marL="457200" indent="-457200"/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124200" y="228600"/>
            <a:ext cx="2791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Coding Questions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9400" y="304800"/>
            <a:ext cx="36650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err="1" smtClean="0">
                <a:solidFill>
                  <a:srgbClr val="FF0000"/>
                </a:solidFill>
              </a:rPr>
              <a:t>frozenset</a:t>
            </a:r>
            <a:r>
              <a:rPr lang="en-US" sz="3200" dirty="0" smtClean="0">
                <a:solidFill>
                  <a:srgbClr val="FF0000"/>
                </a:solidFill>
              </a:rPr>
              <a:t>() in Python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219200"/>
            <a:ext cx="8458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/>
              <a:t>The </a:t>
            </a:r>
            <a:r>
              <a:rPr lang="en-US" sz="2000" dirty="0" err="1" smtClean="0">
                <a:solidFill>
                  <a:srgbClr val="FF0000"/>
                </a:solidFill>
              </a:rPr>
              <a:t>frozenset</a:t>
            </a:r>
            <a:r>
              <a:rPr lang="en-US" sz="2000" dirty="0" smtClean="0">
                <a:solidFill>
                  <a:srgbClr val="FF0000"/>
                </a:solidFill>
              </a:rPr>
              <a:t>() </a:t>
            </a:r>
            <a:r>
              <a:rPr lang="en-US" sz="2000" dirty="0" smtClean="0"/>
              <a:t>is an inbuilt function is Python which takes an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object as input and makes them immutable. Simply it freezes the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objects and makes them unchangeable.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04800" y="2590800"/>
            <a:ext cx="8534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/>
              <a:t>In Python,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 is the same as set except the </a:t>
            </a:r>
            <a:r>
              <a:rPr lang="en-US" sz="2000" dirty="0" err="1" smtClean="0"/>
              <a:t>forzensets</a:t>
            </a:r>
            <a:r>
              <a:rPr lang="en-US" sz="2000" dirty="0" smtClean="0"/>
              <a:t> are immutable which means that elements from the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 cannot be added or removed once created. 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3657600"/>
            <a:ext cx="8001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Syntax</a:t>
            </a:r>
            <a:r>
              <a:rPr lang="en-US" sz="2000" dirty="0" smtClean="0"/>
              <a:t> :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</a:t>
            </a:r>
            <a:r>
              <a:rPr lang="en-US" sz="2000" dirty="0" err="1" smtClean="0"/>
              <a:t>iterable_object_name</a:t>
            </a:r>
            <a:r>
              <a:rPr lang="en-US" sz="2000" dirty="0" smtClean="0"/>
              <a:t>)</a:t>
            </a:r>
          </a:p>
          <a:p>
            <a:endParaRPr lang="en-US" sz="2000" dirty="0" smtClean="0"/>
          </a:p>
          <a:p>
            <a:r>
              <a:rPr lang="en-US" sz="2000" dirty="0" smtClean="0">
                <a:solidFill>
                  <a:srgbClr val="FF0000"/>
                </a:solidFill>
              </a:rPr>
              <a:t>Parameter</a:t>
            </a:r>
            <a:r>
              <a:rPr lang="en-US" sz="2000" dirty="0" smtClean="0"/>
              <a:t> : This function accepts </a:t>
            </a:r>
            <a:r>
              <a:rPr lang="en-US" sz="2000" dirty="0" err="1" smtClean="0"/>
              <a:t>iterable</a:t>
            </a:r>
            <a:r>
              <a:rPr lang="en-US" sz="2000" dirty="0" smtClean="0"/>
              <a:t> object as input parameter.</a:t>
            </a:r>
          </a:p>
          <a:p>
            <a:endParaRPr lang="en-US" sz="2000" dirty="0" smtClean="0"/>
          </a:p>
          <a:p>
            <a:r>
              <a:rPr lang="en-US" sz="2000" dirty="0" smtClean="0">
                <a:solidFill>
                  <a:srgbClr val="FF0000"/>
                </a:solidFill>
              </a:rPr>
              <a:t>Return Type</a:t>
            </a:r>
            <a:r>
              <a:rPr lang="en-US" sz="2000" dirty="0" smtClean="0"/>
              <a:t>: This function return an equivalent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 object.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609600"/>
            <a:ext cx="838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 smtClean="0"/>
              <a:t>fs</a:t>
            </a:r>
            <a:r>
              <a:rPr lang="en-US" sz="2000" dirty="0" smtClean="0"/>
              <a:t>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()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fs</a:t>
            </a:r>
            <a:r>
              <a:rPr lang="en-US" sz="2000" dirty="0" smtClean="0"/>
              <a:t>)   </a:t>
            </a:r>
            <a:r>
              <a:rPr lang="en-US" sz="2000" dirty="0" smtClean="0">
                <a:solidFill>
                  <a:srgbClr val="C00000"/>
                </a:solidFill>
              </a:rPr>
              <a:t>#</a:t>
            </a:r>
            <a:r>
              <a:rPr lang="en-US" sz="2000" dirty="0" err="1" smtClean="0">
                <a:solidFill>
                  <a:srgbClr val="C00000"/>
                </a:solidFill>
              </a:rPr>
              <a:t>Output:frozenset</a:t>
            </a:r>
            <a:r>
              <a:rPr lang="en-US" sz="2000" dirty="0" smtClean="0">
                <a:solidFill>
                  <a:srgbClr val="C00000"/>
                </a:solidFill>
              </a:rPr>
              <a:t>()</a:t>
            </a:r>
          </a:p>
          <a:p>
            <a:r>
              <a:rPr lang="en-US" sz="2000" dirty="0" smtClean="0"/>
              <a:t>print(type(</a:t>
            </a:r>
            <a:r>
              <a:rPr lang="en-US" sz="2000" dirty="0" err="1" smtClean="0"/>
              <a:t>fs</a:t>
            </a:r>
            <a:r>
              <a:rPr lang="en-US" sz="2000" dirty="0" smtClean="0"/>
              <a:t>)) </a:t>
            </a:r>
            <a:r>
              <a:rPr lang="en-US" sz="2000" dirty="0" smtClean="0">
                <a:solidFill>
                  <a:srgbClr val="C00000"/>
                </a:solidFill>
              </a:rPr>
              <a:t>#Output: &lt;class '</a:t>
            </a:r>
            <a:r>
              <a:rPr lang="en-US" sz="2000" dirty="0" err="1" smtClean="0">
                <a:solidFill>
                  <a:srgbClr val="C00000"/>
                </a:solidFill>
              </a:rPr>
              <a:t>frozenset</a:t>
            </a:r>
            <a:r>
              <a:rPr lang="en-US" sz="2000" dirty="0" smtClean="0">
                <a:solidFill>
                  <a:srgbClr val="C00000"/>
                </a:solidFill>
              </a:rPr>
              <a:t>'&gt;</a:t>
            </a:r>
          </a:p>
          <a:p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000" dirty="0" smtClean="0"/>
              <a:t>#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 from </a:t>
            </a:r>
            <a:r>
              <a:rPr lang="en-US" sz="2000" dirty="0" err="1" smtClean="0"/>
              <a:t>iterable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err="1" smtClean="0"/>
              <a:t>list_vowels</a:t>
            </a:r>
            <a:r>
              <a:rPr lang="en-US" sz="2000" dirty="0" smtClean="0"/>
              <a:t> = ['A', 'E', 'I', 'O', 'U']</a:t>
            </a:r>
          </a:p>
          <a:p>
            <a:r>
              <a:rPr lang="en-US" sz="2000" dirty="0" err="1" smtClean="0"/>
              <a:t>fs</a:t>
            </a:r>
            <a:r>
              <a:rPr lang="en-US" sz="2000" dirty="0" smtClean="0"/>
              <a:t>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</a:t>
            </a:r>
            <a:r>
              <a:rPr lang="en-US" sz="2000" dirty="0" err="1" smtClean="0"/>
              <a:t>list_vowels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fs</a:t>
            </a:r>
            <a:r>
              <a:rPr lang="en-US" sz="2000" dirty="0" smtClean="0"/>
              <a:t>) #</a:t>
            </a:r>
            <a:r>
              <a:rPr lang="en-US" sz="2000" dirty="0" err="1" smtClean="0">
                <a:solidFill>
                  <a:srgbClr val="C00000"/>
                </a:solidFill>
              </a:rPr>
              <a:t>Output:frozenset</a:t>
            </a:r>
            <a:r>
              <a:rPr lang="en-US" sz="2000" dirty="0" smtClean="0">
                <a:solidFill>
                  <a:srgbClr val="C00000"/>
                </a:solidFill>
              </a:rPr>
              <a:t>({'E', 'U', 'I', 'O', 'A'})</a:t>
            </a:r>
          </a:p>
          <a:p>
            <a:endParaRPr lang="en-US" sz="2000" dirty="0" smtClean="0"/>
          </a:p>
          <a:p>
            <a:r>
              <a:rPr lang="en-US" sz="2000" dirty="0" err="1" smtClean="0"/>
              <a:t>tuple_numbers</a:t>
            </a:r>
            <a:r>
              <a:rPr lang="en-US" sz="2000" dirty="0" smtClean="0"/>
              <a:t> = (1, 2, 3, 4, 5, 4, 3)</a:t>
            </a:r>
          </a:p>
          <a:p>
            <a:r>
              <a:rPr lang="en-US" sz="2000" dirty="0" err="1" smtClean="0"/>
              <a:t>fs</a:t>
            </a:r>
            <a:r>
              <a:rPr lang="en-US" sz="2000" dirty="0" smtClean="0"/>
              <a:t>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</a:t>
            </a:r>
            <a:r>
              <a:rPr lang="en-US" sz="2000" dirty="0" err="1" smtClean="0"/>
              <a:t>tuple_numbers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fs</a:t>
            </a:r>
            <a:r>
              <a:rPr lang="en-US" sz="2000" dirty="0" smtClean="0"/>
              <a:t>) </a:t>
            </a:r>
            <a:r>
              <a:rPr lang="en-US" sz="2000" dirty="0" smtClean="0">
                <a:solidFill>
                  <a:srgbClr val="C00000"/>
                </a:solidFill>
              </a:rPr>
              <a:t>#Output:</a:t>
            </a:r>
            <a:r>
              <a:rPr lang="de-DE" sz="2000" dirty="0" smtClean="0">
                <a:solidFill>
                  <a:srgbClr val="C00000"/>
                </a:solidFill>
              </a:rPr>
              <a:t>frozenset({1, 2, 3, 4, 5})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6600" y="0"/>
            <a:ext cx="3305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solidFill>
                  <a:srgbClr val="C00000"/>
                </a:solidFill>
              </a:rPr>
              <a:t>Frozenset</a:t>
            </a:r>
            <a:r>
              <a:rPr lang="en-US" sz="3200" dirty="0" smtClean="0">
                <a:solidFill>
                  <a:srgbClr val="C00000"/>
                </a:solidFill>
              </a:rPr>
              <a:t> Creation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5181600"/>
            <a:ext cx="5638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fs</a:t>
            </a:r>
            <a:r>
              <a:rPr lang="en-US" sz="2000" dirty="0" smtClean="0"/>
              <a:t>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([1, 2, 3, 4, 5, 4, 3])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for   x   in  </a:t>
            </a:r>
            <a:r>
              <a:rPr lang="en-US" sz="2000" dirty="0" err="1" smtClean="0"/>
              <a:t>fs</a:t>
            </a:r>
            <a:r>
              <a:rPr lang="en-US" sz="2000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        print(x)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0"/>
            <a:ext cx="8229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 Python program to understand </a:t>
            </a:r>
            <a:r>
              <a:rPr lang="en-US" dirty="0" err="1" smtClean="0"/>
              <a:t>frozenset</a:t>
            </a:r>
            <a:r>
              <a:rPr lang="en-US" dirty="0" smtClean="0"/>
              <a:t>() function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</a:t>
            </a:r>
            <a:r>
              <a:rPr lang="en-US" dirty="0" err="1" smtClean="0"/>
              <a:t>tuple</a:t>
            </a:r>
            <a:r>
              <a:rPr lang="en-US" dirty="0" smtClean="0"/>
              <a:t> of numbers </a:t>
            </a:r>
          </a:p>
          <a:p>
            <a:r>
              <a:rPr lang="en-US" dirty="0" smtClean="0"/>
              <a:t>nu = (1, 2, 3, 4, 5, 6, 7, 8, 9)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converting </a:t>
            </a:r>
            <a:r>
              <a:rPr lang="en-US" dirty="0" err="1" smtClean="0"/>
              <a:t>tuple</a:t>
            </a:r>
            <a:r>
              <a:rPr lang="en-US" dirty="0" smtClean="0"/>
              <a:t> to </a:t>
            </a:r>
            <a:r>
              <a:rPr lang="en-US" dirty="0" err="1" smtClean="0"/>
              <a:t>frozenset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fnum</a:t>
            </a:r>
            <a:r>
              <a:rPr lang="en-US" dirty="0" smtClean="0"/>
              <a:t> = </a:t>
            </a:r>
            <a:r>
              <a:rPr lang="en-US" dirty="0" err="1" smtClean="0"/>
              <a:t>frozenset</a:t>
            </a:r>
            <a:r>
              <a:rPr lang="en-US" dirty="0" smtClean="0"/>
              <a:t>(nu)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printing details </a:t>
            </a:r>
          </a:p>
          <a:p>
            <a:r>
              <a:rPr lang="en-US" dirty="0" smtClean="0"/>
              <a:t>print("</a:t>
            </a:r>
            <a:r>
              <a:rPr lang="en-US" dirty="0" err="1" smtClean="0"/>
              <a:t>frozenset</a:t>
            </a:r>
            <a:r>
              <a:rPr lang="en-US" dirty="0" smtClean="0"/>
              <a:t> Object is : ", </a:t>
            </a:r>
            <a:r>
              <a:rPr lang="en-US" dirty="0" err="1" smtClean="0"/>
              <a:t>fnum</a:t>
            </a:r>
            <a:r>
              <a:rPr lang="en-US" dirty="0" smtClean="0"/>
              <a:t>)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B050"/>
                </a:solidFill>
              </a:rPr>
              <a:t>#Output: </a:t>
            </a:r>
            <a:r>
              <a:rPr lang="en-US" dirty="0" err="1" smtClean="0">
                <a:solidFill>
                  <a:srgbClr val="00B050"/>
                </a:solidFill>
              </a:rPr>
              <a:t>frozenset</a:t>
            </a:r>
            <a:r>
              <a:rPr lang="en-US" dirty="0" smtClean="0">
                <a:solidFill>
                  <a:srgbClr val="00B050"/>
                </a:solidFill>
              </a:rPr>
              <a:t> Object is :  </a:t>
            </a:r>
            <a:r>
              <a:rPr lang="en-US" dirty="0" err="1" smtClean="0">
                <a:solidFill>
                  <a:srgbClr val="00B050"/>
                </a:solidFill>
              </a:rPr>
              <a:t>frozenset</a:t>
            </a:r>
            <a:r>
              <a:rPr lang="en-US" dirty="0" smtClean="0">
                <a:solidFill>
                  <a:srgbClr val="00B050"/>
                </a:solidFill>
              </a:rPr>
              <a:t>({1, 2, 3, 4, 5, 6, 7, 8, 9})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3962400"/>
            <a:ext cx="63246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#Change the elements of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mylist</a:t>
            </a:r>
            <a:r>
              <a:rPr lang="en-US" sz="2000" dirty="0" smtClean="0"/>
              <a:t> = ['apple', 'banana', 'cherry']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x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</a:t>
            </a:r>
            <a:r>
              <a:rPr lang="en-US" sz="2000" dirty="0" err="1" smtClean="0"/>
              <a:t>mylist</a:t>
            </a:r>
            <a:r>
              <a:rPr lang="en-US" sz="20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print(x) #Output:  </a:t>
            </a:r>
            <a:r>
              <a:rPr lang="en-US" sz="2000" dirty="0" err="1" smtClean="0">
                <a:solidFill>
                  <a:srgbClr val="00B050"/>
                </a:solidFill>
              </a:rPr>
              <a:t>frozenset</a:t>
            </a:r>
            <a:r>
              <a:rPr lang="en-US" sz="2000" dirty="0" smtClean="0">
                <a:solidFill>
                  <a:srgbClr val="00B050"/>
                </a:solidFill>
              </a:rPr>
              <a:t>({'banana', 'cherry', 'apple'})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x[1] = "strawberry“ </a:t>
            </a:r>
            <a:r>
              <a:rPr lang="en-US" sz="2000" dirty="0" smtClean="0">
                <a:solidFill>
                  <a:srgbClr val="00B050"/>
                </a:solidFill>
              </a:rPr>
              <a:t>#Error</a:t>
            </a:r>
            <a:endParaRPr lang="en-US" sz="20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685800"/>
            <a:ext cx="7848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  dictionary  </a:t>
            </a:r>
          </a:p>
          <a:p>
            <a:endParaRPr lang="en-US" sz="2000" dirty="0" smtClean="0"/>
          </a:p>
          <a:p>
            <a:r>
              <a:rPr lang="en-US" sz="2000" dirty="0" smtClean="0"/>
              <a:t>person = {"name": "</a:t>
            </a:r>
            <a:r>
              <a:rPr lang="en-US" sz="2000" dirty="0" err="1" smtClean="0"/>
              <a:t>Phill</a:t>
            </a:r>
            <a:r>
              <a:rPr lang="en-US" sz="2000" dirty="0" smtClean="0"/>
              <a:t>", "age": 22, "Gender": "male"}  </a:t>
            </a:r>
          </a:p>
          <a:p>
            <a:r>
              <a:rPr lang="en-US" sz="2000" dirty="0" smtClean="0"/>
              <a:t>  </a:t>
            </a:r>
          </a:p>
          <a:p>
            <a:r>
              <a:rPr lang="en-US" sz="2000" dirty="0" err="1" smtClean="0"/>
              <a:t>fSet</a:t>
            </a:r>
            <a:r>
              <a:rPr lang="en-US" sz="2000" dirty="0" smtClean="0"/>
              <a:t> =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(person)  </a:t>
            </a:r>
          </a:p>
          <a:p>
            <a:r>
              <a:rPr lang="en-US" sz="2000" dirty="0" smtClean="0"/>
              <a:t>print('Frozen set is:', </a:t>
            </a:r>
            <a:r>
              <a:rPr lang="en-US" sz="2000" dirty="0" err="1" smtClean="0"/>
              <a:t>fSet</a:t>
            </a:r>
            <a:r>
              <a:rPr lang="en-US" sz="2000" dirty="0" smtClean="0"/>
              <a:t>)</a:t>
            </a:r>
          </a:p>
          <a:p>
            <a:endParaRPr lang="en-US" sz="2000" dirty="0" smtClean="0"/>
          </a:p>
          <a:p>
            <a:r>
              <a:rPr lang="en-US" sz="2000" dirty="0" smtClean="0"/>
              <a:t>#</a:t>
            </a:r>
            <a:r>
              <a:rPr lang="en-US" sz="2000" dirty="0" err="1" smtClean="0"/>
              <a:t>Output:Frozen</a:t>
            </a:r>
            <a:r>
              <a:rPr lang="en-US" sz="2000" dirty="0" smtClean="0"/>
              <a:t> set is: </a:t>
            </a:r>
            <a:r>
              <a:rPr lang="en-US" sz="2000" dirty="0" err="1" smtClean="0"/>
              <a:t>frozenset</a:t>
            </a:r>
            <a:r>
              <a:rPr lang="en-US" sz="2000" dirty="0" smtClean="0"/>
              <a:t>({'age', 'Gender', 'name'})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981200"/>
          </a:xfrm>
        </p:spPr>
        <p:txBody>
          <a:bodyPr/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Functions in Python</a:t>
            </a:r>
          </a:p>
        </p:txBody>
      </p:sp>
      <p:pic>
        <p:nvPicPr>
          <p:cNvPr id="14338" name="Picture 4" descr="j013316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3657600"/>
            <a:ext cx="4672013" cy="284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Introduction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2209800"/>
            <a:ext cx="89154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/>
              <a:t>A function is a block of organized, </a:t>
            </a:r>
            <a:r>
              <a:rPr lang="en-US" sz="2800" dirty="0" smtClean="0">
                <a:solidFill>
                  <a:srgbClr val="C00000"/>
                </a:solidFill>
              </a:rPr>
              <a:t>reusable code </a:t>
            </a:r>
            <a:r>
              <a:rPr lang="en-US" sz="2800" dirty="0" smtClean="0"/>
              <a:t>that is</a:t>
            </a:r>
          </a:p>
          <a:p>
            <a:r>
              <a:rPr lang="en-US" sz="2800" dirty="0" smtClean="0"/>
              <a:t>   used to perform  a single, related action.</a:t>
            </a:r>
          </a:p>
          <a:p>
            <a:endParaRPr lang="en-US" sz="28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Functions provide </a:t>
            </a:r>
            <a:r>
              <a:rPr lang="en-US" sz="2800" dirty="0" smtClean="0">
                <a:solidFill>
                  <a:srgbClr val="C00000"/>
                </a:solidFill>
              </a:rPr>
              <a:t>better modularity </a:t>
            </a:r>
            <a:r>
              <a:rPr lang="en-US" sz="2800" dirty="0" smtClean="0"/>
              <a:t>for the applications.</a:t>
            </a:r>
          </a:p>
          <a:p>
            <a:endParaRPr lang="en-US" sz="2800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smtClean="0"/>
              <a:t>Functions provide a </a:t>
            </a:r>
            <a:r>
              <a:rPr lang="en-US" sz="2800" dirty="0" smtClean="0">
                <a:solidFill>
                  <a:srgbClr val="C00000"/>
                </a:solidFill>
              </a:rPr>
              <a:t>high degree of code reusing</a:t>
            </a:r>
            <a:r>
              <a:rPr lang="en-US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8788" y="3200400"/>
            <a:ext cx="3822700" cy="2295525"/>
            <a:chOff x="0" y="2304"/>
            <a:chExt cx="2408" cy="1446"/>
          </a:xfrm>
        </p:grpSpPr>
        <p:sp>
          <p:nvSpPr>
            <p:cNvPr id="16402" name="Text Box 6"/>
            <p:cNvSpPr txBox="1">
              <a:spLocks noChangeArrowheads="1"/>
            </p:cNvSpPr>
            <p:nvPr/>
          </p:nvSpPr>
          <p:spPr bwMode="auto">
            <a:xfrm>
              <a:off x="0" y="2924"/>
              <a:ext cx="2408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>
                  <a:latin typeface="Arial" pitchFamily="34" charset="0"/>
                </a:rPr>
                <a:t>The indentation matters…</a:t>
              </a:r>
            </a:p>
            <a:p>
              <a:r>
                <a:rPr lang="en-US" sz="2000">
                  <a:latin typeface="Arial" pitchFamily="34" charset="0"/>
                </a:rPr>
                <a:t>First line with less </a:t>
              </a:r>
              <a:br>
                <a:rPr lang="en-US" sz="2000">
                  <a:latin typeface="Arial" pitchFamily="34" charset="0"/>
                </a:rPr>
              </a:br>
              <a:r>
                <a:rPr lang="en-US" sz="2000">
                  <a:latin typeface="Arial" pitchFamily="34" charset="0"/>
                </a:rPr>
                <a:t>indentation is considered to be</a:t>
              </a:r>
              <a:br>
                <a:rPr lang="en-US" sz="2000">
                  <a:latin typeface="Arial" pitchFamily="34" charset="0"/>
                </a:rPr>
              </a:br>
              <a:r>
                <a:rPr lang="en-US" sz="2000">
                  <a:latin typeface="Arial" pitchFamily="34" charset="0"/>
                </a:rPr>
                <a:t>outside of the function definition.</a:t>
              </a:r>
            </a:p>
          </p:txBody>
        </p:sp>
        <p:sp>
          <p:nvSpPr>
            <p:cNvPr id="16403" name="Line 7"/>
            <p:cNvSpPr>
              <a:spLocks noChangeShapeType="1"/>
            </p:cNvSpPr>
            <p:nvPr/>
          </p:nvSpPr>
          <p:spPr bwMode="auto">
            <a:xfrm flipV="1">
              <a:off x="816" y="2304"/>
              <a:ext cx="768" cy="62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Defining Functions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5791200"/>
            <a:ext cx="8534400" cy="762000"/>
          </a:xfrm>
        </p:spPr>
        <p:txBody>
          <a:bodyPr>
            <a:normAutofit fontScale="85000" lnSpcReduction="20000"/>
          </a:bodyPr>
          <a:lstStyle/>
          <a:p>
            <a:pPr algn="ctr">
              <a:spcBef>
                <a:spcPct val="0"/>
              </a:spcBef>
              <a:buFont typeface="Symbol" pitchFamily="18" charset="2"/>
              <a:buNone/>
            </a:pPr>
            <a:r>
              <a:rPr lang="en-US" dirty="0" smtClean="0"/>
              <a:t>No header file or declaration of </a:t>
            </a:r>
            <a:r>
              <a:rPr lang="en-US" u="sng" dirty="0" smtClean="0"/>
              <a:t>types</a:t>
            </a:r>
            <a:r>
              <a:rPr lang="en-US" dirty="0" smtClean="0"/>
              <a:t> of function or arguments</a:t>
            </a:r>
            <a:endParaRPr lang="en-US" sz="2800" dirty="0" smtClean="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906588" y="2209800"/>
            <a:ext cx="6475412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1143000" lvl="2" indent="-228600">
              <a:spcBef>
                <a:spcPct val="20000"/>
              </a:spcBef>
            </a:pPr>
            <a:r>
              <a:rPr lang="en-US" sz="2000" b="1" dirty="0">
                <a:solidFill>
                  <a:srgbClr val="FF6600"/>
                </a:solidFill>
                <a:latin typeface="Courier New" pitchFamily="49" charset="0"/>
              </a:rPr>
              <a:t>def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00FF"/>
                </a:solidFill>
                <a:latin typeface="Courier New" pitchFamily="49" charset="0"/>
              </a:rPr>
              <a:t>Function_Name</a:t>
            </a:r>
            <a:r>
              <a:rPr lang="en-US" sz="2000" b="1" dirty="0" smtClean="0">
                <a:latin typeface="Courier New" pitchFamily="49" charset="0"/>
              </a:rPr>
              <a:t>(parameters):</a:t>
            </a:r>
            <a:endParaRPr lang="en-US" sz="2000" b="1" dirty="0">
              <a:latin typeface="Courier New" pitchFamily="49" charset="0"/>
            </a:endParaRPr>
          </a:p>
          <a:p>
            <a:pPr marL="1143000" lvl="2" indent="-228600">
              <a:spcBef>
                <a:spcPct val="20000"/>
              </a:spcBef>
            </a:pPr>
            <a:r>
              <a:rPr lang="en-US" sz="2000" b="1" dirty="0">
                <a:latin typeface="Courier New" pitchFamily="49" charset="0"/>
              </a:rPr>
              <a:t>	 </a:t>
            </a:r>
            <a:r>
              <a:rPr lang="ja-JP" altLang="en-US" sz="2000" b="1">
                <a:solidFill>
                  <a:srgbClr val="008000"/>
                </a:solidFill>
                <a:latin typeface="Courier New" pitchFamily="49" charset="0"/>
              </a:rPr>
              <a:t>“““</a:t>
            </a:r>
            <a:r>
              <a:rPr lang="en-US" altLang="ja-JP" sz="2000" b="1" dirty="0">
                <a:solidFill>
                  <a:srgbClr val="008000"/>
                </a:solidFill>
                <a:latin typeface="Courier New" pitchFamily="49" charset="0"/>
              </a:rPr>
              <a:t>Documentation String</a:t>
            </a:r>
            <a:r>
              <a:rPr lang="ja-JP" altLang="en-US" sz="2000" b="1">
                <a:solidFill>
                  <a:srgbClr val="008000"/>
                </a:solidFill>
                <a:latin typeface="Courier New" pitchFamily="49" charset="0"/>
              </a:rPr>
              <a:t>”””</a:t>
            </a:r>
            <a:r>
              <a:rPr lang="en-US" altLang="ja-JP" sz="2000" b="1" dirty="0">
                <a:latin typeface="Courier New" pitchFamily="49" charset="0"/>
              </a:rPr>
              <a:t/>
            </a:r>
            <a:br>
              <a:rPr lang="en-US" altLang="ja-JP" sz="2000" b="1" dirty="0">
                <a:latin typeface="Courier New" pitchFamily="49" charset="0"/>
              </a:rPr>
            </a:br>
            <a:r>
              <a:rPr lang="en-US" altLang="ja-JP" sz="2000" b="1" dirty="0">
                <a:latin typeface="Courier New" pitchFamily="49" charset="0"/>
              </a:rPr>
              <a:t> line1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000" b="1" dirty="0">
                <a:latin typeface="Courier New" pitchFamily="49" charset="0"/>
              </a:rPr>
              <a:t>	 line2</a:t>
            </a:r>
          </a:p>
          <a:p>
            <a:pPr marL="1143000" lvl="2" indent="-228600">
              <a:spcBef>
                <a:spcPct val="20000"/>
              </a:spcBef>
            </a:pPr>
            <a:r>
              <a:rPr lang="en-US" sz="2000" b="1" dirty="0">
                <a:latin typeface="Courier New" pitchFamily="49" charset="0"/>
              </a:rPr>
              <a:t>	 </a:t>
            </a:r>
            <a:r>
              <a:rPr lang="en-US" sz="2000" b="1" dirty="0">
                <a:solidFill>
                  <a:srgbClr val="FF6600"/>
                </a:solidFill>
                <a:latin typeface="Courier New" pitchFamily="49" charset="0"/>
              </a:rPr>
              <a:t>return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</a:rPr>
              <a:t>What_You_Want</a:t>
            </a:r>
            <a:endParaRPr lang="en-US" sz="2000" b="1" dirty="0">
              <a:latin typeface="Courier New" pitchFamily="49" charset="0"/>
            </a:endParaRP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381000" y="1365250"/>
            <a:ext cx="4248150" cy="996950"/>
            <a:chOff x="0" y="1148"/>
            <a:chExt cx="2676" cy="628"/>
          </a:xfrm>
        </p:grpSpPr>
        <p:sp>
          <p:nvSpPr>
            <p:cNvPr id="16400" name="Text Box 9"/>
            <p:cNvSpPr txBox="1">
              <a:spLocks noChangeArrowheads="1"/>
            </p:cNvSpPr>
            <p:nvPr/>
          </p:nvSpPr>
          <p:spPr bwMode="auto">
            <a:xfrm>
              <a:off x="0" y="1148"/>
              <a:ext cx="267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>
                  <a:latin typeface="Arial" pitchFamily="34" charset="0"/>
                </a:rPr>
                <a:t>Function definition begins with </a:t>
              </a:r>
              <a:r>
                <a:rPr lang="ja-JP" altLang="en-US" sz="2000">
                  <a:latin typeface="Arial" pitchFamily="34" charset="0"/>
                </a:rPr>
                <a:t>“</a:t>
              </a:r>
              <a:r>
                <a:rPr lang="en-US" altLang="ja-JP" sz="2000">
                  <a:latin typeface="Arial" pitchFamily="34" charset="0"/>
                </a:rPr>
                <a:t>def.</a:t>
              </a:r>
              <a:r>
                <a:rPr lang="ja-JP" altLang="en-US" sz="2000">
                  <a:latin typeface="Arial" pitchFamily="34" charset="0"/>
                </a:rPr>
                <a:t>”</a:t>
              </a:r>
              <a:endParaRPr lang="en-US" sz="20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6401" name="Line 10"/>
            <p:cNvSpPr>
              <a:spLocks noChangeShapeType="1"/>
            </p:cNvSpPr>
            <p:nvPr/>
          </p:nvSpPr>
          <p:spPr bwMode="auto">
            <a:xfrm>
              <a:off x="912" y="1440"/>
              <a:ext cx="576" cy="33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848225" y="1381125"/>
            <a:ext cx="4019550" cy="920750"/>
            <a:chOff x="2496" y="1148"/>
            <a:chExt cx="2532" cy="580"/>
          </a:xfrm>
        </p:grpSpPr>
        <p:sp>
          <p:nvSpPr>
            <p:cNvPr id="16397" name="Text Box 12"/>
            <p:cNvSpPr txBox="1">
              <a:spLocks noChangeArrowheads="1"/>
            </p:cNvSpPr>
            <p:nvPr/>
          </p:nvSpPr>
          <p:spPr bwMode="auto">
            <a:xfrm>
              <a:off x="2496" y="1148"/>
              <a:ext cx="253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>
                  <a:latin typeface="Arial" pitchFamily="34" charset="0"/>
                </a:rPr>
                <a:t>Function name and its arguments.</a:t>
              </a:r>
              <a:endParaRPr lang="en-US" sz="20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6398" name="Line 13"/>
            <p:cNvSpPr>
              <a:spLocks noChangeShapeType="1"/>
            </p:cNvSpPr>
            <p:nvPr/>
          </p:nvSpPr>
          <p:spPr bwMode="auto">
            <a:xfrm flipH="1">
              <a:off x="3024" y="1392"/>
              <a:ext cx="96" cy="2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16399" name="Line 14"/>
            <p:cNvSpPr>
              <a:spLocks noChangeShapeType="1"/>
            </p:cNvSpPr>
            <p:nvPr/>
          </p:nvSpPr>
          <p:spPr bwMode="auto">
            <a:xfrm flipH="1">
              <a:off x="3792" y="1392"/>
              <a:ext cx="192" cy="33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4114800" y="3962400"/>
            <a:ext cx="4381500" cy="1539875"/>
            <a:chOff x="2592" y="2496"/>
            <a:chExt cx="2760" cy="970"/>
          </a:xfrm>
        </p:grpSpPr>
        <p:sp>
          <p:nvSpPr>
            <p:cNvPr id="16395" name="Text Box 16"/>
            <p:cNvSpPr txBox="1">
              <a:spLocks noChangeArrowheads="1"/>
            </p:cNvSpPr>
            <p:nvPr/>
          </p:nvSpPr>
          <p:spPr bwMode="auto">
            <a:xfrm>
              <a:off x="2784" y="3020"/>
              <a:ext cx="2568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>
                  <a:latin typeface="Arial" pitchFamily="34" charset="0"/>
                </a:rPr>
                <a:t>The keyword </a:t>
              </a:r>
              <a:r>
                <a:rPr lang="ja-JP" altLang="en-US" sz="2000">
                  <a:latin typeface="Arial" pitchFamily="34" charset="0"/>
                </a:rPr>
                <a:t>‘</a:t>
              </a:r>
              <a:r>
                <a:rPr lang="en-US" altLang="ja-JP" sz="2000">
                  <a:latin typeface="Arial" pitchFamily="34" charset="0"/>
                </a:rPr>
                <a:t>return</a:t>
              </a:r>
              <a:r>
                <a:rPr lang="ja-JP" altLang="en-US" sz="2000">
                  <a:latin typeface="Arial" pitchFamily="34" charset="0"/>
                </a:rPr>
                <a:t>’</a:t>
              </a:r>
              <a:r>
                <a:rPr lang="en-US" altLang="ja-JP" sz="2000">
                  <a:latin typeface="Arial" pitchFamily="34" charset="0"/>
                </a:rPr>
                <a:t> indicates the </a:t>
              </a:r>
              <a:br>
                <a:rPr lang="en-US" altLang="ja-JP" sz="2000">
                  <a:latin typeface="Arial" pitchFamily="34" charset="0"/>
                </a:rPr>
              </a:br>
              <a:r>
                <a:rPr lang="en-US" altLang="ja-JP" sz="2000">
                  <a:latin typeface="Arial" pitchFamily="34" charset="0"/>
                </a:rPr>
                <a:t>value to be sent back to the caller.</a:t>
              </a:r>
              <a:endParaRPr lang="en-US" sz="2000">
                <a:solidFill>
                  <a:schemeClr val="hlink"/>
                </a:solidFill>
                <a:latin typeface="Arial" pitchFamily="34" charset="0"/>
              </a:endParaRPr>
            </a:p>
          </p:txBody>
        </p:sp>
        <p:sp>
          <p:nvSpPr>
            <p:cNvPr id="16396" name="Line 17"/>
            <p:cNvSpPr>
              <a:spLocks noChangeShapeType="1"/>
            </p:cNvSpPr>
            <p:nvPr/>
          </p:nvSpPr>
          <p:spPr bwMode="auto">
            <a:xfrm flipH="1" flipV="1">
              <a:off x="2592" y="2496"/>
              <a:ext cx="1008" cy="5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7361238" y="2606675"/>
            <a:ext cx="1782762" cy="1006475"/>
            <a:chOff x="2736" y="2496"/>
            <a:chExt cx="1123" cy="634"/>
          </a:xfrm>
        </p:grpSpPr>
        <p:sp>
          <p:nvSpPr>
            <p:cNvPr id="16393" name="Text Box 19"/>
            <p:cNvSpPr txBox="1">
              <a:spLocks noChangeArrowheads="1"/>
            </p:cNvSpPr>
            <p:nvPr/>
          </p:nvSpPr>
          <p:spPr bwMode="auto">
            <a:xfrm>
              <a:off x="2736" y="2880"/>
              <a:ext cx="11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2000">
                  <a:latin typeface="Times" pitchFamily="1" charset="0"/>
                </a:rPr>
                <a:t>	Colon.</a:t>
              </a:r>
              <a:endParaRPr lang="en-US" sz="2000">
                <a:solidFill>
                  <a:schemeClr val="hlink"/>
                </a:solidFill>
                <a:latin typeface="Times" pitchFamily="1" charset="0"/>
              </a:endParaRPr>
            </a:p>
          </p:txBody>
        </p:sp>
        <p:sp>
          <p:nvSpPr>
            <p:cNvPr id="16394" name="Line 20"/>
            <p:cNvSpPr>
              <a:spLocks noChangeShapeType="1"/>
            </p:cNvSpPr>
            <p:nvPr/>
          </p:nvSpPr>
          <p:spPr bwMode="auto">
            <a:xfrm flipH="1" flipV="1">
              <a:off x="2928" y="2496"/>
              <a:ext cx="624" cy="43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arrow" w="lg" len="lg"/>
            </a:ln>
          </p:spPr>
          <p:txBody>
            <a:bodyPr lIns="92075" tIns="46038" rIns="92075" bIns="46038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Defining &amp; Calling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71600"/>
            <a:ext cx="868680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4495800" y="2057400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with return value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1000" y="1676400"/>
            <a:ext cx="8534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A function to add two numbers</a:t>
            </a:r>
          </a:p>
          <a:p>
            <a:r>
              <a:rPr lang="en-US" sz="2400" dirty="0" smtClean="0"/>
              <a:t>def sum(a, b):</a:t>
            </a:r>
          </a:p>
          <a:p>
            <a:r>
              <a:rPr lang="en-US" sz="2400" dirty="0" smtClean="0"/>
              <a:t>    """ This function finds sum of two numbers """</a:t>
            </a:r>
          </a:p>
          <a:p>
            <a:r>
              <a:rPr lang="en-US" sz="2400" dirty="0" smtClean="0"/>
              <a:t>    c = a + b</a:t>
            </a:r>
          </a:p>
          <a:p>
            <a:r>
              <a:rPr lang="en-US" sz="2400" dirty="0" smtClean="0"/>
              <a:t>    return c  # return result</a:t>
            </a:r>
          </a:p>
          <a:p>
            <a:endParaRPr lang="en-US" sz="2400" dirty="0" smtClean="0"/>
          </a:p>
          <a:p>
            <a:r>
              <a:rPr lang="en-US" sz="2400" dirty="0" smtClean="0"/>
              <a:t>#call the function</a:t>
            </a:r>
          </a:p>
          <a:p>
            <a:r>
              <a:rPr lang="en-US" sz="2400" dirty="0" smtClean="0"/>
              <a:t>x = sum(10, 15)</a:t>
            </a:r>
          </a:p>
          <a:p>
            <a:r>
              <a:rPr lang="en-US" sz="2400" dirty="0" smtClean="0"/>
              <a:t>print('The Sum is: ', x)</a:t>
            </a:r>
          </a:p>
          <a:p>
            <a:endParaRPr lang="en-US" sz="2400" dirty="0" smtClean="0"/>
          </a:p>
          <a:p>
            <a:r>
              <a:rPr lang="en-US" sz="2400" dirty="0" smtClean="0"/>
              <a:t>y = sum(1.5, 10.75)</a:t>
            </a:r>
          </a:p>
          <a:p>
            <a:r>
              <a:rPr lang="en-US" sz="2400" dirty="0" smtClean="0"/>
              <a:t>print('The Sum is: ', y)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Returning multiple Values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1752600"/>
            <a:ext cx="8610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 A function that returns two results</a:t>
            </a:r>
          </a:p>
          <a:p>
            <a:r>
              <a:rPr lang="en-US" sz="2000" dirty="0" smtClean="0"/>
              <a:t>def </a:t>
            </a:r>
            <a:r>
              <a:rPr lang="en-US" sz="2000" dirty="0" err="1" smtClean="0"/>
              <a:t>sum_sub</a:t>
            </a:r>
            <a:r>
              <a:rPr lang="en-US" sz="2000" dirty="0" smtClean="0"/>
              <a:t>(a, b):</a:t>
            </a:r>
          </a:p>
          <a:p>
            <a:r>
              <a:rPr lang="en-US" sz="2000" dirty="0" smtClean="0"/>
              <a:t>    """ this function returns results of  addition and subtraction of a, b """</a:t>
            </a:r>
          </a:p>
          <a:p>
            <a:r>
              <a:rPr lang="en-US" sz="2000" dirty="0" smtClean="0"/>
              <a:t>    c = a + b</a:t>
            </a:r>
          </a:p>
          <a:p>
            <a:r>
              <a:rPr lang="en-US" sz="2000" dirty="0" smtClean="0"/>
              <a:t>    d = a - b</a:t>
            </a:r>
          </a:p>
          <a:p>
            <a:r>
              <a:rPr lang="en-US" sz="2000" dirty="0" smtClean="0"/>
              <a:t>    return c, d</a:t>
            </a:r>
          </a:p>
          <a:p>
            <a:endParaRPr lang="en-US" sz="2000" dirty="0" smtClean="0"/>
          </a:p>
          <a:p>
            <a:r>
              <a:rPr lang="en-US" sz="2000" dirty="0" smtClean="0"/>
              <a:t># get the results from </a:t>
            </a:r>
            <a:r>
              <a:rPr lang="en-US" sz="2000" dirty="0" err="1" smtClean="0"/>
              <a:t>sum_sub</a:t>
            </a:r>
            <a:r>
              <a:rPr lang="en-US" sz="2000" dirty="0" smtClean="0"/>
              <a:t>() function</a:t>
            </a:r>
          </a:p>
          <a:p>
            <a:r>
              <a:rPr lang="en-US" sz="2000" dirty="0" smtClean="0"/>
              <a:t>x, y = </a:t>
            </a:r>
            <a:r>
              <a:rPr lang="en-US" sz="2000" dirty="0" err="1" smtClean="0"/>
              <a:t>sum_sub</a:t>
            </a:r>
            <a:r>
              <a:rPr lang="en-US" sz="2000" dirty="0" smtClean="0"/>
              <a:t>(10, 5)</a:t>
            </a:r>
          </a:p>
          <a:p>
            <a:endParaRPr lang="en-US" sz="2000" dirty="0" smtClean="0"/>
          </a:p>
          <a:p>
            <a:r>
              <a:rPr lang="en-US" sz="2000" dirty="0" smtClean="0"/>
              <a:t># display the results</a:t>
            </a:r>
          </a:p>
          <a:p>
            <a:r>
              <a:rPr lang="en-US" sz="2000" dirty="0" smtClean="0"/>
              <a:t>print("Result of addition: ", x)</a:t>
            </a:r>
          </a:p>
          <a:p>
            <a:r>
              <a:rPr lang="en-US" sz="2000" dirty="0" smtClean="0"/>
              <a:t>print("Result of subtraction: ", y)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Pass by Object References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2133600"/>
            <a:ext cx="7239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passing an integer to a function</a:t>
            </a:r>
          </a:p>
          <a:p>
            <a:r>
              <a:rPr lang="en-US" sz="2400" dirty="0" smtClean="0"/>
              <a:t>x=10</a:t>
            </a:r>
          </a:p>
          <a:p>
            <a:r>
              <a:rPr lang="en-US" sz="2400" dirty="0" smtClean="0"/>
              <a:t>def modify(x):</a:t>
            </a:r>
          </a:p>
          <a:p>
            <a:r>
              <a:rPr lang="en-US" sz="2400" dirty="0" smtClean="0"/>
              <a:t>    """ reassign a value to the variable """</a:t>
            </a:r>
          </a:p>
          <a:p>
            <a:r>
              <a:rPr lang="en-US" sz="2400" dirty="0" smtClean="0"/>
              <a:t>    x = 15</a:t>
            </a:r>
          </a:p>
          <a:p>
            <a:r>
              <a:rPr lang="en-US" sz="2400" dirty="0" smtClean="0"/>
              <a:t>    print(x, id(x))</a:t>
            </a:r>
          </a:p>
          <a:p>
            <a:endParaRPr lang="en-US" sz="2400" dirty="0" smtClean="0"/>
          </a:p>
          <a:p>
            <a:r>
              <a:rPr lang="en-US" sz="2400" dirty="0" smtClean="0"/>
              <a:t># call </a:t>
            </a:r>
            <a:r>
              <a:rPr lang="en-US" sz="2400" dirty="0" err="1" smtClean="0"/>
              <a:t>mofify</a:t>
            </a:r>
            <a:r>
              <a:rPr lang="en-US" sz="2400" dirty="0" smtClean="0"/>
              <a:t>() and pass x</a:t>
            </a:r>
          </a:p>
          <a:p>
            <a:r>
              <a:rPr lang="en-US" sz="2400" dirty="0" smtClean="0"/>
              <a:t>modify(x)</a:t>
            </a:r>
          </a:p>
          <a:p>
            <a:r>
              <a:rPr lang="en-US" sz="2400" dirty="0" smtClean="0"/>
              <a:t>print(x, id(x))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2209800"/>
            <a:ext cx="321945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600200" y="59436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#Output: 15     1456577184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                  10    1456577104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Pass by Object References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2057400"/>
            <a:ext cx="533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passing an list to a function</a:t>
            </a:r>
          </a:p>
          <a:p>
            <a:r>
              <a:rPr lang="en-US" sz="2400" dirty="0" err="1" smtClean="0"/>
              <a:t>lst</a:t>
            </a:r>
            <a:r>
              <a:rPr lang="en-US" sz="2400" dirty="0" smtClean="0"/>
              <a:t> = [1, 2, 3, 4]</a:t>
            </a:r>
          </a:p>
          <a:p>
            <a:r>
              <a:rPr lang="en-US" sz="2400" dirty="0" smtClean="0"/>
              <a:t>def modify(</a:t>
            </a:r>
            <a:r>
              <a:rPr lang="en-US" sz="2400" dirty="0" err="1" smtClean="0"/>
              <a:t>lst</a:t>
            </a:r>
            <a:r>
              <a:rPr lang="en-US" sz="2400" dirty="0" smtClean="0"/>
              <a:t>):</a:t>
            </a:r>
          </a:p>
          <a:p>
            <a:r>
              <a:rPr lang="en-US" sz="2400" dirty="0" smtClean="0"/>
              <a:t>    """ to create a new list """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lst</a:t>
            </a:r>
            <a:r>
              <a:rPr lang="en-US" sz="2400" dirty="0" smtClean="0"/>
              <a:t> = [10, 11, 12]</a:t>
            </a:r>
          </a:p>
          <a:p>
            <a:r>
              <a:rPr lang="en-US" sz="2400" dirty="0" smtClean="0"/>
              <a:t>    print(</a:t>
            </a:r>
            <a:r>
              <a:rPr lang="en-US" sz="2400" dirty="0" err="1" smtClean="0"/>
              <a:t>lst</a:t>
            </a:r>
            <a:r>
              <a:rPr lang="en-US" sz="2400" dirty="0" smtClean="0"/>
              <a:t>, id(</a:t>
            </a:r>
            <a:r>
              <a:rPr lang="en-US" sz="2400" dirty="0" err="1" smtClean="0"/>
              <a:t>lst</a:t>
            </a:r>
            <a:r>
              <a:rPr lang="en-US" sz="2400" dirty="0" smtClean="0"/>
              <a:t>))</a:t>
            </a:r>
          </a:p>
          <a:p>
            <a:endParaRPr lang="en-US" sz="2400" dirty="0" smtClean="0"/>
          </a:p>
          <a:p>
            <a:r>
              <a:rPr lang="en-US" sz="2400" dirty="0" smtClean="0"/>
              <a:t># call </a:t>
            </a:r>
            <a:r>
              <a:rPr lang="en-US" sz="2400" dirty="0" err="1" smtClean="0"/>
              <a:t>mofify</a:t>
            </a:r>
            <a:r>
              <a:rPr lang="en-US" sz="2400" dirty="0" smtClean="0"/>
              <a:t>() and pass </a:t>
            </a:r>
            <a:r>
              <a:rPr lang="en-US" sz="2400" dirty="0" err="1" smtClean="0"/>
              <a:t>lst</a:t>
            </a:r>
            <a:endParaRPr lang="en-US" sz="2400" dirty="0" smtClean="0"/>
          </a:p>
          <a:p>
            <a:r>
              <a:rPr lang="en-US" sz="2400" dirty="0" smtClean="0"/>
              <a:t>modify(</a:t>
            </a:r>
            <a:r>
              <a:rPr lang="en-US" sz="2400" dirty="0" err="1" smtClean="0"/>
              <a:t>lst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print(</a:t>
            </a:r>
            <a:r>
              <a:rPr lang="en-US" sz="2400" dirty="0" err="1" smtClean="0"/>
              <a:t>lst</a:t>
            </a:r>
            <a:r>
              <a:rPr lang="en-US" sz="2400" dirty="0" smtClean="0"/>
              <a:t>, id(</a:t>
            </a:r>
            <a:r>
              <a:rPr lang="en-US" sz="2400" dirty="0" err="1" smtClean="0"/>
              <a:t>lst</a:t>
            </a:r>
            <a:r>
              <a:rPr lang="en-US" sz="2400" dirty="0" smtClean="0"/>
              <a:t>))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752600"/>
            <a:ext cx="363855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676400" y="5943600"/>
            <a:ext cx="548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#Output: [10, 11, 12] 	6161672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	[1, 2, 3, 4]	 37715880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-79653"/>
            <a:ext cx="79248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= 1</a:t>
            </a:r>
          </a:p>
          <a:p>
            <a:r>
              <a:rPr lang="en-US" dirty="0" smtClean="0"/>
              <a:t> # Uses global because there is no local 'a' </a:t>
            </a:r>
          </a:p>
          <a:p>
            <a:r>
              <a:rPr lang="en-US" dirty="0" smtClean="0"/>
              <a:t>def f(): </a:t>
            </a:r>
          </a:p>
          <a:p>
            <a:r>
              <a:rPr lang="en-US" dirty="0" smtClean="0"/>
              <a:t>    print('Inside f() : ', a)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Variable 'a' is redefined as a local </a:t>
            </a:r>
          </a:p>
          <a:p>
            <a:r>
              <a:rPr lang="en-US" dirty="0" smtClean="0"/>
              <a:t>def g():     </a:t>
            </a:r>
          </a:p>
          <a:p>
            <a:r>
              <a:rPr lang="en-US" dirty="0" smtClean="0"/>
              <a:t>    a = 2</a:t>
            </a:r>
          </a:p>
          <a:p>
            <a:r>
              <a:rPr lang="en-US" dirty="0" smtClean="0"/>
              <a:t>    print('Inside g() : ', a)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Uses global keyword to modify global 'a' </a:t>
            </a:r>
          </a:p>
          <a:p>
            <a:r>
              <a:rPr lang="en-US" dirty="0" smtClean="0"/>
              <a:t>def h():     </a:t>
            </a:r>
          </a:p>
          <a:p>
            <a:r>
              <a:rPr lang="en-US" dirty="0" smtClean="0"/>
              <a:t>    global a </a:t>
            </a:r>
          </a:p>
          <a:p>
            <a:r>
              <a:rPr lang="en-US" dirty="0" smtClean="0"/>
              <a:t>    a = 3</a:t>
            </a:r>
          </a:p>
          <a:p>
            <a:r>
              <a:rPr lang="en-US" dirty="0" smtClean="0"/>
              <a:t>    print('Inside h() : ', a) </a:t>
            </a:r>
          </a:p>
          <a:p>
            <a:r>
              <a:rPr lang="en-US" dirty="0" smtClean="0"/>
              <a:t>  </a:t>
            </a:r>
          </a:p>
          <a:p>
            <a:r>
              <a:rPr lang="en-US" dirty="0" smtClean="0"/>
              <a:t># Global scope </a:t>
            </a:r>
          </a:p>
          <a:p>
            <a:r>
              <a:rPr lang="en-US" dirty="0" smtClean="0"/>
              <a:t>print('global : ',a) </a:t>
            </a:r>
          </a:p>
          <a:p>
            <a:r>
              <a:rPr lang="en-US" dirty="0" smtClean="0"/>
              <a:t>f() </a:t>
            </a:r>
          </a:p>
          <a:p>
            <a:r>
              <a:rPr lang="en-US" dirty="0" smtClean="0"/>
              <a:t>print('global : ',a) </a:t>
            </a:r>
          </a:p>
          <a:p>
            <a:r>
              <a:rPr lang="en-US" dirty="0" smtClean="0"/>
              <a:t>g() </a:t>
            </a:r>
          </a:p>
          <a:p>
            <a:r>
              <a:rPr lang="en-US" dirty="0" smtClean="0"/>
              <a:t>print('global : ',a) </a:t>
            </a:r>
          </a:p>
          <a:p>
            <a:r>
              <a:rPr lang="en-US" dirty="0" smtClean="0"/>
              <a:t>h() </a:t>
            </a:r>
          </a:p>
          <a:p>
            <a:r>
              <a:rPr lang="en-US" dirty="0" smtClean="0"/>
              <a:t>print('global : ',a)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0" y="3657600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#Output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global :  1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Inside f() :  1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global :  1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Inside g() :  2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global :  1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Inside h() :  3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global :  3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Formal and Actual Arguments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1676400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# A function to add two numbers</a:t>
            </a:r>
          </a:p>
          <a:p>
            <a:r>
              <a:rPr lang="en-US" sz="2400" dirty="0" smtClean="0"/>
              <a:t>def sum(a, b):</a:t>
            </a:r>
          </a:p>
          <a:p>
            <a:r>
              <a:rPr lang="en-US" sz="2400" dirty="0" smtClean="0"/>
              <a:t>    """ This function finds sum of two numbers """</a:t>
            </a:r>
          </a:p>
          <a:p>
            <a:r>
              <a:rPr lang="en-US" sz="2400" dirty="0" smtClean="0"/>
              <a:t>    c = a + b</a:t>
            </a:r>
          </a:p>
          <a:p>
            <a:r>
              <a:rPr lang="en-US" sz="2400" dirty="0" smtClean="0"/>
              <a:t>    return c # return result</a:t>
            </a:r>
          </a:p>
          <a:p>
            <a:endParaRPr lang="en-US" sz="2400" dirty="0" smtClean="0"/>
          </a:p>
          <a:p>
            <a:r>
              <a:rPr lang="en-US" sz="2400" dirty="0" smtClean="0"/>
              <a:t>#call the function</a:t>
            </a:r>
          </a:p>
          <a:p>
            <a:r>
              <a:rPr lang="en-US" sz="2400" dirty="0" smtClean="0"/>
              <a:t>x = sum(10, 15)</a:t>
            </a:r>
          </a:p>
          <a:p>
            <a:r>
              <a:rPr lang="en-US" sz="2400" dirty="0" smtClean="0"/>
              <a:t>print('The Sum is: ', x)</a:t>
            </a:r>
          </a:p>
          <a:p>
            <a:endParaRPr lang="en-US" sz="2400" dirty="0" smtClean="0"/>
          </a:p>
          <a:p>
            <a:r>
              <a:rPr lang="en-US" sz="2400" dirty="0" smtClean="0"/>
              <a:t>y = sum(1.5, 10.75)</a:t>
            </a:r>
          </a:p>
          <a:p>
            <a:r>
              <a:rPr lang="en-US" sz="2400" dirty="0" smtClean="0"/>
              <a:t>print('The Sum is: ', y)</a:t>
            </a:r>
            <a:endParaRPr lang="en-US" sz="2400" dirty="0"/>
          </a:p>
        </p:txBody>
      </p:sp>
      <p:sp>
        <p:nvSpPr>
          <p:cNvPr id="5" name="Oval 4"/>
          <p:cNvSpPr/>
          <p:nvPr/>
        </p:nvSpPr>
        <p:spPr>
          <a:xfrm>
            <a:off x="6629400" y="1828800"/>
            <a:ext cx="1676400" cy="9144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Formal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010400" y="4572000"/>
            <a:ext cx="1676400" cy="9144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Actual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endCxn id="5" idx="2"/>
          </p:cNvCxnSpPr>
          <p:nvPr/>
        </p:nvCxnSpPr>
        <p:spPr>
          <a:xfrm>
            <a:off x="1981200" y="2286000"/>
            <a:ext cx="4648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6" idx="2"/>
          </p:cNvCxnSpPr>
          <p:nvPr/>
        </p:nvCxnSpPr>
        <p:spPr>
          <a:xfrm>
            <a:off x="2209800" y="4800600"/>
            <a:ext cx="4800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Passing  group of items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685800"/>
            <a:ext cx="838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 a function to find total and average</a:t>
            </a:r>
          </a:p>
          <a:p>
            <a:r>
              <a:rPr lang="en-US" sz="2000" dirty="0" smtClean="0"/>
              <a:t>def calculate(</a:t>
            </a:r>
            <a:r>
              <a:rPr lang="en-US" sz="2000" dirty="0" err="1" smtClean="0"/>
              <a:t>lst</a:t>
            </a:r>
            <a:r>
              <a:rPr lang="en-US" sz="2000" dirty="0" smtClean="0"/>
              <a:t>):</a:t>
            </a:r>
          </a:p>
          <a:p>
            <a:r>
              <a:rPr lang="en-US" sz="2000" dirty="0" smtClean="0"/>
              <a:t>    """ to find total and average """</a:t>
            </a:r>
          </a:p>
          <a:p>
            <a:r>
              <a:rPr lang="en-US" sz="2000" dirty="0" smtClean="0"/>
              <a:t>    n = </a:t>
            </a:r>
            <a:r>
              <a:rPr lang="en-US" sz="2000" dirty="0" err="1" smtClean="0"/>
              <a:t>len</a:t>
            </a:r>
            <a:r>
              <a:rPr lang="en-US" sz="2000" dirty="0" smtClean="0"/>
              <a:t>(</a:t>
            </a:r>
            <a:r>
              <a:rPr lang="en-US" sz="2000" dirty="0" err="1" smtClean="0"/>
              <a:t>lst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    sum = 0</a:t>
            </a:r>
          </a:p>
          <a:p>
            <a:r>
              <a:rPr lang="en-US" sz="2000" dirty="0" smtClean="0"/>
              <a:t>    for </a:t>
            </a:r>
            <a:r>
              <a:rPr lang="en-US" sz="2000" dirty="0" err="1" smtClean="0"/>
              <a:t>i</a:t>
            </a:r>
            <a:r>
              <a:rPr lang="en-US" sz="2000" dirty="0" smtClean="0"/>
              <a:t> in </a:t>
            </a:r>
            <a:r>
              <a:rPr lang="en-US" sz="2000" dirty="0" err="1" smtClean="0"/>
              <a:t>lst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        sum += </a:t>
            </a:r>
            <a:r>
              <a:rPr lang="en-US" sz="2000" dirty="0" err="1" smtClean="0"/>
              <a:t>i</a:t>
            </a:r>
            <a:endParaRPr lang="en-US" sz="2000" dirty="0" smtClean="0"/>
          </a:p>
          <a:p>
            <a:r>
              <a:rPr lang="en-US" sz="2000" dirty="0" smtClean="0"/>
              <a:t>        </a:t>
            </a:r>
            <a:r>
              <a:rPr lang="en-US" sz="2000" dirty="0" err="1" smtClean="0"/>
              <a:t>avg</a:t>
            </a:r>
            <a:r>
              <a:rPr lang="en-US" sz="2000" dirty="0" smtClean="0"/>
              <a:t> = sum / n</a:t>
            </a:r>
          </a:p>
          <a:p>
            <a:r>
              <a:rPr lang="en-US" sz="2000" dirty="0" smtClean="0"/>
              <a:t>    return sum, </a:t>
            </a:r>
            <a:r>
              <a:rPr lang="en-US" sz="2000" dirty="0" err="1" smtClean="0"/>
              <a:t>avg</a:t>
            </a:r>
            <a:endParaRPr lang="en-US" sz="2000" dirty="0" smtClean="0"/>
          </a:p>
          <a:p>
            <a:r>
              <a:rPr lang="en-US" sz="2000" dirty="0" smtClean="0"/>
              <a:t>    </a:t>
            </a:r>
          </a:p>
          <a:p>
            <a:r>
              <a:rPr lang="en-US" sz="2000" dirty="0" smtClean="0"/>
              <a:t># take a group of integers from keyboard</a:t>
            </a:r>
          </a:p>
          <a:p>
            <a:r>
              <a:rPr lang="en-US" sz="2000" dirty="0" smtClean="0"/>
              <a:t>print('Enter numbers </a:t>
            </a:r>
            <a:r>
              <a:rPr lang="en-US" sz="2000" dirty="0" err="1" smtClean="0"/>
              <a:t>seperated</a:t>
            </a:r>
            <a:r>
              <a:rPr lang="en-US" sz="2000" dirty="0" smtClean="0"/>
              <a:t> by space: ')</a:t>
            </a:r>
          </a:p>
          <a:p>
            <a:r>
              <a:rPr lang="en-US" sz="2000" dirty="0" err="1" smtClean="0"/>
              <a:t>lst</a:t>
            </a:r>
            <a:r>
              <a:rPr lang="en-US" sz="2000" dirty="0" smtClean="0"/>
              <a:t> = [</a:t>
            </a:r>
            <a:r>
              <a:rPr lang="en-US" sz="2000" dirty="0" err="1" smtClean="0"/>
              <a:t>int</a:t>
            </a:r>
            <a:r>
              <a:rPr lang="en-US" sz="2000" dirty="0" smtClean="0"/>
              <a:t>(x) for x in input().split()]</a:t>
            </a:r>
          </a:p>
          <a:p>
            <a:r>
              <a:rPr lang="en-US" sz="2000" dirty="0" smtClean="0"/>
              <a:t>print(</a:t>
            </a:r>
            <a:r>
              <a:rPr lang="en-US" sz="2000" dirty="0" err="1" smtClean="0"/>
              <a:t>lst</a:t>
            </a:r>
            <a:r>
              <a:rPr lang="en-US" sz="2000" dirty="0" smtClean="0"/>
              <a:t>)</a:t>
            </a:r>
          </a:p>
          <a:p>
            <a:endParaRPr lang="en-US" sz="2000" dirty="0" smtClean="0"/>
          </a:p>
          <a:p>
            <a:r>
              <a:rPr lang="en-US" sz="2000" dirty="0" smtClean="0"/>
              <a:t>#call calculate() and pass the list</a:t>
            </a:r>
          </a:p>
          <a:p>
            <a:r>
              <a:rPr lang="en-US" sz="2000" dirty="0" smtClean="0"/>
              <a:t>x, y = calculate(</a:t>
            </a:r>
            <a:r>
              <a:rPr lang="en-US" sz="2000" dirty="0" err="1" smtClean="0"/>
              <a:t>lst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print('Total: ', x)</a:t>
            </a:r>
          </a:p>
          <a:p>
            <a:r>
              <a:rPr lang="en-US" sz="2000" dirty="0" smtClean="0"/>
              <a:t>print('Average: ', y)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Formal and Actual Arguments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219200"/>
            <a:ext cx="6781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A function to add two numbers</a:t>
            </a:r>
          </a:p>
          <a:p>
            <a:r>
              <a:rPr lang="en-US" sz="2400" dirty="0" smtClean="0"/>
              <a:t>def sum(a, b):</a:t>
            </a:r>
          </a:p>
          <a:p>
            <a:r>
              <a:rPr lang="en-US" sz="2400" dirty="0" smtClean="0"/>
              <a:t>    """ This function finds sum of two numbers """</a:t>
            </a:r>
          </a:p>
          <a:p>
            <a:r>
              <a:rPr lang="en-US" sz="2400" dirty="0" smtClean="0"/>
              <a:t>    c = a + b</a:t>
            </a:r>
          </a:p>
          <a:p>
            <a:r>
              <a:rPr lang="en-US" sz="2400" dirty="0" smtClean="0"/>
              <a:t>    return c # return result</a:t>
            </a:r>
          </a:p>
          <a:p>
            <a:endParaRPr lang="en-US" sz="2400" dirty="0" smtClean="0"/>
          </a:p>
          <a:p>
            <a:r>
              <a:rPr lang="en-US" sz="2400" dirty="0" smtClean="0"/>
              <a:t>#call the function</a:t>
            </a:r>
          </a:p>
          <a:p>
            <a:r>
              <a:rPr lang="en-US" sz="2400" dirty="0" smtClean="0"/>
              <a:t>x = sum(10, 15)</a:t>
            </a:r>
          </a:p>
          <a:p>
            <a:r>
              <a:rPr lang="en-US" sz="2400" dirty="0" smtClean="0"/>
              <a:t>print('The Sum is: ', x)</a:t>
            </a:r>
          </a:p>
          <a:p>
            <a:endParaRPr lang="en-US" sz="2400" dirty="0" smtClean="0"/>
          </a:p>
          <a:p>
            <a:r>
              <a:rPr lang="en-US" sz="2400" dirty="0" smtClean="0"/>
              <a:t>y = sum(1.5, 10.75)</a:t>
            </a:r>
          </a:p>
          <a:p>
            <a:r>
              <a:rPr lang="en-US" sz="2400" dirty="0" smtClean="0"/>
              <a:t>print('The Sum is: ', y)</a:t>
            </a:r>
            <a:endParaRPr lang="en-US" sz="2400" dirty="0"/>
          </a:p>
        </p:txBody>
      </p:sp>
      <p:sp>
        <p:nvSpPr>
          <p:cNvPr id="5" name="Oval 4"/>
          <p:cNvSpPr/>
          <p:nvPr/>
        </p:nvSpPr>
        <p:spPr>
          <a:xfrm>
            <a:off x="6629400" y="1828800"/>
            <a:ext cx="1676400" cy="9144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Formal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010400" y="4572000"/>
            <a:ext cx="1676400" cy="914400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Actual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981200" y="1752600"/>
            <a:ext cx="47244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133600" y="4038600"/>
            <a:ext cx="49530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685800"/>
            <a:ext cx="6477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	</a:t>
            </a:r>
            <a:r>
              <a:rPr lang="en-US" sz="2800" b="1" dirty="0" smtClean="0"/>
              <a:t>Functions</a:t>
            </a:r>
          </a:p>
          <a:p>
            <a:pPr algn="ctr"/>
            <a:r>
              <a:rPr lang="en-US" sz="2800" b="1" dirty="0" smtClean="0"/>
              <a:t>	Formal and Actual Arguments</a:t>
            </a:r>
          </a:p>
          <a:p>
            <a:pPr algn="ctr"/>
            <a:endParaRPr lang="en-US" sz="2800" b="1" dirty="0" smtClean="0"/>
          </a:p>
          <a:p>
            <a:r>
              <a:rPr lang="en-US" sz="2400" dirty="0" smtClean="0">
                <a:solidFill>
                  <a:srgbClr val="FF0000"/>
                </a:solidFill>
              </a:rPr>
              <a:t>Types: Actual Arguments</a:t>
            </a:r>
          </a:p>
          <a:p>
            <a:endParaRPr lang="en-US" sz="2400" b="1" dirty="0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Positional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 Keyword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 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smtClean="0"/>
              <a:t> Variable length</a:t>
            </a:r>
          </a:p>
          <a:p>
            <a:pPr marL="514350" indent="-514350"/>
            <a:r>
              <a:rPr lang="en-US" sz="2000" dirty="0" smtClean="0"/>
              <a:t>		</a:t>
            </a:r>
            <a:r>
              <a:rPr lang="en-US" sz="2000" dirty="0" err="1" smtClean="0"/>
              <a:t>i</a:t>
            </a:r>
            <a:r>
              <a:rPr lang="en-US" sz="2000" dirty="0" smtClean="0"/>
              <a:t>) Variable number of arguments</a:t>
            </a:r>
          </a:p>
          <a:p>
            <a:pPr marL="514350" indent="-514350"/>
            <a:r>
              <a:rPr lang="en-US" sz="2000" dirty="0" smtClean="0"/>
              <a:t>		ii) </a:t>
            </a:r>
            <a:r>
              <a:rPr lang="en-US" sz="2000" dirty="0" err="1" smtClean="0"/>
              <a:t>Keyworded</a:t>
            </a:r>
            <a:r>
              <a:rPr lang="en-US" sz="2000" dirty="0" smtClean="0"/>
              <a:t> Variable number of Arguments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810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Positional Arguments</a:t>
            </a:r>
          </a:p>
          <a:p>
            <a:pPr algn="ctr"/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90600" y="1371600"/>
            <a:ext cx="746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positional arguments demo</a:t>
            </a:r>
          </a:p>
          <a:p>
            <a:endParaRPr lang="en-US" sz="2400" dirty="0" smtClean="0"/>
          </a:p>
          <a:p>
            <a:r>
              <a:rPr lang="en-US" sz="2400" dirty="0" smtClean="0"/>
              <a:t>def attach(fn, </a:t>
            </a:r>
            <a:r>
              <a:rPr lang="en-US" sz="2400" dirty="0" err="1" smtClean="0"/>
              <a:t>ln</a:t>
            </a:r>
            <a:r>
              <a:rPr lang="en-US" sz="2400" dirty="0" smtClean="0"/>
              <a:t>):</a:t>
            </a:r>
          </a:p>
          <a:p>
            <a:r>
              <a:rPr lang="en-US" sz="2400" dirty="0" smtClean="0"/>
              <a:t>	""" to join fn and </a:t>
            </a:r>
            <a:r>
              <a:rPr lang="en-US" sz="2400" dirty="0" err="1" smtClean="0"/>
              <a:t>ln</a:t>
            </a:r>
            <a:r>
              <a:rPr lang="en-US" sz="2400" dirty="0" smtClean="0"/>
              <a:t> and display total string """</a:t>
            </a:r>
          </a:p>
          <a:p>
            <a:r>
              <a:rPr lang="en-US" sz="2400" dirty="0" smtClean="0"/>
              <a:t>	s3 = fn + </a:t>
            </a:r>
            <a:r>
              <a:rPr lang="en-US" sz="2400" dirty="0" err="1" smtClean="0"/>
              <a:t>ln</a:t>
            </a:r>
            <a:endParaRPr lang="en-US" sz="2400" dirty="0" smtClean="0"/>
          </a:p>
          <a:p>
            <a:r>
              <a:rPr lang="en-US" sz="2400" dirty="0" smtClean="0"/>
              <a:t>	print('Total string:' + s3)</a:t>
            </a:r>
          </a:p>
          <a:p>
            <a:endParaRPr lang="en-US" sz="2400" dirty="0" smtClean="0"/>
          </a:p>
          <a:p>
            <a:r>
              <a:rPr lang="en-US" sz="2400" dirty="0" smtClean="0"/>
              <a:t># call attach() and pass 2 strings</a:t>
            </a:r>
          </a:p>
          <a:p>
            <a:r>
              <a:rPr lang="en-US" sz="2400" dirty="0" err="1" smtClean="0"/>
              <a:t>fname,lname</a:t>
            </a:r>
            <a:r>
              <a:rPr lang="en-US" sz="2400" dirty="0" smtClean="0"/>
              <a:t> = input("enter the string").split()</a:t>
            </a:r>
          </a:p>
          <a:p>
            <a:r>
              <a:rPr lang="en-US" sz="2400" dirty="0" smtClean="0"/>
              <a:t>attach(</a:t>
            </a:r>
            <a:r>
              <a:rPr lang="en-US" sz="2400" dirty="0" err="1" smtClean="0"/>
              <a:t>fname,lname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 # positional arguments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00" y="5715000"/>
            <a:ext cx="868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Note</a:t>
            </a:r>
            <a:r>
              <a:rPr lang="en-US" sz="2400" dirty="0" smtClean="0">
                <a:solidFill>
                  <a:srgbClr val="FF0000"/>
                </a:solidFill>
              </a:rPr>
              <a:t>: Arguments are passed to a function in correct positional order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1600200"/>
            <a:ext cx="7620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key word arguments demo</a:t>
            </a:r>
          </a:p>
          <a:p>
            <a:r>
              <a:rPr lang="en-US" sz="2400" dirty="0" smtClean="0"/>
              <a:t>def grocery(item, price):</a:t>
            </a:r>
          </a:p>
          <a:p>
            <a:r>
              <a:rPr lang="en-US" sz="2400" dirty="0" smtClean="0"/>
              <a:t>    """ to display the given arguments """</a:t>
            </a:r>
          </a:p>
          <a:p>
            <a:r>
              <a:rPr lang="en-US" sz="2400" dirty="0" smtClean="0"/>
              <a:t>    print('Item = %s' % item)</a:t>
            </a:r>
          </a:p>
          <a:p>
            <a:r>
              <a:rPr lang="en-US" sz="2400" dirty="0" smtClean="0"/>
              <a:t>    print('Price = %.2f' % price)</a:t>
            </a:r>
          </a:p>
          <a:p>
            <a:r>
              <a:rPr lang="en-US" sz="2400" dirty="0" smtClean="0"/>
              <a:t>    </a:t>
            </a:r>
          </a:p>
          <a:p>
            <a:r>
              <a:rPr lang="en-US" sz="2400" dirty="0" smtClean="0"/>
              <a:t># call grocerry() and pass two arguments</a:t>
            </a:r>
          </a:p>
          <a:p>
            <a:r>
              <a:rPr lang="en-US" sz="2400" dirty="0" smtClean="0"/>
              <a:t>grocery(item='sugar', price = 50.75) #keyword arguments</a:t>
            </a:r>
          </a:p>
          <a:p>
            <a:r>
              <a:rPr lang="en-US" sz="2400" dirty="0" smtClean="0"/>
              <a:t>grocery(price = 88.00, item = 'oil') #keyword arguments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3000" y="457200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</a:rPr>
              <a:t> Keyword Arguments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5562600"/>
            <a:ext cx="8305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Note: </a:t>
            </a:r>
            <a:r>
              <a:rPr lang="en-US" sz="2400" dirty="0" smtClean="0">
                <a:solidFill>
                  <a:srgbClr val="FF0000"/>
                </a:solidFill>
              </a:rPr>
              <a:t>Keyword Arguments are arguments that identify the parameters by their names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3276600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def person(</a:t>
            </a:r>
            <a:r>
              <a:rPr lang="en-US" sz="2400" dirty="0" err="1" smtClean="0"/>
              <a:t>name,city,age</a:t>
            </a:r>
            <a:r>
              <a:rPr lang="en-US" sz="2400" dirty="0" smtClean="0"/>
              <a:t>=18):</a:t>
            </a:r>
          </a:p>
          <a:p>
            <a:r>
              <a:rPr lang="en-US" sz="2400" dirty="0" smtClean="0"/>
              <a:t>    print(</a:t>
            </a:r>
            <a:r>
              <a:rPr lang="en-US" sz="2400" dirty="0" err="1" smtClean="0"/>
              <a:t>name,city,age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person("Navin","Bhubaneswar",32)</a:t>
            </a:r>
          </a:p>
          <a:p>
            <a:r>
              <a:rPr lang="en-US" sz="2400" dirty="0" smtClean="0"/>
              <a:t>person("</a:t>
            </a:r>
            <a:r>
              <a:rPr lang="en-US" sz="2400" dirty="0" err="1" smtClean="0"/>
              <a:t>Navin","Bhubaneswar</a:t>
            </a:r>
            <a:r>
              <a:rPr lang="en-US" sz="2400" dirty="0" smtClean="0"/>
              <a:t>")</a:t>
            </a:r>
          </a:p>
          <a:p>
            <a:r>
              <a:rPr lang="en-US" sz="2400" dirty="0" smtClean="0"/>
              <a:t>person(city="</a:t>
            </a:r>
            <a:r>
              <a:rPr lang="en-US" sz="2400" dirty="0" err="1" smtClean="0"/>
              <a:t>Bhubaneswar",name</a:t>
            </a:r>
            <a:r>
              <a:rPr lang="en-US" sz="2400" dirty="0" smtClean="0"/>
              <a:t>="</a:t>
            </a:r>
            <a:r>
              <a:rPr lang="en-US" sz="2400" dirty="0" err="1" smtClean="0"/>
              <a:t>Navin",age</a:t>
            </a:r>
            <a:r>
              <a:rPr lang="en-US" sz="2400" dirty="0" smtClean="0"/>
              <a:t>=20)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304800" y="1524000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Python allows function arguments to have default values; if the function is called without the argument, the argument gets its default value.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2971800" y="304800"/>
            <a:ext cx="33215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Default Arguments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28800" y="228600"/>
            <a:ext cx="4218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Variable Length Arguments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914400"/>
            <a:ext cx="8153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 An argument that can accept any number of arguments</a:t>
            </a:r>
          </a:p>
          <a:p>
            <a:r>
              <a:rPr lang="en-US" sz="2000" dirty="0" smtClean="0"/>
              <a:t> Syntax: def </a:t>
            </a:r>
            <a:r>
              <a:rPr lang="en-US" sz="2000" dirty="0" err="1" smtClean="0"/>
              <a:t>function_name</a:t>
            </a:r>
            <a:r>
              <a:rPr lang="en-US" sz="2000" dirty="0" smtClean="0"/>
              <a:t>(a, *b)</a:t>
            </a:r>
          </a:p>
          <a:p>
            <a:r>
              <a:rPr lang="en-US" sz="2000" dirty="0" smtClean="0"/>
              <a:t> - a: Formal argument</a:t>
            </a:r>
          </a:p>
          <a:p>
            <a:r>
              <a:rPr lang="en-US" sz="2000" dirty="0" smtClean="0"/>
              <a:t> - *b: Can take 1 or more arguments</a:t>
            </a:r>
          </a:p>
          <a:p>
            <a:r>
              <a:rPr lang="en-US" sz="2000" dirty="0" smtClean="0"/>
              <a:t> *b will be stored as </a:t>
            </a:r>
            <a:r>
              <a:rPr lang="en-US" sz="2000" dirty="0" err="1" smtClean="0"/>
              <a:t>tuple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85800" y="2819400"/>
            <a:ext cx="7086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# variable length arguments demo</a:t>
            </a:r>
          </a:p>
          <a:p>
            <a:r>
              <a:rPr lang="en-US" sz="2000" dirty="0" smtClean="0"/>
              <a:t>def add(a, *b): </a:t>
            </a:r>
          </a:p>
          <a:p>
            <a:r>
              <a:rPr lang="en-US" sz="2000" dirty="0" smtClean="0"/>
              <a:t>	""" to add given numbers """</a:t>
            </a:r>
          </a:p>
          <a:p>
            <a:r>
              <a:rPr lang="en-US" sz="2000" dirty="0" smtClean="0"/>
              <a:t>	print('Formal arguments= ', a)</a:t>
            </a:r>
          </a:p>
          <a:p>
            <a:r>
              <a:rPr lang="en-US" sz="2000" dirty="0" smtClean="0"/>
              <a:t>	sum = 0</a:t>
            </a:r>
          </a:p>
          <a:p>
            <a:r>
              <a:rPr lang="en-US" sz="2000" dirty="0" smtClean="0"/>
              <a:t>	for </a:t>
            </a:r>
            <a:r>
              <a:rPr lang="en-US" sz="2000" dirty="0" err="1" smtClean="0"/>
              <a:t>i</a:t>
            </a:r>
            <a:r>
              <a:rPr lang="en-US" sz="2000" dirty="0" smtClean="0"/>
              <a:t> in b:</a:t>
            </a:r>
          </a:p>
          <a:p>
            <a:r>
              <a:rPr lang="en-US" sz="2000" dirty="0" smtClean="0"/>
              <a:t>		sum += </a:t>
            </a:r>
            <a:r>
              <a:rPr lang="en-US" sz="2000" dirty="0" err="1" smtClean="0"/>
              <a:t>i</a:t>
            </a:r>
            <a:endParaRPr lang="en-US" sz="2000" dirty="0" smtClean="0"/>
          </a:p>
          <a:p>
            <a:r>
              <a:rPr lang="en-US" sz="2000" dirty="0" smtClean="0"/>
              <a:t>	print('Sum of all numbers= ', (a+ sum))</a:t>
            </a:r>
          </a:p>
          <a:p>
            <a:endParaRPr lang="en-US" sz="2000" dirty="0" smtClean="0"/>
          </a:p>
          <a:p>
            <a:r>
              <a:rPr lang="en-US" sz="2000" dirty="0" smtClean="0"/>
              <a:t>add(5, 10)</a:t>
            </a:r>
          </a:p>
          <a:p>
            <a:r>
              <a:rPr lang="en-US" sz="2000" dirty="0" smtClean="0"/>
              <a:t>add(5, 10, 20, 30)</a:t>
            </a:r>
          </a:p>
          <a:p>
            <a:r>
              <a:rPr lang="en-US" sz="2000" dirty="0" smtClean="0"/>
              <a:t>add(23)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9906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# variable length arguments demo</a:t>
            </a:r>
          </a:p>
          <a:p>
            <a:r>
              <a:rPr lang="en-US" sz="2400" dirty="0" smtClean="0"/>
              <a:t>def add(*b): </a:t>
            </a:r>
          </a:p>
          <a:p>
            <a:r>
              <a:rPr lang="en-US" sz="2400" dirty="0" smtClean="0"/>
              <a:t>	""" to add given numbers """</a:t>
            </a:r>
          </a:p>
          <a:p>
            <a:r>
              <a:rPr lang="en-US" sz="2400" dirty="0" smtClean="0"/>
              <a:t>	print(b)</a:t>
            </a:r>
          </a:p>
          <a:p>
            <a:r>
              <a:rPr lang="en-US" sz="2400" dirty="0" smtClean="0"/>
              <a:t>	sum = 0</a:t>
            </a:r>
          </a:p>
          <a:p>
            <a:r>
              <a:rPr lang="en-US" sz="2400" dirty="0" smtClean="0"/>
              <a:t>	for </a:t>
            </a:r>
            <a:r>
              <a:rPr lang="en-US" sz="2400" dirty="0" err="1" smtClean="0"/>
              <a:t>i</a:t>
            </a:r>
            <a:r>
              <a:rPr lang="en-US" sz="2400" dirty="0" smtClean="0"/>
              <a:t> in b:</a:t>
            </a:r>
          </a:p>
          <a:p>
            <a:r>
              <a:rPr lang="en-US" sz="2400" dirty="0" smtClean="0"/>
              <a:t>		sum += </a:t>
            </a:r>
            <a:r>
              <a:rPr lang="en-US" sz="2400" dirty="0" err="1" smtClean="0"/>
              <a:t>i</a:t>
            </a:r>
            <a:endParaRPr lang="en-US" sz="2400" dirty="0" smtClean="0"/>
          </a:p>
          <a:p>
            <a:r>
              <a:rPr lang="en-US" sz="2400" dirty="0" smtClean="0"/>
              <a:t>	print('Sum of all numbers= ',  sum)</a:t>
            </a:r>
          </a:p>
          <a:p>
            <a:endParaRPr lang="en-US" sz="2400" dirty="0" smtClean="0"/>
          </a:p>
          <a:p>
            <a:r>
              <a:rPr lang="en-US" sz="2400" dirty="0" smtClean="0"/>
              <a:t>add(5, 10)</a:t>
            </a:r>
          </a:p>
          <a:p>
            <a:r>
              <a:rPr lang="en-US" sz="2400" dirty="0" smtClean="0"/>
              <a:t>add(5, 10, 20, 30)</a:t>
            </a:r>
          </a:p>
          <a:p>
            <a:r>
              <a:rPr lang="en-US" sz="2400" dirty="0" smtClean="0"/>
              <a:t>add()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2362200" y="381000"/>
            <a:ext cx="4218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Variable Length Arguments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76800" y="4343400"/>
            <a:ext cx="3962400" cy="1938992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/>
              <a:t>(5, 10)</a:t>
            </a:r>
          </a:p>
          <a:p>
            <a:r>
              <a:rPr lang="en-US" sz="2000" dirty="0" smtClean="0"/>
              <a:t>Sum of all numbers=  15</a:t>
            </a:r>
          </a:p>
          <a:p>
            <a:r>
              <a:rPr lang="en-US" sz="2000" dirty="0" smtClean="0"/>
              <a:t>(5, 10, 20, 30)</a:t>
            </a:r>
          </a:p>
          <a:p>
            <a:r>
              <a:rPr lang="en-US" sz="2000" dirty="0" smtClean="0"/>
              <a:t>Sum of all numbers=  65</a:t>
            </a:r>
          </a:p>
          <a:p>
            <a:r>
              <a:rPr lang="en-US" sz="2000" dirty="0" smtClean="0"/>
              <a:t>()</a:t>
            </a:r>
          </a:p>
          <a:p>
            <a:r>
              <a:rPr lang="en-US" sz="2000" dirty="0" smtClean="0"/>
              <a:t>Sum of all numbers=  0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248400" y="3962400"/>
            <a:ext cx="182880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Output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0"/>
            <a:ext cx="53373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Keyword variable length arguments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1676400"/>
            <a:ext cx="8458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An argument that can accept any number of values provided in the format of keys and values</a:t>
            </a:r>
          </a:p>
          <a:p>
            <a:endParaRPr lang="en-US" sz="2400" dirty="0" smtClean="0"/>
          </a:p>
          <a:p>
            <a:r>
              <a:rPr lang="en-US" sz="2400" dirty="0" smtClean="0"/>
              <a:t> Syntax: def </a:t>
            </a:r>
            <a:r>
              <a:rPr lang="en-US" sz="2400" dirty="0" err="1" smtClean="0"/>
              <a:t>function_name</a:t>
            </a:r>
            <a:r>
              <a:rPr lang="en-US" sz="2400" dirty="0" smtClean="0"/>
              <a:t>(</a:t>
            </a:r>
            <a:r>
              <a:rPr lang="en-US" sz="2400" dirty="0" err="1" smtClean="0"/>
              <a:t>farg</a:t>
            </a:r>
            <a:r>
              <a:rPr lang="en-US" sz="2400" dirty="0" smtClean="0"/>
              <a:t>, **</a:t>
            </a:r>
            <a:r>
              <a:rPr lang="en-US" sz="2400" dirty="0" err="1" smtClean="0"/>
              <a:t>kwargs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 	- </a:t>
            </a:r>
            <a:r>
              <a:rPr lang="en-US" sz="2400" dirty="0" err="1" smtClean="0"/>
              <a:t>farg</a:t>
            </a:r>
            <a:r>
              <a:rPr lang="en-US" sz="2400" dirty="0" smtClean="0"/>
              <a:t>: Formal argument</a:t>
            </a:r>
          </a:p>
          <a:p>
            <a:r>
              <a:rPr lang="en-US" sz="2400" dirty="0" smtClean="0"/>
              <a:t> 	- **</a:t>
            </a:r>
            <a:r>
              <a:rPr lang="en-US" sz="2400" dirty="0" err="1" smtClean="0"/>
              <a:t>kwargs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 		- Called as keyword variable</a:t>
            </a:r>
          </a:p>
          <a:p>
            <a:r>
              <a:rPr lang="en-US" sz="2400" dirty="0" smtClean="0"/>
              <a:t> 		- Internally represents dictionary object</a:t>
            </a:r>
          </a:p>
          <a:p>
            <a:r>
              <a:rPr lang="en-US" sz="2400" dirty="0" smtClean="0"/>
              <a:t> **</a:t>
            </a:r>
            <a:r>
              <a:rPr lang="en-US" sz="2400" dirty="0" err="1" smtClean="0"/>
              <a:t>kwargs</a:t>
            </a:r>
            <a:r>
              <a:rPr lang="en-US" sz="2400" dirty="0" smtClean="0"/>
              <a:t> will be stored as dictionary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381000"/>
            <a:ext cx="7239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 keyword variable argument demo</a:t>
            </a:r>
          </a:p>
          <a:p>
            <a:r>
              <a:rPr lang="en-US" dirty="0" smtClean="0"/>
              <a:t>def display(**</a:t>
            </a:r>
            <a:r>
              <a:rPr lang="en-US" dirty="0" err="1" smtClean="0"/>
              <a:t>kwargs</a:t>
            </a:r>
            <a:r>
              <a:rPr lang="en-US" dirty="0" smtClean="0"/>
              <a:t>): </a:t>
            </a:r>
          </a:p>
          <a:p>
            <a:r>
              <a:rPr lang="en-US" dirty="0" smtClean="0"/>
              <a:t>    """ to add given values """</a:t>
            </a:r>
          </a:p>
          <a:p>
            <a:r>
              <a:rPr lang="en-US" dirty="0" smtClean="0"/>
              <a:t>    print(</a:t>
            </a:r>
            <a:r>
              <a:rPr lang="en-US" dirty="0" err="1" smtClean="0"/>
              <a:t>kwargs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</a:t>
            </a:r>
          </a:p>
          <a:p>
            <a:r>
              <a:rPr lang="en-US" dirty="0" smtClean="0"/>
              <a:t>    for x, y in </a:t>
            </a:r>
            <a:r>
              <a:rPr lang="en-US" dirty="0" err="1" smtClean="0"/>
              <a:t>kwargs.items</a:t>
            </a:r>
            <a:r>
              <a:rPr lang="en-US" dirty="0" smtClean="0"/>
              <a:t>(): </a:t>
            </a:r>
          </a:p>
          <a:p>
            <a:r>
              <a:rPr lang="en-US" dirty="0" smtClean="0"/>
              <a:t>        print('key = {}, value = {}'.format(x, y))</a:t>
            </a:r>
          </a:p>
          <a:p>
            <a:r>
              <a:rPr lang="en-US" dirty="0" smtClean="0"/>
              <a:t>        </a:t>
            </a:r>
          </a:p>
          <a:p>
            <a:r>
              <a:rPr lang="en-US" dirty="0" smtClean="0"/>
              <a:t>display( </a:t>
            </a:r>
            <a:r>
              <a:rPr lang="en-US" dirty="0" err="1" smtClean="0"/>
              <a:t>rno</a:t>
            </a:r>
            <a:r>
              <a:rPr lang="en-US" dirty="0" smtClean="0"/>
              <a:t> = 10, name = '</a:t>
            </a:r>
            <a:r>
              <a:rPr lang="en-US" dirty="0" err="1" smtClean="0"/>
              <a:t>Prakesh</a:t>
            </a:r>
            <a:r>
              <a:rPr lang="en-US" dirty="0" smtClean="0"/>
              <a:t>')</a:t>
            </a:r>
          </a:p>
          <a:p>
            <a:r>
              <a:rPr lang="en-US" dirty="0" smtClean="0"/>
              <a:t>print()</a:t>
            </a:r>
          </a:p>
          <a:p>
            <a:r>
              <a:rPr lang="en-US" dirty="0" smtClean="0"/>
              <a:t>display( Name="</a:t>
            </a:r>
            <a:r>
              <a:rPr lang="en-US" dirty="0" err="1" smtClean="0"/>
              <a:t>Navin",City</a:t>
            </a:r>
            <a:r>
              <a:rPr lang="en-US" dirty="0" smtClean="0"/>
              <a:t>='</a:t>
            </a:r>
            <a:r>
              <a:rPr lang="en-US" dirty="0" err="1" smtClean="0"/>
              <a:t>Bhubaneswar',DOB</a:t>
            </a:r>
            <a:r>
              <a:rPr lang="en-US" dirty="0" smtClean="0"/>
              <a:t>='23/06/1980',CGPA=9.5)</a:t>
            </a:r>
          </a:p>
          <a:p>
            <a:r>
              <a:rPr lang="en-US" dirty="0" smtClean="0"/>
              <a:t>display()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05000" y="3995678"/>
            <a:ext cx="7239000" cy="286232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{'</a:t>
            </a:r>
            <a:r>
              <a:rPr lang="en-US" dirty="0" err="1" smtClean="0"/>
              <a:t>rno</a:t>
            </a:r>
            <a:r>
              <a:rPr lang="en-US" dirty="0" smtClean="0"/>
              <a:t>': 10, 'name': '</a:t>
            </a:r>
            <a:r>
              <a:rPr lang="en-US" dirty="0" err="1" smtClean="0"/>
              <a:t>Prakesh</a:t>
            </a:r>
            <a:r>
              <a:rPr lang="en-US" dirty="0" smtClean="0"/>
              <a:t>'}</a:t>
            </a:r>
          </a:p>
          <a:p>
            <a:r>
              <a:rPr lang="en-US" dirty="0" smtClean="0"/>
              <a:t>key = </a:t>
            </a:r>
            <a:r>
              <a:rPr lang="en-US" dirty="0" err="1" smtClean="0"/>
              <a:t>rno</a:t>
            </a:r>
            <a:r>
              <a:rPr lang="en-US" dirty="0" smtClean="0"/>
              <a:t>, value = 10</a:t>
            </a:r>
          </a:p>
          <a:p>
            <a:r>
              <a:rPr lang="en-US" dirty="0" smtClean="0"/>
              <a:t>key = name, value = </a:t>
            </a:r>
            <a:r>
              <a:rPr lang="en-US" dirty="0" err="1" smtClean="0"/>
              <a:t>Prakesh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{'Name': '</a:t>
            </a:r>
            <a:r>
              <a:rPr lang="en-US" dirty="0" err="1" smtClean="0"/>
              <a:t>Navin</a:t>
            </a:r>
            <a:r>
              <a:rPr lang="en-US" dirty="0" smtClean="0"/>
              <a:t>', 'CGPA': 9.5, 'City': 'Bhubaneswar', 'DOB': '23/06/1980'}</a:t>
            </a:r>
          </a:p>
          <a:p>
            <a:r>
              <a:rPr lang="en-US" dirty="0" smtClean="0"/>
              <a:t>key = Name, value = </a:t>
            </a:r>
            <a:r>
              <a:rPr lang="en-US" dirty="0" err="1" smtClean="0"/>
              <a:t>Navin</a:t>
            </a:r>
            <a:endParaRPr lang="en-US" dirty="0" smtClean="0"/>
          </a:p>
          <a:p>
            <a:r>
              <a:rPr lang="en-US" dirty="0" smtClean="0"/>
              <a:t>key = CGPA, value = 9.5</a:t>
            </a:r>
          </a:p>
          <a:p>
            <a:r>
              <a:rPr lang="en-US" dirty="0" smtClean="0"/>
              <a:t>key = City, value = Bhubaneswar</a:t>
            </a:r>
          </a:p>
          <a:p>
            <a:r>
              <a:rPr lang="en-US" dirty="0" smtClean="0"/>
              <a:t>key = DOB, value = 23/06/1980</a:t>
            </a:r>
          </a:p>
          <a:p>
            <a:r>
              <a:rPr lang="en-US" dirty="0" smtClean="0"/>
              <a:t>{}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391400" y="3505200"/>
            <a:ext cx="1079142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Output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7620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Q1. Write a Python function to create and print a list where the values are square of numbers between 1 and 20 (both included).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Sample Output:[1,4,9, ……,400]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0" y="0"/>
            <a:ext cx="48268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C00000"/>
                </a:solidFill>
              </a:rPr>
              <a:t>Coding Assignments in Function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def </a:t>
            </a:r>
            <a:r>
              <a:rPr lang="en-US" dirty="0" err="1" smtClean="0"/>
              <a:t>printValues</a:t>
            </a:r>
            <a:r>
              <a:rPr lang="en-US" dirty="0" smtClean="0"/>
              <a:t>():</a:t>
            </a:r>
          </a:p>
          <a:p>
            <a:r>
              <a:rPr lang="en-US" dirty="0" smtClean="0"/>
              <a:t>	l = []</a:t>
            </a:r>
          </a:p>
          <a:p>
            <a:r>
              <a:rPr lang="en-US" dirty="0" smtClean="0"/>
              <a:t>	for </a:t>
            </a:r>
            <a:r>
              <a:rPr lang="en-US" dirty="0" err="1" smtClean="0"/>
              <a:t>i</a:t>
            </a:r>
            <a:r>
              <a:rPr lang="en-US" dirty="0" smtClean="0"/>
              <a:t> in range(1,21):</a:t>
            </a:r>
          </a:p>
          <a:p>
            <a:r>
              <a:rPr lang="en-US" dirty="0" smtClean="0"/>
              <a:t>		</a:t>
            </a:r>
            <a:r>
              <a:rPr lang="en-US" dirty="0" err="1" smtClean="0"/>
              <a:t>l.append</a:t>
            </a: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**2)</a:t>
            </a:r>
          </a:p>
          <a:p>
            <a:r>
              <a:rPr lang="en-US" dirty="0" smtClean="0"/>
              <a:t>	print(l)</a:t>
            </a:r>
          </a:p>
          <a:p>
            <a:r>
              <a:rPr lang="en-US" dirty="0" smtClean="0"/>
              <a:t>		</a:t>
            </a:r>
          </a:p>
          <a:p>
            <a:r>
              <a:rPr lang="en-US" dirty="0" err="1" smtClean="0"/>
              <a:t>printValues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4800" y="518160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Q2. Create a function </a:t>
            </a:r>
            <a:r>
              <a:rPr lang="en-US" dirty="0" err="1" smtClean="0"/>
              <a:t>showEmployee</a:t>
            </a:r>
            <a:r>
              <a:rPr lang="en-US" dirty="0" smtClean="0"/>
              <a:t>() in such a way that it should accept employee name, and its salary and display both. If the salary is missing in the function call assign default value 9000 to salary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52400"/>
            <a:ext cx="5943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def </a:t>
            </a:r>
            <a:r>
              <a:rPr lang="en-US" dirty="0" err="1" smtClean="0"/>
              <a:t>showEmployee</a:t>
            </a:r>
            <a:r>
              <a:rPr lang="en-US" dirty="0" smtClean="0"/>
              <a:t>(name, salary=9000): </a:t>
            </a:r>
          </a:p>
          <a:p>
            <a:r>
              <a:rPr lang="en-US" dirty="0" smtClean="0"/>
              <a:t>	print("Employee", name, "salary is:", salary)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showEmployee</a:t>
            </a:r>
            <a:r>
              <a:rPr lang="en-US" dirty="0" smtClean="0"/>
              <a:t>("Ben", 9000) </a:t>
            </a:r>
          </a:p>
          <a:p>
            <a:r>
              <a:rPr lang="en-US" dirty="0" err="1" smtClean="0"/>
              <a:t>showEmployee</a:t>
            </a:r>
            <a:r>
              <a:rPr lang="en-US" dirty="0" smtClean="0"/>
              <a:t>("Ben")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82880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Q3. Write a function </a:t>
            </a:r>
            <a:r>
              <a:rPr lang="en-US" dirty="0" err="1" smtClean="0"/>
              <a:t>find_max</a:t>
            </a:r>
            <a:r>
              <a:rPr lang="en-US" dirty="0" smtClean="0"/>
              <a:t> that accepts three numbers as arguments and returns the largest number among three. Write another function main, in main() function accept three numbers from user and call </a:t>
            </a:r>
            <a:r>
              <a:rPr lang="en-US" dirty="0" err="1" smtClean="0"/>
              <a:t>find_max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514600" y="2743200"/>
            <a:ext cx="6248400" cy="392415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def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find_max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y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z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if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 x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y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and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x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z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	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return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x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	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elif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y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&gt;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z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	 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return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 smtClean="0">
                <a:solidFill>
                  <a:srgbClr val="000000"/>
                </a:solidFill>
                <a:cs typeface="Arial" pitchFamily="34" charset="0"/>
              </a:rPr>
              <a:t>	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else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		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return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z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def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():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	a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input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cs typeface="Arial" pitchFamily="34" charset="0"/>
              </a:rPr>
              <a:t>'Enter first number '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	b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input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cs typeface="Arial" pitchFamily="34" charset="0"/>
              </a:rPr>
              <a:t>'Enter second number '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	c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input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cs typeface="Arial" pitchFamily="34" charset="0"/>
              </a:rPr>
              <a:t>'Enter third number '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	largest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=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find_max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a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c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	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cs typeface="Arial" pitchFamily="34" charset="0"/>
              </a:rPr>
              <a:t>print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cs typeface="Arial" pitchFamily="34" charset="0"/>
              </a:rPr>
              <a:t>'Largest number is'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,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largest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main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cs typeface="Arial" pitchFamily="34" charset="0"/>
              </a:rPr>
              <a:t>()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57200" y="1447800"/>
            <a:ext cx="8077200" cy="142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A function without name is called ‘Anonymous functions’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Anonymous functions are not defined using the ‘def’ keyword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 Defined using the keyword ‘lambda’, hence called as lambda function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2514600" y="3124200"/>
            <a:ext cx="430560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smtClean="0"/>
              <a:t>Syntax of Lambda Function in python:</a:t>
            </a:r>
          </a:p>
          <a:p>
            <a:r>
              <a:rPr lang="en-US" sz="2000" dirty="0" smtClean="0"/>
              <a:t>	</a:t>
            </a:r>
            <a:r>
              <a:rPr lang="en-US" sz="2000" dirty="0" smtClean="0">
                <a:solidFill>
                  <a:srgbClr val="C00000"/>
                </a:solidFill>
              </a:rPr>
              <a:t>lambda </a:t>
            </a:r>
            <a:r>
              <a:rPr lang="en-US" sz="2000" dirty="0" smtClean="0"/>
              <a:t>arguments: expression</a:t>
            </a:r>
            <a:endParaRPr lang="en-US" sz="2000" b="1" dirty="0" smtClean="0"/>
          </a:p>
          <a:p>
            <a:endParaRPr lang="en-US" sz="2000" b="1" dirty="0"/>
          </a:p>
        </p:txBody>
      </p:sp>
      <p:pic>
        <p:nvPicPr>
          <p:cNvPr id="16" name="Picture 5" descr="widge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4191000"/>
            <a:ext cx="6705600" cy="26670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600200" y="304800"/>
            <a:ext cx="5829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Python Anonymous/Lambda Function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AutoShape 3" descr="widget"/>
          <p:cNvSpPr>
            <a:spLocks noChangeAspect="1" noChangeArrowheads="1"/>
          </p:cNvSpPr>
          <p:nvPr/>
        </p:nvSpPr>
        <p:spPr bwMode="auto">
          <a:xfrm>
            <a:off x="155575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105400" y="1371600"/>
            <a:ext cx="19143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a=lambda </a:t>
            </a:r>
            <a:r>
              <a:rPr lang="en-US" dirty="0" err="1" smtClean="0"/>
              <a:t>x,y</a:t>
            </a:r>
            <a:r>
              <a:rPr lang="en-US" dirty="0" smtClean="0"/>
              <a:t> : </a:t>
            </a:r>
            <a:r>
              <a:rPr lang="en-US" dirty="0" err="1" smtClean="0"/>
              <a:t>x+y</a:t>
            </a:r>
            <a:endParaRPr lang="en-US" dirty="0" smtClean="0"/>
          </a:p>
          <a:p>
            <a:r>
              <a:rPr lang="en-US" dirty="0" smtClean="0"/>
              <a:t>print(a(5,3)</a:t>
            </a:r>
          </a:p>
          <a:p>
            <a:r>
              <a:rPr lang="en-US" dirty="0" smtClean="0"/>
              <a:t># Output:8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143000"/>
            <a:ext cx="15643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 add(</a:t>
            </a:r>
            <a:r>
              <a:rPr lang="en-US" dirty="0" err="1" smtClean="0"/>
              <a:t>x,y</a:t>
            </a:r>
            <a:r>
              <a:rPr lang="en-US" dirty="0" smtClean="0"/>
              <a:t>):</a:t>
            </a:r>
          </a:p>
          <a:p>
            <a:r>
              <a:rPr lang="en-US" dirty="0" smtClean="0"/>
              <a:t>        c= x+ y</a:t>
            </a:r>
          </a:p>
          <a:p>
            <a:r>
              <a:rPr lang="en-US" dirty="0" smtClean="0"/>
              <a:t>        return c</a:t>
            </a:r>
          </a:p>
          <a:p>
            <a:r>
              <a:rPr lang="en-US" dirty="0" smtClean="0"/>
              <a:t>print(add(4,5))</a:t>
            </a:r>
          </a:p>
          <a:p>
            <a:r>
              <a:rPr lang="en-US" dirty="0" smtClean="0"/>
              <a:t>#Output:9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895600" y="304800"/>
            <a:ext cx="1393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Examples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124200"/>
            <a:ext cx="33196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= lambda x, y : x if x&gt; y else y</a:t>
            </a:r>
          </a:p>
          <a:p>
            <a:r>
              <a:rPr lang="en-US" dirty="0" smtClean="0"/>
              <a:t> k= max(12,-14)</a:t>
            </a:r>
          </a:p>
          <a:p>
            <a:r>
              <a:rPr lang="en-US" dirty="0" smtClean="0"/>
              <a:t>print(k)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52800" y="4953000"/>
            <a:ext cx="54037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max = lambda x, y : x if x&gt; y else y</a:t>
            </a:r>
          </a:p>
          <a:p>
            <a:r>
              <a:rPr lang="en-US" dirty="0" err="1" smtClean="0"/>
              <a:t>a,b</a:t>
            </a:r>
            <a:r>
              <a:rPr lang="en-US" dirty="0" smtClean="0"/>
              <a:t>= [</a:t>
            </a:r>
            <a:r>
              <a:rPr lang="en-US" dirty="0" err="1" smtClean="0"/>
              <a:t>int</a:t>
            </a:r>
            <a:r>
              <a:rPr lang="en-US" dirty="0" smtClean="0"/>
              <a:t>(n) for n in input(“enter two numbers: “).split()]</a:t>
            </a:r>
          </a:p>
          <a:p>
            <a:r>
              <a:rPr lang="en-US" dirty="0" smtClean="0"/>
              <a:t> k= max(</a:t>
            </a:r>
            <a:r>
              <a:rPr lang="en-US" dirty="0" err="1" smtClean="0"/>
              <a:t>a,b</a:t>
            </a:r>
            <a:r>
              <a:rPr lang="en-US" dirty="0" smtClean="0"/>
              <a:t>)</a:t>
            </a:r>
          </a:p>
          <a:p>
            <a:r>
              <a:rPr lang="en-US" dirty="0" smtClean="0"/>
              <a:t>print(k)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1000" y="533400"/>
            <a:ext cx="83058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lambdas in filter()</a:t>
            </a:r>
          </a:p>
          <a:p>
            <a:pPr algn="ctr"/>
            <a:endParaRPr lang="en-US" sz="2400" b="1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The filter() function is used to select some particular elements from a sequence of elements. The sequence can be any </a:t>
            </a:r>
            <a:r>
              <a:rPr lang="en-US" dirty="0" err="1" smtClean="0"/>
              <a:t>iterator</a:t>
            </a:r>
            <a:r>
              <a:rPr lang="en-US" dirty="0" smtClean="0"/>
              <a:t> like lists, sets, </a:t>
            </a:r>
            <a:r>
              <a:rPr lang="en-US" dirty="0" err="1" smtClean="0"/>
              <a:t>tuples</a:t>
            </a:r>
            <a:r>
              <a:rPr lang="en-US" dirty="0" smtClean="0"/>
              <a:t>, etc.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elements which will be selected is based on some pre-defined constraint. It takes 2 parameters:</a:t>
            </a:r>
          </a:p>
          <a:p>
            <a:pPr algn="just"/>
            <a:endParaRPr lang="en-US" dirty="0" smtClean="0"/>
          </a:p>
          <a:p>
            <a:r>
              <a:rPr lang="en-US" sz="2000" dirty="0" smtClean="0">
                <a:solidFill>
                  <a:srgbClr val="00B050"/>
                </a:solidFill>
              </a:rPr>
              <a:t>Syntax: filter(function, sequence)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05200"/>
            <a:ext cx="62484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lst</a:t>
            </a:r>
            <a:r>
              <a:rPr lang="en-US" dirty="0" smtClean="0"/>
              <a:t> = [10,2,8,7,5,4,3,11,0, 1]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filtered_result</a:t>
            </a:r>
            <a:r>
              <a:rPr lang="en-US" dirty="0" smtClean="0"/>
              <a:t> = filter (lambda x: x &gt; 4, </a:t>
            </a:r>
            <a:r>
              <a:rPr lang="en-US" dirty="0" err="1" smtClean="0"/>
              <a:t>lst</a:t>
            </a:r>
            <a:r>
              <a:rPr lang="en-US" dirty="0" smtClean="0"/>
              <a:t>)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print(list(</a:t>
            </a:r>
            <a:r>
              <a:rPr lang="en-US" dirty="0" err="1" smtClean="0"/>
              <a:t>filtered_result</a:t>
            </a:r>
            <a:r>
              <a:rPr lang="en-US" dirty="0" smtClean="0"/>
              <a:t>))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Output:  [10, 8, 7, 5, 11]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3400" y="304800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Filter function without Lambda</a:t>
            </a:r>
          </a:p>
          <a:p>
            <a:endParaRPr lang="en-US" dirty="0" smtClean="0"/>
          </a:p>
          <a:p>
            <a:r>
              <a:rPr lang="en-US" dirty="0" smtClean="0"/>
              <a:t>def </a:t>
            </a:r>
            <a:r>
              <a:rPr lang="en-US" dirty="0" err="1" smtClean="0"/>
              <a:t>is_even</a:t>
            </a:r>
            <a:r>
              <a:rPr lang="en-US" dirty="0" smtClean="0"/>
              <a:t>(x):</a:t>
            </a:r>
          </a:p>
          <a:p>
            <a:endParaRPr lang="en-US" dirty="0" smtClean="0"/>
          </a:p>
          <a:p>
            <a:r>
              <a:rPr lang="en-US" dirty="0" smtClean="0"/>
              <a:t>	if x % 2 == 0:</a:t>
            </a:r>
          </a:p>
          <a:p>
            <a:r>
              <a:rPr lang="en-US" dirty="0" smtClean="0"/>
              <a:t>		return True</a:t>
            </a:r>
          </a:p>
          <a:p>
            <a:r>
              <a:rPr lang="en-US" dirty="0" smtClean="0"/>
              <a:t>	else:</a:t>
            </a:r>
          </a:p>
          <a:p>
            <a:r>
              <a:rPr lang="en-US" dirty="0" smtClean="0"/>
              <a:t>		return False</a:t>
            </a:r>
          </a:p>
          <a:p>
            <a:endParaRPr lang="en-US" dirty="0" smtClean="0"/>
          </a:p>
          <a:p>
            <a:r>
              <a:rPr lang="en-US" dirty="0" smtClean="0"/>
              <a:t># let us take a list of numbers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lst</a:t>
            </a:r>
            <a:r>
              <a:rPr lang="en-US" dirty="0" smtClean="0"/>
              <a:t> = [10, 23, 45, 46, 70, 99]</a:t>
            </a:r>
          </a:p>
          <a:p>
            <a:endParaRPr lang="en-US" dirty="0" smtClean="0"/>
          </a:p>
          <a:p>
            <a:r>
              <a:rPr lang="en-US" dirty="0" err="1" smtClean="0"/>
              <a:t>lstl</a:t>
            </a:r>
            <a:r>
              <a:rPr lang="en-US" dirty="0" smtClean="0"/>
              <a:t> = list(filter(</a:t>
            </a:r>
            <a:r>
              <a:rPr lang="en-US" dirty="0" err="1" smtClean="0"/>
              <a:t>is_even</a:t>
            </a:r>
            <a:r>
              <a:rPr lang="en-US" dirty="0" smtClean="0"/>
              <a:t>, </a:t>
            </a:r>
            <a:r>
              <a:rPr lang="en-US" dirty="0" err="1" smtClean="0"/>
              <a:t>lst</a:t>
            </a:r>
            <a:r>
              <a:rPr lang="en-US" dirty="0" smtClean="0"/>
              <a:t>))</a:t>
            </a:r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lstl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419600" y="914400"/>
            <a:ext cx="4572000" cy="175432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	#Using Lambda</a:t>
            </a:r>
          </a:p>
          <a:p>
            <a:r>
              <a:rPr lang="en-US" dirty="0" err="1" smtClean="0"/>
              <a:t>lst</a:t>
            </a:r>
            <a:r>
              <a:rPr lang="en-US" dirty="0" smtClean="0"/>
              <a:t> = [10, 23, 45, 46, 70, 99]</a:t>
            </a:r>
          </a:p>
          <a:p>
            <a:endParaRPr lang="en-US" dirty="0" smtClean="0"/>
          </a:p>
          <a:p>
            <a:r>
              <a:rPr lang="en-US" dirty="0" err="1" smtClean="0"/>
              <a:t>lstl</a:t>
            </a:r>
            <a:r>
              <a:rPr lang="en-US" dirty="0" smtClean="0"/>
              <a:t> = list(filter(lambda x: (x % 2 == 0), </a:t>
            </a:r>
            <a:r>
              <a:rPr lang="en-US" dirty="0" err="1" smtClean="0"/>
              <a:t>lst</a:t>
            </a:r>
            <a:r>
              <a:rPr lang="en-US" dirty="0" smtClean="0"/>
              <a:t>))</a:t>
            </a:r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lstl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33600" y="1524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lambda with map()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1200" y="1981200"/>
            <a:ext cx="533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#map() function that gives squares</a:t>
            </a:r>
          </a:p>
          <a:p>
            <a:r>
              <a:rPr lang="en-US" dirty="0" smtClean="0"/>
              <a:t>def squares(x):</a:t>
            </a:r>
          </a:p>
          <a:p>
            <a:r>
              <a:rPr lang="en-US" dirty="0" smtClean="0"/>
              <a:t>	return x * x</a:t>
            </a:r>
          </a:p>
          <a:p>
            <a:endParaRPr lang="en-US" dirty="0" smtClean="0"/>
          </a:p>
          <a:p>
            <a:r>
              <a:rPr lang="en-US" dirty="0" smtClean="0"/>
              <a:t>#let us take a </a:t>
            </a:r>
            <a:r>
              <a:rPr lang="en-US" dirty="0" err="1" smtClean="0"/>
              <a:t>lis</a:t>
            </a:r>
            <a:r>
              <a:rPr lang="en-US" dirty="0" smtClean="0"/>
              <a:t> of numbers</a:t>
            </a:r>
          </a:p>
          <a:p>
            <a:r>
              <a:rPr lang="sv-SE" dirty="0" smtClean="0"/>
              <a:t>lst = [1, 2, 3, 4, 5]</a:t>
            </a:r>
          </a:p>
          <a:p>
            <a:endParaRPr lang="sv-SE" dirty="0" smtClean="0"/>
          </a:p>
          <a:p>
            <a:r>
              <a:rPr lang="en-US" dirty="0" smtClean="0"/>
              <a:t># call map() with square()s and </a:t>
            </a:r>
            <a:r>
              <a:rPr lang="en-US" dirty="0" err="1" smtClean="0"/>
              <a:t>lst</a:t>
            </a:r>
            <a:endParaRPr lang="en-US" dirty="0" smtClean="0"/>
          </a:p>
          <a:p>
            <a:r>
              <a:rPr lang="en-US" dirty="0" err="1" smtClean="0"/>
              <a:t>lstl</a:t>
            </a:r>
            <a:r>
              <a:rPr lang="en-US" dirty="0" smtClean="0"/>
              <a:t> = list(map(squares, </a:t>
            </a:r>
            <a:r>
              <a:rPr lang="en-US" dirty="0" err="1" smtClean="0"/>
              <a:t>lst</a:t>
            </a:r>
            <a:r>
              <a:rPr lang="en-US" dirty="0" smtClean="0"/>
              <a:t>))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lstl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" y="1066800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600" dirty="0" smtClean="0"/>
              <a:t>A map() is similar to filter(), but it acts on each element of the sequence and changes the items.</a:t>
            </a:r>
          </a:p>
          <a:p>
            <a:pPr>
              <a:buFont typeface="Wingdings" pitchFamily="2" charset="2"/>
              <a:buChar char="Ø"/>
            </a:pPr>
            <a:endParaRPr lang="en-US" sz="1600" dirty="0" smtClean="0"/>
          </a:p>
          <a:p>
            <a:pPr>
              <a:buFont typeface="Wingdings" pitchFamily="2" charset="2"/>
              <a:buChar char="Ø"/>
            </a:pPr>
            <a:r>
              <a:rPr lang="en-US" sz="1600" dirty="0" smtClean="0"/>
              <a:t> Syntax: map(function, sequence)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3886200" y="4953000"/>
            <a:ext cx="4572000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# lambda that returns squares</a:t>
            </a:r>
          </a:p>
          <a:p>
            <a:r>
              <a:rPr lang="sv-SE" dirty="0" smtClean="0"/>
              <a:t>lst = [1, 2, 3, 4, 5]</a:t>
            </a:r>
          </a:p>
          <a:p>
            <a:r>
              <a:rPr lang="en-US" dirty="0" err="1" smtClean="0"/>
              <a:t>lstl</a:t>
            </a:r>
            <a:r>
              <a:rPr lang="en-US" dirty="0" smtClean="0"/>
              <a:t> = list(map(lambda x: x * x, </a:t>
            </a:r>
            <a:r>
              <a:rPr lang="en-US" dirty="0" err="1" smtClean="0"/>
              <a:t>lst</a:t>
            </a:r>
            <a:r>
              <a:rPr lang="en-US" dirty="0" smtClean="0"/>
              <a:t>))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lstl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3200" y="228600"/>
            <a:ext cx="3923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0000"/>
                </a:solidFill>
              </a:rPr>
              <a:t>lambdas with reduce()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4800" y="1066800"/>
            <a:ext cx="853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A reduce() function reduces a sequence of elements to a single value by processing the elements according to the function supplied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Syntax: reduce(function, sequence)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2000" y="2743200"/>
            <a:ext cx="7543800" cy="2446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 lambda that returns products of elements of a list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from </a:t>
            </a:r>
            <a:r>
              <a:rPr lang="en-US" dirty="0" err="1" smtClean="0"/>
              <a:t>functools</a:t>
            </a:r>
            <a:r>
              <a:rPr lang="en-US" dirty="0" smtClean="0"/>
              <a:t> import *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lst</a:t>
            </a:r>
            <a:r>
              <a:rPr lang="en-US" dirty="0" smtClean="0"/>
              <a:t> = [1, 2, 3, 4, 5]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result = reduce(lambda x, y: x + y, </a:t>
            </a:r>
            <a:r>
              <a:rPr lang="en-US" dirty="0" err="1" smtClean="0"/>
              <a:t>lst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print(result)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#Output:15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" y="5715000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Q. To calculate sum of numbers from 1 to 50 using reduce() &amp; lambda functions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4572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functools</a:t>
            </a:r>
            <a:r>
              <a:rPr lang="en-US" dirty="0" smtClean="0"/>
              <a:t> import*</a:t>
            </a:r>
          </a:p>
          <a:p>
            <a:endParaRPr lang="en-US" dirty="0" smtClean="0"/>
          </a:p>
          <a:p>
            <a:r>
              <a:rPr lang="en-US" dirty="0" smtClean="0"/>
              <a:t>a=reduce(lambda x, y: </a:t>
            </a:r>
            <a:r>
              <a:rPr lang="en-US" dirty="0" err="1" smtClean="0"/>
              <a:t>x+y</a:t>
            </a:r>
            <a:r>
              <a:rPr lang="en-US" dirty="0" smtClean="0"/>
              <a:t>, range(1,51))</a:t>
            </a:r>
          </a:p>
          <a:p>
            <a:r>
              <a:rPr lang="en-US" dirty="0" smtClean="0"/>
              <a:t>print(a)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81000" y="3000346"/>
            <a:ext cx="75438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itchFamily="49" charset="0"/>
                <a:cs typeface="Courier New" pitchFamily="49" charset="0"/>
              </a:rPr>
              <a:t>from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urier New" pitchFamily="49" charset="0"/>
                <a:cs typeface="Courier New" pitchFamily="49" charset="0"/>
              </a:rPr>
              <a:t>functools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itchFamily="49" charset="0"/>
                <a:cs typeface="Courier New" pitchFamily="49" charset="0"/>
              </a:rPr>
              <a:t>import</a:t>
            </a:r>
            <a:r>
              <a:rPr lang="en-US" sz="2000" dirty="0" smtClean="0">
                <a:solidFill>
                  <a:srgbClr val="000066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</a:rPr>
              <a:t>=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itchFamily="49" charset="0"/>
                <a:cs typeface="Courier New" pitchFamily="49" charset="0"/>
              </a:rPr>
              <a:t>lambda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: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itchFamily="49" charset="0"/>
                <a:cs typeface="Courier New" pitchFamily="49" charset="0"/>
              </a:rPr>
              <a:t>if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Arial" pitchFamily="34" charset="0"/>
              </a:rPr>
              <a:t>&gt;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)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Courier New" pitchFamily="49" charset="0"/>
                <a:cs typeface="Courier New" pitchFamily="49" charset="0"/>
              </a:rPr>
              <a:t>else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b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 pitchFamily="34" charset="0"/>
              </a:rPr>
              <a:t>a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=reduce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(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f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 [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Courier New" pitchFamily="49" charset="0"/>
                <a:cs typeface="Courier New" pitchFamily="49" charset="0"/>
              </a:rPr>
              <a:t>47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Courier New" pitchFamily="49" charset="0"/>
                <a:cs typeface="Courier New" pitchFamily="49" charset="0"/>
              </a:rPr>
              <a:t>11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Courier New" pitchFamily="49" charset="0"/>
                <a:cs typeface="Courier New" pitchFamily="49" charset="0"/>
              </a:rPr>
              <a:t>42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Courier New" pitchFamily="49" charset="0"/>
                <a:cs typeface="Courier New" pitchFamily="49" charset="0"/>
              </a:rPr>
              <a:t>102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,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Courier New" pitchFamily="49" charset="0"/>
                <a:cs typeface="Courier New" pitchFamily="49" charset="0"/>
              </a:rPr>
              <a:t>13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rgbClr val="000066"/>
                </a:solidFill>
                <a:effectLst/>
                <a:latin typeface="Courier New" pitchFamily="49" charset="0"/>
                <a:cs typeface="Courier New" pitchFamily="49" charset="0"/>
              </a:rPr>
              <a:t>])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print(a)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2133600"/>
            <a:ext cx="8458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r>
              <a:rPr lang="en-US" sz="2000" b="1" dirty="0" smtClean="0"/>
              <a:t>Q. Determining the maximum of a list of numerical values by using reduce:</a:t>
            </a:r>
            <a:endParaRPr lang="en-US" sz="2000" b="1" dirty="0"/>
          </a:p>
        </p:txBody>
      </p:sp>
      <p:sp>
        <p:nvSpPr>
          <p:cNvPr id="1027" name="AutoShape 3" descr="Reduce: Method of operati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Recursion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Key Components of a Recursive Function</a:t>
            </a:r>
          </a:p>
          <a:p>
            <a:pPr lvl="1" algn="just"/>
            <a:r>
              <a:rPr lang="en-US" b="1" dirty="0" smtClean="0"/>
              <a:t>Base Case:</a:t>
            </a:r>
            <a:r>
              <a:rPr lang="en-US" dirty="0" smtClean="0"/>
              <a:t> The condition that stops the recursion. This is the simplest instance of the problem that can be solved directly without any further function calls.</a:t>
            </a:r>
          </a:p>
          <a:p>
            <a:pPr lvl="1" algn="just"/>
            <a:r>
              <a:rPr lang="en-US" b="1" dirty="0" smtClean="0"/>
              <a:t>Recursive Case:</a:t>
            </a:r>
            <a:r>
              <a:rPr lang="en-US" dirty="0" smtClean="0"/>
              <a:t> The part of the function that calls itself with a modified, simpler argument, gradually moving the problem closer to the base case.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609600"/>
            <a:ext cx="6781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def display():</a:t>
            </a:r>
          </a:p>
          <a:p>
            <a:r>
              <a:rPr lang="en-US" sz="2400" dirty="0" smtClean="0"/>
              <a:t>    print("hello")</a:t>
            </a:r>
          </a:p>
          <a:p>
            <a:r>
              <a:rPr lang="en-US" sz="2400" dirty="0" smtClean="0"/>
              <a:t>    display()</a:t>
            </a:r>
          </a:p>
          <a:p>
            <a:endParaRPr lang="en-US" sz="2400" dirty="0" smtClean="0"/>
          </a:p>
          <a:p>
            <a:r>
              <a:rPr lang="en-US" sz="2400" dirty="0" smtClean="0"/>
              <a:t>display()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267200" y="381000"/>
            <a:ext cx="4572000" cy="347787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en-US" sz="2000" dirty="0" smtClean="0"/>
              <a:t>def display(</a:t>
            </a:r>
            <a:r>
              <a:rPr lang="en-US" sz="2000" dirty="0" err="1" smtClean="0"/>
              <a:t>i</a:t>
            </a:r>
            <a:r>
              <a:rPr lang="en-US" sz="2000" dirty="0" smtClean="0"/>
              <a:t>):</a:t>
            </a:r>
          </a:p>
          <a:p>
            <a:r>
              <a:rPr lang="en-US" sz="2000" dirty="0" smtClean="0"/>
              <a:t>    </a:t>
            </a:r>
          </a:p>
          <a:p>
            <a:r>
              <a:rPr lang="en-US" sz="2000" dirty="0" smtClean="0"/>
              <a:t>    if </a:t>
            </a:r>
            <a:r>
              <a:rPr lang="en-US" sz="2000" dirty="0" err="1" smtClean="0"/>
              <a:t>i</a:t>
            </a:r>
            <a:r>
              <a:rPr lang="en-US" sz="2000" dirty="0" smtClean="0"/>
              <a:t>==0:</a:t>
            </a:r>
          </a:p>
          <a:p>
            <a:r>
              <a:rPr lang="en-US" sz="2000" dirty="0" smtClean="0"/>
              <a:t>        return 1</a:t>
            </a:r>
          </a:p>
          <a:p>
            <a:r>
              <a:rPr lang="en-US" sz="2000" dirty="0" smtClean="0"/>
              <a:t>    else:</a:t>
            </a:r>
          </a:p>
          <a:p>
            <a:r>
              <a:rPr lang="en-US" sz="2000" dirty="0" smtClean="0"/>
              <a:t>        print("hello")</a:t>
            </a:r>
          </a:p>
          <a:p>
            <a:r>
              <a:rPr lang="en-US" sz="2000" dirty="0" smtClean="0"/>
              <a:t>        </a:t>
            </a:r>
          </a:p>
          <a:p>
            <a:r>
              <a:rPr lang="en-US" sz="2000" dirty="0" smtClean="0"/>
              <a:t>        display(i-1)</a:t>
            </a:r>
          </a:p>
          <a:p>
            <a:r>
              <a:rPr lang="en-US" sz="2000" dirty="0" smtClean="0"/>
              <a:t>        </a:t>
            </a:r>
          </a:p>
          <a:p>
            <a:r>
              <a:rPr lang="en-US" sz="2000" dirty="0" smtClean="0"/>
              <a:t>        </a:t>
            </a:r>
          </a:p>
          <a:p>
            <a:r>
              <a:rPr lang="en-US" sz="2000" dirty="0" smtClean="0"/>
              <a:t>display(10)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762000"/>
            <a:ext cx="8229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def factorial(n):</a:t>
            </a:r>
          </a:p>
          <a:p>
            <a:r>
              <a:rPr lang="en-US" sz="2400" dirty="0" smtClean="0"/>
              <a:t>    </a:t>
            </a:r>
            <a:r>
              <a:rPr lang="en-US" sz="2400" dirty="0" smtClean="0"/>
              <a:t>    </a:t>
            </a:r>
            <a:r>
              <a:rPr lang="en-US" sz="2400" dirty="0" smtClean="0"/>
              <a:t>if n == 1 or n == 0:</a:t>
            </a:r>
          </a:p>
          <a:p>
            <a:r>
              <a:rPr lang="en-US" sz="2400" dirty="0" smtClean="0"/>
              <a:t>        return 1  # Base case: stops the recursion</a:t>
            </a:r>
          </a:p>
          <a:p>
            <a:r>
              <a:rPr lang="en-US" sz="2400" dirty="0" smtClean="0"/>
              <a:t>    else:</a:t>
            </a:r>
          </a:p>
          <a:p>
            <a:r>
              <a:rPr lang="en-US" sz="2400" dirty="0" smtClean="0"/>
              <a:t>        return n * factorial(n </a:t>
            </a:r>
            <a:r>
              <a:rPr lang="en-US" sz="2400" dirty="0" smtClean="0"/>
              <a:t>– </a:t>
            </a:r>
            <a:r>
              <a:rPr lang="en-US" sz="2400" dirty="0" smtClean="0"/>
              <a:t>1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num = </a:t>
            </a:r>
            <a:r>
              <a:rPr lang="en-US" sz="2400" dirty="0" smtClean="0"/>
              <a:t>3</a:t>
            </a:r>
          </a:p>
          <a:p>
            <a:r>
              <a:rPr lang="en-US" sz="2400" dirty="0" smtClean="0"/>
              <a:t>print("The factorial of", num, "is", factorial(num))</a:t>
            </a:r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7"/>
          <p:cNvGrpSpPr>
            <a:grpSpLocks/>
          </p:cNvGrpSpPr>
          <p:nvPr/>
        </p:nvGrpSpPr>
        <p:grpSpPr bwMode="auto">
          <a:xfrm>
            <a:off x="4114800" y="3429000"/>
            <a:ext cx="3733800" cy="1828800"/>
            <a:chOff x="2592" y="2160"/>
            <a:chExt cx="2352" cy="1152"/>
          </a:xfrm>
        </p:grpSpPr>
        <p:sp>
          <p:nvSpPr>
            <p:cNvPr id="31785" name="Text Box 53"/>
            <p:cNvSpPr txBox="1">
              <a:spLocks noChangeArrowheads="1"/>
            </p:cNvSpPr>
            <p:nvPr/>
          </p:nvSpPr>
          <p:spPr bwMode="auto">
            <a:xfrm>
              <a:off x="2592" y="2352"/>
              <a:ext cx="2352" cy="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sum (2)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if (2 == 1)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   return 1 </a:t>
              </a:r>
            </a:p>
          </p:txBody>
        </p:sp>
        <p:sp>
          <p:nvSpPr>
            <p:cNvPr id="31786" name="Rectangle 55"/>
            <p:cNvSpPr>
              <a:spLocks noChangeArrowheads="1"/>
            </p:cNvSpPr>
            <p:nvPr/>
          </p:nvSpPr>
          <p:spPr bwMode="auto">
            <a:xfrm>
              <a:off x="2592" y="2352"/>
              <a:ext cx="2256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31787" name="Line 54"/>
            <p:cNvSpPr>
              <a:spLocks noChangeShapeType="1"/>
            </p:cNvSpPr>
            <p:nvPr/>
          </p:nvSpPr>
          <p:spPr bwMode="auto">
            <a:xfrm flipH="1">
              <a:off x="3120" y="2160"/>
              <a:ext cx="115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96"/>
          <p:cNvGrpSpPr>
            <a:grpSpLocks/>
          </p:cNvGrpSpPr>
          <p:nvPr/>
        </p:nvGrpSpPr>
        <p:grpSpPr bwMode="auto">
          <a:xfrm>
            <a:off x="4572000" y="1752600"/>
            <a:ext cx="3733800" cy="1676400"/>
            <a:chOff x="2688" y="1152"/>
            <a:chExt cx="2352" cy="1056"/>
          </a:xfrm>
        </p:grpSpPr>
        <p:sp>
          <p:nvSpPr>
            <p:cNvPr id="31782" name="Text Box 45"/>
            <p:cNvSpPr txBox="1">
              <a:spLocks noChangeArrowheads="1"/>
            </p:cNvSpPr>
            <p:nvPr/>
          </p:nvSpPr>
          <p:spPr bwMode="auto">
            <a:xfrm>
              <a:off x="2688" y="1296"/>
              <a:ext cx="2352" cy="5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sum (3)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if (3 == 1)</a:t>
              </a: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   return 1 </a:t>
              </a:r>
            </a:p>
          </p:txBody>
        </p:sp>
        <p:sp>
          <p:nvSpPr>
            <p:cNvPr id="31783" name="Line 46"/>
            <p:cNvSpPr>
              <a:spLocks noChangeShapeType="1"/>
            </p:cNvSpPr>
            <p:nvPr/>
          </p:nvSpPr>
          <p:spPr bwMode="auto">
            <a:xfrm flipH="1">
              <a:off x="3216" y="1152"/>
              <a:ext cx="12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1784" name="Rectangle 50"/>
            <p:cNvSpPr>
              <a:spLocks noChangeArrowheads="1"/>
            </p:cNvSpPr>
            <p:nvPr/>
          </p:nvSpPr>
          <p:spPr bwMode="auto">
            <a:xfrm>
              <a:off x="2688" y="1296"/>
              <a:ext cx="2256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endParaRPr lang="en-US" altLang="en-US" sz="2000">
                <a:latin typeface="Arial" charset="0"/>
              </a:endParaRPr>
            </a:p>
          </p:txBody>
        </p:sp>
      </p:grpSp>
      <p:sp>
        <p:nvSpPr>
          <p:cNvPr id="31748" name="Text Box 2"/>
          <p:cNvSpPr txBox="1">
            <a:spLocks noChangeArrowheads="1"/>
          </p:cNvSpPr>
          <p:nvPr/>
        </p:nvSpPr>
        <p:spPr bwMode="auto">
          <a:xfrm>
            <a:off x="5334000" y="4648200"/>
            <a:ext cx="266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CA" altLang="en-US" sz="2400">
              <a:latin typeface="Tahoma" pitchFamily="34" charset="0"/>
            </a:endParaRPr>
          </a:p>
        </p:txBody>
      </p:sp>
      <p:sp>
        <p:nvSpPr>
          <p:cNvPr id="31749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0"/>
            <a:ext cx="7793038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ea typeface="ＭＳ Ｐゴシック" pitchFamily="-108" charset="-128"/>
              </a:rPr>
              <a:t>Example Program: </a:t>
            </a:r>
            <a:r>
              <a:rPr lang="en-US" altLang="en-US" dirty="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sumSeries.py</a:t>
            </a:r>
          </a:p>
        </p:txBody>
      </p:sp>
      <p:sp>
        <p:nvSpPr>
          <p:cNvPr id="31750" name="Rectangle 9"/>
          <p:cNvSpPr>
            <a:spLocks noGrp="1" noChangeArrowheads="1"/>
          </p:cNvSpPr>
          <p:nvPr>
            <p:ph type="body" idx="4294967295"/>
          </p:nvPr>
        </p:nvSpPr>
        <p:spPr>
          <a:xfrm>
            <a:off x="0" y="762000"/>
            <a:ext cx="4191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def sum(no):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 if (no == 1):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   </a:t>
            </a: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  </a:t>
            </a: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return 1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 else: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   </a:t>
            </a: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  </a:t>
            </a: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return (no + sum(no-1) </a:t>
            </a: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)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2400" dirty="0" smtClean="0">
              <a:ea typeface="ＭＳ Ｐゴシック" pitchFamily="-108" charset="-128"/>
              <a:cs typeface="Consolas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 sz="2400" dirty="0" smtClean="0">
              <a:ea typeface="ＭＳ Ｐゴシック" pitchFamily="-108" charset="-128"/>
              <a:cs typeface="Consolas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 smtClean="0">
                <a:ea typeface="ＭＳ Ｐゴシック" pitchFamily="-108" charset="-128"/>
                <a:cs typeface="Consolas" pitchFamily="49" charset="0"/>
              </a:rPr>
              <a:t>Total=sum(3)</a:t>
            </a:r>
            <a:endParaRPr lang="en-US" altLang="en-US" sz="2400" dirty="0" smtClean="0">
              <a:ea typeface="ＭＳ Ｐゴシック" pitchFamily="-108" charset="-128"/>
              <a:cs typeface="Consolas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600" dirty="0" smtClean="0">
              <a:latin typeface="Consolas" pitchFamily="49" charset="0"/>
              <a:ea typeface="ＭＳ Ｐゴシック" pitchFamily="-108" charset="-128"/>
              <a:cs typeface="Consolas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600" dirty="0" smtClean="0">
              <a:latin typeface="Consolas" pitchFamily="49" charset="0"/>
              <a:ea typeface="ＭＳ Ｐゴシック" pitchFamily="-108" charset="-128"/>
              <a:cs typeface="Consolas" pitchFamily="49" charset="0"/>
            </a:endParaRP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096000" y="1066800"/>
            <a:ext cx="2514600" cy="703263"/>
            <a:chOff x="2160" y="1152"/>
            <a:chExt cx="1152" cy="461"/>
          </a:xfrm>
        </p:grpSpPr>
        <p:sp>
          <p:nvSpPr>
            <p:cNvPr id="31780" name="Rectangle 11"/>
            <p:cNvSpPr>
              <a:spLocks noChangeArrowheads="1"/>
            </p:cNvSpPr>
            <p:nvPr/>
          </p:nvSpPr>
          <p:spPr bwMode="auto">
            <a:xfrm>
              <a:off x="2160" y="1152"/>
              <a:ext cx="1152" cy="4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</a:pPr>
              <a:endParaRPr lang="en-US" altLang="en-US" sz="2000">
                <a:latin typeface="Arial" charset="0"/>
              </a:endParaRPr>
            </a:p>
          </p:txBody>
        </p:sp>
        <p:sp>
          <p:nvSpPr>
            <p:cNvPr id="31781" name="Text Box 12"/>
            <p:cNvSpPr txBox="1">
              <a:spLocks noChangeArrowheads="1"/>
            </p:cNvSpPr>
            <p:nvPr/>
          </p:nvSpPr>
          <p:spPr bwMode="auto">
            <a:xfrm>
              <a:off x="2208" y="1152"/>
              <a:ext cx="1104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sumSeries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600">
                  <a:latin typeface="Tahoma" pitchFamily="34" charset="0"/>
                </a:rPr>
                <a:t>   total = sum(3)</a:t>
              </a:r>
            </a:p>
          </p:txBody>
        </p:sp>
      </p:grpSp>
      <p:sp>
        <p:nvSpPr>
          <p:cNvPr id="94256" name="Text Box 48"/>
          <p:cNvSpPr txBox="1">
            <a:spLocks noChangeArrowheads="1"/>
          </p:cNvSpPr>
          <p:nvPr/>
        </p:nvSpPr>
        <p:spPr bwMode="auto">
          <a:xfrm>
            <a:off x="5689600" y="2260600"/>
            <a:ext cx="152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996600"/>
                </a:solidFill>
                <a:latin typeface="Tahoma" pitchFamily="34" charset="0"/>
              </a:rPr>
              <a:t>F</a:t>
            </a:r>
          </a:p>
        </p:txBody>
      </p:sp>
      <p:sp>
        <p:nvSpPr>
          <p:cNvPr id="94257" name="Text Box 49"/>
          <p:cNvSpPr txBox="1">
            <a:spLocks noChangeArrowheads="1"/>
          </p:cNvSpPr>
          <p:nvPr/>
        </p:nvSpPr>
        <p:spPr bwMode="auto">
          <a:xfrm>
            <a:off x="4648200" y="2895600"/>
            <a:ext cx="36576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latin typeface="Tahoma" pitchFamily="34" charset="0"/>
              </a:rPr>
              <a:t>else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latin typeface="Tahoma" pitchFamily="34" charset="0"/>
              </a:rPr>
              <a:t>   return (3 + sum (3 – 1))</a:t>
            </a:r>
          </a:p>
        </p:txBody>
      </p:sp>
      <p:sp>
        <p:nvSpPr>
          <p:cNvPr id="94265" name="Text Box 57"/>
          <p:cNvSpPr txBox="1">
            <a:spLocks noChangeArrowheads="1"/>
          </p:cNvSpPr>
          <p:nvPr/>
        </p:nvSpPr>
        <p:spPr bwMode="auto">
          <a:xfrm>
            <a:off x="5283200" y="3987800"/>
            <a:ext cx="152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996600"/>
                </a:solidFill>
                <a:latin typeface="Tahoma" pitchFamily="34" charset="0"/>
              </a:rPr>
              <a:t>F</a:t>
            </a:r>
          </a:p>
        </p:txBody>
      </p:sp>
      <p:sp>
        <p:nvSpPr>
          <p:cNvPr id="94266" name="Text Box 58"/>
          <p:cNvSpPr txBox="1">
            <a:spLocks noChangeArrowheads="1"/>
          </p:cNvSpPr>
          <p:nvPr/>
        </p:nvSpPr>
        <p:spPr bwMode="auto">
          <a:xfrm>
            <a:off x="4191000" y="4724400"/>
            <a:ext cx="3657600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latin typeface="Tahoma" pitchFamily="34" charset="0"/>
              </a:rPr>
              <a:t>else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>
                <a:latin typeface="Tahoma" pitchFamily="34" charset="0"/>
              </a:rPr>
              <a:t>   return (2 +sum (2 – 1));</a:t>
            </a:r>
          </a:p>
        </p:txBody>
      </p:sp>
      <p:grpSp>
        <p:nvGrpSpPr>
          <p:cNvPr id="5" name="Group 99"/>
          <p:cNvGrpSpPr>
            <a:grpSpLocks/>
          </p:cNvGrpSpPr>
          <p:nvPr/>
        </p:nvGrpSpPr>
        <p:grpSpPr bwMode="auto">
          <a:xfrm>
            <a:off x="3733800" y="5257800"/>
            <a:ext cx="3886200" cy="1227138"/>
            <a:chOff x="2352" y="3312"/>
            <a:chExt cx="2448" cy="773"/>
          </a:xfrm>
        </p:grpSpPr>
        <p:sp>
          <p:nvSpPr>
            <p:cNvPr id="31776" name="Rectangle 61"/>
            <p:cNvSpPr>
              <a:spLocks noChangeArrowheads="1"/>
            </p:cNvSpPr>
            <p:nvPr/>
          </p:nvSpPr>
          <p:spPr bwMode="auto">
            <a:xfrm>
              <a:off x="2352" y="3504"/>
              <a:ext cx="230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endParaRPr lang="en-US" altLang="en-US" sz="2000">
                <a:latin typeface="Arial" charset="0"/>
              </a:endParaRPr>
            </a:p>
          </p:txBody>
        </p:sp>
        <p:grpSp>
          <p:nvGrpSpPr>
            <p:cNvPr id="6" name="Group 98"/>
            <p:cNvGrpSpPr>
              <a:grpSpLocks/>
            </p:cNvGrpSpPr>
            <p:nvPr/>
          </p:nvGrpSpPr>
          <p:grpSpPr bwMode="auto">
            <a:xfrm>
              <a:off x="2448" y="3312"/>
              <a:ext cx="2352" cy="773"/>
              <a:chOff x="2448" y="3312"/>
              <a:chExt cx="2352" cy="773"/>
            </a:xfrm>
          </p:grpSpPr>
          <p:sp>
            <p:nvSpPr>
              <p:cNvPr id="31778" name="Line 62"/>
              <p:cNvSpPr>
                <a:spLocks noChangeShapeType="1"/>
              </p:cNvSpPr>
              <p:nvPr/>
            </p:nvSpPr>
            <p:spPr bwMode="auto">
              <a:xfrm flipH="1">
                <a:off x="2976" y="3312"/>
                <a:ext cx="120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1779" name="Text Box 63"/>
              <p:cNvSpPr txBox="1">
                <a:spLocks noChangeArrowheads="1"/>
              </p:cNvSpPr>
              <p:nvPr/>
            </p:nvSpPr>
            <p:spPr bwMode="auto">
              <a:xfrm>
                <a:off x="2448" y="3504"/>
                <a:ext cx="2352" cy="5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en-US" sz="1600">
                    <a:latin typeface="Tahoma" pitchFamily="34" charset="0"/>
                  </a:rPr>
                  <a:t>sum (1)</a:t>
                </a:r>
              </a:p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en-US" sz="1600">
                    <a:latin typeface="Tahoma" pitchFamily="34" charset="0"/>
                  </a:rPr>
                  <a:t>if (1 == 1)</a:t>
                </a:r>
              </a:p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en-US" sz="1600">
                    <a:latin typeface="Tahoma" pitchFamily="34" charset="0"/>
                  </a:rPr>
                  <a:t>   return 1 </a:t>
                </a:r>
              </a:p>
            </p:txBody>
          </p:sp>
        </p:grpSp>
      </p:grpSp>
      <p:sp>
        <p:nvSpPr>
          <p:cNvPr id="94272" name="Text Box 64"/>
          <p:cNvSpPr txBox="1">
            <a:spLocks noChangeArrowheads="1"/>
          </p:cNvSpPr>
          <p:nvPr/>
        </p:nvSpPr>
        <p:spPr bwMode="auto">
          <a:xfrm>
            <a:off x="4991100" y="5791200"/>
            <a:ext cx="152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600" b="1">
                <a:solidFill>
                  <a:srgbClr val="CC6600"/>
                </a:solidFill>
                <a:latin typeface="Tahoma" pitchFamily="34" charset="0"/>
              </a:rPr>
              <a:t>T</a:t>
            </a:r>
          </a:p>
        </p:txBody>
      </p:sp>
      <p:grpSp>
        <p:nvGrpSpPr>
          <p:cNvPr id="7" name="Group 78"/>
          <p:cNvGrpSpPr>
            <a:grpSpLocks/>
          </p:cNvGrpSpPr>
          <p:nvPr/>
        </p:nvGrpSpPr>
        <p:grpSpPr bwMode="auto">
          <a:xfrm>
            <a:off x="4724400" y="4724400"/>
            <a:ext cx="1905000" cy="1600200"/>
            <a:chOff x="3888" y="2928"/>
            <a:chExt cx="1200" cy="1056"/>
          </a:xfrm>
        </p:grpSpPr>
        <p:cxnSp>
          <p:nvCxnSpPr>
            <p:cNvPr id="31771" name="AutoShape 65"/>
            <p:cNvCxnSpPr>
              <a:cxnSpLocks noChangeShapeType="1"/>
            </p:cNvCxnSpPr>
            <p:nvPr/>
          </p:nvCxnSpPr>
          <p:spPr bwMode="auto">
            <a:xfrm flipV="1">
              <a:off x="3888" y="3312"/>
              <a:ext cx="960" cy="672"/>
            </a:xfrm>
            <a:prstGeom prst="curvedConnector3">
              <a:avLst>
                <a:gd name="adj1" fmla="val 10895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1772" name="Text Box 67"/>
            <p:cNvSpPr txBox="1">
              <a:spLocks noChangeArrowheads="1"/>
            </p:cNvSpPr>
            <p:nvPr/>
          </p:nvSpPr>
          <p:spPr bwMode="auto">
            <a:xfrm>
              <a:off x="4752" y="2928"/>
              <a:ext cx="198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600" b="1">
                  <a:solidFill>
                    <a:schemeClr val="accent2"/>
                  </a:solidFill>
                  <a:latin typeface="Tahoma" pitchFamily="34" charset="0"/>
                </a:rPr>
                <a:t>1</a:t>
              </a:r>
            </a:p>
          </p:txBody>
        </p:sp>
        <p:grpSp>
          <p:nvGrpSpPr>
            <p:cNvPr id="8" name="Group 68"/>
            <p:cNvGrpSpPr>
              <a:grpSpLocks/>
            </p:cNvGrpSpPr>
            <p:nvPr/>
          </p:nvGrpSpPr>
          <p:grpSpPr bwMode="auto">
            <a:xfrm>
              <a:off x="4608" y="3120"/>
              <a:ext cx="480" cy="144"/>
              <a:chOff x="1488" y="3024"/>
              <a:chExt cx="480" cy="144"/>
            </a:xfrm>
          </p:grpSpPr>
          <p:sp>
            <p:nvSpPr>
              <p:cNvPr id="31774" name="Line 69"/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48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75" name="Line 70"/>
              <p:cNvSpPr>
                <a:spLocks noChangeShapeType="1"/>
              </p:cNvSpPr>
              <p:nvPr/>
            </p:nvSpPr>
            <p:spPr bwMode="auto">
              <a:xfrm>
                <a:off x="1488" y="3024"/>
                <a:ext cx="432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9" name="Group 87"/>
          <p:cNvGrpSpPr>
            <a:grpSpLocks/>
          </p:cNvGrpSpPr>
          <p:nvPr/>
        </p:nvGrpSpPr>
        <p:grpSpPr bwMode="auto">
          <a:xfrm>
            <a:off x="6324600" y="2895600"/>
            <a:ext cx="762000" cy="2057400"/>
            <a:chOff x="4464" y="1872"/>
            <a:chExt cx="480" cy="1296"/>
          </a:xfrm>
        </p:grpSpPr>
        <p:sp>
          <p:nvSpPr>
            <p:cNvPr id="31766" name="Text Box 81"/>
            <p:cNvSpPr txBox="1">
              <a:spLocks noChangeArrowheads="1"/>
            </p:cNvSpPr>
            <p:nvPr/>
          </p:nvSpPr>
          <p:spPr bwMode="auto">
            <a:xfrm>
              <a:off x="4608" y="1872"/>
              <a:ext cx="19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sz="1600" b="1">
                  <a:solidFill>
                    <a:schemeClr val="accent2"/>
                  </a:solidFill>
                  <a:latin typeface="Tahoma" pitchFamily="34" charset="0"/>
                </a:rPr>
                <a:t>3</a:t>
              </a:r>
            </a:p>
          </p:txBody>
        </p:sp>
        <p:grpSp>
          <p:nvGrpSpPr>
            <p:cNvPr id="10" name="Group 82"/>
            <p:cNvGrpSpPr>
              <a:grpSpLocks/>
            </p:cNvGrpSpPr>
            <p:nvPr/>
          </p:nvGrpSpPr>
          <p:grpSpPr bwMode="auto">
            <a:xfrm>
              <a:off x="4464" y="2064"/>
              <a:ext cx="480" cy="144"/>
              <a:chOff x="1488" y="3024"/>
              <a:chExt cx="480" cy="144"/>
            </a:xfrm>
          </p:grpSpPr>
          <p:sp>
            <p:nvSpPr>
              <p:cNvPr id="31769" name="Line 83"/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48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70" name="Line 84"/>
              <p:cNvSpPr>
                <a:spLocks noChangeShapeType="1"/>
              </p:cNvSpPr>
              <p:nvPr/>
            </p:nvSpPr>
            <p:spPr bwMode="auto">
              <a:xfrm>
                <a:off x="1488" y="3024"/>
                <a:ext cx="432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  <p:cxnSp>
          <p:nvCxnSpPr>
            <p:cNvPr id="31768" name="AutoShape 85"/>
            <p:cNvCxnSpPr>
              <a:cxnSpLocks noChangeShapeType="1"/>
            </p:cNvCxnSpPr>
            <p:nvPr/>
          </p:nvCxnSpPr>
          <p:spPr bwMode="auto">
            <a:xfrm rot="-5400000">
              <a:off x="4153" y="2615"/>
              <a:ext cx="960" cy="145"/>
            </a:xfrm>
            <a:prstGeom prst="curvedConnector3">
              <a:avLst>
                <a:gd name="adj1" fmla="val 4822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94"/>
          <p:cNvGrpSpPr>
            <a:grpSpLocks/>
          </p:cNvGrpSpPr>
          <p:nvPr/>
        </p:nvGrpSpPr>
        <p:grpSpPr bwMode="auto">
          <a:xfrm>
            <a:off x="7086600" y="1219200"/>
            <a:ext cx="838200" cy="2133600"/>
            <a:chOff x="4320" y="816"/>
            <a:chExt cx="480" cy="1227"/>
          </a:xfrm>
        </p:grpSpPr>
        <p:cxnSp>
          <p:nvCxnSpPr>
            <p:cNvPr id="31761" name="AutoShape 71"/>
            <p:cNvCxnSpPr>
              <a:cxnSpLocks noChangeShapeType="1"/>
            </p:cNvCxnSpPr>
            <p:nvPr/>
          </p:nvCxnSpPr>
          <p:spPr bwMode="auto">
            <a:xfrm flipV="1">
              <a:off x="4368" y="1152"/>
              <a:ext cx="130" cy="89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1762" name="Text Box 89"/>
            <p:cNvSpPr txBox="1">
              <a:spLocks noChangeArrowheads="1"/>
            </p:cNvSpPr>
            <p:nvPr/>
          </p:nvSpPr>
          <p:spPr bwMode="auto">
            <a:xfrm>
              <a:off x="4512" y="816"/>
              <a:ext cx="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1" hangingPunct="1"/>
              <a:r>
                <a:rPr lang="en-US" altLang="en-US" sz="1600" b="1">
                  <a:solidFill>
                    <a:schemeClr val="accent2"/>
                  </a:solidFill>
                  <a:latin typeface="Tahoma" pitchFamily="34" charset="0"/>
                </a:rPr>
                <a:t>6</a:t>
              </a:r>
            </a:p>
          </p:txBody>
        </p:sp>
        <p:grpSp>
          <p:nvGrpSpPr>
            <p:cNvPr id="12" name="Group 90"/>
            <p:cNvGrpSpPr>
              <a:grpSpLocks/>
            </p:cNvGrpSpPr>
            <p:nvPr/>
          </p:nvGrpSpPr>
          <p:grpSpPr bwMode="auto">
            <a:xfrm>
              <a:off x="4320" y="960"/>
              <a:ext cx="480" cy="144"/>
              <a:chOff x="1488" y="3024"/>
              <a:chExt cx="480" cy="144"/>
            </a:xfrm>
          </p:grpSpPr>
          <p:sp>
            <p:nvSpPr>
              <p:cNvPr id="31764" name="Line 91"/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48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1765" name="Line 92"/>
              <p:cNvSpPr>
                <a:spLocks noChangeShapeType="1"/>
              </p:cNvSpPr>
              <p:nvPr/>
            </p:nvSpPr>
            <p:spPr bwMode="auto">
              <a:xfrm>
                <a:off x="1488" y="3024"/>
                <a:ext cx="432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56" grpId="0" autoUpdateAnimBg="0"/>
      <p:bldP spid="94257" grpId="0" autoUpdateAnimBg="0"/>
      <p:bldP spid="94265" grpId="0" autoUpdateAnimBg="0"/>
      <p:bldP spid="94266" grpId="0" autoUpdateAnimBg="0"/>
      <p:bldP spid="94272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itchFamily="-108" charset="-128"/>
              </a:rPr>
              <a:t>No Progress Towards The Base Case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00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def sum (no):</a:t>
            </a:r>
          </a:p>
          <a:p>
            <a:pPr eaLnBrk="1" hangingPunct="1">
              <a:buFontTx/>
              <a:buNone/>
            </a:pPr>
            <a:r>
              <a:rPr lang="en-US" altLang="en-US" sz="200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    if (no == 1):</a:t>
            </a:r>
          </a:p>
          <a:p>
            <a:pPr eaLnBrk="1" hangingPunct="1">
              <a:buFontTx/>
              <a:buNone/>
            </a:pPr>
            <a:r>
              <a:rPr lang="en-US" altLang="en-US" sz="200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        return 1</a:t>
            </a:r>
          </a:p>
          <a:p>
            <a:pPr eaLnBrk="1" hangingPunct="1">
              <a:buFontTx/>
              <a:buNone/>
            </a:pPr>
            <a:r>
              <a:rPr lang="en-US" altLang="en-US" sz="200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    else:</a:t>
            </a:r>
          </a:p>
          <a:p>
            <a:pPr eaLnBrk="1" hangingPunct="1">
              <a:buFontTx/>
              <a:buNone/>
            </a:pPr>
            <a:r>
              <a:rPr lang="en-US" altLang="en-US" sz="2000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   </a:t>
            </a:r>
            <a:r>
              <a:rPr lang="en-US" altLang="en-US" sz="2000" b="1" i="1" smtClean="0">
                <a:latin typeface="Consolas" pitchFamily="49" charset="0"/>
                <a:ea typeface="ＭＳ Ｐゴシック" pitchFamily="-108" charset="-128"/>
                <a:cs typeface="Consolas" pitchFamily="49" charset="0"/>
              </a:rPr>
              <a:t>     return (no + sum (no))</a:t>
            </a:r>
            <a:endParaRPr lang="en-US" altLang="en-US" sz="2000" smtClean="0">
              <a:latin typeface="Consolas" pitchFamily="49" charset="0"/>
              <a:ea typeface="ＭＳ Ｐゴシック" pitchFamily="-108" charset="-128"/>
              <a:cs typeface="Consolas" pitchFamily="49" charset="0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1616075" y="2840038"/>
            <a:ext cx="3168650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altLang="en-US" sz="1400">
              <a:latin typeface="Arial" charset="0"/>
            </a:endParaRPr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 flipH="1">
            <a:off x="4235450" y="2332038"/>
            <a:ext cx="1098550" cy="5921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5181600" y="1676400"/>
            <a:ext cx="3403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rgbClr val="CC6600"/>
                </a:solidFill>
                <a:latin typeface="Arial" charset="0"/>
              </a:rPr>
              <a:t>The recursive case doesn’t make any progress towards the base (stopping) case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533400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fact = lambda n: 1 if n == 0 else n * fact(n - 1)</a:t>
            </a:r>
          </a:p>
          <a:p>
            <a:endParaRPr lang="en-US" sz="2400" dirty="0" smtClean="0"/>
          </a:p>
          <a:p>
            <a:r>
              <a:rPr lang="en-US" sz="2400" dirty="0" smtClean="0"/>
              <a:t>print(fact(5))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2286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Creating Our Own Modules in Python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1752600"/>
            <a:ext cx="2819400" cy="20313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sum.py</a:t>
            </a:r>
          </a:p>
          <a:p>
            <a:endParaRPr lang="en-US" dirty="0" smtClean="0"/>
          </a:p>
          <a:p>
            <a:r>
              <a:rPr lang="es-ES" dirty="0" err="1" smtClean="0"/>
              <a:t>def</a:t>
            </a:r>
            <a:r>
              <a:rPr lang="es-ES" dirty="0" smtClean="0"/>
              <a:t> </a:t>
            </a:r>
            <a:r>
              <a:rPr lang="es-ES" dirty="0" err="1" smtClean="0"/>
              <a:t>add_sub</a:t>
            </a:r>
            <a:r>
              <a:rPr lang="es-ES" dirty="0" smtClean="0"/>
              <a:t>(</a:t>
            </a:r>
            <a:r>
              <a:rPr lang="es-ES" dirty="0" err="1" smtClean="0"/>
              <a:t>x,y</a:t>
            </a:r>
            <a:r>
              <a:rPr lang="es-ES" dirty="0" smtClean="0"/>
              <a:t>):</a:t>
            </a:r>
          </a:p>
          <a:p>
            <a:r>
              <a:rPr lang="es-ES" dirty="0" smtClean="0"/>
              <a:t>    c=</a:t>
            </a:r>
            <a:r>
              <a:rPr lang="es-ES" dirty="0" err="1" smtClean="0"/>
              <a:t>x+y</a:t>
            </a:r>
            <a:endParaRPr lang="es-ES" dirty="0" smtClean="0"/>
          </a:p>
          <a:p>
            <a:r>
              <a:rPr lang="es-ES" dirty="0" smtClean="0"/>
              <a:t>    d=x-y</a:t>
            </a:r>
          </a:p>
          <a:p>
            <a:r>
              <a:rPr lang="es-ES" dirty="0" smtClean="0"/>
              <a:t>    </a:t>
            </a:r>
            <a:r>
              <a:rPr lang="es-ES" dirty="0" err="1" smtClean="0"/>
              <a:t>return</a:t>
            </a:r>
            <a:r>
              <a:rPr lang="es-ES" dirty="0" smtClean="0"/>
              <a:t> c , 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962400" y="1295400"/>
            <a:ext cx="4572000" cy="258532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addsub.py</a:t>
            </a:r>
          </a:p>
          <a:p>
            <a:r>
              <a:rPr lang="en-US" dirty="0" smtClean="0"/>
              <a:t>from sum import *</a:t>
            </a:r>
          </a:p>
          <a:p>
            <a:r>
              <a:rPr lang="en-US" dirty="0" smtClean="0"/>
              <a:t>a=</a:t>
            </a:r>
            <a:r>
              <a:rPr lang="en-US" dirty="0" err="1" smtClean="0"/>
              <a:t>int</a:t>
            </a:r>
            <a:r>
              <a:rPr lang="en-US" dirty="0" smtClean="0"/>
              <a:t>(input("enter the number"))</a:t>
            </a:r>
          </a:p>
          <a:p>
            <a:endParaRPr lang="en-US" dirty="0" smtClean="0"/>
          </a:p>
          <a:p>
            <a:r>
              <a:rPr lang="en-US" dirty="0" smtClean="0"/>
              <a:t>b=</a:t>
            </a:r>
            <a:r>
              <a:rPr lang="en-US" dirty="0" err="1" smtClean="0"/>
              <a:t>int</a:t>
            </a:r>
            <a:r>
              <a:rPr lang="en-US" dirty="0" smtClean="0"/>
              <a:t>(input("enter the number"))</a:t>
            </a:r>
          </a:p>
          <a:p>
            <a:endParaRPr lang="en-US" dirty="0" smtClean="0"/>
          </a:p>
          <a:p>
            <a:r>
              <a:rPr lang="en-US" dirty="0" err="1" smtClean="0"/>
              <a:t>x,y</a:t>
            </a:r>
            <a:r>
              <a:rPr lang="en-US" dirty="0" smtClean="0"/>
              <a:t>=</a:t>
            </a:r>
            <a:r>
              <a:rPr lang="en-US" dirty="0" err="1" smtClean="0"/>
              <a:t>add_sub</a:t>
            </a:r>
            <a:r>
              <a:rPr lang="en-US" dirty="0" smtClean="0"/>
              <a:t>(</a:t>
            </a:r>
            <a:r>
              <a:rPr lang="en-US" dirty="0" err="1" smtClean="0"/>
              <a:t>a,b</a:t>
            </a:r>
            <a:r>
              <a:rPr lang="en-US" dirty="0" smtClean="0"/>
              <a:t>)</a:t>
            </a:r>
          </a:p>
          <a:p>
            <a:r>
              <a:rPr lang="en-US" dirty="0" smtClean="0"/>
              <a:t>print("addition=",x)</a:t>
            </a:r>
          </a:p>
          <a:p>
            <a:r>
              <a:rPr lang="en-US" dirty="0" smtClean="0"/>
              <a:t>print("</a:t>
            </a:r>
            <a:r>
              <a:rPr lang="en-US" dirty="0" err="1" smtClean="0"/>
              <a:t>Substraction</a:t>
            </a:r>
            <a:r>
              <a:rPr lang="en-US" dirty="0" smtClean="0"/>
              <a:t>=",y)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228600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Creating Our Own Modules in </a:t>
            </a:r>
            <a:r>
              <a:rPr lang="en-US" sz="2800" dirty="0" smtClean="0">
                <a:solidFill>
                  <a:srgbClr val="FF0000"/>
                </a:solidFill>
              </a:rPr>
              <a:t>Python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4267200" cy="14773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# to calculate dearness allowance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da</a:t>
            </a:r>
            <a:r>
              <a:rPr lang="en-US" dirty="0" smtClean="0"/>
              <a:t>(basic):</a:t>
            </a:r>
          </a:p>
          <a:p>
            <a:r>
              <a:rPr lang="en-US" dirty="0" smtClean="0"/>
              <a:t>	""" </a:t>
            </a:r>
            <a:r>
              <a:rPr lang="en-US" dirty="0" err="1" smtClean="0"/>
              <a:t>da</a:t>
            </a:r>
            <a:r>
              <a:rPr lang="en-US" dirty="0" smtClean="0"/>
              <a:t> is 80% of basic salary """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da</a:t>
            </a:r>
            <a:r>
              <a:rPr lang="en-US" dirty="0" smtClean="0"/>
              <a:t> = basic * 80 / 100</a:t>
            </a:r>
          </a:p>
          <a:p>
            <a:r>
              <a:rPr lang="en-US" dirty="0" smtClean="0"/>
              <a:t>	return </a:t>
            </a:r>
            <a:r>
              <a:rPr lang="en-US" dirty="0" err="1" smtClean="0"/>
              <a:t>da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895600"/>
            <a:ext cx="4572000" cy="14773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# to calculate house rent allowance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hra</a:t>
            </a:r>
            <a:r>
              <a:rPr lang="en-US" dirty="0" smtClean="0"/>
              <a:t>(basic):</a:t>
            </a:r>
          </a:p>
          <a:p>
            <a:r>
              <a:rPr lang="en-US" dirty="0" smtClean="0"/>
              <a:t>	""" </a:t>
            </a:r>
            <a:r>
              <a:rPr lang="en-US" dirty="0" err="1" smtClean="0"/>
              <a:t>hra</a:t>
            </a:r>
            <a:r>
              <a:rPr lang="en-US" dirty="0" smtClean="0"/>
              <a:t> is 15% of basic salary """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hra</a:t>
            </a:r>
            <a:r>
              <a:rPr lang="en-US" dirty="0" smtClean="0"/>
              <a:t> = basic * 15 / 100</a:t>
            </a:r>
          </a:p>
          <a:p>
            <a:r>
              <a:rPr lang="en-US" dirty="0" smtClean="0"/>
              <a:t>	return </a:t>
            </a:r>
            <a:r>
              <a:rPr lang="en-US" dirty="0" err="1" smtClean="0"/>
              <a:t>hra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886200" y="4800600"/>
            <a:ext cx="4953000" cy="14773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# to calculate income tax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itax</a:t>
            </a:r>
            <a:r>
              <a:rPr lang="en-US" dirty="0" smtClean="0"/>
              <a:t>(gross):</a:t>
            </a:r>
          </a:p>
          <a:p>
            <a:r>
              <a:rPr lang="en-US" dirty="0" smtClean="0"/>
              <a:t>	""" tax is calculated  at 10% on gross """</a:t>
            </a:r>
          </a:p>
          <a:p>
            <a:r>
              <a:rPr lang="en-US" dirty="0" smtClean="0"/>
              <a:t>	tax = gross * 0.1</a:t>
            </a:r>
          </a:p>
          <a:p>
            <a:r>
              <a:rPr lang="en-US" dirty="0" smtClean="0"/>
              <a:t>	return tax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0" y="1066800"/>
            <a:ext cx="4343400" cy="147732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# to calculate provident fund amount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pf</a:t>
            </a:r>
            <a:r>
              <a:rPr lang="en-US" dirty="0" smtClean="0"/>
              <a:t>(basic):</a:t>
            </a:r>
          </a:p>
          <a:p>
            <a:r>
              <a:rPr lang="en-US" dirty="0" smtClean="0"/>
              <a:t>	""" </a:t>
            </a:r>
            <a:r>
              <a:rPr lang="en-US" dirty="0" err="1" smtClean="0"/>
              <a:t>pf</a:t>
            </a:r>
            <a:r>
              <a:rPr lang="en-US" dirty="0" smtClean="0"/>
              <a:t> is 12% of basic salary """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pf</a:t>
            </a:r>
            <a:r>
              <a:rPr lang="en-US" dirty="0" smtClean="0"/>
              <a:t> = basic * 12 / 100</a:t>
            </a:r>
          </a:p>
          <a:p>
            <a:r>
              <a:rPr lang="en-US" dirty="0" smtClean="0"/>
              <a:t>	return </a:t>
            </a:r>
            <a:r>
              <a:rPr lang="en-US" dirty="0" err="1" smtClean="0"/>
              <a:t>pf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609600"/>
            <a:ext cx="885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Emp.py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7800" y="838200"/>
            <a:ext cx="6553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Emp</a:t>
            </a:r>
            <a:r>
              <a:rPr lang="en-US" dirty="0" smtClean="0"/>
              <a:t> import *</a:t>
            </a:r>
          </a:p>
          <a:p>
            <a:r>
              <a:rPr lang="en-US" dirty="0" smtClean="0"/>
              <a:t># calculate gross salary of employee by taking</a:t>
            </a:r>
          </a:p>
          <a:p>
            <a:r>
              <a:rPr lang="en-US" dirty="0" smtClean="0"/>
              <a:t>basic= float(input('Enter basic salary: '))</a:t>
            </a:r>
          </a:p>
          <a:p>
            <a:endParaRPr lang="en-US" dirty="0" smtClean="0"/>
          </a:p>
          <a:p>
            <a:r>
              <a:rPr lang="en-US" dirty="0" smtClean="0"/>
              <a:t># calculate gross salary</a:t>
            </a:r>
          </a:p>
          <a:p>
            <a:r>
              <a:rPr lang="en-US" dirty="0" smtClean="0"/>
              <a:t>gross = basic + </a:t>
            </a:r>
            <a:r>
              <a:rPr lang="en-US" dirty="0" err="1" smtClean="0"/>
              <a:t>da</a:t>
            </a:r>
            <a:r>
              <a:rPr lang="en-US" dirty="0" smtClean="0"/>
              <a:t>(basic) + </a:t>
            </a:r>
            <a:r>
              <a:rPr lang="en-US" dirty="0" err="1" smtClean="0"/>
              <a:t>hra</a:t>
            </a:r>
            <a:r>
              <a:rPr lang="en-US" dirty="0" smtClean="0"/>
              <a:t>(basic)</a:t>
            </a:r>
          </a:p>
          <a:p>
            <a:r>
              <a:rPr lang="en-US" dirty="0" smtClean="0"/>
              <a:t>print(“Your gross salary: “ , gross}.</a:t>
            </a:r>
          </a:p>
          <a:p>
            <a:endParaRPr lang="en-US" dirty="0" smtClean="0"/>
          </a:p>
          <a:p>
            <a:r>
              <a:rPr lang="en-US" dirty="0" smtClean="0"/>
              <a:t># calculate net salary</a:t>
            </a:r>
          </a:p>
          <a:p>
            <a:r>
              <a:rPr lang="en-US" dirty="0" smtClean="0"/>
              <a:t>net = gross - </a:t>
            </a:r>
            <a:r>
              <a:rPr lang="en-US" dirty="0" err="1" smtClean="0"/>
              <a:t>pf</a:t>
            </a:r>
            <a:r>
              <a:rPr lang="en-US" dirty="0" smtClean="0"/>
              <a:t>(basic) - </a:t>
            </a:r>
            <a:r>
              <a:rPr lang="en-US" dirty="0" err="1" smtClean="0"/>
              <a:t>itax</a:t>
            </a:r>
            <a:r>
              <a:rPr lang="en-US" dirty="0" smtClean="0"/>
              <a:t>(gross)</a:t>
            </a:r>
          </a:p>
          <a:p>
            <a:r>
              <a:rPr lang="en-US" dirty="0" smtClean="0"/>
              <a:t>print(“net </a:t>
            </a:r>
            <a:r>
              <a:rPr lang="en-US" dirty="0" err="1" smtClean="0"/>
              <a:t>salary”,net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CC"/>
        </a:solidFill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>
          <a:defRPr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7350</TotalTime>
  <Words>3783</Words>
  <Application>Microsoft Office PowerPoint</Application>
  <PresentationFormat>On-screen Show (4:3)</PresentationFormat>
  <Paragraphs>770</Paragraphs>
  <Slides>57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Office Theme</vt:lpstr>
      <vt:lpstr>1_Office Theme</vt:lpstr>
      <vt:lpstr>Slide 1</vt:lpstr>
      <vt:lpstr>Introduction</vt:lpstr>
      <vt:lpstr>Set Creation</vt:lpstr>
      <vt:lpstr>Examples</vt:lpstr>
      <vt:lpstr>Operation in Set</vt:lpstr>
      <vt:lpstr>Update Method</vt:lpstr>
      <vt:lpstr>Slide 7</vt:lpstr>
      <vt:lpstr>Remove item(s) from Python set: 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Functions in Python</vt:lpstr>
      <vt:lpstr>Introduction</vt:lpstr>
      <vt:lpstr>Defining Functions</vt:lpstr>
      <vt:lpstr>Defining &amp; Calling</vt:lpstr>
      <vt:lpstr>Function with return value</vt:lpstr>
      <vt:lpstr>Returning multiple Values</vt:lpstr>
      <vt:lpstr>Pass by Object References</vt:lpstr>
      <vt:lpstr>Pass by Object References</vt:lpstr>
      <vt:lpstr>Slide 28</vt:lpstr>
      <vt:lpstr>Formal and Actual Arguments</vt:lpstr>
      <vt:lpstr>Passing  group of items</vt:lpstr>
      <vt:lpstr>Formal and Actual Arguments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Recursion in Python</vt:lpstr>
      <vt:lpstr>Slide 50</vt:lpstr>
      <vt:lpstr>Slide 51</vt:lpstr>
      <vt:lpstr>Example Program: sumSeries.py</vt:lpstr>
      <vt:lpstr>No Progress Towards The Base Case</vt:lpstr>
      <vt:lpstr>Slide 54</vt:lpstr>
      <vt:lpstr>Slide 55</vt:lpstr>
      <vt:lpstr>Slide 56</vt:lpstr>
      <vt:lpstr>Slide 57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HOD MCA</dc:creator>
  <cp:lastModifiedBy>Dell</cp:lastModifiedBy>
  <cp:revision>214</cp:revision>
  <dcterms:created xsi:type="dcterms:W3CDTF">2021-02-17T09:09:29Z</dcterms:created>
  <dcterms:modified xsi:type="dcterms:W3CDTF">2026-02-25T06:56:47Z</dcterms:modified>
</cp:coreProperties>
</file>