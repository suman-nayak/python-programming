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4" r:id="rId2"/>
    <p:sldId id="290" r:id="rId3"/>
    <p:sldId id="265" r:id="rId4"/>
    <p:sldId id="292" r:id="rId5"/>
    <p:sldId id="267" r:id="rId6"/>
    <p:sldId id="337" r:id="rId7"/>
    <p:sldId id="338" r:id="rId8"/>
    <p:sldId id="270" r:id="rId9"/>
    <p:sldId id="271" r:id="rId10"/>
    <p:sldId id="272" r:id="rId11"/>
    <p:sldId id="273" r:id="rId12"/>
    <p:sldId id="274" r:id="rId13"/>
    <p:sldId id="275" r:id="rId14"/>
    <p:sldId id="294" r:id="rId15"/>
    <p:sldId id="295" r:id="rId16"/>
    <p:sldId id="291" r:id="rId17"/>
    <p:sldId id="296" r:id="rId18"/>
    <p:sldId id="297" r:id="rId19"/>
    <p:sldId id="293" r:id="rId20"/>
    <p:sldId id="323" r:id="rId21"/>
    <p:sldId id="325" r:id="rId22"/>
    <p:sldId id="324" r:id="rId23"/>
    <p:sldId id="276" r:id="rId24"/>
    <p:sldId id="277" r:id="rId25"/>
    <p:sldId id="278" r:id="rId26"/>
    <p:sldId id="279" r:id="rId27"/>
    <p:sldId id="280" r:id="rId28"/>
    <p:sldId id="299" r:id="rId29"/>
    <p:sldId id="300" r:id="rId30"/>
    <p:sldId id="281" r:id="rId31"/>
    <p:sldId id="282" r:id="rId32"/>
    <p:sldId id="326" r:id="rId33"/>
    <p:sldId id="298" r:id="rId34"/>
    <p:sldId id="301" r:id="rId35"/>
    <p:sldId id="303" r:id="rId36"/>
    <p:sldId id="304" r:id="rId37"/>
    <p:sldId id="307" r:id="rId38"/>
    <p:sldId id="327" r:id="rId39"/>
    <p:sldId id="328" r:id="rId40"/>
    <p:sldId id="329" r:id="rId41"/>
    <p:sldId id="330" r:id="rId42"/>
    <p:sldId id="331" r:id="rId43"/>
    <p:sldId id="283" r:id="rId44"/>
    <p:sldId id="284" r:id="rId45"/>
    <p:sldId id="332" r:id="rId46"/>
    <p:sldId id="334" r:id="rId47"/>
    <p:sldId id="333" r:id="rId48"/>
    <p:sldId id="286" r:id="rId49"/>
    <p:sldId id="287" r:id="rId50"/>
    <p:sldId id="308" r:id="rId51"/>
    <p:sldId id="311" r:id="rId52"/>
    <p:sldId id="288" r:id="rId53"/>
    <p:sldId id="312" r:id="rId54"/>
    <p:sldId id="313" r:id="rId55"/>
    <p:sldId id="336" r:id="rId56"/>
    <p:sldId id="314" r:id="rId57"/>
    <p:sldId id="322" r:id="rId58"/>
    <p:sldId id="315" r:id="rId59"/>
    <p:sldId id="316" r:id="rId60"/>
    <p:sldId id="317" r:id="rId61"/>
    <p:sldId id="318" r:id="rId62"/>
    <p:sldId id="319" r:id="rId63"/>
    <p:sldId id="320" r:id="rId64"/>
  </p:sldIdLst>
  <p:sldSz cx="10693400" cy="7562850"/>
  <p:notesSz cx="10693400" cy="75628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6" d="100"/>
          <a:sy n="66" d="100"/>
        </p:scale>
        <p:origin x="-960" y="-96"/>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02005" y="2344483"/>
            <a:ext cx="9089390" cy="1588198"/>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604010" y="4235196"/>
            <a:ext cx="7485380" cy="1890712"/>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8/31/2026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850" b="1" i="0">
                <a:solidFill>
                  <a:srgbClr val="BF000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8/31/2026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850" b="1" i="0">
                <a:solidFill>
                  <a:srgbClr val="BF0000"/>
                </a:solidFill>
                <a:latin typeface="Times New Roman"/>
                <a:cs typeface="Times New Roman"/>
              </a:defRPr>
            </a:lvl1pPr>
          </a:lstStyle>
          <a:p>
            <a:endParaRPr/>
          </a:p>
        </p:txBody>
      </p:sp>
      <p:sp>
        <p:nvSpPr>
          <p:cNvPr id="3" name="Holder 3"/>
          <p:cNvSpPr>
            <a:spLocks noGrp="1"/>
          </p:cNvSpPr>
          <p:nvPr>
            <p:ph sz="half" idx="2"/>
          </p:nvPr>
        </p:nvSpPr>
        <p:spPr>
          <a:xfrm>
            <a:off x="534670" y="1739455"/>
            <a:ext cx="4651629" cy="499148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507101" y="1739455"/>
            <a:ext cx="4651629" cy="499148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8/31/2026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850" b="1" i="0">
                <a:solidFill>
                  <a:srgbClr val="BF000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8/31/2026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8/31/2026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772668"/>
            <a:ext cx="10692765" cy="6014085"/>
          </a:xfrm>
          <a:custGeom>
            <a:avLst/>
            <a:gdLst/>
            <a:ahLst/>
            <a:cxnLst/>
            <a:rect l="l" t="t" r="r" b="b"/>
            <a:pathLst>
              <a:path w="10692765" h="6014084">
                <a:moveTo>
                  <a:pt x="10692384" y="6013703"/>
                </a:moveTo>
                <a:lnTo>
                  <a:pt x="0" y="6013703"/>
                </a:lnTo>
                <a:lnTo>
                  <a:pt x="0" y="0"/>
                </a:lnTo>
                <a:lnTo>
                  <a:pt x="10692384" y="0"/>
                </a:lnTo>
                <a:lnTo>
                  <a:pt x="10692384" y="6013703"/>
                </a:lnTo>
                <a:close/>
              </a:path>
            </a:pathLst>
          </a:custGeom>
          <a:solidFill>
            <a:srgbClr val="1CACE4"/>
          </a:solidFill>
        </p:spPr>
        <p:txBody>
          <a:bodyPr wrap="square" lIns="0" tIns="0" rIns="0" bIns="0" rtlCol="0"/>
          <a:lstStyle/>
          <a:p>
            <a:endParaRPr/>
          </a:p>
        </p:txBody>
      </p:sp>
      <p:sp>
        <p:nvSpPr>
          <p:cNvPr id="17" name="bg object 17"/>
          <p:cNvSpPr/>
          <p:nvPr/>
        </p:nvSpPr>
        <p:spPr>
          <a:xfrm>
            <a:off x="202692" y="987552"/>
            <a:ext cx="10282555" cy="5593080"/>
          </a:xfrm>
          <a:custGeom>
            <a:avLst/>
            <a:gdLst/>
            <a:ahLst/>
            <a:cxnLst/>
            <a:rect l="l" t="t" r="r" b="b"/>
            <a:pathLst>
              <a:path w="10282555" h="5593080">
                <a:moveTo>
                  <a:pt x="10282428" y="5593080"/>
                </a:moveTo>
                <a:lnTo>
                  <a:pt x="0" y="5593080"/>
                </a:lnTo>
                <a:lnTo>
                  <a:pt x="0" y="0"/>
                </a:lnTo>
                <a:lnTo>
                  <a:pt x="10282428" y="0"/>
                </a:lnTo>
                <a:lnTo>
                  <a:pt x="10282428" y="5593080"/>
                </a:lnTo>
                <a:close/>
              </a:path>
            </a:pathLst>
          </a:custGeom>
          <a:solidFill>
            <a:srgbClr val="FFFFFF"/>
          </a:solidFill>
        </p:spPr>
        <p:txBody>
          <a:bodyPr wrap="square" lIns="0" tIns="0" rIns="0" bIns="0" rtlCol="0"/>
          <a:lstStyle/>
          <a:p>
            <a:endParaRPr/>
          </a:p>
        </p:txBody>
      </p:sp>
      <p:sp>
        <p:nvSpPr>
          <p:cNvPr id="2" name="Holder 2"/>
          <p:cNvSpPr>
            <a:spLocks noGrp="1"/>
          </p:cNvSpPr>
          <p:nvPr>
            <p:ph type="title"/>
          </p:nvPr>
        </p:nvSpPr>
        <p:spPr>
          <a:xfrm>
            <a:off x="802639" y="1354297"/>
            <a:ext cx="4857750" cy="614680"/>
          </a:xfrm>
          <a:prstGeom prst="rect">
            <a:avLst/>
          </a:prstGeom>
        </p:spPr>
        <p:txBody>
          <a:bodyPr wrap="square" lIns="0" tIns="0" rIns="0" bIns="0">
            <a:spAutoFit/>
          </a:bodyPr>
          <a:lstStyle>
            <a:lvl1pPr>
              <a:defRPr sz="3850" b="1" i="0">
                <a:solidFill>
                  <a:srgbClr val="BF0000"/>
                </a:solidFill>
                <a:latin typeface="Times New Roman"/>
                <a:cs typeface="Times New Roman"/>
              </a:defRPr>
            </a:lvl1pPr>
          </a:lstStyle>
          <a:p>
            <a:endParaRPr/>
          </a:p>
        </p:txBody>
      </p:sp>
      <p:sp>
        <p:nvSpPr>
          <p:cNvPr id="3" name="Holder 3"/>
          <p:cNvSpPr>
            <a:spLocks noGrp="1"/>
          </p:cNvSpPr>
          <p:nvPr>
            <p:ph type="body" idx="1"/>
          </p:nvPr>
        </p:nvSpPr>
        <p:spPr>
          <a:xfrm>
            <a:off x="995933" y="1911857"/>
            <a:ext cx="8704580" cy="388492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635756" y="7033450"/>
            <a:ext cx="3421888" cy="3781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34670" y="7033450"/>
            <a:ext cx="2459482" cy="3781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8/31/2026</a:t>
            </a:fld>
            <a:endParaRPr lang="en-US"/>
          </a:p>
        </p:txBody>
      </p:sp>
      <p:sp>
        <p:nvSpPr>
          <p:cNvPr id="6" name="Holder 6"/>
          <p:cNvSpPr>
            <a:spLocks noGrp="1"/>
          </p:cNvSpPr>
          <p:nvPr>
            <p:ph type="sldNum" sz="quarter" idx="7"/>
          </p:nvPr>
        </p:nvSpPr>
        <p:spPr>
          <a:xfrm>
            <a:off x="7699248" y="7033450"/>
            <a:ext cx="2459482" cy="37814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hyperlink" Target="https://www.w3schools.com/python/ref_dictionary_pop.asp" TargetMode="External"/><Relationship Id="rId3" Type="http://schemas.openxmlformats.org/officeDocument/2006/relationships/hyperlink" Target="https://www.w3schools.com/python/ref_dictionary_copy.asp" TargetMode="External"/><Relationship Id="rId7" Type="http://schemas.openxmlformats.org/officeDocument/2006/relationships/hyperlink" Target="https://www.w3schools.com/python/ref_dictionary_keys.asp" TargetMode="External"/><Relationship Id="rId12" Type="http://schemas.openxmlformats.org/officeDocument/2006/relationships/hyperlink" Target="https://www.w3schools.com/python/ref_dictionary_values.asp" TargetMode="External"/><Relationship Id="rId2" Type="http://schemas.openxmlformats.org/officeDocument/2006/relationships/hyperlink" Target="https://www.w3schools.com/python/ref_dictionary_clear.asp" TargetMode="External"/><Relationship Id="rId1" Type="http://schemas.openxmlformats.org/officeDocument/2006/relationships/slideLayout" Target="../slideLayouts/slideLayout2.xml"/><Relationship Id="rId6" Type="http://schemas.openxmlformats.org/officeDocument/2006/relationships/hyperlink" Target="https://www.w3schools.com/python/ref_dictionary_items.asp" TargetMode="External"/><Relationship Id="rId11" Type="http://schemas.openxmlformats.org/officeDocument/2006/relationships/hyperlink" Target="https://www.w3schools.com/python/ref_dictionary_update.asp" TargetMode="External"/><Relationship Id="rId5" Type="http://schemas.openxmlformats.org/officeDocument/2006/relationships/hyperlink" Target="https://www.w3schools.com/python/ref_dictionary_get.asp" TargetMode="External"/><Relationship Id="rId10" Type="http://schemas.openxmlformats.org/officeDocument/2006/relationships/hyperlink" Target="https://www.w3schools.com/python/ref_dictionary_setdefault.asp" TargetMode="External"/><Relationship Id="rId4" Type="http://schemas.openxmlformats.org/officeDocument/2006/relationships/hyperlink" Target="https://www.w3schools.com/python/ref_dictionary_fromkeys.asp" TargetMode="External"/><Relationship Id="rId9" Type="http://schemas.openxmlformats.org/officeDocument/2006/relationships/hyperlink" Target="https://www.w3schools.com/python/ref_dictionary_popitem.asp"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772668"/>
            <a:ext cx="10692384" cy="6013703"/>
          </a:xfrm>
          <a:prstGeom prst="rect">
            <a:avLst/>
          </a:prstGeom>
          <a:blipFill>
            <a:blip r:embed="rId2" cstate="print"/>
            <a:stretch>
              <a:fillRect/>
            </a:stretch>
          </a:blipFill>
        </p:spPr>
        <p:txBody>
          <a:bodyPr wrap="square" lIns="0" tIns="0" rIns="0" bIns="0" rtlCol="0"/>
          <a:lstStyle/>
          <a:p>
            <a:endParaRPr dirty="0"/>
          </a:p>
        </p:txBody>
      </p:sp>
      <p:sp>
        <p:nvSpPr>
          <p:cNvPr id="3" name="Rectangle 2"/>
          <p:cNvSpPr/>
          <p:nvPr/>
        </p:nvSpPr>
        <p:spPr>
          <a:xfrm>
            <a:off x="393700" y="1114425"/>
            <a:ext cx="1981200" cy="14478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tx1"/>
                </a:solidFill>
              </a:ln>
              <a:solidFill>
                <a:schemeClr val="tx1"/>
              </a:solidFill>
            </a:endParaRPr>
          </a:p>
        </p:txBody>
      </p:sp>
      <p:sp>
        <p:nvSpPr>
          <p:cNvPr id="4" name="Rectangle 3"/>
          <p:cNvSpPr/>
          <p:nvPr/>
        </p:nvSpPr>
        <p:spPr>
          <a:xfrm>
            <a:off x="165100" y="4695825"/>
            <a:ext cx="5181600" cy="1905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p:cNvSpPr txBox="1"/>
          <p:nvPr/>
        </p:nvSpPr>
        <p:spPr>
          <a:xfrm>
            <a:off x="2070100" y="0"/>
            <a:ext cx="5550430" cy="707886"/>
          </a:xfrm>
          <a:prstGeom prst="rect">
            <a:avLst/>
          </a:prstGeom>
          <a:noFill/>
        </p:spPr>
        <p:txBody>
          <a:bodyPr wrap="none" rtlCol="0">
            <a:spAutoFit/>
          </a:bodyPr>
          <a:lstStyle/>
          <a:p>
            <a:r>
              <a:rPr lang="en-US" sz="4000" dirty="0" smtClean="0">
                <a:solidFill>
                  <a:srgbClr val="C00000"/>
                </a:solidFill>
                <a:latin typeface="Malgun Gothic" pitchFamily="34" charset="-127"/>
                <a:ea typeface="Malgun Gothic" pitchFamily="34" charset="-127"/>
              </a:rPr>
              <a:t>Python Data Structures</a:t>
            </a:r>
            <a:endParaRPr lang="en-US" sz="4000" dirty="0">
              <a:solidFill>
                <a:srgbClr val="C00000"/>
              </a:solidFill>
              <a:latin typeface="Malgun Gothic" pitchFamily="34" charset="-127"/>
              <a:ea typeface="Malgun Gothic" pitchFamily="34" charset="-127"/>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774700" y="1724025"/>
            <a:ext cx="9144000" cy="2862322"/>
          </a:xfrm>
          <a:prstGeom prst="rect">
            <a:avLst/>
          </a:prstGeom>
        </p:spPr>
        <p:txBody>
          <a:bodyPr wrap="square">
            <a:spAutoFit/>
          </a:bodyPr>
          <a:lstStyle/>
          <a:p>
            <a:pPr algn="just">
              <a:lnSpc>
                <a:spcPct val="150000"/>
              </a:lnSpc>
              <a:buFont typeface="Wingdings" pitchFamily="2" charset="2"/>
              <a:buChar char="v"/>
            </a:pPr>
            <a:r>
              <a:rPr lang="en-US" dirty="0" smtClean="0"/>
              <a:t>      </a:t>
            </a:r>
            <a:r>
              <a:rPr lang="en-US" sz="2400" dirty="0" smtClean="0"/>
              <a:t>List is a sequence of values called items or elements.</a:t>
            </a:r>
          </a:p>
          <a:p>
            <a:pPr algn="just">
              <a:lnSpc>
                <a:spcPct val="150000"/>
              </a:lnSpc>
              <a:buFont typeface="Wingdings" pitchFamily="2" charset="2"/>
              <a:buChar char="v"/>
            </a:pPr>
            <a:r>
              <a:rPr lang="en-US" sz="2400" dirty="0" smtClean="0"/>
              <a:t>   The elements can be of any data type.</a:t>
            </a:r>
          </a:p>
          <a:p>
            <a:pPr algn="just">
              <a:buFont typeface="Wingdings" pitchFamily="2" charset="2"/>
              <a:buChar char="v"/>
            </a:pPr>
            <a:r>
              <a:rPr lang="en-US" sz="2400" dirty="0" smtClean="0"/>
              <a:t>   The list is a most versatile data type available in python which can   </a:t>
            </a:r>
            <a:r>
              <a:rPr lang="en-US" sz="2400" dirty="0" smtClean="0"/>
              <a:t>  	be </a:t>
            </a:r>
            <a:r>
              <a:rPr lang="en-US" sz="2400" dirty="0" smtClean="0"/>
              <a:t>written as a list of </a:t>
            </a:r>
            <a:r>
              <a:rPr lang="en-US" sz="2400" dirty="0" smtClean="0"/>
              <a:t>values </a:t>
            </a:r>
            <a:r>
              <a:rPr lang="en-US" sz="2400" dirty="0" smtClean="0"/>
              <a:t>(items</a:t>
            </a:r>
            <a:r>
              <a:rPr lang="en-US" sz="2400" dirty="0" smtClean="0"/>
              <a:t>) </a:t>
            </a:r>
            <a:r>
              <a:rPr lang="en-US" sz="2400" dirty="0" smtClean="0"/>
              <a:t>separated </a:t>
            </a:r>
            <a:r>
              <a:rPr lang="en-US" sz="2400" dirty="0" smtClean="0"/>
              <a:t>comma</a:t>
            </a:r>
            <a:r>
              <a:rPr lang="en-US" sz="2400" dirty="0" smtClean="0"/>
              <a:t> closed</a:t>
            </a:r>
            <a:r>
              <a:rPr lang="en-US" sz="2400" dirty="0" smtClean="0"/>
              <a:t>  </a:t>
            </a:r>
            <a:r>
              <a:rPr lang="en-US" sz="2400" dirty="0" smtClean="0"/>
              <a:t>	</a:t>
            </a:r>
            <a:r>
              <a:rPr lang="en-US" sz="2400" dirty="0" smtClean="0"/>
              <a:t>with square </a:t>
            </a:r>
            <a:r>
              <a:rPr lang="en-US" sz="2400" dirty="0" smtClean="0"/>
              <a:t>brackets.</a:t>
            </a:r>
          </a:p>
          <a:p>
            <a:pPr algn="just">
              <a:lnSpc>
                <a:spcPct val="150000"/>
              </a:lnSpc>
              <a:buFont typeface="Wingdings" pitchFamily="2" charset="2"/>
              <a:buChar char="v"/>
            </a:pPr>
            <a:r>
              <a:rPr lang="en-US" sz="2400" dirty="0" smtClean="0"/>
              <a:t> List are mutable, meaning, their elements can be changed.</a:t>
            </a:r>
            <a:endParaRPr lang="en-US" sz="2400" dirty="0"/>
          </a:p>
        </p:txBody>
      </p:sp>
      <p:sp>
        <p:nvSpPr>
          <p:cNvPr id="3" name="TextBox 2"/>
          <p:cNvSpPr txBox="1"/>
          <p:nvPr/>
        </p:nvSpPr>
        <p:spPr>
          <a:xfrm>
            <a:off x="3213100" y="0"/>
            <a:ext cx="2262992" cy="584775"/>
          </a:xfrm>
          <a:prstGeom prst="rect">
            <a:avLst/>
          </a:prstGeom>
          <a:noFill/>
        </p:spPr>
        <p:txBody>
          <a:bodyPr wrap="none" rtlCol="0">
            <a:spAutoFit/>
          </a:bodyPr>
          <a:lstStyle/>
          <a:p>
            <a:r>
              <a:rPr lang="en-US" sz="3200" dirty="0" smtClean="0">
                <a:solidFill>
                  <a:srgbClr val="C00000"/>
                </a:solidFill>
              </a:rPr>
              <a:t>Introduction</a:t>
            </a:r>
            <a:endParaRPr lang="en-US" sz="3200" dirty="0">
              <a:solidFill>
                <a:srgbClr val="C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02639" y="1354297"/>
            <a:ext cx="3403600" cy="614680"/>
          </a:xfrm>
          <a:prstGeom prst="rect">
            <a:avLst/>
          </a:prstGeom>
        </p:spPr>
        <p:txBody>
          <a:bodyPr vert="horz" wrap="square" lIns="0" tIns="14605" rIns="0" bIns="0" rtlCol="0">
            <a:spAutoFit/>
          </a:bodyPr>
          <a:lstStyle/>
          <a:p>
            <a:pPr marL="12700">
              <a:lnSpc>
                <a:spcPct val="100000"/>
              </a:lnSpc>
              <a:spcBef>
                <a:spcPts val="115"/>
              </a:spcBef>
            </a:pPr>
            <a:r>
              <a:rPr b="0" u="heavy" spc="-955" dirty="0">
                <a:solidFill>
                  <a:srgbClr val="0070BF"/>
                </a:solidFill>
                <a:uFill>
                  <a:solidFill>
                    <a:srgbClr val="0070BF"/>
                  </a:solidFill>
                </a:uFill>
                <a:latin typeface="Times New Roman"/>
                <a:cs typeface="Times New Roman"/>
              </a:rPr>
              <a:t> </a:t>
            </a:r>
            <a:r>
              <a:rPr u="heavy" spc="-5" dirty="0">
                <a:solidFill>
                  <a:srgbClr val="0070BF"/>
                </a:solidFill>
                <a:uFill>
                  <a:solidFill>
                    <a:srgbClr val="0070BF"/>
                  </a:solidFill>
                </a:uFill>
              </a:rPr>
              <a:t>List</a:t>
            </a:r>
            <a:r>
              <a:rPr spc="-5" dirty="0">
                <a:solidFill>
                  <a:srgbClr val="0070BF"/>
                </a:solidFill>
              </a:rPr>
              <a:t> </a:t>
            </a:r>
            <a:r>
              <a:rPr dirty="0">
                <a:solidFill>
                  <a:srgbClr val="0070BF"/>
                </a:solidFill>
              </a:rPr>
              <a:t>- </a:t>
            </a:r>
            <a:r>
              <a:rPr spc="-5" dirty="0"/>
              <a:t>Create</a:t>
            </a:r>
            <a:r>
              <a:rPr spc="-90" dirty="0"/>
              <a:t> </a:t>
            </a:r>
            <a:r>
              <a:rPr spc="-5" dirty="0"/>
              <a:t>list</a:t>
            </a:r>
          </a:p>
        </p:txBody>
      </p:sp>
      <p:sp>
        <p:nvSpPr>
          <p:cNvPr id="3" name="object 3"/>
          <p:cNvSpPr/>
          <p:nvPr/>
        </p:nvSpPr>
        <p:spPr>
          <a:xfrm>
            <a:off x="265175" y="5631180"/>
            <a:ext cx="2711196" cy="944879"/>
          </a:xfrm>
          <a:prstGeom prst="rect">
            <a:avLst/>
          </a:prstGeom>
          <a:blipFill>
            <a:blip r:embed="rId2" cstate="print"/>
            <a:stretch>
              <a:fillRect/>
            </a:stretch>
          </a:blipFill>
        </p:spPr>
        <p:txBody>
          <a:bodyPr wrap="square" lIns="0" tIns="0" rIns="0" bIns="0" rtlCol="0"/>
          <a:lstStyle/>
          <a:p>
            <a:endParaRPr dirty="0"/>
          </a:p>
        </p:txBody>
      </p:sp>
      <p:sp>
        <p:nvSpPr>
          <p:cNvPr id="4" name="object 4"/>
          <p:cNvSpPr txBox="1"/>
          <p:nvPr/>
        </p:nvSpPr>
        <p:spPr>
          <a:xfrm>
            <a:off x="546100" y="2790825"/>
            <a:ext cx="9067800" cy="3358612"/>
          </a:xfrm>
          <a:prstGeom prst="rect">
            <a:avLst/>
          </a:prstGeom>
        </p:spPr>
        <p:txBody>
          <a:bodyPr vert="horz" wrap="square" lIns="0" tIns="11430" rIns="0" bIns="0" rtlCol="0">
            <a:spAutoFit/>
          </a:bodyPr>
          <a:lstStyle/>
          <a:p>
            <a:pPr marL="12700" marR="3478529">
              <a:lnSpc>
                <a:spcPct val="150000"/>
              </a:lnSpc>
              <a:spcBef>
                <a:spcPts val="90"/>
              </a:spcBef>
            </a:pPr>
            <a:r>
              <a:rPr sz="2400" spc="-10" dirty="0" smtClean="0">
                <a:cs typeface="Calibri"/>
              </a:rPr>
              <a:t>my_list </a:t>
            </a:r>
            <a:r>
              <a:rPr sz="2400" dirty="0">
                <a:cs typeface="Calibri"/>
              </a:rPr>
              <a:t>=</a:t>
            </a:r>
            <a:r>
              <a:rPr sz="2400" spc="-25" dirty="0">
                <a:cs typeface="Calibri"/>
              </a:rPr>
              <a:t> </a:t>
            </a:r>
            <a:r>
              <a:rPr sz="2400" dirty="0" smtClean="0">
                <a:cs typeface="Calibri"/>
              </a:rPr>
              <a:t>[]</a:t>
            </a:r>
            <a:r>
              <a:rPr lang="en-US" sz="2400" dirty="0" smtClean="0">
                <a:solidFill>
                  <a:srgbClr val="808080"/>
                </a:solidFill>
                <a:cs typeface="Calibri"/>
              </a:rPr>
              <a:t>   # </a:t>
            </a:r>
            <a:r>
              <a:rPr lang="en-US" sz="2400" spc="-5" dirty="0" smtClean="0">
                <a:solidFill>
                  <a:srgbClr val="808080"/>
                </a:solidFill>
                <a:cs typeface="Calibri"/>
              </a:rPr>
              <a:t>empty</a:t>
            </a:r>
            <a:r>
              <a:rPr lang="en-US" sz="2400" spc="-60" dirty="0" smtClean="0">
                <a:solidFill>
                  <a:srgbClr val="808080"/>
                </a:solidFill>
                <a:cs typeface="Calibri"/>
              </a:rPr>
              <a:t> </a:t>
            </a:r>
            <a:r>
              <a:rPr lang="en-US" sz="2400" spc="-10" dirty="0" smtClean="0">
                <a:solidFill>
                  <a:srgbClr val="808080"/>
                </a:solidFill>
                <a:cs typeface="Calibri"/>
              </a:rPr>
              <a:t>list </a:t>
            </a:r>
            <a:endParaRPr sz="2400" dirty="0">
              <a:cs typeface="Calibri"/>
            </a:endParaRPr>
          </a:p>
          <a:p>
            <a:pPr marL="12700" marR="2985135">
              <a:lnSpc>
                <a:spcPct val="150000"/>
              </a:lnSpc>
            </a:pPr>
            <a:r>
              <a:rPr sz="2400" spc="-10" dirty="0" smtClean="0">
                <a:cs typeface="Calibri"/>
              </a:rPr>
              <a:t>my_list </a:t>
            </a:r>
            <a:r>
              <a:rPr sz="2400" dirty="0">
                <a:cs typeface="Calibri"/>
              </a:rPr>
              <a:t>= [</a:t>
            </a:r>
            <a:r>
              <a:rPr sz="2400" dirty="0">
                <a:solidFill>
                  <a:srgbClr val="800000"/>
                </a:solidFill>
                <a:cs typeface="Calibri"/>
              </a:rPr>
              <a:t>1</a:t>
            </a:r>
            <a:r>
              <a:rPr sz="2400" dirty="0">
                <a:cs typeface="Calibri"/>
              </a:rPr>
              <a:t>, </a:t>
            </a:r>
            <a:r>
              <a:rPr sz="2400" dirty="0">
                <a:solidFill>
                  <a:srgbClr val="800000"/>
                </a:solidFill>
                <a:cs typeface="Calibri"/>
              </a:rPr>
              <a:t>2</a:t>
            </a:r>
            <a:r>
              <a:rPr sz="2400" dirty="0">
                <a:cs typeface="Calibri"/>
              </a:rPr>
              <a:t>,</a:t>
            </a:r>
            <a:r>
              <a:rPr sz="2400" spc="-60" dirty="0">
                <a:cs typeface="Calibri"/>
              </a:rPr>
              <a:t> </a:t>
            </a:r>
            <a:r>
              <a:rPr sz="2400" dirty="0">
                <a:solidFill>
                  <a:srgbClr val="800000"/>
                </a:solidFill>
                <a:cs typeface="Calibri"/>
              </a:rPr>
              <a:t>3</a:t>
            </a:r>
            <a:r>
              <a:rPr sz="2400" dirty="0" smtClean="0">
                <a:cs typeface="Calibri"/>
              </a:rPr>
              <a:t>]</a:t>
            </a:r>
            <a:r>
              <a:rPr lang="en-US" sz="2400" dirty="0" smtClean="0">
                <a:solidFill>
                  <a:srgbClr val="808080"/>
                </a:solidFill>
                <a:cs typeface="Calibri"/>
              </a:rPr>
              <a:t>  # </a:t>
            </a:r>
            <a:r>
              <a:rPr lang="en-US" sz="2400" spc="-5" dirty="0" smtClean="0">
                <a:solidFill>
                  <a:srgbClr val="808080"/>
                </a:solidFill>
                <a:cs typeface="Calibri"/>
              </a:rPr>
              <a:t>list </a:t>
            </a:r>
            <a:r>
              <a:rPr lang="en-US" sz="2400" spc="-10" dirty="0" smtClean="0">
                <a:solidFill>
                  <a:srgbClr val="808080"/>
                </a:solidFill>
                <a:cs typeface="Calibri"/>
              </a:rPr>
              <a:t>of integers </a:t>
            </a:r>
            <a:endParaRPr sz="2400" dirty="0">
              <a:cs typeface="Calibri"/>
            </a:endParaRPr>
          </a:p>
          <a:p>
            <a:pPr marL="12700" marR="2115185">
              <a:lnSpc>
                <a:spcPct val="150000"/>
              </a:lnSpc>
              <a:spcBef>
                <a:spcPts val="5"/>
              </a:spcBef>
            </a:pPr>
            <a:r>
              <a:rPr sz="2400" spc="-10" dirty="0" smtClean="0">
                <a:cs typeface="Calibri"/>
              </a:rPr>
              <a:t>my_list </a:t>
            </a:r>
            <a:r>
              <a:rPr sz="2400" dirty="0">
                <a:cs typeface="Calibri"/>
              </a:rPr>
              <a:t>= [</a:t>
            </a:r>
            <a:r>
              <a:rPr sz="2400" dirty="0">
                <a:solidFill>
                  <a:srgbClr val="800000"/>
                </a:solidFill>
                <a:cs typeface="Calibri"/>
              </a:rPr>
              <a:t>1</a:t>
            </a:r>
            <a:r>
              <a:rPr sz="2400" dirty="0">
                <a:cs typeface="Calibri"/>
              </a:rPr>
              <a:t>, </a:t>
            </a:r>
            <a:r>
              <a:rPr sz="2400" dirty="0">
                <a:solidFill>
                  <a:srgbClr val="800000"/>
                </a:solidFill>
                <a:cs typeface="Calibri"/>
              </a:rPr>
              <a:t>"Hello"</a:t>
            </a:r>
            <a:r>
              <a:rPr sz="2400" dirty="0">
                <a:cs typeface="Calibri"/>
              </a:rPr>
              <a:t>, </a:t>
            </a:r>
            <a:r>
              <a:rPr sz="2400" dirty="0">
                <a:solidFill>
                  <a:srgbClr val="800000"/>
                </a:solidFill>
                <a:cs typeface="Calibri"/>
              </a:rPr>
              <a:t>3.4</a:t>
            </a:r>
            <a:r>
              <a:rPr sz="2400" dirty="0">
                <a:cs typeface="Calibri"/>
              </a:rPr>
              <a:t>] </a:t>
            </a:r>
            <a:r>
              <a:rPr lang="en-US" sz="2400" dirty="0" smtClean="0">
                <a:solidFill>
                  <a:srgbClr val="808080"/>
                </a:solidFill>
                <a:cs typeface="Calibri"/>
              </a:rPr>
              <a:t># </a:t>
            </a:r>
            <a:r>
              <a:rPr lang="en-US" sz="2400" spc="-5" dirty="0" smtClean="0">
                <a:solidFill>
                  <a:srgbClr val="808080"/>
                </a:solidFill>
                <a:cs typeface="Calibri"/>
              </a:rPr>
              <a:t>list with </a:t>
            </a:r>
            <a:r>
              <a:rPr lang="en-US" sz="2400" spc="-10" dirty="0" smtClean="0">
                <a:solidFill>
                  <a:srgbClr val="808080"/>
                </a:solidFill>
                <a:cs typeface="Calibri"/>
              </a:rPr>
              <a:t>mixed data types </a:t>
            </a:r>
            <a:endParaRPr lang="en-US" sz="2400" dirty="0" smtClean="0">
              <a:cs typeface="Calibri"/>
            </a:endParaRPr>
          </a:p>
          <a:p>
            <a:pPr marL="12700">
              <a:lnSpc>
                <a:spcPct val="150000"/>
              </a:lnSpc>
              <a:spcBef>
                <a:spcPts val="670"/>
              </a:spcBef>
            </a:pPr>
            <a:r>
              <a:rPr sz="2400" spc="-5" dirty="0" smtClean="0">
                <a:cs typeface="Consolas"/>
              </a:rPr>
              <a:t>my_list </a:t>
            </a:r>
            <a:r>
              <a:rPr sz="2400" dirty="0">
                <a:cs typeface="Consolas"/>
              </a:rPr>
              <a:t>= </a:t>
            </a:r>
            <a:r>
              <a:rPr sz="2400" spc="-5" dirty="0">
                <a:solidFill>
                  <a:srgbClr val="24282F"/>
                </a:solidFill>
                <a:cs typeface="Consolas"/>
              </a:rPr>
              <a:t>["mouse", </a:t>
            </a:r>
            <a:r>
              <a:rPr sz="2400" dirty="0">
                <a:solidFill>
                  <a:srgbClr val="24282F"/>
                </a:solidFill>
                <a:cs typeface="Consolas"/>
              </a:rPr>
              <a:t>[8, </a:t>
            </a:r>
            <a:r>
              <a:rPr sz="2400" spc="-10" dirty="0">
                <a:solidFill>
                  <a:srgbClr val="24282F"/>
                </a:solidFill>
                <a:cs typeface="Consolas"/>
              </a:rPr>
              <a:t>4, 6],</a:t>
            </a:r>
            <a:r>
              <a:rPr sz="2400" spc="105" dirty="0">
                <a:solidFill>
                  <a:srgbClr val="24282F"/>
                </a:solidFill>
                <a:cs typeface="Consolas"/>
              </a:rPr>
              <a:t> </a:t>
            </a:r>
            <a:r>
              <a:rPr sz="2400" spc="-10" dirty="0">
                <a:solidFill>
                  <a:srgbClr val="24282F"/>
                </a:solidFill>
                <a:cs typeface="Consolas"/>
              </a:rPr>
              <a:t>['a</a:t>
            </a:r>
            <a:r>
              <a:rPr sz="2400" spc="-10" dirty="0" smtClean="0">
                <a:solidFill>
                  <a:srgbClr val="24282F"/>
                </a:solidFill>
                <a:cs typeface="Consolas"/>
              </a:rPr>
              <a:t>']]</a:t>
            </a:r>
            <a:r>
              <a:rPr lang="en-US" sz="2400" dirty="0" smtClean="0">
                <a:solidFill>
                  <a:srgbClr val="24282F"/>
                </a:solidFill>
                <a:cs typeface="Consolas"/>
              </a:rPr>
              <a:t> # nested</a:t>
            </a:r>
            <a:r>
              <a:rPr lang="en-US" sz="2400" spc="-25" dirty="0" smtClean="0">
                <a:solidFill>
                  <a:srgbClr val="24282F"/>
                </a:solidFill>
                <a:cs typeface="Consolas"/>
              </a:rPr>
              <a:t> </a:t>
            </a:r>
            <a:r>
              <a:rPr lang="en-US" sz="2400" dirty="0" smtClean="0">
                <a:solidFill>
                  <a:srgbClr val="24282F"/>
                </a:solidFill>
                <a:cs typeface="Consolas"/>
              </a:rPr>
              <a:t>list</a:t>
            </a:r>
          </a:p>
          <a:p>
            <a:pPr marL="12700">
              <a:lnSpc>
                <a:spcPct val="150000"/>
              </a:lnSpc>
              <a:spcBef>
                <a:spcPts val="670"/>
              </a:spcBef>
            </a:pPr>
            <a:endParaRPr lang="en-US" sz="2400" dirty="0" smtClean="0">
              <a:cs typeface="Consolas"/>
            </a:endParaRPr>
          </a:p>
          <a:p>
            <a:pPr marL="12700">
              <a:lnSpc>
                <a:spcPct val="100000"/>
              </a:lnSpc>
              <a:spcBef>
                <a:spcPts val="670"/>
              </a:spcBef>
            </a:pPr>
            <a:endParaRPr sz="2000" dirty="0">
              <a:cs typeface="Consolas"/>
            </a:endParaRPr>
          </a:p>
        </p:txBody>
      </p:sp>
      <p:sp>
        <p:nvSpPr>
          <p:cNvPr id="5" name="Rectangle 4"/>
          <p:cNvSpPr/>
          <p:nvPr/>
        </p:nvSpPr>
        <p:spPr>
          <a:xfrm>
            <a:off x="317500" y="5610225"/>
            <a:ext cx="274320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1308100" y="1190625"/>
            <a:ext cx="4658648" cy="5539978"/>
          </a:xfrm>
          <a:prstGeom prst="rect">
            <a:avLst/>
          </a:prstGeom>
          <a:noFill/>
        </p:spPr>
        <p:txBody>
          <a:bodyPr wrap="none" rtlCol="0">
            <a:spAutoFit/>
          </a:bodyPr>
          <a:lstStyle/>
          <a:p>
            <a:pPr>
              <a:lnSpc>
                <a:spcPct val="150000"/>
              </a:lnSpc>
            </a:pPr>
            <a:r>
              <a:rPr lang="en-US" sz="2800" dirty="0" smtClean="0"/>
              <a:t>l1=[1,2,3,6,5]</a:t>
            </a:r>
          </a:p>
          <a:p>
            <a:pPr>
              <a:lnSpc>
                <a:spcPct val="150000"/>
              </a:lnSpc>
            </a:pPr>
            <a:r>
              <a:rPr lang="en-US" sz="2800" dirty="0" smtClean="0"/>
              <a:t>l2= [9,8,6,7]</a:t>
            </a:r>
          </a:p>
          <a:p>
            <a:pPr>
              <a:lnSpc>
                <a:spcPct val="150000"/>
              </a:lnSpc>
            </a:pPr>
            <a:r>
              <a:rPr lang="en-US" sz="2800" dirty="0" smtClean="0"/>
              <a:t>l= l1+l2</a:t>
            </a:r>
          </a:p>
          <a:p>
            <a:pPr>
              <a:lnSpc>
                <a:spcPct val="150000"/>
              </a:lnSpc>
            </a:pPr>
            <a:r>
              <a:rPr lang="en-US" sz="2800" dirty="0" smtClean="0"/>
              <a:t>l=[1,2,3,6,5,9,8,6,7]</a:t>
            </a:r>
          </a:p>
          <a:p>
            <a:pPr>
              <a:lnSpc>
                <a:spcPct val="150000"/>
              </a:lnSpc>
            </a:pPr>
            <a:r>
              <a:rPr lang="en-US" sz="2800" dirty="0" smtClean="0"/>
              <a:t>P=l1*3</a:t>
            </a:r>
          </a:p>
          <a:p>
            <a:pPr>
              <a:lnSpc>
                <a:spcPct val="150000"/>
              </a:lnSpc>
            </a:pPr>
            <a:r>
              <a:rPr lang="en-US" sz="2800" dirty="0" smtClean="0"/>
              <a:t>P=[1,2,3,6,5,1,2,3,6,5,1,2,3,6,5</a:t>
            </a:r>
          </a:p>
          <a:p>
            <a:pPr>
              <a:lnSpc>
                <a:spcPct val="150000"/>
              </a:lnSpc>
            </a:pPr>
            <a:r>
              <a:rPr lang="en-US" sz="2800" dirty="0" err="1" smtClean="0"/>
              <a:t>feq</a:t>
            </a:r>
            <a:r>
              <a:rPr lang="en-US" sz="2800" dirty="0" smtClean="0"/>
              <a:t> = [0] *5</a:t>
            </a:r>
          </a:p>
          <a:p>
            <a:pPr>
              <a:lnSpc>
                <a:spcPct val="150000"/>
              </a:lnSpc>
            </a:pPr>
            <a:r>
              <a:rPr lang="en-US" sz="2800" dirty="0" err="1" smtClean="0"/>
              <a:t>Feq</a:t>
            </a:r>
            <a:r>
              <a:rPr lang="en-US" sz="2800" dirty="0" smtClean="0"/>
              <a:t>=[0,0,0,0,0]</a:t>
            </a:r>
          </a:p>
          <a:p>
            <a:endParaRPr lang="en-US" dirty="0"/>
          </a:p>
        </p:txBody>
      </p:sp>
      <p:sp>
        <p:nvSpPr>
          <p:cNvPr id="5" name="TextBox 4"/>
          <p:cNvSpPr txBox="1"/>
          <p:nvPr/>
        </p:nvSpPr>
        <p:spPr>
          <a:xfrm>
            <a:off x="1841500" y="0"/>
            <a:ext cx="7603748" cy="584775"/>
          </a:xfrm>
          <a:prstGeom prst="rect">
            <a:avLst/>
          </a:prstGeom>
          <a:noFill/>
        </p:spPr>
        <p:txBody>
          <a:bodyPr wrap="none" rtlCol="0">
            <a:spAutoFit/>
          </a:bodyPr>
          <a:lstStyle/>
          <a:p>
            <a:r>
              <a:rPr lang="en-US" sz="3200" b="1" dirty="0" smtClean="0">
                <a:solidFill>
                  <a:srgbClr val="FF0000"/>
                </a:solidFill>
              </a:rPr>
              <a:t>Concatenation (+) </a:t>
            </a:r>
            <a:r>
              <a:rPr lang="en-US" sz="3200" dirty="0" smtClean="0">
                <a:solidFill>
                  <a:srgbClr val="FF0000"/>
                </a:solidFill>
              </a:rPr>
              <a:t>and </a:t>
            </a:r>
            <a:r>
              <a:rPr lang="en-US" sz="3200" b="1" dirty="0" smtClean="0">
                <a:solidFill>
                  <a:srgbClr val="FF0000"/>
                </a:solidFill>
              </a:rPr>
              <a:t>Repetition </a:t>
            </a:r>
            <a:r>
              <a:rPr lang="en-US" sz="3200" dirty="0" smtClean="0">
                <a:solidFill>
                  <a:srgbClr val="FF0000"/>
                </a:solidFill>
              </a:rPr>
              <a:t>(*)  in List </a:t>
            </a:r>
            <a:endParaRPr lang="en-US" sz="3200" dirty="0">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65176" y="5631180"/>
            <a:ext cx="2711196" cy="944879"/>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1308100" y="276225"/>
            <a:ext cx="5200650" cy="614680"/>
          </a:xfrm>
          <a:prstGeom prst="rect">
            <a:avLst/>
          </a:prstGeom>
        </p:spPr>
        <p:txBody>
          <a:bodyPr vert="horz" wrap="square" lIns="0" tIns="14605" rIns="0" bIns="0" rtlCol="0">
            <a:spAutoFit/>
          </a:bodyPr>
          <a:lstStyle/>
          <a:p>
            <a:pPr marL="12700">
              <a:lnSpc>
                <a:spcPct val="100000"/>
              </a:lnSpc>
              <a:spcBef>
                <a:spcPts val="115"/>
              </a:spcBef>
            </a:pPr>
            <a:r>
              <a:rPr b="0" u="heavy" spc="-955">
                <a:solidFill>
                  <a:srgbClr val="0070BF"/>
                </a:solidFill>
                <a:uFill>
                  <a:solidFill>
                    <a:srgbClr val="0070BF"/>
                  </a:solidFill>
                </a:uFill>
                <a:latin typeface="Times New Roman"/>
                <a:cs typeface="Times New Roman"/>
              </a:rPr>
              <a:t> </a:t>
            </a:r>
            <a:r>
              <a:rPr smtClean="0"/>
              <a:t>Access </a:t>
            </a:r>
            <a:r>
              <a:rPr spc="5" dirty="0"/>
              <a:t>list</a:t>
            </a:r>
            <a:r>
              <a:rPr spc="-295" dirty="0"/>
              <a:t> </a:t>
            </a:r>
            <a:r>
              <a:rPr spc="5" dirty="0"/>
              <a:t>element</a:t>
            </a:r>
          </a:p>
        </p:txBody>
      </p:sp>
      <p:sp>
        <p:nvSpPr>
          <p:cNvPr id="6" name="Rectangle 5"/>
          <p:cNvSpPr/>
          <p:nvPr/>
        </p:nvSpPr>
        <p:spPr>
          <a:xfrm>
            <a:off x="317500" y="5610225"/>
            <a:ext cx="274320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369" name="Rectangle 1"/>
          <p:cNvSpPr>
            <a:spLocks noChangeArrowheads="1"/>
          </p:cNvSpPr>
          <p:nvPr/>
        </p:nvSpPr>
        <p:spPr bwMode="auto">
          <a:xfrm>
            <a:off x="241300" y="1343025"/>
            <a:ext cx="9906000" cy="307777"/>
          </a:xfrm>
          <a:prstGeom prst="rect">
            <a:avLst/>
          </a:prstGeom>
          <a:noFill/>
          <a:ln w="9525">
            <a:noFill/>
            <a:miter lim="800000"/>
            <a:headEnd/>
            <a:tailEnd/>
          </a:ln>
          <a:effectLst/>
        </p:spPr>
        <p:txBody>
          <a:bodyPr vert="horz" wrap="squar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cs typeface="Arial" pitchFamily="34" charset="0"/>
              </a:rPr>
              <a:t>In Python, you access list elements primarily using </a:t>
            </a:r>
            <a:r>
              <a:rPr kumimoji="0" lang="en-US" sz="2000" b="1" i="0" u="none" strike="noStrike" cap="none" normalizeH="0" baseline="0" dirty="0" smtClean="0">
                <a:ln>
                  <a:noFill/>
                </a:ln>
                <a:solidFill>
                  <a:schemeClr val="tx1"/>
                </a:solidFill>
                <a:effectLst/>
                <a:cs typeface="Arial" pitchFamily="34" charset="0"/>
              </a:rPr>
              <a:t>zero-based indexing</a:t>
            </a:r>
            <a:r>
              <a:rPr kumimoji="0" lang="en-US" sz="2000" b="0" i="0" u="none" strike="noStrike" cap="none" normalizeH="0" baseline="0" dirty="0" smtClean="0">
                <a:ln>
                  <a:noFill/>
                </a:ln>
                <a:solidFill>
                  <a:schemeClr val="tx1"/>
                </a:solidFill>
                <a:effectLst/>
                <a:cs typeface="Arial" pitchFamily="34" charset="0"/>
              </a:rPr>
              <a:t> inside square brackets </a:t>
            </a:r>
            <a:r>
              <a:rPr kumimoji="0" lang="en-US" sz="2000" b="0" i="0" u="none" strike="noStrike" cap="none" normalizeH="0" baseline="0" dirty="0" smtClean="0">
                <a:ln>
                  <a:noFill/>
                </a:ln>
                <a:solidFill>
                  <a:schemeClr val="tx1"/>
                </a:solidFill>
                <a:effectLst/>
                <a:cs typeface="Courier New" pitchFamily="49" charset="0"/>
              </a:rPr>
              <a:t>[]</a:t>
            </a:r>
            <a:r>
              <a:rPr kumimoji="0" lang="en-US" sz="2000" b="0" i="0" u="none" strike="noStrike" cap="none" normalizeH="0" baseline="0" dirty="0" smtClean="0">
                <a:ln>
                  <a:noFill/>
                </a:ln>
                <a:solidFill>
                  <a:schemeClr val="tx1"/>
                </a:solidFill>
                <a:effectLst/>
                <a:cs typeface="Arial" pitchFamily="34" charset="0"/>
              </a:rPr>
              <a:t> </a:t>
            </a:r>
          </a:p>
        </p:txBody>
      </p:sp>
      <p:sp>
        <p:nvSpPr>
          <p:cNvPr id="9" name="Rectangle 8"/>
          <p:cNvSpPr/>
          <p:nvPr/>
        </p:nvSpPr>
        <p:spPr>
          <a:xfrm>
            <a:off x="241300" y="1724025"/>
            <a:ext cx="10210800" cy="461665"/>
          </a:xfrm>
          <a:prstGeom prst="rect">
            <a:avLst/>
          </a:prstGeom>
        </p:spPr>
        <p:txBody>
          <a:bodyPr wrap="square">
            <a:spAutoFit/>
          </a:bodyPr>
          <a:lstStyle/>
          <a:p>
            <a:r>
              <a:rPr lang="en-US" sz="2400" dirty="0" smtClean="0">
                <a:solidFill>
                  <a:srgbClr val="FF0000"/>
                </a:solidFill>
              </a:rPr>
              <a:t>Positive Indexing </a:t>
            </a:r>
            <a:r>
              <a:rPr lang="en-US" dirty="0" smtClean="0"/>
              <a:t>(From the Start)Python lists start at index 0. The last element is at index </a:t>
            </a:r>
            <a:r>
              <a:rPr lang="en-US" dirty="0" err="1" smtClean="0"/>
              <a:t>len</a:t>
            </a:r>
            <a:r>
              <a:rPr lang="en-US" dirty="0" smtClean="0"/>
              <a:t>(list) </a:t>
            </a:r>
            <a:endParaRPr lang="en-US" dirty="0"/>
          </a:p>
        </p:txBody>
      </p:sp>
      <p:sp>
        <p:nvSpPr>
          <p:cNvPr id="10" name="Rectangle 9"/>
          <p:cNvSpPr/>
          <p:nvPr/>
        </p:nvSpPr>
        <p:spPr>
          <a:xfrm>
            <a:off x="774700" y="2486025"/>
            <a:ext cx="7620000" cy="1323439"/>
          </a:xfrm>
          <a:prstGeom prst="rect">
            <a:avLst/>
          </a:prstGeom>
        </p:spPr>
        <p:txBody>
          <a:bodyPr wrap="square">
            <a:spAutoFit/>
          </a:bodyPr>
          <a:lstStyle/>
          <a:p>
            <a:r>
              <a:rPr lang="en-US" sz="2000" dirty="0" smtClean="0"/>
              <a:t>fruits = ["apple", "banana", "cherry"]</a:t>
            </a:r>
          </a:p>
          <a:p>
            <a:endParaRPr lang="en-US" sz="2000" dirty="0" smtClean="0"/>
          </a:p>
          <a:p>
            <a:r>
              <a:rPr lang="en-US" sz="2000" dirty="0" smtClean="0"/>
              <a:t>print(fruits[0])  # Output: 'apple' (First element)</a:t>
            </a:r>
          </a:p>
          <a:p>
            <a:r>
              <a:rPr lang="en-US" sz="2000" dirty="0" smtClean="0"/>
              <a:t>print(fruits[1])  # Output: 'banana' (Second element)</a:t>
            </a:r>
            <a:endParaRPr lang="en-US" sz="2000" dirty="0"/>
          </a:p>
        </p:txBody>
      </p:sp>
      <p:sp>
        <p:nvSpPr>
          <p:cNvPr id="11" name="Rectangle 10"/>
          <p:cNvSpPr/>
          <p:nvPr/>
        </p:nvSpPr>
        <p:spPr>
          <a:xfrm>
            <a:off x="546100" y="4314825"/>
            <a:ext cx="6248400" cy="461665"/>
          </a:xfrm>
          <a:prstGeom prst="rect">
            <a:avLst/>
          </a:prstGeom>
        </p:spPr>
        <p:txBody>
          <a:bodyPr wrap="square">
            <a:spAutoFit/>
          </a:bodyPr>
          <a:lstStyle/>
          <a:p>
            <a:r>
              <a:rPr lang="en-US" sz="2400" dirty="0" smtClean="0">
                <a:solidFill>
                  <a:srgbClr val="FF0000"/>
                </a:solidFill>
              </a:rPr>
              <a:t>Negative Indexing (From the End)</a:t>
            </a:r>
            <a:endParaRPr lang="en-US" sz="2400" dirty="0">
              <a:solidFill>
                <a:srgbClr val="FF0000"/>
              </a:solidFill>
            </a:endParaRPr>
          </a:p>
        </p:txBody>
      </p:sp>
      <p:sp>
        <p:nvSpPr>
          <p:cNvPr id="12" name="Rectangle 11"/>
          <p:cNvSpPr/>
          <p:nvPr/>
        </p:nvSpPr>
        <p:spPr>
          <a:xfrm>
            <a:off x="1460500" y="5076825"/>
            <a:ext cx="7391400" cy="1323439"/>
          </a:xfrm>
          <a:prstGeom prst="rect">
            <a:avLst/>
          </a:prstGeom>
        </p:spPr>
        <p:txBody>
          <a:bodyPr wrap="square">
            <a:spAutoFit/>
          </a:bodyPr>
          <a:lstStyle/>
          <a:p>
            <a:r>
              <a:rPr lang="en-US" sz="2000" dirty="0" smtClean="0"/>
              <a:t>fruits = ["apple", "banana", "cherry"]</a:t>
            </a:r>
          </a:p>
          <a:p>
            <a:endParaRPr lang="en-US" sz="2000" dirty="0" smtClean="0"/>
          </a:p>
          <a:p>
            <a:r>
              <a:rPr lang="en-US" sz="2000" dirty="0" smtClean="0"/>
              <a:t>print(fruits[-1])  # Output: 'cherry' (Last element)</a:t>
            </a:r>
          </a:p>
          <a:p>
            <a:r>
              <a:rPr lang="en-US" sz="2000" dirty="0" smtClean="0"/>
              <a:t>print(fruits[-2])  # Output: 'banana' (Second to last element)</a:t>
            </a:r>
            <a:endParaRPr lang="en-US" sz="20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46100" y="733425"/>
            <a:ext cx="9753600" cy="707886"/>
          </a:xfrm>
          <a:prstGeom prst="rect">
            <a:avLst/>
          </a:prstGeom>
        </p:spPr>
        <p:txBody>
          <a:bodyPr wrap="square">
            <a:spAutoFit/>
          </a:bodyPr>
          <a:lstStyle/>
          <a:p>
            <a:r>
              <a:rPr lang="en-US" sz="2000" dirty="0" smtClean="0">
                <a:solidFill>
                  <a:srgbClr val="FF0000"/>
                </a:solidFill>
              </a:rPr>
              <a:t>Slicing</a:t>
            </a:r>
            <a:r>
              <a:rPr lang="en-US" sz="2000" dirty="0" smtClean="0"/>
              <a:t> (Access a Subsequence)To extract a range of elements, use a slice by specifying [</a:t>
            </a:r>
            <a:r>
              <a:rPr lang="en-US" sz="2000" dirty="0" err="1" smtClean="0"/>
              <a:t>start:stop:step</a:t>
            </a:r>
            <a:r>
              <a:rPr lang="en-US" sz="2000" dirty="0" smtClean="0"/>
              <a:t>]. The stop index is exclusive (not included in the result)</a:t>
            </a:r>
            <a:endParaRPr lang="en-US" sz="2000" dirty="0"/>
          </a:p>
        </p:txBody>
      </p:sp>
      <p:sp>
        <p:nvSpPr>
          <p:cNvPr id="5" name="Rectangle 4"/>
          <p:cNvSpPr/>
          <p:nvPr/>
        </p:nvSpPr>
        <p:spPr>
          <a:xfrm>
            <a:off x="1155700" y="1724025"/>
            <a:ext cx="9067800" cy="1938992"/>
          </a:xfrm>
          <a:prstGeom prst="rect">
            <a:avLst/>
          </a:prstGeom>
        </p:spPr>
        <p:txBody>
          <a:bodyPr wrap="square">
            <a:spAutoFit/>
          </a:bodyPr>
          <a:lstStyle/>
          <a:p>
            <a:r>
              <a:rPr lang="en-US" sz="2000" dirty="0" smtClean="0"/>
              <a:t>numbers = [0, 10, 20, 30, 40, 50]</a:t>
            </a:r>
          </a:p>
          <a:p>
            <a:endParaRPr lang="en-US" sz="2000" dirty="0" smtClean="0"/>
          </a:p>
          <a:p>
            <a:r>
              <a:rPr lang="en-US" sz="2000" dirty="0" smtClean="0"/>
              <a:t>print(numbers[1:4])  # Output: [10, 20, 30] (Indices 1, 2, and 3)</a:t>
            </a:r>
          </a:p>
          <a:p>
            <a:r>
              <a:rPr lang="en-US" sz="2000" dirty="0" smtClean="0"/>
              <a:t>print(numbers[:3])   # Output: [0, 10, 20] (From start up to index 3)</a:t>
            </a:r>
          </a:p>
          <a:p>
            <a:r>
              <a:rPr lang="en-US" sz="2000" dirty="0" smtClean="0"/>
              <a:t>print(numbers[3:])   # Output: [30, 40, 50] (From index 3 to the end)</a:t>
            </a:r>
          </a:p>
          <a:p>
            <a:r>
              <a:rPr lang="en-US" sz="2000" dirty="0" smtClean="0"/>
              <a:t>print(numbers[::2])  # Output: [0, 20, 40] (Every second item)</a:t>
            </a:r>
            <a:endParaRPr lang="en-US" sz="2000" dirty="0"/>
          </a:p>
        </p:txBody>
      </p:sp>
      <p:sp>
        <p:nvSpPr>
          <p:cNvPr id="6" name="Rectangle 5"/>
          <p:cNvSpPr/>
          <p:nvPr/>
        </p:nvSpPr>
        <p:spPr>
          <a:xfrm>
            <a:off x="241300" y="3781425"/>
            <a:ext cx="5526834" cy="461665"/>
          </a:xfrm>
          <a:prstGeom prst="rect">
            <a:avLst/>
          </a:prstGeom>
        </p:spPr>
        <p:txBody>
          <a:bodyPr wrap="none">
            <a:spAutoFit/>
          </a:bodyPr>
          <a:lstStyle/>
          <a:p>
            <a:r>
              <a:rPr lang="en-US" sz="2400" dirty="0" smtClean="0">
                <a:solidFill>
                  <a:srgbClr val="FF0000"/>
                </a:solidFill>
              </a:rPr>
              <a:t>Accessing Nested Lists (Multi-Dimensional)</a:t>
            </a:r>
            <a:endParaRPr lang="en-US" sz="2400" dirty="0">
              <a:solidFill>
                <a:srgbClr val="FF0000"/>
              </a:solidFill>
            </a:endParaRPr>
          </a:p>
        </p:txBody>
      </p:sp>
      <p:sp>
        <p:nvSpPr>
          <p:cNvPr id="7" name="Rectangle 6"/>
          <p:cNvSpPr/>
          <p:nvPr/>
        </p:nvSpPr>
        <p:spPr>
          <a:xfrm>
            <a:off x="469900" y="4314825"/>
            <a:ext cx="9677400" cy="646331"/>
          </a:xfrm>
          <a:prstGeom prst="rect">
            <a:avLst/>
          </a:prstGeom>
        </p:spPr>
        <p:txBody>
          <a:bodyPr wrap="square">
            <a:spAutoFit/>
          </a:bodyPr>
          <a:lstStyle/>
          <a:p>
            <a:r>
              <a:rPr lang="en-US" dirty="0" smtClean="0"/>
              <a:t>If your list contains other lists, chain square brackets together to access nested elements. The first bracket targets the outer list row, and the second targets the inner list column</a:t>
            </a:r>
            <a:endParaRPr lang="en-US" dirty="0"/>
          </a:p>
        </p:txBody>
      </p:sp>
      <p:sp>
        <p:nvSpPr>
          <p:cNvPr id="8" name="Rectangle 7"/>
          <p:cNvSpPr/>
          <p:nvPr/>
        </p:nvSpPr>
        <p:spPr>
          <a:xfrm>
            <a:off x="2832100" y="5000625"/>
            <a:ext cx="7239000" cy="2246769"/>
          </a:xfrm>
          <a:prstGeom prst="rect">
            <a:avLst/>
          </a:prstGeom>
        </p:spPr>
        <p:txBody>
          <a:bodyPr wrap="square">
            <a:spAutoFit/>
          </a:bodyPr>
          <a:lstStyle/>
          <a:p>
            <a:r>
              <a:rPr lang="en-US" sz="2000" dirty="0" smtClean="0"/>
              <a:t>matrix = [</a:t>
            </a:r>
          </a:p>
          <a:p>
            <a:r>
              <a:rPr lang="en-US" sz="2000" dirty="0" smtClean="0"/>
              <a:t>    [1, 2, 3],</a:t>
            </a:r>
          </a:p>
          <a:p>
            <a:r>
              <a:rPr lang="en-US" sz="2000" dirty="0" smtClean="0"/>
              <a:t>    [4, 5, 6]</a:t>
            </a:r>
          </a:p>
          <a:p>
            <a:r>
              <a:rPr lang="en-US" sz="2000" dirty="0" smtClean="0"/>
              <a:t>]</a:t>
            </a:r>
          </a:p>
          <a:p>
            <a:endParaRPr lang="en-US" sz="2000" dirty="0" smtClean="0"/>
          </a:p>
          <a:p>
            <a:r>
              <a:rPr lang="en-US" sz="2000" dirty="0" smtClean="0"/>
              <a:t>print(matrix[0])     # Output: [1, 2, 3] (First inner list)</a:t>
            </a:r>
          </a:p>
          <a:p>
            <a:r>
              <a:rPr lang="en-US" sz="2000" dirty="0" smtClean="0"/>
              <a:t>print(matrix[1][2])  # Output: 6 (Second row, third column)</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3700" y="200025"/>
            <a:ext cx="4048416" cy="461665"/>
          </a:xfrm>
          <a:prstGeom prst="rect">
            <a:avLst/>
          </a:prstGeom>
        </p:spPr>
        <p:txBody>
          <a:bodyPr wrap="none">
            <a:spAutoFit/>
          </a:bodyPr>
          <a:lstStyle/>
          <a:p>
            <a:r>
              <a:rPr lang="en-US" sz="2400" dirty="0" smtClean="0">
                <a:solidFill>
                  <a:srgbClr val="FF0000"/>
                </a:solidFill>
              </a:rPr>
              <a:t>Iterating Through All </a:t>
            </a:r>
            <a:r>
              <a:rPr lang="en-US" sz="2400" dirty="0" smtClean="0">
                <a:solidFill>
                  <a:srgbClr val="FF0000"/>
                </a:solidFill>
              </a:rPr>
              <a:t>Elements:</a:t>
            </a:r>
            <a:endParaRPr lang="en-US" sz="2400" dirty="0">
              <a:solidFill>
                <a:srgbClr val="FF0000"/>
              </a:solidFill>
            </a:endParaRPr>
          </a:p>
        </p:txBody>
      </p:sp>
      <p:sp>
        <p:nvSpPr>
          <p:cNvPr id="5" name="Rectangle 4"/>
          <p:cNvSpPr/>
          <p:nvPr/>
        </p:nvSpPr>
        <p:spPr>
          <a:xfrm>
            <a:off x="1384300" y="809625"/>
            <a:ext cx="8534400" cy="400110"/>
          </a:xfrm>
          <a:prstGeom prst="rect">
            <a:avLst/>
          </a:prstGeom>
        </p:spPr>
        <p:txBody>
          <a:bodyPr wrap="square">
            <a:spAutoFit/>
          </a:bodyPr>
          <a:lstStyle/>
          <a:p>
            <a:r>
              <a:rPr lang="en-US" sz="2000" dirty="0" smtClean="0"/>
              <a:t>If you need to process every element one by one, use a for loop.</a:t>
            </a:r>
            <a:endParaRPr lang="en-US" sz="2000" dirty="0"/>
          </a:p>
        </p:txBody>
      </p:sp>
      <p:sp>
        <p:nvSpPr>
          <p:cNvPr id="6" name="Rectangle 5"/>
          <p:cNvSpPr/>
          <p:nvPr/>
        </p:nvSpPr>
        <p:spPr>
          <a:xfrm>
            <a:off x="2451100" y="1419225"/>
            <a:ext cx="5346700" cy="1015663"/>
          </a:xfrm>
          <a:prstGeom prst="rect">
            <a:avLst/>
          </a:prstGeom>
        </p:spPr>
        <p:txBody>
          <a:bodyPr>
            <a:spAutoFit/>
          </a:bodyPr>
          <a:lstStyle/>
          <a:p>
            <a:r>
              <a:rPr lang="en-US" sz="2000" dirty="0" smtClean="0"/>
              <a:t>fruits = ["apple", "banana", "cherry"]</a:t>
            </a:r>
          </a:p>
          <a:p>
            <a:r>
              <a:rPr lang="en-US" sz="2000" dirty="0" smtClean="0"/>
              <a:t>for </a:t>
            </a:r>
            <a:r>
              <a:rPr lang="en-US" sz="2000" dirty="0" smtClean="0"/>
              <a:t>fruit in fruits:</a:t>
            </a:r>
          </a:p>
          <a:p>
            <a:r>
              <a:rPr lang="en-US" sz="2000" dirty="0" smtClean="0"/>
              <a:t>   </a:t>
            </a:r>
            <a:r>
              <a:rPr lang="en-US" sz="2000" dirty="0" smtClean="0"/>
              <a:t>   </a:t>
            </a:r>
            <a:r>
              <a:rPr lang="en-US" sz="2000" dirty="0" smtClean="0"/>
              <a:t>print(fruit)</a:t>
            </a:r>
            <a:endParaRPr lang="en-US" sz="2000" dirty="0"/>
          </a:p>
        </p:txBody>
      </p:sp>
      <p:sp>
        <p:nvSpPr>
          <p:cNvPr id="7" name="Rectangle 6"/>
          <p:cNvSpPr/>
          <p:nvPr/>
        </p:nvSpPr>
        <p:spPr>
          <a:xfrm>
            <a:off x="241300" y="3019425"/>
            <a:ext cx="5688930" cy="400110"/>
          </a:xfrm>
          <a:prstGeom prst="rect">
            <a:avLst/>
          </a:prstGeom>
        </p:spPr>
        <p:txBody>
          <a:bodyPr wrap="none">
            <a:spAutoFit/>
          </a:bodyPr>
          <a:lstStyle/>
          <a:p>
            <a:r>
              <a:rPr lang="en-US" sz="2000" dirty="0" smtClean="0">
                <a:solidFill>
                  <a:srgbClr val="FF0000"/>
                </a:solidFill>
              </a:rPr>
              <a:t>Both index and values: Use the enumerate() function</a:t>
            </a:r>
            <a:endParaRPr lang="en-US" sz="2000" dirty="0">
              <a:solidFill>
                <a:srgbClr val="FF0000"/>
              </a:solidFill>
            </a:endParaRPr>
          </a:p>
        </p:txBody>
      </p:sp>
      <p:sp>
        <p:nvSpPr>
          <p:cNvPr id="8" name="Rectangle 7"/>
          <p:cNvSpPr/>
          <p:nvPr/>
        </p:nvSpPr>
        <p:spPr>
          <a:xfrm>
            <a:off x="469900" y="3248025"/>
            <a:ext cx="8763000" cy="1477328"/>
          </a:xfrm>
          <a:prstGeom prst="rect">
            <a:avLst/>
          </a:prstGeom>
        </p:spPr>
        <p:txBody>
          <a:bodyPr wrap="square">
            <a:spAutoFit/>
          </a:bodyPr>
          <a:lstStyle/>
          <a:p>
            <a:endParaRPr lang="en-US" dirty="0" smtClean="0"/>
          </a:p>
          <a:p>
            <a:r>
              <a:rPr lang="en-US" dirty="0" smtClean="0"/>
              <a:t>fruits = ["apple", "banana", "cherry"]</a:t>
            </a:r>
          </a:p>
          <a:p>
            <a:r>
              <a:rPr lang="en-US" dirty="0" smtClean="0"/>
              <a:t>for index, fruit in enumerate(fruits):</a:t>
            </a:r>
          </a:p>
          <a:p>
            <a:r>
              <a:rPr lang="en-US" dirty="0" smtClean="0"/>
              <a:t>    print("Index", index ,"has", fruit)</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65176" y="5631180"/>
            <a:ext cx="2711196" cy="944879"/>
          </a:xfrm>
          <a:prstGeom prst="rect">
            <a:avLst/>
          </a:prstGeom>
          <a:blipFill>
            <a:blip r:embed="rId2" cstate="print"/>
            <a:stretch>
              <a:fillRect/>
            </a:stretch>
          </a:blipFill>
        </p:spPr>
        <p:txBody>
          <a:bodyPr wrap="square" lIns="0" tIns="0" rIns="0" bIns="0" rtlCol="0"/>
          <a:lstStyle/>
          <a:p>
            <a:endParaRPr dirty="0"/>
          </a:p>
        </p:txBody>
      </p:sp>
      <p:sp>
        <p:nvSpPr>
          <p:cNvPr id="3" name="object 3"/>
          <p:cNvSpPr txBox="1">
            <a:spLocks noGrp="1"/>
          </p:cNvSpPr>
          <p:nvPr>
            <p:ph type="title"/>
          </p:nvPr>
        </p:nvSpPr>
        <p:spPr>
          <a:xfrm>
            <a:off x="802639" y="1354297"/>
            <a:ext cx="4970145" cy="614680"/>
          </a:xfrm>
          <a:prstGeom prst="rect">
            <a:avLst/>
          </a:prstGeom>
        </p:spPr>
        <p:txBody>
          <a:bodyPr vert="horz" wrap="square" lIns="0" tIns="14605" rIns="0" bIns="0" rtlCol="0">
            <a:spAutoFit/>
          </a:bodyPr>
          <a:lstStyle/>
          <a:p>
            <a:pPr marL="12700">
              <a:lnSpc>
                <a:spcPct val="100000"/>
              </a:lnSpc>
              <a:spcBef>
                <a:spcPts val="115"/>
              </a:spcBef>
            </a:pPr>
            <a:r>
              <a:rPr b="0" u="heavy" spc="-955" dirty="0">
                <a:solidFill>
                  <a:srgbClr val="0070BF"/>
                </a:solidFill>
                <a:uFill>
                  <a:solidFill>
                    <a:srgbClr val="0070BF"/>
                  </a:solidFill>
                </a:uFill>
                <a:latin typeface="Times New Roman"/>
                <a:cs typeface="Times New Roman"/>
              </a:rPr>
              <a:t> </a:t>
            </a:r>
            <a:r>
              <a:rPr u="heavy" spc="-5" dirty="0">
                <a:solidFill>
                  <a:srgbClr val="0070BF"/>
                </a:solidFill>
                <a:uFill>
                  <a:solidFill>
                    <a:srgbClr val="0070BF"/>
                  </a:solidFill>
                </a:uFill>
              </a:rPr>
              <a:t>List </a:t>
            </a:r>
            <a:r>
              <a:rPr u="heavy" spc="5" dirty="0">
                <a:solidFill>
                  <a:srgbClr val="0070BF"/>
                </a:solidFill>
                <a:uFill>
                  <a:solidFill>
                    <a:srgbClr val="0070BF"/>
                  </a:solidFill>
                </a:uFill>
              </a:rPr>
              <a:t>Method</a:t>
            </a:r>
            <a:r>
              <a:rPr spc="5" dirty="0">
                <a:solidFill>
                  <a:srgbClr val="0070BF"/>
                </a:solidFill>
              </a:rPr>
              <a:t> –</a:t>
            </a:r>
            <a:r>
              <a:rPr spc="-70" dirty="0">
                <a:solidFill>
                  <a:srgbClr val="0070BF"/>
                </a:solidFill>
              </a:rPr>
              <a:t> </a:t>
            </a:r>
            <a:r>
              <a:rPr dirty="0"/>
              <a:t>append()</a:t>
            </a:r>
          </a:p>
        </p:txBody>
      </p:sp>
      <p:sp>
        <p:nvSpPr>
          <p:cNvPr id="4" name="object 4"/>
          <p:cNvSpPr txBox="1"/>
          <p:nvPr/>
        </p:nvSpPr>
        <p:spPr>
          <a:xfrm>
            <a:off x="1259851" y="2194080"/>
            <a:ext cx="6593205" cy="2089785"/>
          </a:xfrm>
          <a:prstGeom prst="rect">
            <a:avLst/>
          </a:prstGeom>
        </p:spPr>
        <p:txBody>
          <a:bodyPr vert="horz" wrap="square" lIns="0" tIns="12700" rIns="0" bIns="0" rtlCol="0">
            <a:spAutoFit/>
          </a:bodyPr>
          <a:lstStyle/>
          <a:p>
            <a:pPr marL="312420" indent="-300355">
              <a:lnSpc>
                <a:spcPct val="100000"/>
              </a:lnSpc>
              <a:spcBef>
                <a:spcPts val="100"/>
              </a:spcBef>
              <a:buFont typeface="Arial"/>
              <a:buChar char="•"/>
              <a:tabLst>
                <a:tab pos="312420" algn="l"/>
                <a:tab pos="313055" algn="l"/>
              </a:tabLst>
            </a:pPr>
            <a:r>
              <a:rPr sz="2100" spc="-5" dirty="0">
                <a:latin typeface="Times New Roman"/>
                <a:cs typeface="Times New Roman"/>
              </a:rPr>
              <a:t>It </a:t>
            </a:r>
            <a:r>
              <a:rPr sz="2100" dirty="0">
                <a:latin typeface="Times New Roman"/>
                <a:cs typeface="Times New Roman"/>
              </a:rPr>
              <a:t>is </a:t>
            </a:r>
            <a:r>
              <a:rPr sz="2100" spc="-5" dirty="0">
                <a:latin typeface="Times New Roman"/>
                <a:cs typeface="Times New Roman"/>
              </a:rPr>
              <a:t>used </a:t>
            </a:r>
            <a:r>
              <a:rPr sz="2100" dirty="0">
                <a:latin typeface="Times New Roman"/>
                <a:cs typeface="Times New Roman"/>
              </a:rPr>
              <a:t>to add </a:t>
            </a:r>
            <a:r>
              <a:rPr sz="2100" spc="-5" dirty="0">
                <a:latin typeface="Times New Roman"/>
                <a:cs typeface="Times New Roman"/>
              </a:rPr>
              <a:t>elements </a:t>
            </a:r>
            <a:r>
              <a:rPr sz="2100" dirty="0">
                <a:latin typeface="Times New Roman"/>
                <a:cs typeface="Times New Roman"/>
              </a:rPr>
              <a:t>to </a:t>
            </a:r>
            <a:r>
              <a:rPr sz="2100" spc="5" dirty="0">
                <a:latin typeface="Times New Roman"/>
                <a:cs typeface="Times New Roman"/>
              </a:rPr>
              <a:t>the </a:t>
            </a:r>
            <a:r>
              <a:rPr sz="2100" spc="-5" dirty="0">
                <a:latin typeface="Times New Roman"/>
                <a:cs typeface="Times New Roman"/>
              </a:rPr>
              <a:t>last </a:t>
            </a:r>
            <a:r>
              <a:rPr sz="2100" dirty="0">
                <a:latin typeface="Times New Roman"/>
                <a:cs typeface="Times New Roman"/>
              </a:rPr>
              <a:t>position of</a:t>
            </a:r>
            <a:r>
              <a:rPr sz="2100" spc="-65" dirty="0">
                <a:latin typeface="Times New Roman"/>
                <a:cs typeface="Times New Roman"/>
              </a:rPr>
              <a:t> </a:t>
            </a:r>
            <a:r>
              <a:rPr sz="2100" spc="-5" dirty="0">
                <a:latin typeface="Times New Roman"/>
                <a:cs typeface="Times New Roman"/>
              </a:rPr>
              <a:t>List.</a:t>
            </a:r>
            <a:endParaRPr sz="2100" dirty="0">
              <a:latin typeface="Times New Roman"/>
              <a:cs typeface="Times New Roman"/>
            </a:endParaRPr>
          </a:p>
          <a:p>
            <a:pPr>
              <a:lnSpc>
                <a:spcPct val="100000"/>
              </a:lnSpc>
            </a:pPr>
            <a:endParaRPr sz="2300" dirty="0">
              <a:latin typeface="Times New Roman"/>
              <a:cs typeface="Times New Roman"/>
            </a:endParaRPr>
          </a:p>
          <a:p>
            <a:pPr marL="826135" marR="5080">
              <a:lnSpc>
                <a:spcPct val="150300"/>
              </a:lnSpc>
              <a:spcBef>
                <a:spcPts val="1614"/>
              </a:spcBef>
            </a:pPr>
            <a:r>
              <a:rPr sz="1750" spc="-5" dirty="0">
                <a:solidFill>
                  <a:srgbClr val="FF1393"/>
                </a:solidFill>
                <a:latin typeface="Consolas"/>
                <a:cs typeface="Consolas"/>
              </a:rPr>
              <a:t>List </a:t>
            </a:r>
            <a:r>
              <a:rPr sz="1750" b="1" dirty="0">
                <a:solidFill>
                  <a:srgbClr val="006699"/>
                </a:solidFill>
                <a:latin typeface="Consolas"/>
                <a:cs typeface="Consolas"/>
              </a:rPr>
              <a:t>= </a:t>
            </a:r>
            <a:r>
              <a:rPr sz="1750" dirty="0">
                <a:latin typeface="Consolas"/>
                <a:cs typeface="Consolas"/>
              </a:rPr>
              <a:t>[</a:t>
            </a:r>
            <a:r>
              <a:rPr sz="1750" dirty="0">
                <a:solidFill>
                  <a:srgbClr val="0000FF"/>
                </a:solidFill>
                <a:latin typeface="Consolas"/>
                <a:cs typeface="Consolas"/>
              </a:rPr>
              <a:t>'Mathematics'</a:t>
            </a:r>
            <a:r>
              <a:rPr sz="1750" dirty="0">
                <a:latin typeface="Consolas"/>
                <a:cs typeface="Consolas"/>
              </a:rPr>
              <a:t>, </a:t>
            </a:r>
            <a:r>
              <a:rPr sz="1750" dirty="0">
                <a:solidFill>
                  <a:srgbClr val="0000FF"/>
                </a:solidFill>
                <a:latin typeface="Consolas"/>
                <a:cs typeface="Consolas"/>
              </a:rPr>
              <a:t>'chemistry'</a:t>
            </a:r>
            <a:r>
              <a:rPr sz="1750" dirty="0">
                <a:latin typeface="Consolas"/>
                <a:cs typeface="Consolas"/>
              </a:rPr>
              <a:t>, </a:t>
            </a:r>
            <a:r>
              <a:rPr sz="1750" dirty="0">
                <a:solidFill>
                  <a:srgbClr val="009900"/>
                </a:solidFill>
                <a:latin typeface="Consolas"/>
                <a:cs typeface="Consolas"/>
              </a:rPr>
              <a:t>1997</a:t>
            </a:r>
            <a:r>
              <a:rPr sz="1750" dirty="0">
                <a:latin typeface="Consolas"/>
                <a:cs typeface="Consolas"/>
              </a:rPr>
              <a:t>, </a:t>
            </a:r>
            <a:r>
              <a:rPr sz="1750" dirty="0">
                <a:solidFill>
                  <a:srgbClr val="009900"/>
                </a:solidFill>
                <a:latin typeface="Consolas"/>
                <a:cs typeface="Consolas"/>
              </a:rPr>
              <a:t>2000</a:t>
            </a:r>
            <a:r>
              <a:rPr sz="1750" dirty="0">
                <a:latin typeface="Consolas"/>
                <a:cs typeface="Consolas"/>
              </a:rPr>
              <a:t>]  </a:t>
            </a:r>
            <a:r>
              <a:rPr sz="1750" dirty="0">
                <a:solidFill>
                  <a:srgbClr val="FF1393"/>
                </a:solidFill>
                <a:latin typeface="Consolas"/>
                <a:cs typeface="Consolas"/>
              </a:rPr>
              <a:t>List</a:t>
            </a:r>
            <a:r>
              <a:rPr sz="1750" dirty="0">
                <a:latin typeface="Consolas"/>
                <a:cs typeface="Consolas"/>
              </a:rPr>
              <a:t>.append(</a:t>
            </a:r>
            <a:r>
              <a:rPr sz="1750" dirty="0">
                <a:solidFill>
                  <a:srgbClr val="009900"/>
                </a:solidFill>
                <a:latin typeface="Consolas"/>
                <a:cs typeface="Consolas"/>
              </a:rPr>
              <a:t>20544</a:t>
            </a:r>
            <a:r>
              <a:rPr sz="1750" dirty="0">
                <a:latin typeface="Consolas"/>
                <a:cs typeface="Consolas"/>
              </a:rPr>
              <a:t>)</a:t>
            </a:r>
          </a:p>
          <a:p>
            <a:pPr marL="826135">
              <a:lnSpc>
                <a:spcPct val="100000"/>
              </a:lnSpc>
              <a:spcBef>
                <a:spcPts val="1055"/>
              </a:spcBef>
            </a:pPr>
            <a:r>
              <a:rPr sz="1750" spc="-5" dirty="0">
                <a:solidFill>
                  <a:srgbClr val="FF1393"/>
                </a:solidFill>
                <a:latin typeface="Consolas"/>
                <a:cs typeface="Consolas"/>
              </a:rPr>
              <a:t>print</a:t>
            </a:r>
            <a:r>
              <a:rPr sz="1750" spc="-5" dirty="0">
                <a:latin typeface="Consolas"/>
                <a:cs typeface="Consolas"/>
              </a:rPr>
              <a:t>(</a:t>
            </a:r>
            <a:r>
              <a:rPr sz="1750" spc="-5" dirty="0">
                <a:solidFill>
                  <a:srgbClr val="FF1393"/>
                </a:solidFill>
                <a:latin typeface="Consolas"/>
                <a:cs typeface="Consolas"/>
              </a:rPr>
              <a:t>List</a:t>
            </a:r>
            <a:r>
              <a:rPr sz="1750" spc="-5" dirty="0">
                <a:latin typeface="Consolas"/>
                <a:cs typeface="Consolas"/>
              </a:rPr>
              <a:t>)</a:t>
            </a:r>
            <a:endParaRPr sz="1750" dirty="0">
              <a:latin typeface="Consolas"/>
              <a:cs typeface="Consolas"/>
            </a:endParaRPr>
          </a:p>
        </p:txBody>
      </p:sp>
      <p:sp>
        <p:nvSpPr>
          <p:cNvPr id="5" name="object 5"/>
          <p:cNvSpPr txBox="1"/>
          <p:nvPr/>
        </p:nvSpPr>
        <p:spPr>
          <a:xfrm>
            <a:off x="3183635" y="4882896"/>
            <a:ext cx="5859780" cy="349250"/>
          </a:xfrm>
          <a:prstGeom prst="rect">
            <a:avLst/>
          </a:prstGeom>
          <a:solidFill>
            <a:srgbClr val="DFDFDF"/>
          </a:solidFill>
        </p:spPr>
        <p:txBody>
          <a:bodyPr vert="horz" wrap="square" lIns="0" tIns="0" rIns="0" bIns="0" rtlCol="0">
            <a:spAutoFit/>
          </a:bodyPr>
          <a:lstStyle/>
          <a:p>
            <a:pPr>
              <a:lnSpc>
                <a:spcPts val="2020"/>
              </a:lnSpc>
            </a:pPr>
            <a:r>
              <a:rPr sz="1750" spc="-5" dirty="0">
                <a:latin typeface="Consolas"/>
                <a:cs typeface="Consolas"/>
              </a:rPr>
              <a:t>['Mathematics', 'chemistry', 1997, 2000,</a:t>
            </a:r>
            <a:r>
              <a:rPr sz="1750" spc="170" dirty="0">
                <a:latin typeface="Consolas"/>
                <a:cs typeface="Consolas"/>
              </a:rPr>
              <a:t> </a:t>
            </a:r>
            <a:r>
              <a:rPr sz="1750" spc="-5" dirty="0">
                <a:latin typeface="Consolas"/>
                <a:cs typeface="Consolas"/>
              </a:rPr>
              <a:t>20544]</a:t>
            </a:r>
            <a:endParaRPr sz="1750" dirty="0">
              <a:latin typeface="Consolas"/>
              <a:cs typeface="Consolas"/>
            </a:endParaRPr>
          </a:p>
        </p:txBody>
      </p:sp>
      <p:sp>
        <p:nvSpPr>
          <p:cNvPr id="6" name="Rectangle 5"/>
          <p:cNvSpPr/>
          <p:nvPr/>
        </p:nvSpPr>
        <p:spPr>
          <a:xfrm>
            <a:off x="317500" y="5610225"/>
            <a:ext cx="274320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65176" y="5631180"/>
            <a:ext cx="2711196" cy="944879"/>
          </a:xfrm>
          <a:prstGeom prst="rect">
            <a:avLst/>
          </a:prstGeom>
          <a:blipFill>
            <a:blip r:embed="rId2" cstate="print"/>
            <a:stretch>
              <a:fillRect/>
            </a:stretch>
          </a:blipFill>
        </p:spPr>
        <p:txBody>
          <a:bodyPr wrap="square" lIns="0" tIns="0" rIns="0" bIns="0" rtlCol="0"/>
          <a:lstStyle/>
          <a:p>
            <a:endParaRPr dirty="0"/>
          </a:p>
        </p:txBody>
      </p:sp>
      <p:sp>
        <p:nvSpPr>
          <p:cNvPr id="3" name="object 3"/>
          <p:cNvSpPr txBox="1">
            <a:spLocks noGrp="1"/>
          </p:cNvSpPr>
          <p:nvPr>
            <p:ph type="title"/>
          </p:nvPr>
        </p:nvSpPr>
        <p:spPr>
          <a:xfrm>
            <a:off x="802639" y="1354297"/>
            <a:ext cx="4612005" cy="614680"/>
          </a:xfrm>
          <a:prstGeom prst="rect">
            <a:avLst/>
          </a:prstGeom>
        </p:spPr>
        <p:txBody>
          <a:bodyPr vert="horz" wrap="square" lIns="0" tIns="14605" rIns="0" bIns="0" rtlCol="0">
            <a:spAutoFit/>
          </a:bodyPr>
          <a:lstStyle/>
          <a:p>
            <a:pPr marL="12700">
              <a:lnSpc>
                <a:spcPct val="100000"/>
              </a:lnSpc>
              <a:spcBef>
                <a:spcPts val="115"/>
              </a:spcBef>
            </a:pPr>
            <a:r>
              <a:rPr b="0" u="heavy" spc="-955" dirty="0">
                <a:solidFill>
                  <a:srgbClr val="0070BF"/>
                </a:solidFill>
                <a:uFill>
                  <a:solidFill>
                    <a:srgbClr val="0070BF"/>
                  </a:solidFill>
                </a:uFill>
                <a:latin typeface="Times New Roman"/>
                <a:cs typeface="Times New Roman"/>
              </a:rPr>
              <a:t> </a:t>
            </a:r>
            <a:r>
              <a:rPr u="heavy" spc="-5" dirty="0">
                <a:solidFill>
                  <a:srgbClr val="0070BF"/>
                </a:solidFill>
                <a:uFill>
                  <a:solidFill>
                    <a:srgbClr val="0070BF"/>
                  </a:solidFill>
                </a:uFill>
              </a:rPr>
              <a:t>List </a:t>
            </a:r>
            <a:r>
              <a:rPr u="heavy" spc="5" dirty="0">
                <a:solidFill>
                  <a:srgbClr val="0070BF"/>
                </a:solidFill>
                <a:uFill>
                  <a:solidFill>
                    <a:srgbClr val="0070BF"/>
                  </a:solidFill>
                </a:uFill>
              </a:rPr>
              <a:t>Method</a:t>
            </a:r>
            <a:r>
              <a:rPr spc="5" dirty="0">
                <a:solidFill>
                  <a:srgbClr val="0070BF"/>
                </a:solidFill>
              </a:rPr>
              <a:t> –</a:t>
            </a:r>
            <a:r>
              <a:rPr spc="-60" dirty="0">
                <a:solidFill>
                  <a:srgbClr val="0070BF"/>
                </a:solidFill>
              </a:rPr>
              <a:t> </a:t>
            </a:r>
            <a:r>
              <a:rPr spc="-5" dirty="0"/>
              <a:t>insert()</a:t>
            </a:r>
          </a:p>
        </p:txBody>
      </p:sp>
      <p:sp>
        <p:nvSpPr>
          <p:cNvPr id="4" name="object 4"/>
          <p:cNvSpPr txBox="1"/>
          <p:nvPr/>
        </p:nvSpPr>
        <p:spPr>
          <a:xfrm>
            <a:off x="1259851" y="2194080"/>
            <a:ext cx="6593205" cy="2089785"/>
          </a:xfrm>
          <a:prstGeom prst="rect">
            <a:avLst/>
          </a:prstGeom>
        </p:spPr>
        <p:txBody>
          <a:bodyPr vert="horz" wrap="square" lIns="0" tIns="12700" rIns="0" bIns="0" rtlCol="0">
            <a:spAutoFit/>
          </a:bodyPr>
          <a:lstStyle/>
          <a:p>
            <a:pPr marL="312420" indent="-300355">
              <a:lnSpc>
                <a:spcPct val="100000"/>
              </a:lnSpc>
              <a:spcBef>
                <a:spcPts val="100"/>
              </a:spcBef>
              <a:buFont typeface="Arial"/>
              <a:buChar char="•"/>
              <a:tabLst>
                <a:tab pos="312420" algn="l"/>
                <a:tab pos="313055" algn="l"/>
              </a:tabLst>
            </a:pPr>
            <a:r>
              <a:rPr sz="2100" spc="-5" dirty="0">
                <a:latin typeface="Times New Roman"/>
                <a:cs typeface="Times New Roman"/>
              </a:rPr>
              <a:t>It </a:t>
            </a:r>
            <a:r>
              <a:rPr sz="2100" dirty="0">
                <a:latin typeface="Times New Roman"/>
                <a:cs typeface="Times New Roman"/>
              </a:rPr>
              <a:t>is </a:t>
            </a:r>
            <a:r>
              <a:rPr sz="2100" spc="-5" dirty="0">
                <a:latin typeface="Times New Roman"/>
                <a:cs typeface="Times New Roman"/>
              </a:rPr>
              <a:t>used </a:t>
            </a:r>
            <a:r>
              <a:rPr sz="2100" dirty="0">
                <a:latin typeface="Times New Roman"/>
                <a:cs typeface="Times New Roman"/>
              </a:rPr>
              <a:t>to insert </a:t>
            </a:r>
            <a:r>
              <a:rPr sz="2100" spc="-5" dirty="0">
                <a:latin typeface="Times New Roman"/>
                <a:cs typeface="Times New Roman"/>
              </a:rPr>
              <a:t>element </a:t>
            </a:r>
            <a:r>
              <a:rPr sz="2100" spc="5" dirty="0">
                <a:latin typeface="Times New Roman"/>
                <a:cs typeface="Times New Roman"/>
              </a:rPr>
              <a:t>at </a:t>
            </a:r>
            <a:r>
              <a:rPr sz="2100" dirty="0">
                <a:latin typeface="Times New Roman"/>
                <a:cs typeface="Times New Roman"/>
              </a:rPr>
              <a:t>specific</a:t>
            </a:r>
            <a:r>
              <a:rPr sz="2100" spc="-60" dirty="0">
                <a:latin typeface="Times New Roman"/>
                <a:cs typeface="Times New Roman"/>
              </a:rPr>
              <a:t> </a:t>
            </a:r>
            <a:r>
              <a:rPr sz="2100" dirty="0">
                <a:latin typeface="Times New Roman"/>
                <a:cs typeface="Times New Roman"/>
              </a:rPr>
              <a:t>position.</a:t>
            </a:r>
          </a:p>
          <a:p>
            <a:pPr>
              <a:lnSpc>
                <a:spcPct val="100000"/>
              </a:lnSpc>
            </a:pPr>
            <a:endParaRPr sz="2300" dirty="0">
              <a:latin typeface="Times New Roman"/>
              <a:cs typeface="Times New Roman"/>
            </a:endParaRPr>
          </a:p>
          <a:p>
            <a:pPr marL="826135" marR="5080">
              <a:lnSpc>
                <a:spcPct val="150300"/>
              </a:lnSpc>
              <a:spcBef>
                <a:spcPts val="1614"/>
              </a:spcBef>
            </a:pPr>
            <a:r>
              <a:rPr sz="1750" spc="-5" dirty="0">
                <a:solidFill>
                  <a:srgbClr val="FF1393"/>
                </a:solidFill>
                <a:latin typeface="Consolas"/>
                <a:cs typeface="Consolas"/>
              </a:rPr>
              <a:t>List </a:t>
            </a:r>
            <a:r>
              <a:rPr sz="1750" b="1" dirty="0">
                <a:solidFill>
                  <a:srgbClr val="006699"/>
                </a:solidFill>
                <a:latin typeface="Consolas"/>
                <a:cs typeface="Consolas"/>
              </a:rPr>
              <a:t>= </a:t>
            </a:r>
            <a:r>
              <a:rPr sz="1750" dirty="0">
                <a:latin typeface="Consolas"/>
                <a:cs typeface="Consolas"/>
              </a:rPr>
              <a:t>[</a:t>
            </a:r>
            <a:r>
              <a:rPr sz="1750" dirty="0">
                <a:solidFill>
                  <a:srgbClr val="0000FF"/>
                </a:solidFill>
                <a:latin typeface="Consolas"/>
                <a:cs typeface="Consolas"/>
              </a:rPr>
              <a:t>'Mathematics'</a:t>
            </a:r>
            <a:r>
              <a:rPr sz="1750" dirty="0">
                <a:latin typeface="Consolas"/>
                <a:cs typeface="Consolas"/>
              </a:rPr>
              <a:t>, </a:t>
            </a:r>
            <a:r>
              <a:rPr sz="1750" dirty="0">
                <a:solidFill>
                  <a:srgbClr val="0000FF"/>
                </a:solidFill>
                <a:latin typeface="Consolas"/>
                <a:cs typeface="Consolas"/>
              </a:rPr>
              <a:t>'chemistry'</a:t>
            </a:r>
            <a:r>
              <a:rPr sz="1750" dirty="0">
                <a:latin typeface="Consolas"/>
                <a:cs typeface="Consolas"/>
              </a:rPr>
              <a:t>, </a:t>
            </a:r>
            <a:r>
              <a:rPr sz="1750" dirty="0">
                <a:solidFill>
                  <a:srgbClr val="009900"/>
                </a:solidFill>
                <a:latin typeface="Consolas"/>
                <a:cs typeface="Consolas"/>
              </a:rPr>
              <a:t>1997</a:t>
            </a:r>
            <a:r>
              <a:rPr sz="1750" dirty="0">
                <a:latin typeface="Consolas"/>
                <a:cs typeface="Consolas"/>
              </a:rPr>
              <a:t>, </a:t>
            </a:r>
            <a:r>
              <a:rPr sz="1750" dirty="0">
                <a:solidFill>
                  <a:srgbClr val="009900"/>
                </a:solidFill>
                <a:latin typeface="Consolas"/>
                <a:cs typeface="Consolas"/>
              </a:rPr>
              <a:t>2000</a:t>
            </a:r>
            <a:r>
              <a:rPr sz="1750" dirty="0">
                <a:latin typeface="Consolas"/>
                <a:cs typeface="Consolas"/>
              </a:rPr>
              <a:t>]  </a:t>
            </a:r>
            <a:r>
              <a:rPr sz="1750" dirty="0">
                <a:solidFill>
                  <a:srgbClr val="FF1393"/>
                </a:solidFill>
                <a:latin typeface="Consolas"/>
                <a:cs typeface="Consolas"/>
              </a:rPr>
              <a:t>List</a:t>
            </a:r>
            <a:r>
              <a:rPr sz="1750" dirty="0">
                <a:latin typeface="Consolas"/>
                <a:cs typeface="Consolas"/>
              </a:rPr>
              <a:t>.insert(</a:t>
            </a:r>
            <a:r>
              <a:rPr sz="1750" dirty="0">
                <a:solidFill>
                  <a:srgbClr val="009900"/>
                </a:solidFill>
                <a:latin typeface="Consolas"/>
                <a:cs typeface="Consolas"/>
              </a:rPr>
              <a:t>2</a:t>
            </a:r>
            <a:r>
              <a:rPr sz="1750" dirty="0">
                <a:latin typeface="Consolas"/>
                <a:cs typeface="Consolas"/>
              </a:rPr>
              <a:t>,</a:t>
            </a:r>
            <a:r>
              <a:rPr sz="1750" dirty="0">
                <a:solidFill>
                  <a:srgbClr val="009900"/>
                </a:solidFill>
                <a:latin typeface="Consolas"/>
                <a:cs typeface="Consolas"/>
              </a:rPr>
              <a:t>10087</a:t>
            </a:r>
            <a:r>
              <a:rPr sz="1750" dirty="0">
                <a:latin typeface="Consolas"/>
                <a:cs typeface="Consolas"/>
              </a:rPr>
              <a:t>)</a:t>
            </a:r>
          </a:p>
          <a:p>
            <a:pPr marL="826135">
              <a:lnSpc>
                <a:spcPct val="100000"/>
              </a:lnSpc>
              <a:spcBef>
                <a:spcPts val="1055"/>
              </a:spcBef>
            </a:pPr>
            <a:r>
              <a:rPr sz="1750" spc="-5" dirty="0">
                <a:solidFill>
                  <a:srgbClr val="FF1393"/>
                </a:solidFill>
                <a:latin typeface="Consolas"/>
                <a:cs typeface="Consolas"/>
              </a:rPr>
              <a:t>print</a:t>
            </a:r>
            <a:r>
              <a:rPr sz="1750" spc="-5" dirty="0">
                <a:latin typeface="Consolas"/>
                <a:cs typeface="Consolas"/>
              </a:rPr>
              <a:t>(</a:t>
            </a:r>
            <a:r>
              <a:rPr sz="1750" spc="-5" dirty="0">
                <a:solidFill>
                  <a:srgbClr val="FF1393"/>
                </a:solidFill>
                <a:latin typeface="Consolas"/>
                <a:cs typeface="Consolas"/>
              </a:rPr>
              <a:t>List</a:t>
            </a:r>
            <a:r>
              <a:rPr sz="1750" spc="-5" dirty="0">
                <a:latin typeface="Consolas"/>
                <a:cs typeface="Consolas"/>
              </a:rPr>
              <a:t>)</a:t>
            </a:r>
            <a:endParaRPr sz="1750" dirty="0">
              <a:latin typeface="Consolas"/>
              <a:cs typeface="Consolas"/>
            </a:endParaRPr>
          </a:p>
        </p:txBody>
      </p:sp>
      <p:sp>
        <p:nvSpPr>
          <p:cNvPr id="5" name="object 5"/>
          <p:cNvSpPr txBox="1"/>
          <p:nvPr/>
        </p:nvSpPr>
        <p:spPr>
          <a:xfrm>
            <a:off x="3183635" y="4882896"/>
            <a:ext cx="5859780" cy="349250"/>
          </a:xfrm>
          <a:prstGeom prst="rect">
            <a:avLst/>
          </a:prstGeom>
          <a:solidFill>
            <a:srgbClr val="DFDFDF"/>
          </a:solidFill>
        </p:spPr>
        <p:txBody>
          <a:bodyPr vert="horz" wrap="square" lIns="0" tIns="0" rIns="0" bIns="0" rtlCol="0">
            <a:spAutoFit/>
          </a:bodyPr>
          <a:lstStyle/>
          <a:p>
            <a:pPr>
              <a:lnSpc>
                <a:spcPts val="2030"/>
              </a:lnSpc>
            </a:pPr>
            <a:r>
              <a:rPr sz="1750" dirty="0">
                <a:latin typeface="Consolas"/>
                <a:cs typeface="Consolas"/>
              </a:rPr>
              <a:t>['Mathematics', 'chemistry’, 10087, 1997,</a:t>
            </a:r>
            <a:r>
              <a:rPr sz="1750" spc="-50" dirty="0">
                <a:latin typeface="Consolas"/>
                <a:cs typeface="Consolas"/>
              </a:rPr>
              <a:t> </a:t>
            </a:r>
            <a:r>
              <a:rPr sz="1750" dirty="0">
                <a:latin typeface="Consolas"/>
                <a:cs typeface="Consolas"/>
              </a:rPr>
              <a:t>2000]</a:t>
            </a:r>
          </a:p>
        </p:txBody>
      </p:sp>
      <p:sp>
        <p:nvSpPr>
          <p:cNvPr id="6" name="Rectangle 5"/>
          <p:cNvSpPr/>
          <p:nvPr/>
        </p:nvSpPr>
        <p:spPr>
          <a:xfrm>
            <a:off x="317500" y="5610225"/>
            <a:ext cx="274320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65176" y="5631180"/>
            <a:ext cx="2711196" cy="944879"/>
          </a:xfrm>
          <a:prstGeom prst="rect">
            <a:avLst/>
          </a:prstGeom>
          <a:blipFill>
            <a:blip r:embed="rId2" cstate="print"/>
            <a:stretch>
              <a:fillRect/>
            </a:stretch>
          </a:blipFill>
        </p:spPr>
        <p:txBody>
          <a:bodyPr wrap="square" lIns="0" tIns="0" rIns="0" bIns="0" rtlCol="0"/>
          <a:lstStyle/>
          <a:p>
            <a:endParaRPr dirty="0"/>
          </a:p>
        </p:txBody>
      </p:sp>
      <p:sp>
        <p:nvSpPr>
          <p:cNvPr id="3" name="object 3"/>
          <p:cNvSpPr txBox="1">
            <a:spLocks noGrp="1"/>
          </p:cNvSpPr>
          <p:nvPr>
            <p:ph type="title"/>
          </p:nvPr>
        </p:nvSpPr>
        <p:spPr>
          <a:xfrm>
            <a:off x="802639" y="1354297"/>
            <a:ext cx="4803140" cy="614680"/>
          </a:xfrm>
          <a:prstGeom prst="rect">
            <a:avLst/>
          </a:prstGeom>
        </p:spPr>
        <p:txBody>
          <a:bodyPr vert="horz" wrap="square" lIns="0" tIns="14605" rIns="0" bIns="0" rtlCol="0">
            <a:spAutoFit/>
          </a:bodyPr>
          <a:lstStyle/>
          <a:p>
            <a:pPr marL="12700">
              <a:lnSpc>
                <a:spcPct val="100000"/>
              </a:lnSpc>
              <a:spcBef>
                <a:spcPts val="115"/>
              </a:spcBef>
            </a:pPr>
            <a:r>
              <a:rPr b="0" u="heavy" spc="-955" dirty="0">
                <a:solidFill>
                  <a:srgbClr val="0070BF"/>
                </a:solidFill>
                <a:uFill>
                  <a:solidFill>
                    <a:srgbClr val="0070BF"/>
                  </a:solidFill>
                </a:uFill>
                <a:latin typeface="Times New Roman"/>
                <a:cs typeface="Times New Roman"/>
              </a:rPr>
              <a:t> </a:t>
            </a:r>
            <a:r>
              <a:rPr u="heavy" spc="-5" dirty="0">
                <a:solidFill>
                  <a:srgbClr val="0070BF"/>
                </a:solidFill>
                <a:uFill>
                  <a:solidFill>
                    <a:srgbClr val="0070BF"/>
                  </a:solidFill>
                </a:uFill>
              </a:rPr>
              <a:t>List </a:t>
            </a:r>
            <a:r>
              <a:rPr u="heavy" spc="5" dirty="0">
                <a:solidFill>
                  <a:srgbClr val="0070BF"/>
                </a:solidFill>
                <a:uFill>
                  <a:solidFill>
                    <a:srgbClr val="0070BF"/>
                  </a:solidFill>
                </a:uFill>
              </a:rPr>
              <a:t>Method</a:t>
            </a:r>
            <a:r>
              <a:rPr spc="5" dirty="0">
                <a:solidFill>
                  <a:srgbClr val="0070BF"/>
                </a:solidFill>
              </a:rPr>
              <a:t> –</a:t>
            </a:r>
            <a:r>
              <a:rPr spc="-85" dirty="0">
                <a:solidFill>
                  <a:srgbClr val="0070BF"/>
                </a:solidFill>
              </a:rPr>
              <a:t> </a:t>
            </a:r>
            <a:r>
              <a:rPr dirty="0"/>
              <a:t>extend()</a:t>
            </a:r>
          </a:p>
        </p:txBody>
      </p:sp>
      <p:sp>
        <p:nvSpPr>
          <p:cNvPr id="4" name="object 4"/>
          <p:cNvSpPr txBox="1"/>
          <p:nvPr/>
        </p:nvSpPr>
        <p:spPr>
          <a:xfrm>
            <a:off x="1259851" y="2194080"/>
            <a:ext cx="7265034" cy="345440"/>
          </a:xfrm>
          <a:prstGeom prst="rect">
            <a:avLst/>
          </a:prstGeom>
        </p:spPr>
        <p:txBody>
          <a:bodyPr vert="horz" wrap="square" lIns="0" tIns="12700" rIns="0" bIns="0" rtlCol="0">
            <a:spAutoFit/>
          </a:bodyPr>
          <a:lstStyle/>
          <a:p>
            <a:pPr marL="312420" indent="-300355">
              <a:lnSpc>
                <a:spcPct val="100000"/>
              </a:lnSpc>
              <a:spcBef>
                <a:spcPts val="100"/>
              </a:spcBef>
              <a:buFont typeface="Arial"/>
              <a:buChar char="•"/>
              <a:tabLst>
                <a:tab pos="312420" algn="l"/>
                <a:tab pos="313055" algn="l"/>
              </a:tabLst>
            </a:pPr>
            <a:r>
              <a:rPr sz="2100" spc="-5" dirty="0">
                <a:latin typeface="Times New Roman"/>
                <a:cs typeface="Times New Roman"/>
              </a:rPr>
              <a:t>Add multiple </a:t>
            </a:r>
            <a:r>
              <a:rPr sz="2100" dirty="0">
                <a:latin typeface="Times New Roman"/>
                <a:cs typeface="Times New Roman"/>
              </a:rPr>
              <a:t>values or another list into the end of the current</a:t>
            </a:r>
            <a:r>
              <a:rPr sz="2100" spc="-110" dirty="0">
                <a:latin typeface="Times New Roman"/>
                <a:cs typeface="Times New Roman"/>
              </a:rPr>
              <a:t> </a:t>
            </a:r>
            <a:r>
              <a:rPr sz="2100" dirty="0">
                <a:latin typeface="Times New Roman"/>
                <a:cs typeface="Times New Roman"/>
              </a:rPr>
              <a:t>list</a:t>
            </a:r>
          </a:p>
        </p:txBody>
      </p:sp>
      <p:graphicFrame>
        <p:nvGraphicFramePr>
          <p:cNvPr id="5" name="object 5"/>
          <p:cNvGraphicFramePr>
            <a:graphicFrameLocks noGrp="1"/>
          </p:cNvGraphicFramePr>
          <p:nvPr/>
        </p:nvGraphicFramePr>
        <p:xfrm>
          <a:off x="2943043" y="2891897"/>
          <a:ext cx="2510155" cy="1024081"/>
        </p:xfrm>
        <a:graphic>
          <a:graphicData uri="http://schemas.openxmlformats.org/drawingml/2006/table">
            <a:tbl>
              <a:tblPr firstRow="1" bandRow="1">
                <a:tableStyleId>{2D5ABB26-0587-4C30-8999-92F81FD0307C}</a:tableStyleId>
              </a:tblPr>
              <a:tblGrid>
                <a:gridCol w="704850"/>
                <a:gridCol w="734060"/>
                <a:gridCol w="366395"/>
                <a:gridCol w="704850"/>
              </a:tblGrid>
              <a:tr h="244612">
                <a:tc>
                  <a:txBody>
                    <a:bodyPr/>
                    <a:lstStyle/>
                    <a:p>
                      <a:pPr marR="21590" algn="ctr">
                        <a:lnSpc>
                          <a:spcPts val="1650"/>
                        </a:lnSpc>
                      </a:pPr>
                      <a:r>
                        <a:rPr sz="1750" dirty="0">
                          <a:latin typeface="Consolas"/>
                          <a:cs typeface="Consolas"/>
                        </a:rPr>
                        <a:t>List1</a:t>
                      </a:r>
                    </a:p>
                  </a:txBody>
                  <a:tcPr marL="0" marR="0" marT="0" marB="0">
                    <a:solidFill>
                      <a:srgbClr val="FFFFFF"/>
                    </a:solidFill>
                  </a:tcPr>
                </a:tc>
                <a:tc>
                  <a:txBody>
                    <a:bodyPr/>
                    <a:lstStyle/>
                    <a:p>
                      <a:pPr algn="ctr">
                        <a:lnSpc>
                          <a:spcPts val="1650"/>
                        </a:lnSpc>
                      </a:pPr>
                      <a:r>
                        <a:rPr sz="1750" b="1" dirty="0">
                          <a:solidFill>
                            <a:srgbClr val="006699"/>
                          </a:solidFill>
                          <a:latin typeface="Consolas"/>
                          <a:cs typeface="Consolas"/>
                        </a:rPr>
                        <a:t>=</a:t>
                      </a:r>
                      <a:r>
                        <a:rPr sz="1750" b="1" spc="-75" dirty="0">
                          <a:solidFill>
                            <a:srgbClr val="006699"/>
                          </a:solidFill>
                          <a:latin typeface="Consolas"/>
                          <a:cs typeface="Consolas"/>
                        </a:rPr>
                        <a:t> </a:t>
                      </a:r>
                      <a:r>
                        <a:rPr sz="1750" dirty="0">
                          <a:latin typeface="Consolas"/>
                          <a:cs typeface="Consolas"/>
                        </a:rPr>
                        <a:t>[</a:t>
                      </a:r>
                      <a:r>
                        <a:rPr sz="1750" dirty="0">
                          <a:solidFill>
                            <a:srgbClr val="009900"/>
                          </a:solidFill>
                          <a:latin typeface="Consolas"/>
                          <a:cs typeface="Consolas"/>
                        </a:rPr>
                        <a:t>1</a:t>
                      </a:r>
                      <a:r>
                        <a:rPr sz="1750" dirty="0">
                          <a:latin typeface="Consolas"/>
                          <a:cs typeface="Consolas"/>
                        </a:rPr>
                        <a:t>,</a:t>
                      </a:r>
                    </a:p>
                  </a:txBody>
                  <a:tcPr marL="0" marR="0" marT="0" marB="0">
                    <a:solidFill>
                      <a:srgbClr val="FFFFFF"/>
                    </a:solidFill>
                  </a:tcPr>
                </a:tc>
                <a:tc>
                  <a:txBody>
                    <a:bodyPr/>
                    <a:lstStyle/>
                    <a:p>
                      <a:pPr marL="635" algn="ctr">
                        <a:lnSpc>
                          <a:spcPts val="1650"/>
                        </a:lnSpc>
                      </a:pPr>
                      <a:r>
                        <a:rPr sz="1750" spc="-5" dirty="0">
                          <a:solidFill>
                            <a:srgbClr val="009900"/>
                          </a:solidFill>
                          <a:latin typeface="Consolas"/>
                          <a:cs typeface="Consolas"/>
                        </a:rPr>
                        <a:t>2</a:t>
                      </a:r>
                      <a:r>
                        <a:rPr sz="1750" spc="-5" dirty="0">
                          <a:latin typeface="Consolas"/>
                          <a:cs typeface="Consolas"/>
                        </a:rPr>
                        <a:t>,</a:t>
                      </a:r>
                      <a:endParaRPr sz="1750" dirty="0">
                        <a:latin typeface="Consolas"/>
                        <a:cs typeface="Consolas"/>
                      </a:endParaRPr>
                    </a:p>
                  </a:txBody>
                  <a:tcPr marL="0" marR="0" marT="0" marB="0">
                    <a:solidFill>
                      <a:srgbClr val="FFFFFF"/>
                    </a:solidFill>
                  </a:tcPr>
                </a:tc>
                <a:tc>
                  <a:txBody>
                    <a:bodyPr/>
                    <a:lstStyle/>
                    <a:p>
                      <a:pPr marL="60325">
                        <a:lnSpc>
                          <a:spcPts val="1650"/>
                        </a:lnSpc>
                      </a:pPr>
                      <a:r>
                        <a:rPr sz="1750" dirty="0">
                          <a:solidFill>
                            <a:srgbClr val="009900"/>
                          </a:solidFill>
                          <a:latin typeface="Consolas"/>
                          <a:cs typeface="Consolas"/>
                        </a:rPr>
                        <a:t>3</a:t>
                      </a:r>
                      <a:r>
                        <a:rPr sz="1750" dirty="0">
                          <a:latin typeface="Consolas"/>
                          <a:cs typeface="Consolas"/>
                        </a:rPr>
                        <a:t>]</a:t>
                      </a:r>
                    </a:p>
                  </a:txBody>
                  <a:tcPr marL="0" marR="0" marT="0" marB="0">
                    <a:solidFill>
                      <a:srgbClr val="FFFFFF"/>
                    </a:solidFill>
                  </a:tcPr>
                </a:tc>
              </a:tr>
              <a:tr h="400789">
                <a:tc>
                  <a:txBody>
                    <a:bodyPr/>
                    <a:lstStyle/>
                    <a:p>
                      <a:pPr marR="21590" algn="ctr">
                        <a:lnSpc>
                          <a:spcPts val="1825"/>
                        </a:lnSpc>
                      </a:pPr>
                      <a:r>
                        <a:rPr sz="1750" dirty="0">
                          <a:latin typeface="Consolas"/>
                          <a:cs typeface="Consolas"/>
                        </a:rPr>
                        <a:t>List2</a:t>
                      </a:r>
                    </a:p>
                  </a:txBody>
                  <a:tcPr marL="0" marR="0" marT="0" marB="0">
                    <a:solidFill>
                      <a:srgbClr val="FFFFFF"/>
                    </a:solidFill>
                  </a:tcPr>
                </a:tc>
                <a:tc>
                  <a:txBody>
                    <a:bodyPr/>
                    <a:lstStyle/>
                    <a:p>
                      <a:pPr algn="ctr">
                        <a:lnSpc>
                          <a:spcPts val="1825"/>
                        </a:lnSpc>
                      </a:pPr>
                      <a:r>
                        <a:rPr sz="1750" b="1" dirty="0">
                          <a:solidFill>
                            <a:srgbClr val="006699"/>
                          </a:solidFill>
                          <a:latin typeface="Consolas"/>
                          <a:cs typeface="Consolas"/>
                        </a:rPr>
                        <a:t>=</a:t>
                      </a:r>
                      <a:r>
                        <a:rPr sz="1750" b="1" spc="-75" dirty="0">
                          <a:solidFill>
                            <a:srgbClr val="006699"/>
                          </a:solidFill>
                          <a:latin typeface="Consolas"/>
                          <a:cs typeface="Consolas"/>
                        </a:rPr>
                        <a:t> </a:t>
                      </a:r>
                      <a:r>
                        <a:rPr sz="1750" dirty="0">
                          <a:latin typeface="Consolas"/>
                          <a:cs typeface="Consolas"/>
                        </a:rPr>
                        <a:t>[</a:t>
                      </a:r>
                      <a:r>
                        <a:rPr sz="1750" dirty="0">
                          <a:solidFill>
                            <a:srgbClr val="009900"/>
                          </a:solidFill>
                          <a:latin typeface="Consolas"/>
                          <a:cs typeface="Consolas"/>
                        </a:rPr>
                        <a:t>2</a:t>
                      </a:r>
                      <a:r>
                        <a:rPr sz="1750" dirty="0">
                          <a:latin typeface="Consolas"/>
                          <a:cs typeface="Consolas"/>
                        </a:rPr>
                        <a:t>,</a:t>
                      </a:r>
                    </a:p>
                  </a:txBody>
                  <a:tcPr marL="0" marR="0" marT="0" marB="0">
                    <a:solidFill>
                      <a:srgbClr val="FFFFFF"/>
                    </a:solidFill>
                  </a:tcPr>
                </a:tc>
                <a:tc>
                  <a:txBody>
                    <a:bodyPr/>
                    <a:lstStyle/>
                    <a:p>
                      <a:pPr marL="635" algn="ctr">
                        <a:lnSpc>
                          <a:spcPts val="1825"/>
                        </a:lnSpc>
                      </a:pPr>
                      <a:r>
                        <a:rPr sz="1750" spc="-5" dirty="0">
                          <a:solidFill>
                            <a:srgbClr val="009900"/>
                          </a:solidFill>
                          <a:latin typeface="Consolas"/>
                          <a:cs typeface="Consolas"/>
                        </a:rPr>
                        <a:t>3</a:t>
                      </a:r>
                      <a:r>
                        <a:rPr sz="1750" spc="-5" dirty="0">
                          <a:latin typeface="Consolas"/>
                          <a:cs typeface="Consolas"/>
                        </a:rPr>
                        <a:t>,</a:t>
                      </a:r>
                      <a:endParaRPr sz="1750" dirty="0">
                        <a:latin typeface="Consolas"/>
                        <a:cs typeface="Consolas"/>
                      </a:endParaRPr>
                    </a:p>
                  </a:txBody>
                  <a:tcPr marL="0" marR="0" marT="0" marB="0">
                    <a:solidFill>
                      <a:srgbClr val="FFFFFF"/>
                    </a:solidFill>
                  </a:tcPr>
                </a:tc>
                <a:tc>
                  <a:txBody>
                    <a:bodyPr/>
                    <a:lstStyle/>
                    <a:p>
                      <a:pPr marL="60325">
                        <a:lnSpc>
                          <a:spcPts val="1825"/>
                        </a:lnSpc>
                      </a:pPr>
                      <a:r>
                        <a:rPr sz="1750" dirty="0">
                          <a:solidFill>
                            <a:srgbClr val="009900"/>
                          </a:solidFill>
                          <a:latin typeface="Consolas"/>
                          <a:cs typeface="Consolas"/>
                        </a:rPr>
                        <a:t>4</a:t>
                      </a:r>
                      <a:r>
                        <a:rPr sz="1750" dirty="0">
                          <a:latin typeface="Consolas"/>
                          <a:cs typeface="Consolas"/>
                        </a:rPr>
                        <a:t>,</a:t>
                      </a:r>
                      <a:r>
                        <a:rPr sz="1750" spc="-65" dirty="0">
                          <a:latin typeface="Consolas"/>
                          <a:cs typeface="Consolas"/>
                        </a:rPr>
                        <a:t> </a:t>
                      </a:r>
                      <a:r>
                        <a:rPr sz="1750" spc="-5" dirty="0">
                          <a:solidFill>
                            <a:srgbClr val="009900"/>
                          </a:solidFill>
                          <a:latin typeface="Consolas"/>
                          <a:cs typeface="Consolas"/>
                        </a:rPr>
                        <a:t>5</a:t>
                      </a:r>
                      <a:r>
                        <a:rPr sz="1750" spc="-5" dirty="0">
                          <a:latin typeface="Consolas"/>
                          <a:cs typeface="Consolas"/>
                        </a:rPr>
                        <a:t>]</a:t>
                      </a:r>
                      <a:endParaRPr sz="1750" dirty="0">
                        <a:latin typeface="Consolas"/>
                        <a:cs typeface="Consolas"/>
                      </a:endParaRPr>
                    </a:p>
                  </a:txBody>
                  <a:tcPr marL="0" marR="0" marT="0" marB="0">
                    <a:solidFill>
                      <a:srgbClr val="FFFFFF"/>
                    </a:solidFill>
                  </a:tcPr>
                </a:tc>
              </a:tr>
              <a:tr h="378680">
                <a:tc>
                  <a:txBody>
                    <a:bodyPr/>
                    <a:lstStyle/>
                    <a:p>
                      <a:pPr marR="21590" algn="ctr">
                        <a:lnSpc>
                          <a:spcPct val="100000"/>
                        </a:lnSpc>
                        <a:spcBef>
                          <a:spcPts val="780"/>
                        </a:spcBef>
                      </a:pPr>
                      <a:r>
                        <a:rPr sz="1750" dirty="0">
                          <a:solidFill>
                            <a:srgbClr val="008200"/>
                          </a:solidFill>
                          <a:latin typeface="Consolas"/>
                          <a:cs typeface="Consolas"/>
                        </a:rPr>
                        <a:t>#</a:t>
                      </a:r>
                      <a:r>
                        <a:rPr sz="1750" spc="-70" dirty="0">
                          <a:solidFill>
                            <a:srgbClr val="008200"/>
                          </a:solidFill>
                          <a:latin typeface="Consolas"/>
                          <a:cs typeface="Consolas"/>
                        </a:rPr>
                        <a:t> </a:t>
                      </a:r>
                      <a:r>
                        <a:rPr sz="1750" spc="-5" dirty="0">
                          <a:solidFill>
                            <a:srgbClr val="008200"/>
                          </a:solidFill>
                          <a:latin typeface="Consolas"/>
                          <a:cs typeface="Consolas"/>
                        </a:rPr>
                        <a:t>Add</a:t>
                      </a:r>
                      <a:endParaRPr sz="1750" dirty="0">
                        <a:latin typeface="Consolas"/>
                        <a:cs typeface="Consolas"/>
                      </a:endParaRPr>
                    </a:p>
                  </a:txBody>
                  <a:tcPr marL="0" marR="0" marT="99060" marB="0">
                    <a:solidFill>
                      <a:srgbClr val="FFFFFF"/>
                    </a:solidFill>
                  </a:tcPr>
                </a:tc>
                <a:tc>
                  <a:txBody>
                    <a:bodyPr/>
                    <a:lstStyle/>
                    <a:p>
                      <a:pPr algn="ctr">
                        <a:lnSpc>
                          <a:spcPct val="100000"/>
                        </a:lnSpc>
                        <a:spcBef>
                          <a:spcPts val="780"/>
                        </a:spcBef>
                      </a:pPr>
                      <a:r>
                        <a:rPr sz="1750" dirty="0">
                          <a:solidFill>
                            <a:srgbClr val="008200"/>
                          </a:solidFill>
                          <a:latin typeface="Consolas"/>
                          <a:cs typeface="Consolas"/>
                        </a:rPr>
                        <a:t>List2</a:t>
                      </a:r>
                      <a:endParaRPr sz="1750" dirty="0">
                        <a:latin typeface="Consolas"/>
                        <a:cs typeface="Consolas"/>
                      </a:endParaRPr>
                    </a:p>
                  </a:txBody>
                  <a:tcPr marL="0" marR="0" marT="99060" marB="0">
                    <a:solidFill>
                      <a:srgbClr val="FFFFFF"/>
                    </a:solidFill>
                  </a:tcPr>
                </a:tc>
                <a:tc>
                  <a:txBody>
                    <a:bodyPr/>
                    <a:lstStyle/>
                    <a:p>
                      <a:pPr algn="ctr">
                        <a:lnSpc>
                          <a:spcPct val="100000"/>
                        </a:lnSpc>
                        <a:spcBef>
                          <a:spcPts val="780"/>
                        </a:spcBef>
                      </a:pPr>
                      <a:r>
                        <a:rPr sz="1750" dirty="0">
                          <a:solidFill>
                            <a:srgbClr val="008200"/>
                          </a:solidFill>
                          <a:latin typeface="Consolas"/>
                          <a:cs typeface="Consolas"/>
                        </a:rPr>
                        <a:t>to</a:t>
                      </a:r>
                      <a:endParaRPr sz="1750" dirty="0">
                        <a:latin typeface="Consolas"/>
                        <a:cs typeface="Consolas"/>
                      </a:endParaRPr>
                    </a:p>
                  </a:txBody>
                  <a:tcPr marL="0" marR="0" marT="99060" marB="0">
                    <a:solidFill>
                      <a:srgbClr val="FFFFFF"/>
                    </a:solidFill>
                  </a:tcPr>
                </a:tc>
                <a:tc>
                  <a:txBody>
                    <a:bodyPr/>
                    <a:lstStyle/>
                    <a:p>
                      <a:pPr marL="60960">
                        <a:lnSpc>
                          <a:spcPct val="100000"/>
                        </a:lnSpc>
                        <a:spcBef>
                          <a:spcPts val="780"/>
                        </a:spcBef>
                      </a:pPr>
                      <a:r>
                        <a:rPr sz="1750" dirty="0">
                          <a:solidFill>
                            <a:srgbClr val="008200"/>
                          </a:solidFill>
                          <a:latin typeface="Consolas"/>
                          <a:cs typeface="Consolas"/>
                        </a:rPr>
                        <a:t>List1</a:t>
                      </a:r>
                      <a:endParaRPr sz="1750" dirty="0">
                        <a:latin typeface="Consolas"/>
                        <a:cs typeface="Consolas"/>
                      </a:endParaRPr>
                    </a:p>
                  </a:txBody>
                  <a:tcPr marL="0" marR="0" marT="99060" marB="0">
                    <a:solidFill>
                      <a:srgbClr val="FFFFFF"/>
                    </a:solidFill>
                  </a:tcPr>
                </a:tc>
              </a:tr>
            </a:tbl>
          </a:graphicData>
        </a:graphic>
      </p:graphicFrame>
      <p:sp>
        <p:nvSpPr>
          <p:cNvPr id="6" name="object 6"/>
          <p:cNvSpPr txBox="1"/>
          <p:nvPr/>
        </p:nvSpPr>
        <p:spPr>
          <a:xfrm>
            <a:off x="2962093" y="3890242"/>
            <a:ext cx="2840355" cy="1629410"/>
          </a:xfrm>
          <a:prstGeom prst="rect">
            <a:avLst/>
          </a:prstGeom>
        </p:spPr>
        <p:txBody>
          <a:bodyPr vert="horz" wrap="square" lIns="0" tIns="12700" rIns="0" bIns="0" rtlCol="0">
            <a:spAutoFit/>
          </a:bodyPr>
          <a:lstStyle/>
          <a:p>
            <a:pPr marL="12700" marR="494030">
              <a:lnSpc>
                <a:spcPct val="100000"/>
              </a:lnSpc>
              <a:spcBef>
                <a:spcPts val="100"/>
              </a:spcBef>
            </a:pPr>
            <a:r>
              <a:rPr sz="1750" dirty="0">
                <a:latin typeface="Consolas"/>
                <a:cs typeface="Consolas"/>
              </a:rPr>
              <a:t>Li</a:t>
            </a:r>
            <a:r>
              <a:rPr sz="1750" spc="-20" dirty="0">
                <a:latin typeface="Consolas"/>
                <a:cs typeface="Consolas"/>
              </a:rPr>
              <a:t>s</a:t>
            </a:r>
            <a:r>
              <a:rPr sz="1750" spc="15" dirty="0">
                <a:latin typeface="Consolas"/>
                <a:cs typeface="Consolas"/>
              </a:rPr>
              <a:t>t</a:t>
            </a:r>
            <a:r>
              <a:rPr sz="1750" dirty="0">
                <a:latin typeface="Consolas"/>
                <a:cs typeface="Consolas"/>
              </a:rPr>
              <a:t>1.extend(List2)  </a:t>
            </a:r>
            <a:r>
              <a:rPr sz="1750" spc="-5" dirty="0">
                <a:solidFill>
                  <a:srgbClr val="FF1393"/>
                </a:solidFill>
                <a:latin typeface="Consolas"/>
                <a:cs typeface="Consolas"/>
              </a:rPr>
              <a:t>print</a:t>
            </a:r>
            <a:r>
              <a:rPr sz="1750" spc="-5" dirty="0">
                <a:latin typeface="Consolas"/>
                <a:cs typeface="Consolas"/>
              </a:rPr>
              <a:t>(List1)</a:t>
            </a:r>
            <a:endParaRPr sz="1750" dirty="0">
              <a:latin typeface="Consolas"/>
              <a:cs typeface="Consolas"/>
            </a:endParaRPr>
          </a:p>
          <a:p>
            <a:pPr>
              <a:lnSpc>
                <a:spcPct val="100000"/>
              </a:lnSpc>
            </a:pPr>
            <a:endParaRPr sz="1800" dirty="0">
              <a:latin typeface="Consolas"/>
              <a:cs typeface="Consolas"/>
            </a:endParaRPr>
          </a:p>
          <a:p>
            <a:pPr marL="12700" marR="5080">
              <a:lnSpc>
                <a:spcPct val="100299"/>
              </a:lnSpc>
            </a:pPr>
            <a:r>
              <a:rPr sz="1750" spc="-5" dirty="0">
                <a:solidFill>
                  <a:srgbClr val="008200"/>
                </a:solidFill>
                <a:latin typeface="Consolas"/>
                <a:cs typeface="Consolas"/>
              </a:rPr>
              <a:t>#Add </a:t>
            </a:r>
            <a:r>
              <a:rPr sz="1750" dirty="0">
                <a:solidFill>
                  <a:srgbClr val="008200"/>
                </a:solidFill>
                <a:latin typeface="Consolas"/>
                <a:cs typeface="Consolas"/>
              </a:rPr>
              <a:t>List1 to List2</a:t>
            </a:r>
            <a:r>
              <a:rPr sz="1750" spc="-50" dirty="0">
                <a:solidFill>
                  <a:srgbClr val="008200"/>
                </a:solidFill>
                <a:latin typeface="Consolas"/>
                <a:cs typeface="Consolas"/>
              </a:rPr>
              <a:t> </a:t>
            </a:r>
            <a:r>
              <a:rPr sz="1750" spc="-5" dirty="0">
                <a:solidFill>
                  <a:srgbClr val="008200"/>
                </a:solidFill>
                <a:latin typeface="Consolas"/>
                <a:cs typeface="Consolas"/>
              </a:rPr>
              <a:t>now  </a:t>
            </a:r>
            <a:r>
              <a:rPr sz="1750" dirty="0">
                <a:latin typeface="Consolas"/>
                <a:cs typeface="Consolas"/>
              </a:rPr>
              <a:t>List2.extend(List1)  </a:t>
            </a:r>
            <a:r>
              <a:rPr sz="1750" spc="-5" dirty="0">
                <a:solidFill>
                  <a:srgbClr val="FF1393"/>
                </a:solidFill>
                <a:latin typeface="Consolas"/>
                <a:cs typeface="Consolas"/>
              </a:rPr>
              <a:t>print</a:t>
            </a:r>
            <a:r>
              <a:rPr sz="1750" spc="-5" dirty="0">
                <a:latin typeface="Consolas"/>
                <a:cs typeface="Consolas"/>
              </a:rPr>
              <a:t>(List2)</a:t>
            </a:r>
            <a:endParaRPr sz="1750" dirty="0">
              <a:latin typeface="Consolas"/>
              <a:cs typeface="Consolas"/>
            </a:endParaRPr>
          </a:p>
        </p:txBody>
      </p:sp>
      <p:sp>
        <p:nvSpPr>
          <p:cNvPr id="7" name="object 7"/>
          <p:cNvSpPr txBox="1"/>
          <p:nvPr/>
        </p:nvSpPr>
        <p:spPr>
          <a:xfrm>
            <a:off x="5829300" y="5530596"/>
            <a:ext cx="4127500" cy="619125"/>
          </a:xfrm>
          <a:prstGeom prst="rect">
            <a:avLst/>
          </a:prstGeom>
          <a:solidFill>
            <a:srgbClr val="DFDFDF"/>
          </a:solidFill>
        </p:spPr>
        <p:txBody>
          <a:bodyPr vert="horz" wrap="square" lIns="0" tIns="0" rIns="0" bIns="0" rtlCol="0">
            <a:spAutoFit/>
          </a:bodyPr>
          <a:lstStyle/>
          <a:p>
            <a:pPr marL="1270">
              <a:lnSpc>
                <a:spcPts val="2030"/>
              </a:lnSpc>
            </a:pPr>
            <a:r>
              <a:rPr sz="1750" dirty="0">
                <a:latin typeface="Consolas"/>
                <a:cs typeface="Consolas"/>
              </a:rPr>
              <a:t>[1, 2, 3, 2, 3, 4,</a:t>
            </a:r>
            <a:r>
              <a:rPr sz="1750" spc="-30" dirty="0">
                <a:latin typeface="Consolas"/>
                <a:cs typeface="Consolas"/>
              </a:rPr>
              <a:t> </a:t>
            </a:r>
            <a:r>
              <a:rPr sz="1750" dirty="0">
                <a:latin typeface="Consolas"/>
                <a:cs typeface="Consolas"/>
              </a:rPr>
              <a:t>5]</a:t>
            </a:r>
          </a:p>
          <a:p>
            <a:pPr marL="1270">
              <a:lnSpc>
                <a:spcPct val="100000"/>
              </a:lnSpc>
            </a:pPr>
            <a:r>
              <a:rPr sz="1750" dirty="0">
                <a:latin typeface="Consolas"/>
                <a:cs typeface="Consolas"/>
              </a:rPr>
              <a:t>[2, 3, </a:t>
            </a:r>
            <a:r>
              <a:rPr sz="1750" spc="-10" dirty="0">
                <a:latin typeface="Consolas"/>
                <a:cs typeface="Consolas"/>
              </a:rPr>
              <a:t>4, 5, </a:t>
            </a:r>
            <a:r>
              <a:rPr sz="1750" dirty="0">
                <a:latin typeface="Consolas"/>
                <a:cs typeface="Consolas"/>
              </a:rPr>
              <a:t>1, 2, 3, 2, 3, 4,</a:t>
            </a:r>
            <a:r>
              <a:rPr sz="1750" spc="-5" dirty="0">
                <a:latin typeface="Consolas"/>
                <a:cs typeface="Consolas"/>
              </a:rPr>
              <a:t> </a:t>
            </a:r>
            <a:r>
              <a:rPr sz="1750" dirty="0">
                <a:latin typeface="Consolas"/>
                <a:cs typeface="Consolas"/>
              </a:rPr>
              <a:t>5]</a:t>
            </a:r>
          </a:p>
        </p:txBody>
      </p:sp>
      <p:sp>
        <p:nvSpPr>
          <p:cNvPr id="8" name="Rectangle 7"/>
          <p:cNvSpPr/>
          <p:nvPr/>
        </p:nvSpPr>
        <p:spPr>
          <a:xfrm>
            <a:off x="317500" y="5610225"/>
            <a:ext cx="274320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65176" y="5631180"/>
            <a:ext cx="2711196" cy="944879"/>
          </a:xfrm>
          <a:prstGeom prst="rect">
            <a:avLst/>
          </a:prstGeom>
          <a:blipFill>
            <a:blip r:embed="rId2" cstate="print"/>
            <a:stretch>
              <a:fillRect/>
            </a:stretch>
          </a:blipFill>
        </p:spPr>
        <p:txBody>
          <a:bodyPr wrap="square" lIns="0" tIns="0" rIns="0" bIns="0" rtlCol="0"/>
          <a:lstStyle/>
          <a:p>
            <a:endParaRPr dirty="0"/>
          </a:p>
        </p:txBody>
      </p:sp>
      <p:sp>
        <p:nvSpPr>
          <p:cNvPr id="3" name="object 3"/>
          <p:cNvSpPr txBox="1">
            <a:spLocks noGrp="1"/>
          </p:cNvSpPr>
          <p:nvPr>
            <p:ph type="title"/>
          </p:nvPr>
        </p:nvSpPr>
        <p:spPr>
          <a:xfrm>
            <a:off x="802639" y="1386423"/>
            <a:ext cx="9176385" cy="559435"/>
          </a:xfrm>
          <a:prstGeom prst="rect">
            <a:avLst/>
          </a:prstGeom>
        </p:spPr>
        <p:txBody>
          <a:bodyPr vert="horz" wrap="square" lIns="0" tIns="12700" rIns="0" bIns="0" rtlCol="0">
            <a:spAutoFit/>
          </a:bodyPr>
          <a:lstStyle/>
          <a:p>
            <a:pPr marL="12700">
              <a:lnSpc>
                <a:spcPct val="100000"/>
              </a:lnSpc>
              <a:spcBef>
                <a:spcPts val="100"/>
              </a:spcBef>
            </a:pPr>
            <a:r>
              <a:rPr sz="3500" b="0" u="heavy" spc="-865" dirty="0">
                <a:solidFill>
                  <a:srgbClr val="0070BF"/>
                </a:solidFill>
                <a:uFill>
                  <a:solidFill>
                    <a:srgbClr val="0070BF"/>
                  </a:solidFill>
                </a:uFill>
                <a:latin typeface="Times New Roman"/>
                <a:cs typeface="Times New Roman"/>
              </a:rPr>
              <a:t> </a:t>
            </a:r>
            <a:r>
              <a:rPr sz="3500" u="heavy" spc="5" dirty="0">
                <a:solidFill>
                  <a:srgbClr val="0070BF"/>
                </a:solidFill>
                <a:uFill>
                  <a:solidFill>
                    <a:srgbClr val="0070BF"/>
                  </a:solidFill>
                </a:uFill>
              </a:rPr>
              <a:t>List </a:t>
            </a:r>
            <a:r>
              <a:rPr sz="3500" u="heavy" dirty="0">
                <a:solidFill>
                  <a:srgbClr val="0070BF"/>
                </a:solidFill>
                <a:uFill>
                  <a:solidFill>
                    <a:srgbClr val="0070BF"/>
                  </a:solidFill>
                </a:uFill>
              </a:rPr>
              <a:t>Method</a:t>
            </a:r>
            <a:r>
              <a:rPr sz="3500" dirty="0">
                <a:solidFill>
                  <a:srgbClr val="0070BF"/>
                </a:solidFill>
              </a:rPr>
              <a:t> – </a:t>
            </a:r>
            <a:r>
              <a:rPr sz="3500" spc="-5" dirty="0"/>
              <a:t>sum(), count(), </a:t>
            </a:r>
            <a:r>
              <a:rPr sz="3500" dirty="0"/>
              <a:t>len(), </a:t>
            </a:r>
            <a:r>
              <a:rPr sz="3500" spc="-10" dirty="0"/>
              <a:t>min(),</a:t>
            </a:r>
            <a:r>
              <a:rPr sz="3500" spc="125" dirty="0"/>
              <a:t> </a:t>
            </a:r>
            <a:r>
              <a:rPr sz="3500" spc="-5" dirty="0"/>
              <a:t>max()</a:t>
            </a:r>
            <a:endParaRPr sz="3500" dirty="0">
              <a:latin typeface="Times New Roman"/>
              <a:cs typeface="Times New Roman"/>
            </a:endParaRPr>
          </a:p>
        </p:txBody>
      </p:sp>
      <p:sp>
        <p:nvSpPr>
          <p:cNvPr id="4" name="object 4"/>
          <p:cNvSpPr txBox="1"/>
          <p:nvPr/>
        </p:nvSpPr>
        <p:spPr>
          <a:xfrm>
            <a:off x="3492495" y="2797887"/>
            <a:ext cx="3208020" cy="2430780"/>
          </a:xfrm>
          <a:prstGeom prst="rect">
            <a:avLst/>
          </a:prstGeom>
        </p:spPr>
        <p:txBody>
          <a:bodyPr vert="horz" wrap="square" lIns="0" tIns="146685" rIns="0" bIns="0" rtlCol="0">
            <a:spAutoFit/>
          </a:bodyPr>
          <a:lstStyle/>
          <a:p>
            <a:pPr marL="12700">
              <a:lnSpc>
                <a:spcPct val="100000"/>
              </a:lnSpc>
              <a:spcBef>
                <a:spcPts val="1155"/>
              </a:spcBef>
            </a:pPr>
            <a:r>
              <a:rPr sz="1750" spc="-5" dirty="0">
                <a:solidFill>
                  <a:srgbClr val="FF1393"/>
                </a:solidFill>
                <a:latin typeface="Consolas"/>
                <a:cs typeface="Consolas"/>
              </a:rPr>
              <a:t>List </a:t>
            </a:r>
            <a:r>
              <a:rPr sz="1750" b="1" dirty="0">
                <a:solidFill>
                  <a:srgbClr val="006699"/>
                </a:solidFill>
                <a:latin typeface="Consolas"/>
                <a:cs typeface="Consolas"/>
              </a:rPr>
              <a:t>= </a:t>
            </a:r>
            <a:r>
              <a:rPr sz="1750" dirty="0">
                <a:latin typeface="Consolas"/>
                <a:cs typeface="Consolas"/>
              </a:rPr>
              <a:t>[</a:t>
            </a:r>
            <a:r>
              <a:rPr sz="1750" dirty="0">
                <a:solidFill>
                  <a:srgbClr val="009900"/>
                </a:solidFill>
                <a:latin typeface="Consolas"/>
                <a:cs typeface="Consolas"/>
              </a:rPr>
              <a:t>1</a:t>
            </a:r>
            <a:r>
              <a:rPr sz="1750" dirty="0">
                <a:latin typeface="Consolas"/>
                <a:cs typeface="Consolas"/>
              </a:rPr>
              <a:t>, </a:t>
            </a:r>
            <a:r>
              <a:rPr sz="1750" dirty="0">
                <a:solidFill>
                  <a:srgbClr val="009900"/>
                </a:solidFill>
                <a:latin typeface="Consolas"/>
                <a:cs typeface="Consolas"/>
              </a:rPr>
              <a:t>2</a:t>
            </a:r>
            <a:r>
              <a:rPr sz="1750" dirty="0">
                <a:latin typeface="Consolas"/>
                <a:cs typeface="Consolas"/>
              </a:rPr>
              <a:t>, </a:t>
            </a:r>
            <a:r>
              <a:rPr sz="1750" spc="-5" dirty="0">
                <a:solidFill>
                  <a:srgbClr val="009900"/>
                </a:solidFill>
                <a:latin typeface="Consolas"/>
                <a:cs typeface="Consolas"/>
              </a:rPr>
              <a:t>3</a:t>
            </a:r>
            <a:r>
              <a:rPr sz="1750" spc="-5" dirty="0">
                <a:latin typeface="Consolas"/>
                <a:cs typeface="Consolas"/>
              </a:rPr>
              <a:t>, </a:t>
            </a:r>
            <a:r>
              <a:rPr sz="1750" dirty="0">
                <a:solidFill>
                  <a:srgbClr val="009900"/>
                </a:solidFill>
                <a:latin typeface="Consolas"/>
                <a:cs typeface="Consolas"/>
              </a:rPr>
              <a:t>4</a:t>
            </a:r>
            <a:r>
              <a:rPr sz="1750" dirty="0">
                <a:latin typeface="Consolas"/>
                <a:cs typeface="Consolas"/>
              </a:rPr>
              <a:t>, </a:t>
            </a:r>
            <a:r>
              <a:rPr sz="1750" dirty="0">
                <a:solidFill>
                  <a:srgbClr val="009900"/>
                </a:solidFill>
                <a:latin typeface="Consolas"/>
                <a:cs typeface="Consolas"/>
              </a:rPr>
              <a:t>5 </a:t>
            </a:r>
            <a:r>
              <a:rPr sz="1750" dirty="0">
                <a:latin typeface="Consolas"/>
                <a:cs typeface="Consolas"/>
              </a:rPr>
              <a:t>,</a:t>
            </a:r>
            <a:r>
              <a:rPr sz="1750" spc="-45" dirty="0">
                <a:latin typeface="Consolas"/>
                <a:cs typeface="Consolas"/>
              </a:rPr>
              <a:t> </a:t>
            </a:r>
            <a:r>
              <a:rPr sz="1750" spc="-5" dirty="0">
                <a:solidFill>
                  <a:srgbClr val="009900"/>
                </a:solidFill>
                <a:latin typeface="Consolas"/>
                <a:cs typeface="Consolas"/>
              </a:rPr>
              <a:t>1</a:t>
            </a:r>
            <a:r>
              <a:rPr sz="1750" spc="-5" dirty="0">
                <a:latin typeface="Consolas"/>
                <a:cs typeface="Consolas"/>
              </a:rPr>
              <a:t>]</a:t>
            </a:r>
            <a:endParaRPr sz="1750" dirty="0">
              <a:latin typeface="Consolas"/>
              <a:cs typeface="Consolas"/>
            </a:endParaRPr>
          </a:p>
          <a:p>
            <a:pPr marL="12700" marR="250190">
              <a:lnSpc>
                <a:spcPct val="150300"/>
              </a:lnSpc>
            </a:pPr>
            <a:r>
              <a:rPr sz="1750" spc="-5" dirty="0">
                <a:solidFill>
                  <a:srgbClr val="FF1393"/>
                </a:solidFill>
                <a:latin typeface="Consolas"/>
                <a:cs typeface="Consolas"/>
              </a:rPr>
              <a:t>print</a:t>
            </a:r>
            <a:r>
              <a:rPr sz="1750" spc="-5" dirty="0">
                <a:latin typeface="Consolas"/>
                <a:cs typeface="Consolas"/>
              </a:rPr>
              <a:t>(</a:t>
            </a:r>
            <a:r>
              <a:rPr sz="1750" spc="-5" dirty="0">
                <a:solidFill>
                  <a:srgbClr val="FF1393"/>
                </a:solidFill>
                <a:latin typeface="Consolas"/>
                <a:cs typeface="Consolas"/>
              </a:rPr>
              <a:t>sum</a:t>
            </a:r>
            <a:r>
              <a:rPr sz="1750" spc="-5" dirty="0">
                <a:latin typeface="Consolas"/>
                <a:cs typeface="Consolas"/>
              </a:rPr>
              <a:t>(</a:t>
            </a:r>
            <a:r>
              <a:rPr sz="1750" spc="-5" dirty="0">
                <a:solidFill>
                  <a:srgbClr val="FF1393"/>
                </a:solidFill>
                <a:latin typeface="Consolas"/>
                <a:cs typeface="Consolas"/>
              </a:rPr>
              <a:t>List</a:t>
            </a:r>
            <a:r>
              <a:rPr sz="1750" spc="-5" dirty="0">
                <a:latin typeface="Consolas"/>
                <a:cs typeface="Consolas"/>
              </a:rPr>
              <a:t>)) </a:t>
            </a:r>
            <a:r>
              <a:rPr sz="1750" spc="-5" dirty="0">
                <a:solidFill>
                  <a:srgbClr val="009900"/>
                </a:solidFill>
                <a:latin typeface="Consolas"/>
                <a:cs typeface="Consolas"/>
              </a:rPr>
              <a:t>//16  </a:t>
            </a:r>
            <a:r>
              <a:rPr sz="1750" dirty="0">
                <a:solidFill>
                  <a:srgbClr val="FF1393"/>
                </a:solidFill>
                <a:latin typeface="Consolas"/>
                <a:cs typeface="Consolas"/>
              </a:rPr>
              <a:t>print</a:t>
            </a:r>
            <a:r>
              <a:rPr sz="1750" dirty="0">
                <a:latin typeface="Consolas"/>
                <a:cs typeface="Consolas"/>
              </a:rPr>
              <a:t>(</a:t>
            </a:r>
            <a:r>
              <a:rPr sz="1750" dirty="0">
                <a:solidFill>
                  <a:srgbClr val="FF1393"/>
                </a:solidFill>
                <a:latin typeface="Consolas"/>
                <a:cs typeface="Consolas"/>
              </a:rPr>
              <a:t>List</a:t>
            </a:r>
            <a:r>
              <a:rPr sz="1750" dirty="0">
                <a:latin typeface="Consolas"/>
                <a:cs typeface="Consolas"/>
              </a:rPr>
              <a:t>.count(</a:t>
            </a:r>
            <a:r>
              <a:rPr sz="1750" dirty="0">
                <a:solidFill>
                  <a:srgbClr val="009900"/>
                </a:solidFill>
                <a:latin typeface="Consolas"/>
                <a:cs typeface="Consolas"/>
              </a:rPr>
              <a:t>1</a:t>
            </a:r>
            <a:r>
              <a:rPr sz="1750" dirty="0">
                <a:latin typeface="Consolas"/>
                <a:cs typeface="Consolas"/>
              </a:rPr>
              <a:t>))</a:t>
            </a:r>
            <a:r>
              <a:rPr sz="1750" spc="-90" dirty="0">
                <a:latin typeface="Consolas"/>
                <a:cs typeface="Consolas"/>
              </a:rPr>
              <a:t> </a:t>
            </a:r>
            <a:r>
              <a:rPr sz="1750" dirty="0">
                <a:solidFill>
                  <a:srgbClr val="009900"/>
                </a:solidFill>
                <a:latin typeface="Consolas"/>
                <a:cs typeface="Consolas"/>
              </a:rPr>
              <a:t>//2  </a:t>
            </a:r>
            <a:r>
              <a:rPr sz="1750" spc="-5" dirty="0">
                <a:solidFill>
                  <a:srgbClr val="FF1393"/>
                </a:solidFill>
                <a:latin typeface="Consolas"/>
                <a:cs typeface="Consolas"/>
              </a:rPr>
              <a:t>print</a:t>
            </a:r>
            <a:r>
              <a:rPr sz="1750" spc="-5" dirty="0">
                <a:latin typeface="Consolas"/>
                <a:cs typeface="Consolas"/>
              </a:rPr>
              <a:t>(</a:t>
            </a:r>
            <a:r>
              <a:rPr sz="1750" spc="-5" dirty="0">
                <a:solidFill>
                  <a:srgbClr val="FF1393"/>
                </a:solidFill>
                <a:latin typeface="Consolas"/>
                <a:cs typeface="Consolas"/>
              </a:rPr>
              <a:t>len</a:t>
            </a:r>
            <a:r>
              <a:rPr sz="1750" spc="-5" dirty="0">
                <a:latin typeface="Consolas"/>
                <a:cs typeface="Consolas"/>
              </a:rPr>
              <a:t>(</a:t>
            </a:r>
            <a:r>
              <a:rPr sz="1750" spc="-5" dirty="0">
                <a:solidFill>
                  <a:srgbClr val="FF1393"/>
                </a:solidFill>
                <a:latin typeface="Consolas"/>
                <a:cs typeface="Consolas"/>
              </a:rPr>
              <a:t>List</a:t>
            </a:r>
            <a:r>
              <a:rPr sz="1750" spc="-5" dirty="0">
                <a:latin typeface="Consolas"/>
                <a:cs typeface="Consolas"/>
              </a:rPr>
              <a:t>)) </a:t>
            </a:r>
            <a:r>
              <a:rPr sz="1750" spc="-5" dirty="0">
                <a:solidFill>
                  <a:srgbClr val="009900"/>
                </a:solidFill>
                <a:latin typeface="Consolas"/>
                <a:cs typeface="Consolas"/>
              </a:rPr>
              <a:t>//6  </a:t>
            </a:r>
            <a:r>
              <a:rPr sz="1750" spc="-5" dirty="0">
                <a:solidFill>
                  <a:srgbClr val="FF1393"/>
                </a:solidFill>
                <a:latin typeface="Consolas"/>
                <a:cs typeface="Consolas"/>
              </a:rPr>
              <a:t>print</a:t>
            </a:r>
            <a:r>
              <a:rPr sz="1750" spc="-5" dirty="0">
                <a:latin typeface="Consolas"/>
                <a:cs typeface="Consolas"/>
              </a:rPr>
              <a:t>(</a:t>
            </a:r>
            <a:r>
              <a:rPr sz="1750" spc="-5" dirty="0">
                <a:solidFill>
                  <a:srgbClr val="FF1393"/>
                </a:solidFill>
                <a:latin typeface="Consolas"/>
                <a:cs typeface="Consolas"/>
              </a:rPr>
              <a:t>min</a:t>
            </a:r>
            <a:r>
              <a:rPr sz="1750" spc="-5" dirty="0">
                <a:latin typeface="Consolas"/>
                <a:cs typeface="Consolas"/>
              </a:rPr>
              <a:t>(</a:t>
            </a:r>
            <a:r>
              <a:rPr sz="1750" spc="-5" dirty="0">
                <a:solidFill>
                  <a:srgbClr val="FF1393"/>
                </a:solidFill>
                <a:latin typeface="Consolas"/>
                <a:cs typeface="Consolas"/>
              </a:rPr>
              <a:t>List</a:t>
            </a:r>
            <a:r>
              <a:rPr sz="1750" spc="-5" dirty="0">
                <a:latin typeface="Consolas"/>
                <a:cs typeface="Consolas"/>
              </a:rPr>
              <a:t>)) </a:t>
            </a:r>
            <a:r>
              <a:rPr sz="1750" spc="-5" dirty="0">
                <a:solidFill>
                  <a:srgbClr val="009900"/>
                </a:solidFill>
                <a:latin typeface="Consolas"/>
                <a:cs typeface="Consolas"/>
              </a:rPr>
              <a:t>//1  </a:t>
            </a:r>
            <a:r>
              <a:rPr sz="1750" spc="-5" dirty="0">
                <a:solidFill>
                  <a:srgbClr val="FF1393"/>
                </a:solidFill>
                <a:latin typeface="Consolas"/>
                <a:cs typeface="Consolas"/>
              </a:rPr>
              <a:t>print</a:t>
            </a:r>
            <a:r>
              <a:rPr sz="1750" spc="-5" dirty="0">
                <a:latin typeface="Consolas"/>
                <a:cs typeface="Consolas"/>
              </a:rPr>
              <a:t>(</a:t>
            </a:r>
            <a:r>
              <a:rPr sz="1750" spc="-5" dirty="0">
                <a:solidFill>
                  <a:srgbClr val="FF1393"/>
                </a:solidFill>
                <a:latin typeface="Consolas"/>
                <a:cs typeface="Consolas"/>
              </a:rPr>
              <a:t>max</a:t>
            </a:r>
            <a:r>
              <a:rPr sz="1750" spc="-5" dirty="0">
                <a:latin typeface="Consolas"/>
                <a:cs typeface="Consolas"/>
              </a:rPr>
              <a:t>(</a:t>
            </a:r>
            <a:r>
              <a:rPr sz="1750" spc="-5" dirty="0">
                <a:solidFill>
                  <a:srgbClr val="FF1393"/>
                </a:solidFill>
                <a:latin typeface="Consolas"/>
                <a:cs typeface="Consolas"/>
              </a:rPr>
              <a:t>List</a:t>
            </a:r>
            <a:r>
              <a:rPr sz="1750" spc="-5" dirty="0">
                <a:latin typeface="Consolas"/>
                <a:cs typeface="Consolas"/>
              </a:rPr>
              <a:t>)) </a:t>
            </a:r>
            <a:r>
              <a:rPr sz="1750" spc="-5" dirty="0">
                <a:solidFill>
                  <a:srgbClr val="009900"/>
                </a:solidFill>
                <a:latin typeface="Consolas"/>
                <a:cs typeface="Consolas"/>
              </a:rPr>
              <a:t>//5</a:t>
            </a:r>
            <a:endParaRPr sz="1750" dirty="0">
              <a:latin typeface="Consolas"/>
              <a:cs typeface="Consolas"/>
            </a:endParaRPr>
          </a:p>
        </p:txBody>
      </p:sp>
      <p:sp>
        <p:nvSpPr>
          <p:cNvPr id="5" name="Rectangle 4"/>
          <p:cNvSpPr/>
          <p:nvPr/>
        </p:nvSpPr>
        <p:spPr>
          <a:xfrm>
            <a:off x="317500" y="5610225"/>
            <a:ext cx="274320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65176" y="5631180"/>
            <a:ext cx="2711196" cy="944879"/>
          </a:xfrm>
          <a:prstGeom prst="rect">
            <a:avLst/>
          </a:prstGeom>
          <a:blipFill>
            <a:blip r:embed="rId2" cstate="print"/>
            <a:stretch>
              <a:fillRect/>
            </a:stretch>
          </a:blipFill>
        </p:spPr>
        <p:txBody>
          <a:bodyPr wrap="square" lIns="0" tIns="0" rIns="0" bIns="0" rtlCol="0"/>
          <a:lstStyle/>
          <a:p>
            <a:endParaRPr dirty="0"/>
          </a:p>
        </p:txBody>
      </p:sp>
      <p:sp>
        <p:nvSpPr>
          <p:cNvPr id="3" name="object 3"/>
          <p:cNvSpPr txBox="1">
            <a:spLocks noGrp="1"/>
          </p:cNvSpPr>
          <p:nvPr>
            <p:ph type="title"/>
          </p:nvPr>
        </p:nvSpPr>
        <p:spPr>
          <a:xfrm>
            <a:off x="802639" y="1354297"/>
            <a:ext cx="6319520" cy="614680"/>
          </a:xfrm>
          <a:prstGeom prst="rect">
            <a:avLst/>
          </a:prstGeom>
        </p:spPr>
        <p:txBody>
          <a:bodyPr vert="horz" wrap="square" lIns="0" tIns="14605" rIns="0" bIns="0" rtlCol="0">
            <a:spAutoFit/>
          </a:bodyPr>
          <a:lstStyle/>
          <a:p>
            <a:pPr marL="12700">
              <a:lnSpc>
                <a:spcPct val="100000"/>
              </a:lnSpc>
              <a:spcBef>
                <a:spcPts val="115"/>
              </a:spcBef>
            </a:pPr>
            <a:r>
              <a:rPr b="0" u="heavy" spc="-955" dirty="0">
                <a:solidFill>
                  <a:srgbClr val="0070BF"/>
                </a:solidFill>
                <a:uFill>
                  <a:solidFill>
                    <a:srgbClr val="0070BF"/>
                  </a:solidFill>
                </a:uFill>
                <a:latin typeface="Times New Roman"/>
                <a:cs typeface="Times New Roman"/>
              </a:rPr>
              <a:t> </a:t>
            </a:r>
            <a:r>
              <a:rPr u="heavy" spc="-5" dirty="0">
                <a:solidFill>
                  <a:srgbClr val="0070BF"/>
                </a:solidFill>
                <a:uFill>
                  <a:solidFill>
                    <a:srgbClr val="0070BF"/>
                  </a:solidFill>
                </a:uFill>
              </a:rPr>
              <a:t>List </a:t>
            </a:r>
            <a:r>
              <a:rPr u="heavy" spc="5" dirty="0">
                <a:solidFill>
                  <a:srgbClr val="0070BF"/>
                </a:solidFill>
                <a:uFill>
                  <a:solidFill>
                    <a:srgbClr val="0070BF"/>
                  </a:solidFill>
                </a:uFill>
              </a:rPr>
              <a:t>Method</a:t>
            </a:r>
            <a:r>
              <a:rPr spc="5" dirty="0">
                <a:solidFill>
                  <a:srgbClr val="0070BF"/>
                </a:solidFill>
              </a:rPr>
              <a:t> – </a:t>
            </a:r>
            <a:r>
              <a:rPr dirty="0"/>
              <a:t>sort(),</a:t>
            </a:r>
            <a:r>
              <a:rPr spc="-45" dirty="0"/>
              <a:t> </a:t>
            </a:r>
            <a:r>
              <a:rPr spc="-10" dirty="0"/>
              <a:t>reverse()</a:t>
            </a:r>
          </a:p>
        </p:txBody>
      </p:sp>
      <p:sp>
        <p:nvSpPr>
          <p:cNvPr id="4" name="object 4"/>
          <p:cNvSpPr txBox="1"/>
          <p:nvPr/>
        </p:nvSpPr>
        <p:spPr>
          <a:xfrm>
            <a:off x="4432300" y="2105025"/>
            <a:ext cx="4921250" cy="443711"/>
          </a:xfrm>
          <a:prstGeom prst="rect">
            <a:avLst/>
          </a:prstGeom>
        </p:spPr>
        <p:txBody>
          <a:bodyPr vert="horz" wrap="square" lIns="0" tIns="12700" rIns="0" bIns="0" rtlCol="0">
            <a:spAutoFit/>
          </a:bodyPr>
          <a:lstStyle/>
          <a:p>
            <a:pPr marL="12700">
              <a:lnSpc>
                <a:spcPct val="100000"/>
              </a:lnSpc>
              <a:spcBef>
                <a:spcPts val="100"/>
              </a:spcBef>
            </a:pPr>
            <a:r>
              <a:rPr sz="2800" spc="-5" dirty="0">
                <a:solidFill>
                  <a:srgbClr val="FF1393"/>
                </a:solidFill>
                <a:cs typeface="Consolas"/>
              </a:rPr>
              <a:t>List </a:t>
            </a:r>
            <a:r>
              <a:rPr sz="2800" b="1" dirty="0">
                <a:solidFill>
                  <a:srgbClr val="006699"/>
                </a:solidFill>
                <a:cs typeface="Consolas"/>
              </a:rPr>
              <a:t>= </a:t>
            </a:r>
            <a:r>
              <a:rPr sz="2800" dirty="0" smtClean="0">
                <a:cs typeface="Consolas"/>
              </a:rPr>
              <a:t>[</a:t>
            </a:r>
            <a:r>
              <a:rPr lang="en-US" sz="2800" dirty="0" smtClean="0"/>
              <a:t>7, 8, 1, -3, 10, 4</a:t>
            </a:r>
            <a:r>
              <a:rPr sz="2800" spc="-5" dirty="0" smtClean="0">
                <a:cs typeface="Consolas"/>
              </a:rPr>
              <a:t>]</a:t>
            </a:r>
            <a:endParaRPr sz="2800" dirty="0">
              <a:cs typeface="Consolas"/>
            </a:endParaRPr>
          </a:p>
        </p:txBody>
      </p:sp>
      <p:sp>
        <p:nvSpPr>
          <p:cNvPr id="5" name="object 5"/>
          <p:cNvSpPr txBox="1"/>
          <p:nvPr/>
        </p:nvSpPr>
        <p:spPr>
          <a:xfrm>
            <a:off x="3517900" y="2867025"/>
            <a:ext cx="6248400" cy="3046988"/>
          </a:xfrm>
          <a:prstGeom prst="rect">
            <a:avLst/>
          </a:prstGeom>
        </p:spPr>
        <p:txBody>
          <a:bodyPr vert="horz" wrap="square" lIns="0" tIns="12700" rIns="0" bIns="0" rtlCol="0">
            <a:spAutoFit/>
          </a:bodyPr>
          <a:lstStyle/>
          <a:p>
            <a:pPr marL="12700" marR="5080">
              <a:spcBef>
                <a:spcPts val="100"/>
              </a:spcBef>
            </a:pPr>
            <a:r>
              <a:rPr sz="2800" dirty="0" smtClean="0">
                <a:cs typeface="Consolas"/>
              </a:rPr>
              <a:t>List.sort()  </a:t>
            </a:r>
            <a:endParaRPr lang="en-US" sz="2800" dirty="0" smtClean="0">
              <a:cs typeface="Consolas"/>
            </a:endParaRPr>
          </a:p>
          <a:p>
            <a:pPr marL="12700" marR="5080">
              <a:spcBef>
                <a:spcPts val="100"/>
              </a:spcBef>
            </a:pPr>
            <a:r>
              <a:rPr sz="2800" dirty="0" smtClean="0">
                <a:cs typeface="Consolas"/>
              </a:rPr>
              <a:t>print(List)</a:t>
            </a:r>
            <a:endParaRPr lang="en-US" sz="2800" dirty="0" smtClean="0">
              <a:cs typeface="Consolas"/>
            </a:endParaRPr>
          </a:p>
          <a:p>
            <a:pPr marL="12700" marR="5080">
              <a:spcBef>
                <a:spcPts val="100"/>
              </a:spcBef>
            </a:pPr>
            <a:r>
              <a:rPr lang="en-US" sz="2800" dirty="0" smtClean="0">
                <a:solidFill>
                  <a:srgbClr val="C00000"/>
                </a:solidFill>
                <a:cs typeface="Consolas"/>
              </a:rPr>
              <a:t>Output:  [-3, 1, 4, 7, 8, 10]</a:t>
            </a:r>
          </a:p>
          <a:p>
            <a:pPr marL="12700">
              <a:spcBef>
                <a:spcPts val="1055"/>
              </a:spcBef>
            </a:pPr>
            <a:r>
              <a:rPr lang="en-US" sz="2800" dirty="0" smtClean="0">
                <a:cs typeface="Consolas"/>
              </a:rPr>
              <a:t>List.sort(reverse=True)  </a:t>
            </a:r>
          </a:p>
          <a:p>
            <a:pPr marL="12700">
              <a:spcBef>
                <a:spcPts val="1055"/>
              </a:spcBef>
            </a:pPr>
            <a:r>
              <a:rPr lang="en-US" sz="2800" dirty="0" smtClean="0">
                <a:cs typeface="Consolas"/>
              </a:rPr>
              <a:t>print(List)</a:t>
            </a:r>
          </a:p>
          <a:p>
            <a:pPr marL="12700">
              <a:spcBef>
                <a:spcPts val="1055"/>
              </a:spcBef>
            </a:pPr>
            <a:r>
              <a:rPr lang="en-US" sz="2800" dirty="0" smtClean="0">
                <a:solidFill>
                  <a:srgbClr val="C00000"/>
                </a:solidFill>
                <a:cs typeface="Consolas"/>
              </a:rPr>
              <a:t>Output:   </a:t>
            </a:r>
            <a:r>
              <a:rPr lang="en-US" sz="2800" dirty="0" smtClean="0">
                <a:solidFill>
                  <a:srgbClr val="C00000"/>
                </a:solidFill>
              </a:rPr>
              <a:t>[10, 8, 7, 4, 1, -3]</a:t>
            </a:r>
            <a:endParaRPr lang="en-US" sz="2800" dirty="0">
              <a:solidFill>
                <a:srgbClr val="C00000"/>
              </a:solidFill>
              <a:cs typeface="Consolas"/>
            </a:endParaRPr>
          </a:p>
        </p:txBody>
      </p:sp>
      <p:sp>
        <p:nvSpPr>
          <p:cNvPr id="8" name="Rectangle 7"/>
          <p:cNvSpPr/>
          <p:nvPr/>
        </p:nvSpPr>
        <p:spPr>
          <a:xfrm>
            <a:off x="317500" y="5610225"/>
            <a:ext cx="274320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65176" y="5631180"/>
            <a:ext cx="2711196" cy="944879"/>
          </a:xfrm>
          <a:prstGeom prst="rect">
            <a:avLst/>
          </a:prstGeom>
          <a:blipFill>
            <a:blip r:embed="rId2" cstate="print"/>
            <a:stretch>
              <a:fillRect/>
            </a:stretch>
          </a:blipFill>
        </p:spPr>
        <p:txBody>
          <a:bodyPr wrap="square" lIns="0" tIns="0" rIns="0" bIns="0" rtlCol="0"/>
          <a:lstStyle/>
          <a:p>
            <a:endParaRPr dirty="0"/>
          </a:p>
        </p:txBody>
      </p:sp>
      <p:sp>
        <p:nvSpPr>
          <p:cNvPr id="3" name="object 3"/>
          <p:cNvSpPr txBox="1">
            <a:spLocks noGrp="1"/>
          </p:cNvSpPr>
          <p:nvPr>
            <p:ph type="title"/>
          </p:nvPr>
        </p:nvSpPr>
        <p:spPr>
          <a:xfrm>
            <a:off x="802639" y="1354297"/>
            <a:ext cx="7517130" cy="614680"/>
          </a:xfrm>
          <a:prstGeom prst="rect">
            <a:avLst/>
          </a:prstGeom>
        </p:spPr>
        <p:txBody>
          <a:bodyPr vert="horz" wrap="square" lIns="0" tIns="14605" rIns="0" bIns="0" rtlCol="0">
            <a:spAutoFit/>
          </a:bodyPr>
          <a:lstStyle/>
          <a:p>
            <a:pPr marL="12700">
              <a:lnSpc>
                <a:spcPct val="100000"/>
              </a:lnSpc>
              <a:spcBef>
                <a:spcPts val="115"/>
              </a:spcBef>
            </a:pPr>
            <a:r>
              <a:rPr b="0" u="heavy" spc="-955" dirty="0">
                <a:solidFill>
                  <a:srgbClr val="0070BF"/>
                </a:solidFill>
                <a:uFill>
                  <a:solidFill>
                    <a:srgbClr val="0070BF"/>
                  </a:solidFill>
                </a:uFill>
                <a:latin typeface="Times New Roman"/>
                <a:cs typeface="Times New Roman"/>
              </a:rPr>
              <a:t> </a:t>
            </a:r>
            <a:r>
              <a:rPr u="heavy" spc="-5" dirty="0">
                <a:solidFill>
                  <a:srgbClr val="0070BF"/>
                </a:solidFill>
                <a:uFill>
                  <a:solidFill>
                    <a:srgbClr val="0070BF"/>
                  </a:solidFill>
                </a:uFill>
              </a:rPr>
              <a:t>List </a:t>
            </a:r>
            <a:r>
              <a:rPr u="heavy" spc="5" dirty="0">
                <a:solidFill>
                  <a:srgbClr val="0070BF"/>
                </a:solidFill>
                <a:uFill>
                  <a:solidFill>
                    <a:srgbClr val="0070BF"/>
                  </a:solidFill>
                </a:uFill>
              </a:rPr>
              <a:t>Method</a:t>
            </a:r>
            <a:r>
              <a:rPr spc="5" dirty="0">
                <a:solidFill>
                  <a:srgbClr val="0070BF"/>
                </a:solidFill>
              </a:rPr>
              <a:t> – </a:t>
            </a:r>
            <a:r>
              <a:rPr spc="5" dirty="0"/>
              <a:t>pop(), </a:t>
            </a:r>
            <a:r>
              <a:rPr dirty="0"/>
              <a:t>del(),</a:t>
            </a:r>
            <a:r>
              <a:rPr spc="-135" dirty="0"/>
              <a:t> </a:t>
            </a:r>
            <a:r>
              <a:rPr spc="-5" dirty="0"/>
              <a:t>remove()</a:t>
            </a:r>
          </a:p>
        </p:txBody>
      </p:sp>
      <p:sp>
        <p:nvSpPr>
          <p:cNvPr id="4" name="object 4"/>
          <p:cNvSpPr txBox="1"/>
          <p:nvPr/>
        </p:nvSpPr>
        <p:spPr>
          <a:xfrm>
            <a:off x="804196" y="2070705"/>
            <a:ext cx="8535670" cy="1467485"/>
          </a:xfrm>
          <a:prstGeom prst="rect">
            <a:avLst/>
          </a:prstGeom>
        </p:spPr>
        <p:txBody>
          <a:bodyPr vert="horz" wrap="square" lIns="0" tIns="12065" rIns="0" bIns="0" rtlCol="0">
            <a:spAutoFit/>
          </a:bodyPr>
          <a:lstStyle/>
          <a:p>
            <a:pPr marL="12700" marR="5080">
              <a:lnSpc>
                <a:spcPct val="150200"/>
              </a:lnSpc>
              <a:spcBef>
                <a:spcPts val="95"/>
              </a:spcBef>
            </a:pPr>
            <a:r>
              <a:rPr sz="2100" b="1" spc="-5" dirty="0">
                <a:latin typeface="Times New Roman"/>
                <a:cs typeface="Times New Roman"/>
              </a:rPr>
              <a:t>pop(): </a:t>
            </a:r>
            <a:r>
              <a:rPr sz="2100" dirty="0">
                <a:latin typeface="Times New Roman"/>
                <a:cs typeface="Times New Roman"/>
              </a:rPr>
              <a:t>Index is </a:t>
            </a:r>
            <a:r>
              <a:rPr sz="2100" spc="5" dirty="0">
                <a:latin typeface="Times New Roman"/>
                <a:cs typeface="Times New Roman"/>
              </a:rPr>
              <a:t>not </a:t>
            </a:r>
            <a:r>
              <a:rPr sz="2100" dirty="0">
                <a:latin typeface="Times New Roman"/>
                <a:cs typeface="Times New Roman"/>
              </a:rPr>
              <a:t>a necessary </a:t>
            </a:r>
            <a:r>
              <a:rPr sz="2100" spc="-15" dirty="0">
                <a:latin typeface="Times New Roman"/>
                <a:cs typeface="Times New Roman"/>
              </a:rPr>
              <a:t>parameter, </a:t>
            </a:r>
            <a:r>
              <a:rPr sz="2100" dirty="0">
                <a:latin typeface="Times New Roman"/>
                <a:cs typeface="Times New Roman"/>
              </a:rPr>
              <a:t>if not mentioned takes the last </a:t>
            </a:r>
            <a:r>
              <a:rPr sz="2100" spc="5" dirty="0">
                <a:latin typeface="Times New Roman"/>
                <a:cs typeface="Times New Roman"/>
              </a:rPr>
              <a:t>index.  </a:t>
            </a:r>
            <a:r>
              <a:rPr sz="2100" b="1" spc="-5" dirty="0">
                <a:latin typeface="Times New Roman"/>
                <a:cs typeface="Times New Roman"/>
              </a:rPr>
              <a:t>del() </a:t>
            </a:r>
            <a:r>
              <a:rPr sz="2100" b="1" dirty="0">
                <a:latin typeface="Times New Roman"/>
                <a:cs typeface="Times New Roman"/>
              </a:rPr>
              <a:t>: </a:t>
            </a:r>
            <a:r>
              <a:rPr sz="2100" spc="-5" dirty="0">
                <a:latin typeface="Times New Roman"/>
                <a:cs typeface="Times New Roman"/>
              </a:rPr>
              <a:t>Element </a:t>
            </a:r>
            <a:r>
              <a:rPr sz="2100" dirty="0">
                <a:latin typeface="Times New Roman"/>
                <a:cs typeface="Times New Roman"/>
              </a:rPr>
              <a:t>to be deleted is </a:t>
            </a:r>
            <a:r>
              <a:rPr sz="2100" spc="-5" dirty="0">
                <a:latin typeface="Times New Roman"/>
                <a:cs typeface="Times New Roman"/>
              </a:rPr>
              <a:t>mentioned </a:t>
            </a:r>
            <a:r>
              <a:rPr sz="2100" dirty="0">
                <a:latin typeface="Times New Roman"/>
                <a:cs typeface="Times New Roman"/>
              </a:rPr>
              <a:t>using list </a:t>
            </a:r>
            <a:r>
              <a:rPr sz="2100" spc="-5" dirty="0">
                <a:latin typeface="Times New Roman"/>
                <a:cs typeface="Times New Roman"/>
              </a:rPr>
              <a:t>name </a:t>
            </a:r>
            <a:r>
              <a:rPr sz="2100" dirty="0">
                <a:latin typeface="Times New Roman"/>
                <a:cs typeface="Times New Roman"/>
              </a:rPr>
              <a:t>and </a:t>
            </a:r>
            <a:r>
              <a:rPr sz="2100" spc="5" dirty="0">
                <a:latin typeface="Times New Roman"/>
                <a:cs typeface="Times New Roman"/>
              </a:rPr>
              <a:t>index.  </a:t>
            </a:r>
            <a:r>
              <a:rPr sz="2100" b="1" spc="-5" dirty="0">
                <a:latin typeface="Times New Roman"/>
                <a:cs typeface="Times New Roman"/>
              </a:rPr>
              <a:t>remove(): </a:t>
            </a:r>
            <a:r>
              <a:rPr sz="2100" spc="-5" dirty="0">
                <a:latin typeface="Times New Roman"/>
                <a:cs typeface="Times New Roman"/>
              </a:rPr>
              <a:t>Element </a:t>
            </a:r>
            <a:r>
              <a:rPr sz="2100" dirty="0">
                <a:latin typeface="Times New Roman"/>
                <a:cs typeface="Times New Roman"/>
              </a:rPr>
              <a:t>to be deleted is </a:t>
            </a:r>
            <a:r>
              <a:rPr sz="2100" spc="-5" dirty="0">
                <a:latin typeface="Times New Roman"/>
                <a:cs typeface="Times New Roman"/>
              </a:rPr>
              <a:t>mentioned </a:t>
            </a:r>
            <a:r>
              <a:rPr sz="2100" dirty="0">
                <a:latin typeface="Times New Roman"/>
                <a:cs typeface="Times New Roman"/>
              </a:rPr>
              <a:t>using list </a:t>
            </a:r>
            <a:r>
              <a:rPr sz="2100" spc="-5" dirty="0">
                <a:latin typeface="Times New Roman"/>
                <a:cs typeface="Times New Roman"/>
              </a:rPr>
              <a:t>name </a:t>
            </a:r>
            <a:r>
              <a:rPr sz="2100" dirty="0">
                <a:latin typeface="Times New Roman"/>
                <a:cs typeface="Times New Roman"/>
              </a:rPr>
              <a:t>and</a:t>
            </a:r>
            <a:r>
              <a:rPr sz="2100" spc="-60" dirty="0">
                <a:latin typeface="Times New Roman"/>
                <a:cs typeface="Times New Roman"/>
              </a:rPr>
              <a:t> </a:t>
            </a:r>
            <a:r>
              <a:rPr sz="2100" spc="-5" dirty="0">
                <a:latin typeface="Times New Roman"/>
                <a:cs typeface="Times New Roman"/>
              </a:rPr>
              <a:t>element.</a:t>
            </a:r>
            <a:endParaRPr sz="2100" dirty="0">
              <a:latin typeface="Times New Roman"/>
              <a:cs typeface="Times New Roman"/>
            </a:endParaRPr>
          </a:p>
        </p:txBody>
      </p:sp>
      <p:sp>
        <p:nvSpPr>
          <p:cNvPr id="5" name="object 5"/>
          <p:cNvSpPr txBox="1"/>
          <p:nvPr/>
        </p:nvSpPr>
        <p:spPr>
          <a:xfrm>
            <a:off x="3344630" y="5932432"/>
            <a:ext cx="2595880" cy="292735"/>
          </a:xfrm>
          <a:prstGeom prst="rect">
            <a:avLst/>
          </a:prstGeom>
        </p:spPr>
        <p:txBody>
          <a:bodyPr vert="horz" wrap="square" lIns="0" tIns="12700" rIns="0" bIns="0" rtlCol="0">
            <a:spAutoFit/>
          </a:bodyPr>
          <a:lstStyle/>
          <a:p>
            <a:pPr marL="12700">
              <a:lnSpc>
                <a:spcPct val="100000"/>
              </a:lnSpc>
              <a:spcBef>
                <a:spcPts val="100"/>
              </a:spcBef>
            </a:pPr>
            <a:r>
              <a:rPr sz="1750" dirty="0">
                <a:solidFill>
                  <a:srgbClr val="FF1393"/>
                </a:solidFill>
                <a:latin typeface="Consolas"/>
                <a:cs typeface="Consolas"/>
              </a:rPr>
              <a:t>pr</a:t>
            </a:r>
            <a:r>
              <a:rPr sz="1750" spc="-20" dirty="0">
                <a:solidFill>
                  <a:srgbClr val="FF1393"/>
                </a:solidFill>
                <a:latin typeface="Consolas"/>
                <a:cs typeface="Consolas"/>
              </a:rPr>
              <a:t>i</a:t>
            </a:r>
            <a:r>
              <a:rPr sz="1750" spc="15" dirty="0">
                <a:solidFill>
                  <a:srgbClr val="FF1393"/>
                </a:solidFill>
                <a:latin typeface="Consolas"/>
                <a:cs typeface="Consolas"/>
              </a:rPr>
              <a:t>n</a:t>
            </a:r>
            <a:r>
              <a:rPr sz="1750" spc="-10" dirty="0">
                <a:solidFill>
                  <a:srgbClr val="FF1393"/>
                </a:solidFill>
                <a:latin typeface="Consolas"/>
                <a:cs typeface="Consolas"/>
              </a:rPr>
              <a:t>t</a:t>
            </a:r>
            <a:r>
              <a:rPr sz="1750" spc="5" dirty="0">
                <a:latin typeface="Consolas"/>
                <a:cs typeface="Consolas"/>
              </a:rPr>
              <a:t>(</a:t>
            </a:r>
            <a:r>
              <a:rPr sz="1750" dirty="0">
                <a:solidFill>
                  <a:srgbClr val="FF1393"/>
                </a:solidFill>
                <a:latin typeface="Consolas"/>
                <a:cs typeface="Consolas"/>
              </a:rPr>
              <a:t>Lis</a:t>
            </a:r>
            <a:r>
              <a:rPr sz="1750" spc="-5" dirty="0">
                <a:solidFill>
                  <a:srgbClr val="FF1393"/>
                </a:solidFill>
                <a:latin typeface="Consolas"/>
                <a:cs typeface="Consolas"/>
              </a:rPr>
              <a:t>t</a:t>
            </a:r>
            <a:r>
              <a:rPr sz="1750" dirty="0">
                <a:latin typeface="Consolas"/>
                <a:cs typeface="Consolas"/>
              </a:rPr>
              <a:t>.remove(3))</a:t>
            </a:r>
          </a:p>
        </p:txBody>
      </p:sp>
      <p:sp>
        <p:nvSpPr>
          <p:cNvPr id="6" name="object 6"/>
          <p:cNvSpPr/>
          <p:nvPr/>
        </p:nvSpPr>
        <p:spPr>
          <a:xfrm>
            <a:off x="6030455" y="4415027"/>
            <a:ext cx="3508375" cy="1092835"/>
          </a:xfrm>
          <a:custGeom>
            <a:avLst/>
            <a:gdLst/>
            <a:ahLst/>
            <a:cxnLst/>
            <a:rect l="l" t="t" r="r" b="b"/>
            <a:pathLst>
              <a:path w="3508375" h="1092835">
                <a:moveTo>
                  <a:pt x="387108" y="367284"/>
                </a:moveTo>
                <a:lnTo>
                  <a:pt x="15240" y="367284"/>
                </a:lnTo>
                <a:lnTo>
                  <a:pt x="15240" y="716280"/>
                </a:lnTo>
                <a:lnTo>
                  <a:pt x="387108" y="716280"/>
                </a:lnTo>
                <a:lnTo>
                  <a:pt x="387108" y="367284"/>
                </a:lnTo>
                <a:close/>
              </a:path>
              <a:path w="3508375" h="1092835">
                <a:moveTo>
                  <a:pt x="431304" y="0"/>
                </a:moveTo>
                <a:lnTo>
                  <a:pt x="15240" y="0"/>
                </a:lnTo>
                <a:lnTo>
                  <a:pt x="15240" y="348996"/>
                </a:lnTo>
                <a:lnTo>
                  <a:pt x="431304" y="348996"/>
                </a:lnTo>
                <a:lnTo>
                  <a:pt x="431304" y="0"/>
                </a:lnTo>
                <a:close/>
              </a:path>
              <a:path w="3508375" h="1092835">
                <a:moveTo>
                  <a:pt x="3508260" y="743712"/>
                </a:moveTo>
                <a:lnTo>
                  <a:pt x="0" y="743712"/>
                </a:lnTo>
                <a:lnTo>
                  <a:pt x="0" y="1092708"/>
                </a:lnTo>
                <a:lnTo>
                  <a:pt x="3508260" y="1092708"/>
                </a:lnTo>
                <a:lnTo>
                  <a:pt x="3508260" y="743712"/>
                </a:lnTo>
                <a:close/>
              </a:path>
            </a:pathLst>
          </a:custGeom>
          <a:solidFill>
            <a:srgbClr val="DFDFDF"/>
          </a:solidFill>
        </p:spPr>
        <p:txBody>
          <a:bodyPr wrap="square" lIns="0" tIns="0" rIns="0" bIns="0" rtlCol="0"/>
          <a:lstStyle/>
          <a:p>
            <a:endParaRPr dirty="0"/>
          </a:p>
        </p:txBody>
      </p:sp>
      <p:graphicFrame>
        <p:nvGraphicFramePr>
          <p:cNvPr id="7" name="object 7"/>
          <p:cNvGraphicFramePr>
            <a:graphicFrameLocks noGrp="1"/>
          </p:cNvGraphicFramePr>
          <p:nvPr/>
        </p:nvGraphicFramePr>
        <p:xfrm>
          <a:off x="3325580" y="3998332"/>
          <a:ext cx="6214109" cy="1825768"/>
        </p:xfrm>
        <a:graphic>
          <a:graphicData uri="http://schemas.openxmlformats.org/drawingml/2006/table">
            <a:tbl>
              <a:tblPr firstRow="1" bandRow="1">
                <a:tableStyleId>{2D5ABB26-0587-4C30-8999-92F81FD0307C}</a:tableStyleId>
              </a:tblPr>
              <a:tblGrid>
                <a:gridCol w="2418715"/>
                <a:gridCol w="3163569"/>
                <a:gridCol w="631825"/>
              </a:tblGrid>
              <a:tr h="416695">
                <a:tc>
                  <a:txBody>
                    <a:bodyPr/>
                    <a:lstStyle/>
                    <a:p>
                      <a:pPr marL="31750">
                        <a:lnSpc>
                          <a:spcPts val="1650"/>
                        </a:lnSpc>
                      </a:pPr>
                      <a:r>
                        <a:rPr sz="1750" spc="-5" dirty="0">
                          <a:solidFill>
                            <a:srgbClr val="FF1393"/>
                          </a:solidFill>
                          <a:latin typeface="Consolas"/>
                          <a:cs typeface="Consolas"/>
                        </a:rPr>
                        <a:t>List </a:t>
                      </a:r>
                      <a:r>
                        <a:rPr sz="1750" b="1" dirty="0">
                          <a:solidFill>
                            <a:srgbClr val="006699"/>
                          </a:solidFill>
                          <a:latin typeface="Consolas"/>
                          <a:cs typeface="Consolas"/>
                        </a:rPr>
                        <a:t>= </a:t>
                      </a:r>
                      <a:r>
                        <a:rPr sz="1750" dirty="0">
                          <a:latin typeface="Consolas"/>
                          <a:cs typeface="Consolas"/>
                        </a:rPr>
                        <a:t>[</a:t>
                      </a:r>
                      <a:r>
                        <a:rPr sz="1750" dirty="0">
                          <a:solidFill>
                            <a:srgbClr val="009900"/>
                          </a:solidFill>
                          <a:latin typeface="Consolas"/>
                          <a:cs typeface="Consolas"/>
                        </a:rPr>
                        <a:t>2.3</a:t>
                      </a:r>
                      <a:r>
                        <a:rPr sz="1750" dirty="0">
                          <a:latin typeface="Consolas"/>
                          <a:cs typeface="Consolas"/>
                        </a:rPr>
                        <a:t>,</a:t>
                      </a:r>
                      <a:r>
                        <a:rPr sz="1750" spc="-50" dirty="0">
                          <a:latin typeface="Consolas"/>
                          <a:cs typeface="Consolas"/>
                        </a:rPr>
                        <a:t> </a:t>
                      </a:r>
                      <a:r>
                        <a:rPr sz="1750" dirty="0">
                          <a:solidFill>
                            <a:srgbClr val="009900"/>
                          </a:solidFill>
                          <a:latin typeface="Consolas"/>
                          <a:cs typeface="Consolas"/>
                        </a:rPr>
                        <a:t>4.445</a:t>
                      </a:r>
                      <a:r>
                        <a:rPr sz="1750" dirty="0">
                          <a:latin typeface="Consolas"/>
                          <a:cs typeface="Consolas"/>
                        </a:rPr>
                        <a:t>,</a:t>
                      </a:r>
                    </a:p>
                  </a:txBody>
                  <a:tcPr marL="0" marR="0" marT="0" marB="0">
                    <a:solidFill>
                      <a:srgbClr val="FFFFFF"/>
                    </a:solidFill>
                  </a:tcPr>
                </a:tc>
                <a:tc>
                  <a:txBody>
                    <a:bodyPr/>
                    <a:lstStyle/>
                    <a:p>
                      <a:pPr marL="60325">
                        <a:lnSpc>
                          <a:spcPts val="1650"/>
                        </a:lnSpc>
                      </a:pPr>
                      <a:r>
                        <a:rPr sz="1750" dirty="0">
                          <a:solidFill>
                            <a:srgbClr val="009900"/>
                          </a:solidFill>
                          <a:latin typeface="Consolas"/>
                          <a:cs typeface="Consolas"/>
                        </a:rPr>
                        <a:t>3</a:t>
                      </a:r>
                      <a:r>
                        <a:rPr sz="1750" dirty="0">
                          <a:latin typeface="Consolas"/>
                          <a:cs typeface="Consolas"/>
                        </a:rPr>
                        <a:t>, </a:t>
                      </a:r>
                      <a:r>
                        <a:rPr sz="1750" dirty="0">
                          <a:solidFill>
                            <a:srgbClr val="009900"/>
                          </a:solidFill>
                          <a:latin typeface="Consolas"/>
                          <a:cs typeface="Consolas"/>
                        </a:rPr>
                        <a:t>5.33</a:t>
                      </a:r>
                      <a:r>
                        <a:rPr sz="1750" dirty="0">
                          <a:latin typeface="Consolas"/>
                          <a:cs typeface="Consolas"/>
                        </a:rPr>
                        <a:t>, </a:t>
                      </a:r>
                      <a:r>
                        <a:rPr sz="1750" dirty="0">
                          <a:solidFill>
                            <a:srgbClr val="009900"/>
                          </a:solidFill>
                          <a:latin typeface="Consolas"/>
                          <a:cs typeface="Consolas"/>
                        </a:rPr>
                        <a:t>1.054</a:t>
                      </a:r>
                      <a:r>
                        <a:rPr sz="1750" dirty="0">
                          <a:latin typeface="Consolas"/>
                          <a:cs typeface="Consolas"/>
                        </a:rPr>
                        <a:t>,</a:t>
                      </a:r>
                      <a:r>
                        <a:rPr sz="1750" spc="-30" dirty="0">
                          <a:latin typeface="Consolas"/>
                          <a:cs typeface="Consolas"/>
                        </a:rPr>
                        <a:t> </a:t>
                      </a:r>
                      <a:r>
                        <a:rPr sz="1750" spc="-5" dirty="0">
                          <a:solidFill>
                            <a:srgbClr val="009900"/>
                          </a:solidFill>
                          <a:latin typeface="Consolas"/>
                          <a:cs typeface="Consolas"/>
                        </a:rPr>
                        <a:t>2.5</a:t>
                      </a:r>
                      <a:r>
                        <a:rPr sz="1750" spc="-5" dirty="0">
                          <a:latin typeface="Consolas"/>
                          <a:cs typeface="Consolas"/>
                        </a:rPr>
                        <a:t>]</a:t>
                      </a:r>
                      <a:endParaRPr sz="1750" dirty="0">
                        <a:latin typeface="Consolas"/>
                        <a:cs typeface="Consolas"/>
                      </a:endParaRPr>
                    </a:p>
                  </a:txBody>
                  <a:tcPr marL="0" marR="0" marT="0" marB="0">
                    <a:solidFill>
                      <a:srgbClr val="FFFFFF"/>
                    </a:solidFill>
                  </a:tcPr>
                </a:tc>
                <a:tc rowSpan="3">
                  <a:txBody>
                    <a:bodyPr/>
                    <a:lstStyle/>
                    <a:p>
                      <a:pPr>
                        <a:lnSpc>
                          <a:spcPct val="100000"/>
                        </a:lnSpc>
                      </a:pPr>
                      <a:endParaRPr sz="2000" dirty="0">
                        <a:latin typeface="Times New Roman"/>
                        <a:cs typeface="Times New Roman"/>
                      </a:endParaRPr>
                    </a:p>
                  </a:txBody>
                  <a:tcPr marL="0" marR="0" marT="0" marB="0">
                    <a:solidFill>
                      <a:srgbClr val="FFFFFF"/>
                    </a:solidFill>
                  </a:tcPr>
                </a:tc>
              </a:tr>
              <a:tr h="358140">
                <a:tc>
                  <a:txBody>
                    <a:bodyPr/>
                    <a:lstStyle/>
                    <a:p>
                      <a:pPr marL="31750">
                        <a:lnSpc>
                          <a:spcPts val="1525"/>
                        </a:lnSpc>
                      </a:pPr>
                      <a:r>
                        <a:rPr sz="1750" dirty="0">
                          <a:solidFill>
                            <a:srgbClr val="FF1393"/>
                          </a:solidFill>
                          <a:latin typeface="Consolas"/>
                          <a:cs typeface="Consolas"/>
                        </a:rPr>
                        <a:t>print</a:t>
                      </a:r>
                      <a:r>
                        <a:rPr sz="1750" dirty="0">
                          <a:latin typeface="Consolas"/>
                          <a:cs typeface="Consolas"/>
                        </a:rPr>
                        <a:t>(</a:t>
                      </a:r>
                      <a:r>
                        <a:rPr sz="1750" dirty="0">
                          <a:solidFill>
                            <a:srgbClr val="FF1393"/>
                          </a:solidFill>
                          <a:latin typeface="Consolas"/>
                          <a:cs typeface="Consolas"/>
                        </a:rPr>
                        <a:t>List</a:t>
                      </a:r>
                      <a:r>
                        <a:rPr sz="1750" dirty="0">
                          <a:latin typeface="Consolas"/>
                          <a:cs typeface="Consolas"/>
                        </a:rPr>
                        <a:t>.pop())</a:t>
                      </a:r>
                    </a:p>
                  </a:txBody>
                  <a:tcPr marL="0" marR="0" marT="0" marB="0">
                    <a:solidFill>
                      <a:srgbClr val="FFFFFF"/>
                    </a:solidFill>
                  </a:tcPr>
                </a:tc>
                <a:tc>
                  <a:txBody>
                    <a:bodyPr/>
                    <a:lstStyle/>
                    <a:p>
                      <a:pPr marL="302895">
                        <a:lnSpc>
                          <a:spcPts val="2030"/>
                        </a:lnSpc>
                      </a:pPr>
                      <a:r>
                        <a:rPr sz="1750" dirty="0">
                          <a:latin typeface="Consolas"/>
                          <a:cs typeface="Consolas"/>
                        </a:rPr>
                        <a:t>2.5</a:t>
                      </a:r>
                    </a:p>
                  </a:txBody>
                  <a:tcPr marL="0" marR="0" marT="0" marB="0"/>
                </a:tc>
                <a:tc vMerge="1">
                  <a:txBody>
                    <a:bodyPr/>
                    <a:lstStyle/>
                    <a:p>
                      <a:endParaRPr/>
                    </a:p>
                  </a:txBody>
                  <a:tcPr marL="0" marR="0" marT="0" marB="0">
                    <a:solidFill>
                      <a:srgbClr val="FFFFFF"/>
                    </a:solidFill>
                  </a:tcPr>
                </a:tc>
              </a:tr>
              <a:tr h="371855">
                <a:tc>
                  <a:txBody>
                    <a:bodyPr/>
                    <a:lstStyle/>
                    <a:p>
                      <a:pPr marL="31750">
                        <a:lnSpc>
                          <a:spcPts val="1860"/>
                        </a:lnSpc>
                      </a:pPr>
                      <a:r>
                        <a:rPr sz="1750" dirty="0">
                          <a:solidFill>
                            <a:srgbClr val="FF1393"/>
                          </a:solidFill>
                          <a:latin typeface="Consolas"/>
                          <a:cs typeface="Consolas"/>
                        </a:rPr>
                        <a:t>print</a:t>
                      </a:r>
                      <a:r>
                        <a:rPr sz="1750" dirty="0">
                          <a:latin typeface="Consolas"/>
                          <a:cs typeface="Consolas"/>
                        </a:rPr>
                        <a:t>(</a:t>
                      </a:r>
                      <a:r>
                        <a:rPr sz="1750" dirty="0">
                          <a:solidFill>
                            <a:srgbClr val="FF1393"/>
                          </a:solidFill>
                          <a:latin typeface="Consolas"/>
                          <a:cs typeface="Consolas"/>
                        </a:rPr>
                        <a:t>List</a:t>
                      </a:r>
                      <a:r>
                        <a:rPr sz="1750" dirty="0">
                          <a:latin typeface="Consolas"/>
                          <a:cs typeface="Consolas"/>
                        </a:rPr>
                        <a:t>.pop(0))</a:t>
                      </a:r>
                    </a:p>
                  </a:txBody>
                  <a:tcPr marL="0" marR="0" marT="0" marB="0">
                    <a:solidFill>
                      <a:srgbClr val="FFFFFF"/>
                    </a:solidFill>
                  </a:tcPr>
                </a:tc>
                <a:tc>
                  <a:txBody>
                    <a:bodyPr/>
                    <a:lstStyle/>
                    <a:p>
                      <a:pPr marL="302895">
                        <a:lnSpc>
                          <a:spcPct val="100000"/>
                        </a:lnSpc>
                      </a:pPr>
                      <a:r>
                        <a:rPr sz="1750" dirty="0">
                          <a:latin typeface="Consolas"/>
                          <a:cs typeface="Consolas"/>
                        </a:rPr>
                        <a:t>2.3</a:t>
                      </a:r>
                    </a:p>
                  </a:txBody>
                  <a:tcPr marL="0" marR="0" marT="0" marB="0"/>
                </a:tc>
                <a:tc vMerge="1">
                  <a:txBody>
                    <a:bodyPr/>
                    <a:lstStyle/>
                    <a:p>
                      <a:endParaRPr/>
                    </a:p>
                  </a:txBody>
                  <a:tcPr marL="0" marR="0" marT="0" marB="0">
                    <a:solidFill>
                      <a:srgbClr val="FFFFFF"/>
                    </a:solidFill>
                  </a:tcPr>
                </a:tc>
              </a:tr>
              <a:tr h="362712">
                <a:tc>
                  <a:txBody>
                    <a:bodyPr/>
                    <a:lstStyle/>
                    <a:p>
                      <a:pPr marL="31750">
                        <a:lnSpc>
                          <a:spcPts val="2090"/>
                        </a:lnSpc>
                      </a:pPr>
                      <a:r>
                        <a:rPr sz="1750" b="1" dirty="0">
                          <a:solidFill>
                            <a:srgbClr val="006699"/>
                          </a:solidFill>
                          <a:latin typeface="Consolas"/>
                          <a:cs typeface="Consolas"/>
                        </a:rPr>
                        <a:t>del</a:t>
                      </a:r>
                      <a:r>
                        <a:rPr sz="1750" b="1" spc="-15" dirty="0">
                          <a:solidFill>
                            <a:srgbClr val="006699"/>
                          </a:solidFill>
                          <a:latin typeface="Consolas"/>
                          <a:cs typeface="Consolas"/>
                        </a:rPr>
                        <a:t> </a:t>
                      </a:r>
                      <a:r>
                        <a:rPr sz="1750" dirty="0">
                          <a:solidFill>
                            <a:srgbClr val="FF1393"/>
                          </a:solidFill>
                          <a:latin typeface="Consolas"/>
                          <a:cs typeface="Consolas"/>
                        </a:rPr>
                        <a:t>List</a:t>
                      </a:r>
                      <a:r>
                        <a:rPr sz="1750" dirty="0">
                          <a:latin typeface="Consolas"/>
                          <a:cs typeface="Consolas"/>
                        </a:rPr>
                        <a:t>[</a:t>
                      </a:r>
                      <a:r>
                        <a:rPr sz="1750" dirty="0">
                          <a:solidFill>
                            <a:srgbClr val="009900"/>
                          </a:solidFill>
                          <a:latin typeface="Consolas"/>
                          <a:cs typeface="Consolas"/>
                        </a:rPr>
                        <a:t>0</a:t>
                      </a:r>
                      <a:r>
                        <a:rPr sz="1750" dirty="0">
                          <a:latin typeface="Consolas"/>
                          <a:cs typeface="Consolas"/>
                        </a:rPr>
                        <a:t>]</a:t>
                      </a:r>
                    </a:p>
                  </a:txBody>
                  <a:tcPr marL="0" marR="0" marT="0" marB="0">
                    <a:solidFill>
                      <a:srgbClr val="FFFFFF"/>
                    </a:solidFill>
                  </a:tcPr>
                </a:tc>
                <a:tc>
                  <a:txBody>
                    <a:bodyPr/>
                    <a:lstStyle/>
                    <a:p>
                      <a:pPr marL="285750">
                        <a:lnSpc>
                          <a:spcPct val="100000"/>
                        </a:lnSpc>
                        <a:spcBef>
                          <a:spcPts val="35"/>
                        </a:spcBef>
                      </a:pPr>
                      <a:r>
                        <a:rPr sz="1750" spc="-5" dirty="0">
                          <a:latin typeface="Consolas"/>
                          <a:cs typeface="Consolas"/>
                        </a:rPr>
                        <a:t>[4.445, </a:t>
                      </a:r>
                      <a:r>
                        <a:rPr sz="1750" dirty="0">
                          <a:latin typeface="Consolas"/>
                          <a:cs typeface="Consolas"/>
                        </a:rPr>
                        <a:t>3, </a:t>
                      </a:r>
                      <a:r>
                        <a:rPr sz="1750" spc="-5" dirty="0">
                          <a:latin typeface="Consolas"/>
                          <a:cs typeface="Consolas"/>
                        </a:rPr>
                        <a:t>5.33,</a:t>
                      </a:r>
                      <a:r>
                        <a:rPr sz="1750" spc="5" dirty="0">
                          <a:latin typeface="Consolas"/>
                          <a:cs typeface="Consolas"/>
                        </a:rPr>
                        <a:t> </a:t>
                      </a:r>
                      <a:r>
                        <a:rPr sz="1750" spc="-5" dirty="0">
                          <a:latin typeface="Consolas"/>
                          <a:cs typeface="Consolas"/>
                        </a:rPr>
                        <a:t>1.054,</a:t>
                      </a:r>
                      <a:endParaRPr sz="1750" dirty="0">
                        <a:latin typeface="Consolas"/>
                        <a:cs typeface="Consolas"/>
                      </a:endParaRPr>
                    </a:p>
                  </a:txBody>
                  <a:tcPr marL="0" marR="0" marT="4445" marB="0">
                    <a:solidFill>
                      <a:srgbClr val="DFDFDF"/>
                    </a:solidFill>
                  </a:tcPr>
                </a:tc>
                <a:tc>
                  <a:txBody>
                    <a:bodyPr/>
                    <a:lstStyle/>
                    <a:p>
                      <a:pPr marL="62230">
                        <a:lnSpc>
                          <a:spcPct val="100000"/>
                        </a:lnSpc>
                        <a:spcBef>
                          <a:spcPts val="35"/>
                        </a:spcBef>
                      </a:pPr>
                      <a:r>
                        <a:rPr sz="1750" dirty="0">
                          <a:latin typeface="Consolas"/>
                          <a:cs typeface="Consolas"/>
                        </a:rPr>
                        <a:t>2.5]</a:t>
                      </a:r>
                    </a:p>
                  </a:txBody>
                  <a:tcPr marL="0" marR="0" marT="4445" marB="0">
                    <a:solidFill>
                      <a:srgbClr val="DFDFDF"/>
                    </a:solidFill>
                  </a:tcPr>
                </a:tc>
              </a:tr>
              <a:tr h="316366">
                <a:tc>
                  <a:txBody>
                    <a:bodyPr/>
                    <a:lstStyle/>
                    <a:p>
                      <a:pPr marL="31750">
                        <a:lnSpc>
                          <a:spcPct val="100000"/>
                        </a:lnSpc>
                        <a:spcBef>
                          <a:spcPts val="290"/>
                        </a:spcBef>
                      </a:pPr>
                      <a:r>
                        <a:rPr sz="1750" spc="-5" dirty="0">
                          <a:solidFill>
                            <a:srgbClr val="FF1393"/>
                          </a:solidFill>
                          <a:latin typeface="Consolas"/>
                          <a:cs typeface="Consolas"/>
                        </a:rPr>
                        <a:t>print</a:t>
                      </a:r>
                      <a:r>
                        <a:rPr sz="1750" spc="-5" dirty="0">
                          <a:latin typeface="Consolas"/>
                          <a:cs typeface="Consolas"/>
                        </a:rPr>
                        <a:t>(</a:t>
                      </a:r>
                      <a:r>
                        <a:rPr sz="1750" spc="-5" dirty="0">
                          <a:solidFill>
                            <a:srgbClr val="FF1393"/>
                          </a:solidFill>
                          <a:latin typeface="Consolas"/>
                          <a:cs typeface="Consolas"/>
                        </a:rPr>
                        <a:t>List</a:t>
                      </a:r>
                      <a:r>
                        <a:rPr sz="1750" spc="-5" dirty="0">
                          <a:latin typeface="Consolas"/>
                          <a:cs typeface="Consolas"/>
                        </a:rPr>
                        <a:t>)</a:t>
                      </a:r>
                      <a:endParaRPr sz="1750" dirty="0">
                        <a:latin typeface="Consolas"/>
                        <a:cs typeface="Consolas"/>
                      </a:endParaRPr>
                    </a:p>
                  </a:txBody>
                  <a:tcPr marL="0" marR="0" marT="36830" marB="0">
                    <a:solidFill>
                      <a:srgbClr val="FFFFFF"/>
                    </a:solidFill>
                  </a:tcPr>
                </a:tc>
                <a:tc>
                  <a:txBody>
                    <a:bodyPr/>
                    <a:lstStyle/>
                    <a:p>
                      <a:pPr>
                        <a:lnSpc>
                          <a:spcPct val="100000"/>
                        </a:lnSpc>
                      </a:pPr>
                      <a:endParaRPr sz="1900" dirty="0">
                        <a:latin typeface="Times New Roman"/>
                        <a:cs typeface="Times New Roman"/>
                      </a:endParaRPr>
                    </a:p>
                  </a:txBody>
                  <a:tcPr marL="0" marR="0" marT="0" marB="0">
                    <a:solidFill>
                      <a:srgbClr val="FFFFFF"/>
                    </a:solidFill>
                  </a:tcPr>
                </a:tc>
                <a:tc>
                  <a:txBody>
                    <a:bodyPr/>
                    <a:lstStyle/>
                    <a:p>
                      <a:pPr>
                        <a:lnSpc>
                          <a:spcPct val="100000"/>
                        </a:lnSpc>
                      </a:pPr>
                      <a:endParaRPr sz="1900" dirty="0">
                        <a:latin typeface="Times New Roman"/>
                        <a:cs typeface="Times New Roman"/>
                      </a:endParaRPr>
                    </a:p>
                  </a:txBody>
                  <a:tcPr marL="0" marR="0" marT="0" marB="0">
                    <a:solidFill>
                      <a:srgbClr val="FFFFFF"/>
                    </a:solidFill>
                  </a:tcPr>
                </a:tc>
              </a:tr>
            </a:tbl>
          </a:graphicData>
        </a:graphic>
      </p:graphicFrame>
      <p:sp>
        <p:nvSpPr>
          <p:cNvPr id="8" name="object 8"/>
          <p:cNvSpPr txBox="1"/>
          <p:nvPr/>
        </p:nvSpPr>
        <p:spPr>
          <a:xfrm>
            <a:off x="6030467" y="5888735"/>
            <a:ext cx="3261360" cy="349250"/>
          </a:xfrm>
          <a:prstGeom prst="rect">
            <a:avLst/>
          </a:prstGeom>
          <a:solidFill>
            <a:srgbClr val="DFDFDF"/>
          </a:solidFill>
        </p:spPr>
        <p:txBody>
          <a:bodyPr vert="horz" wrap="square" lIns="0" tIns="0" rIns="0" bIns="0" rtlCol="0">
            <a:spAutoFit/>
          </a:bodyPr>
          <a:lstStyle/>
          <a:p>
            <a:pPr>
              <a:lnSpc>
                <a:spcPts val="2020"/>
              </a:lnSpc>
            </a:pPr>
            <a:r>
              <a:rPr sz="1750" spc="-5" dirty="0">
                <a:latin typeface="Consolas"/>
                <a:cs typeface="Consolas"/>
              </a:rPr>
              <a:t>[4.445, </a:t>
            </a:r>
            <a:r>
              <a:rPr sz="1750" dirty="0">
                <a:latin typeface="Consolas"/>
                <a:cs typeface="Consolas"/>
              </a:rPr>
              <a:t>5.33, </a:t>
            </a:r>
            <a:r>
              <a:rPr sz="1750" spc="-5" dirty="0">
                <a:latin typeface="Consolas"/>
                <a:cs typeface="Consolas"/>
              </a:rPr>
              <a:t>1.054,</a:t>
            </a:r>
            <a:r>
              <a:rPr sz="1750" spc="15" dirty="0">
                <a:latin typeface="Consolas"/>
                <a:cs typeface="Consolas"/>
              </a:rPr>
              <a:t> </a:t>
            </a:r>
            <a:r>
              <a:rPr sz="1750" dirty="0">
                <a:latin typeface="Consolas"/>
                <a:cs typeface="Consolas"/>
              </a:rPr>
              <a:t>2.5]</a:t>
            </a:r>
          </a:p>
        </p:txBody>
      </p:sp>
      <p:sp>
        <p:nvSpPr>
          <p:cNvPr id="9" name="Rectangle 8"/>
          <p:cNvSpPr/>
          <p:nvPr/>
        </p:nvSpPr>
        <p:spPr>
          <a:xfrm>
            <a:off x="317500" y="5610225"/>
            <a:ext cx="274320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3"/>
          <p:cNvSpPr txBox="1">
            <a:spLocks noGrp="1"/>
          </p:cNvSpPr>
          <p:nvPr>
            <p:ph type="title"/>
          </p:nvPr>
        </p:nvSpPr>
        <p:spPr>
          <a:xfrm>
            <a:off x="802638" y="1354297"/>
            <a:ext cx="9192261" cy="607218"/>
          </a:xfrm>
          <a:prstGeom prst="rect">
            <a:avLst/>
          </a:prstGeom>
        </p:spPr>
        <p:txBody>
          <a:bodyPr vert="horz" wrap="square" lIns="0" tIns="14605" rIns="0" bIns="0" rtlCol="0">
            <a:spAutoFit/>
          </a:bodyPr>
          <a:lstStyle/>
          <a:p>
            <a:pPr marL="12700">
              <a:lnSpc>
                <a:spcPct val="100000"/>
              </a:lnSpc>
              <a:spcBef>
                <a:spcPts val="115"/>
              </a:spcBef>
            </a:pPr>
            <a:r>
              <a:rPr b="0" u="heavy" spc="-955" dirty="0">
                <a:solidFill>
                  <a:srgbClr val="0070BF"/>
                </a:solidFill>
                <a:uFill>
                  <a:solidFill>
                    <a:srgbClr val="0070BF"/>
                  </a:solidFill>
                </a:uFill>
                <a:latin typeface="Times New Roman"/>
                <a:cs typeface="Times New Roman"/>
              </a:rPr>
              <a:t> </a:t>
            </a:r>
            <a:r>
              <a:rPr u="heavy" spc="-5" dirty="0">
                <a:solidFill>
                  <a:srgbClr val="0070BF"/>
                </a:solidFill>
                <a:uFill>
                  <a:solidFill>
                    <a:srgbClr val="0070BF"/>
                  </a:solidFill>
                </a:uFill>
              </a:rPr>
              <a:t>List </a:t>
            </a:r>
            <a:r>
              <a:rPr u="heavy" spc="5" dirty="0">
                <a:solidFill>
                  <a:srgbClr val="0070BF"/>
                </a:solidFill>
                <a:uFill>
                  <a:solidFill>
                    <a:srgbClr val="0070BF"/>
                  </a:solidFill>
                </a:uFill>
              </a:rPr>
              <a:t>Method</a:t>
            </a:r>
            <a:r>
              <a:rPr spc="5" dirty="0">
                <a:solidFill>
                  <a:srgbClr val="0070BF"/>
                </a:solidFill>
              </a:rPr>
              <a:t> – </a:t>
            </a:r>
            <a:r>
              <a:rPr lang="en-US" spc="5" dirty="0" smtClean="0"/>
              <a:t>clear</a:t>
            </a:r>
            <a:r>
              <a:rPr spc="5" dirty="0" smtClean="0"/>
              <a:t>(), </a:t>
            </a:r>
            <a:r>
              <a:rPr lang="en-US" dirty="0" smtClean="0"/>
              <a:t>copy()</a:t>
            </a:r>
            <a:r>
              <a:rPr dirty="0" smtClean="0"/>
              <a:t>,</a:t>
            </a:r>
            <a:r>
              <a:rPr spc="-135" dirty="0" smtClean="0"/>
              <a:t> </a:t>
            </a:r>
            <a:r>
              <a:rPr lang="en-US" spc="-5" dirty="0" smtClean="0"/>
              <a:t>index</a:t>
            </a:r>
            <a:r>
              <a:rPr spc="-5" dirty="0" smtClean="0"/>
              <a:t>()</a:t>
            </a:r>
            <a:endParaRPr spc="-5" dirty="0"/>
          </a:p>
        </p:txBody>
      </p:sp>
      <p:sp>
        <p:nvSpPr>
          <p:cNvPr id="5" name="Rectangle 4"/>
          <p:cNvSpPr/>
          <p:nvPr/>
        </p:nvSpPr>
        <p:spPr>
          <a:xfrm>
            <a:off x="774700" y="2181225"/>
            <a:ext cx="5346700" cy="4401205"/>
          </a:xfrm>
          <a:prstGeom prst="rect">
            <a:avLst/>
          </a:prstGeom>
        </p:spPr>
        <p:txBody>
          <a:bodyPr>
            <a:spAutoFit/>
          </a:bodyPr>
          <a:lstStyle/>
          <a:p>
            <a:r>
              <a:rPr lang="en-US" sz="2800" dirty="0" smtClean="0"/>
              <a:t>&gt;&gt;&gt; k=[1,2,3,4]</a:t>
            </a:r>
          </a:p>
          <a:p>
            <a:r>
              <a:rPr lang="en-US" sz="2800" dirty="0" smtClean="0"/>
              <a:t>&gt;&gt;&gt; k</a:t>
            </a:r>
          </a:p>
          <a:p>
            <a:r>
              <a:rPr lang="en-US" sz="2800" dirty="0" smtClean="0"/>
              <a:t>[1, 2, 3, 4]</a:t>
            </a:r>
          </a:p>
          <a:p>
            <a:r>
              <a:rPr lang="en-US" sz="2800" dirty="0" smtClean="0"/>
              <a:t>&gt;&gt;&gt; k1=k</a:t>
            </a:r>
          </a:p>
          <a:p>
            <a:r>
              <a:rPr lang="en-US" sz="2800" dirty="0" smtClean="0"/>
              <a:t>&gt;&gt;&gt; k1</a:t>
            </a:r>
          </a:p>
          <a:p>
            <a:r>
              <a:rPr lang="en-US" sz="2800" dirty="0" smtClean="0"/>
              <a:t>[1, 2, 3, 4]</a:t>
            </a:r>
          </a:p>
          <a:p>
            <a:r>
              <a:rPr lang="en-US" sz="2800" dirty="0" smtClean="0"/>
              <a:t>&gt;&gt;&gt; k1.clear()</a:t>
            </a:r>
          </a:p>
          <a:p>
            <a:r>
              <a:rPr lang="en-US" sz="2800" dirty="0" smtClean="0"/>
              <a:t>&gt;&gt;&gt; k1</a:t>
            </a:r>
          </a:p>
          <a:p>
            <a:r>
              <a:rPr lang="en-US" sz="2800" dirty="0" smtClean="0"/>
              <a:t>[]</a:t>
            </a:r>
          </a:p>
          <a:p>
            <a:r>
              <a:rPr lang="en-US" sz="2800" dirty="0" smtClean="0"/>
              <a:t>&gt;&gt;&gt; </a:t>
            </a:r>
            <a:endParaRPr lang="en-US" sz="2800" dirty="0"/>
          </a:p>
        </p:txBody>
      </p:sp>
      <p:sp>
        <p:nvSpPr>
          <p:cNvPr id="6" name="Rectangle 5"/>
          <p:cNvSpPr/>
          <p:nvPr/>
        </p:nvSpPr>
        <p:spPr>
          <a:xfrm>
            <a:off x="5346700" y="1952625"/>
            <a:ext cx="5346700" cy="4401205"/>
          </a:xfrm>
          <a:prstGeom prst="rect">
            <a:avLst/>
          </a:prstGeom>
        </p:spPr>
        <p:txBody>
          <a:bodyPr>
            <a:spAutoFit/>
          </a:bodyPr>
          <a:lstStyle/>
          <a:p>
            <a:r>
              <a:rPr lang="en-US" sz="2800" dirty="0" smtClean="0"/>
              <a:t>&gt;&gt;&gt; k=[1,2,3,4]</a:t>
            </a:r>
          </a:p>
          <a:p>
            <a:r>
              <a:rPr lang="en-US" sz="2800" dirty="0" smtClean="0"/>
              <a:t>&gt;&gt;&gt; k</a:t>
            </a:r>
          </a:p>
          <a:p>
            <a:r>
              <a:rPr lang="en-US" sz="2800" dirty="0" smtClean="0"/>
              <a:t>[1, 2, 3, 4]</a:t>
            </a:r>
          </a:p>
          <a:p>
            <a:r>
              <a:rPr lang="en-US" sz="2800" dirty="0" smtClean="0"/>
              <a:t>&gt;&gt;&gt; k1=</a:t>
            </a:r>
            <a:r>
              <a:rPr lang="en-US" sz="2800" dirty="0" err="1" smtClean="0"/>
              <a:t>k.copy</a:t>
            </a:r>
            <a:r>
              <a:rPr lang="en-US" sz="2800" dirty="0" smtClean="0"/>
              <a:t>()</a:t>
            </a:r>
          </a:p>
          <a:p>
            <a:r>
              <a:rPr lang="en-US" sz="2800" dirty="0" smtClean="0"/>
              <a:t>&gt;&gt;&gt; k1</a:t>
            </a:r>
          </a:p>
          <a:p>
            <a:r>
              <a:rPr lang="en-US" sz="2800" dirty="0" smtClean="0"/>
              <a:t>[1, 2, 3, 4]</a:t>
            </a:r>
          </a:p>
          <a:p>
            <a:r>
              <a:rPr lang="en-US" sz="2800" dirty="0" smtClean="0"/>
              <a:t>&gt;&gt;&gt; </a:t>
            </a:r>
            <a:r>
              <a:rPr lang="en-US" sz="2800" dirty="0" err="1" smtClean="0"/>
              <a:t>k.clear</a:t>
            </a:r>
            <a:r>
              <a:rPr lang="en-US" sz="2800" dirty="0" smtClean="0"/>
              <a:t>()</a:t>
            </a:r>
          </a:p>
          <a:p>
            <a:r>
              <a:rPr lang="en-US" sz="2800" dirty="0" smtClean="0"/>
              <a:t>&gt;&gt;&gt; k1</a:t>
            </a:r>
          </a:p>
          <a:p>
            <a:r>
              <a:rPr lang="en-US" sz="2800" dirty="0" smtClean="0"/>
              <a:t>[1, 2, 3, 4]</a:t>
            </a:r>
          </a:p>
          <a:p>
            <a:r>
              <a:rPr lang="en-US" sz="2800" dirty="0" smtClean="0"/>
              <a:t>&gt;&gt;&gt; </a:t>
            </a:r>
            <a:endParaRPr lang="en-US" sz="2800" dirty="0"/>
          </a:p>
        </p:txBody>
      </p:sp>
      <p:sp>
        <p:nvSpPr>
          <p:cNvPr id="7" name="TextBox 6"/>
          <p:cNvSpPr txBox="1"/>
          <p:nvPr/>
        </p:nvSpPr>
        <p:spPr>
          <a:xfrm>
            <a:off x="8013700" y="2943225"/>
            <a:ext cx="2387064" cy="369332"/>
          </a:xfrm>
          <a:prstGeom prst="rect">
            <a:avLst/>
          </a:prstGeom>
          <a:noFill/>
          <a:ln>
            <a:solidFill>
              <a:srgbClr val="C00000"/>
            </a:solidFill>
          </a:ln>
        </p:spPr>
        <p:txBody>
          <a:bodyPr wrap="none" rtlCol="0">
            <a:spAutoFit/>
          </a:bodyPr>
          <a:lstStyle/>
          <a:p>
            <a:r>
              <a:rPr lang="en-US" dirty="0" smtClean="0">
                <a:solidFill>
                  <a:srgbClr val="C00000"/>
                </a:solidFill>
              </a:rPr>
              <a:t>shallow copy of the list.</a:t>
            </a:r>
            <a:endParaRPr lang="en-US" dirty="0">
              <a:solidFill>
                <a:srgbClr val="C00000"/>
              </a:solidFill>
            </a:endParaRPr>
          </a:p>
        </p:txBody>
      </p:sp>
      <p:cxnSp>
        <p:nvCxnSpPr>
          <p:cNvPr id="12" name="Straight Arrow Connector 11"/>
          <p:cNvCxnSpPr/>
          <p:nvPr/>
        </p:nvCxnSpPr>
        <p:spPr>
          <a:xfrm flipV="1">
            <a:off x="7632700" y="3324225"/>
            <a:ext cx="685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p:nvPr/>
        </p:nvSpPr>
        <p:spPr>
          <a:xfrm>
            <a:off x="850900" y="1495425"/>
            <a:ext cx="8839200" cy="1015663"/>
          </a:xfrm>
          <a:prstGeom prst="rect">
            <a:avLst/>
          </a:prstGeom>
        </p:spPr>
        <p:txBody>
          <a:bodyPr wrap="square">
            <a:spAutoFit/>
          </a:bodyPr>
          <a:lstStyle/>
          <a:p>
            <a:r>
              <a:rPr lang="en-US" sz="3200" dirty="0" smtClean="0">
                <a:solidFill>
                  <a:srgbClr val="C00000"/>
                </a:solidFill>
              </a:rPr>
              <a:t>Index():   </a:t>
            </a:r>
            <a:r>
              <a:rPr lang="en-US" sz="2800" dirty="0" smtClean="0"/>
              <a:t>The index() method returns the index of the specified element in the list.</a:t>
            </a:r>
            <a:endParaRPr lang="en-US" sz="2800" dirty="0"/>
          </a:p>
        </p:txBody>
      </p:sp>
      <p:sp>
        <p:nvSpPr>
          <p:cNvPr id="5" name="Rectangle 4"/>
          <p:cNvSpPr/>
          <p:nvPr/>
        </p:nvSpPr>
        <p:spPr>
          <a:xfrm>
            <a:off x="4584700" y="2409825"/>
            <a:ext cx="5346700" cy="3970318"/>
          </a:xfrm>
          <a:prstGeom prst="rect">
            <a:avLst/>
          </a:prstGeom>
        </p:spPr>
        <p:txBody>
          <a:bodyPr>
            <a:spAutoFit/>
          </a:bodyPr>
          <a:lstStyle/>
          <a:p>
            <a:r>
              <a:rPr lang="en-US" sz="3600" dirty="0" smtClean="0"/>
              <a:t>&gt;&gt;&gt; p=[‘x’,’y’,’z’,’t’]</a:t>
            </a:r>
          </a:p>
          <a:p>
            <a:r>
              <a:rPr lang="en-US" sz="3600" dirty="0" smtClean="0"/>
              <a:t>['x', 'y', 'z', 't']</a:t>
            </a:r>
          </a:p>
          <a:p>
            <a:r>
              <a:rPr lang="en-US" sz="3600" dirty="0" smtClean="0"/>
              <a:t>&gt;&gt;&gt; </a:t>
            </a:r>
            <a:r>
              <a:rPr lang="en-US" sz="3600" dirty="0" err="1" smtClean="0"/>
              <a:t>p.index</a:t>
            </a:r>
            <a:r>
              <a:rPr lang="en-US" sz="3600" dirty="0" smtClean="0"/>
              <a:t>('z')</a:t>
            </a:r>
          </a:p>
          <a:p>
            <a:r>
              <a:rPr lang="en-US" sz="3600" dirty="0" smtClean="0"/>
              <a:t>2</a:t>
            </a:r>
          </a:p>
          <a:p>
            <a:r>
              <a:rPr lang="en-US" sz="3600" dirty="0" smtClean="0"/>
              <a:t>&gt;&gt;&gt; </a:t>
            </a:r>
            <a:r>
              <a:rPr lang="en-US" sz="3600" dirty="0" err="1" smtClean="0"/>
              <a:t>p.index</a:t>
            </a:r>
            <a:r>
              <a:rPr lang="en-US" sz="3600" dirty="0" smtClean="0"/>
              <a:t>('t',3)</a:t>
            </a:r>
          </a:p>
          <a:p>
            <a:r>
              <a:rPr lang="en-US" sz="3600" dirty="0" smtClean="0"/>
              <a:t>3</a:t>
            </a:r>
          </a:p>
          <a:p>
            <a:r>
              <a:rPr lang="en-US" sz="3600" dirty="0" smtClean="0"/>
              <a:t>&gt;&gt;&gt; </a:t>
            </a:r>
            <a:endParaRPr lang="en-US" sz="3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850900" y="1495425"/>
            <a:ext cx="9335248" cy="4401205"/>
          </a:xfrm>
          <a:prstGeom prst="rect">
            <a:avLst/>
          </a:prstGeom>
          <a:noFill/>
        </p:spPr>
        <p:txBody>
          <a:bodyPr wrap="none" rtlCol="0">
            <a:spAutoFit/>
          </a:bodyPr>
          <a:lstStyle/>
          <a:p>
            <a:r>
              <a:rPr lang="en-US" sz="3200" dirty="0" smtClean="0"/>
              <a:t>n =  </a:t>
            </a:r>
            <a:r>
              <a:rPr lang="en-US" sz="3200" dirty="0" err="1" smtClean="0"/>
              <a:t>int</a:t>
            </a:r>
            <a:r>
              <a:rPr lang="en-US" sz="3200" dirty="0" smtClean="0"/>
              <a:t>(input(“enter the number of elements  in List:”))</a:t>
            </a:r>
          </a:p>
          <a:p>
            <a:r>
              <a:rPr lang="en-US" sz="3200" dirty="0" smtClean="0"/>
              <a:t> </a:t>
            </a:r>
            <a:r>
              <a:rPr lang="en-US" sz="3200" dirty="0" err="1" smtClean="0"/>
              <a:t>myl_ist</a:t>
            </a:r>
            <a:r>
              <a:rPr lang="en-US" sz="3200" dirty="0" smtClean="0"/>
              <a:t>= []</a:t>
            </a:r>
          </a:p>
          <a:p>
            <a:r>
              <a:rPr lang="en-US" sz="3200" dirty="0" smtClean="0"/>
              <a:t>print(“Enter the elements in List:”)</a:t>
            </a:r>
          </a:p>
          <a:p>
            <a:r>
              <a:rPr lang="en-US" sz="3200" dirty="0" smtClean="0"/>
              <a:t>For </a:t>
            </a:r>
            <a:r>
              <a:rPr lang="en-US" sz="3200" dirty="0" err="1" smtClean="0"/>
              <a:t>i</a:t>
            </a:r>
            <a:r>
              <a:rPr lang="en-US" sz="3200" dirty="0" smtClean="0"/>
              <a:t> in range(n):</a:t>
            </a:r>
          </a:p>
          <a:p>
            <a:r>
              <a:rPr lang="en-US" sz="3200" dirty="0" smtClean="0"/>
              <a:t>	element = </a:t>
            </a:r>
            <a:r>
              <a:rPr lang="en-US" sz="3200" dirty="0" err="1" smtClean="0"/>
              <a:t>int</a:t>
            </a:r>
            <a:r>
              <a:rPr lang="en-US" sz="3200" dirty="0" smtClean="0"/>
              <a:t>(input())</a:t>
            </a:r>
          </a:p>
          <a:p>
            <a:r>
              <a:rPr lang="en-US" sz="3200" dirty="0" smtClean="0"/>
              <a:t>	</a:t>
            </a:r>
            <a:r>
              <a:rPr lang="en-US" sz="3200" dirty="0" err="1" smtClean="0"/>
              <a:t>my_list.append</a:t>
            </a:r>
            <a:r>
              <a:rPr lang="en-US" sz="3200" dirty="0" smtClean="0"/>
              <a:t>(element)</a:t>
            </a:r>
          </a:p>
          <a:p>
            <a:r>
              <a:rPr lang="en-US" sz="3200" dirty="0" smtClean="0"/>
              <a:t>print(“Elements in List:”)</a:t>
            </a:r>
          </a:p>
          <a:p>
            <a:r>
              <a:rPr lang="en-US" sz="3200" dirty="0" smtClean="0"/>
              <a:t>print(</a:t>
            </a:r>
            <a:r>
              <a:rPr lang="en-US" sz="3200" dirty="0" err="1" smtClean="0"/>
              <a:t>my_list</a:t>
            </a:r>
            <a:r>
              <a:rPr lang="en-US" sz="3200" dirty="0" smtClean="0"/>
              <a:t>) </a:t>
            </a:r>
          </a:p>
          <a:p>
            <a:endParaRPr lang="en-US" sz="2400" dirty="0"/>
          </a:p>
        </p:txBody>
      </p:sp>
      <p:sp>
        <p:nvSpPr>
          <p:cNvPr id="5" name="TextBox 4"/>
          <p:cNvSpPr txBox="1"/>
          <p:nvPr/>
        </p:nvSpPr>
        <p:spPr>
          <a:xfrm>
            <a:off x="2222500" y="0"/>
            <a:ext cx="7828874" cy="584775"/>
          </a:xfrm>
          <a:prstGeom prst="rect">
            <a:avLst/>
          </a:prstGeom>
          <a:noFill/>
        </p:spPr>
        <p:txBody>
          <a:bodyPr wrap="none" rtlCol="0">
            <a:spAutoFit/>
          </a:bodyPr>
          <a:lstStyle/>
          <a:p>
            <a:r>
              <a:rPr lang="en-US" sz="3200" dirty="0" smtClean="0">
                <a:solidFill>
                  <a:srgbClr val="FF0000"/>
                </a:solidFill>
              </a:rPr>
              <a:t>List creation using input() and range() method</a:t>
            </a:r>
            <a:endParaRPr lang="en-US" sz="3200" dirty="0">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p:nvPr/>
        </p:nvSpPr>
        <p:spPr>
          <a:xfrm>
            <a:off x="469900" y="962025"/>
            <a:ext cx="9829800" cy="2610843"/>
          </a:xfrm>
          <a:prstGeom prst="rect">
            <a:avLst/>
          </a:prstGeom>
        </p:spPr>
        <p:txBody>
          <a:bodyPr wrap="square">
            <a:spAutoFit/>
          </a:bodyPr>
          <a:lstStyle/>
          <a:p>
            <a:pPr algn="just">
              <a:lnSpc>
                <a:spcPct val="150000"/>
              </a:lnSpc>
            </a:pPr>
            <a:r>
              <a:rPr lang="en-US" sz="2800" dirty="0" smtClean="0"/>
              <a:t>Write a program that rotates the element of a list so that the element at the first index moves to the second index, the element in the second index moves to the third index, etc., and the element in the last index moves to the first index.</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p:nvPr/>
        </p:nvSpPr>
        <p:spPr>
          <a:xfrm>
            <a:off x="622300" y="1038225"/>
            <a:ext cx="7473950" cy="4401205"/>
          </a:xfrm>
          <a:prstGeom prst="rect">
            <a:avLst/>
          </a:prstGeom>
        </p:spPr>
        <p:txBody>
          <a:bodyPr wrap="square">
            <a:spAutoFit/>
          </a:bodyPr>
          <a:lstStyle/>
          <a:p>
            <a:r>
              <a:rPr lang="fr-FR" sz="2800" dirty="0" smtClean="0"/>
              <a:t>t1=[3,4,5,6,7,8]</a:t>
            </a:r>
          </a:p>
          <a:p>
            <a:r>
              <a:rPr lang="fr-FR" sz="2800" dirty="0" err="1" smtClean="0"/>
              <a:t>print</a:t>
            </a:r>
            <a:r>
              <a:rPr lang="fr-FR" sz="2800" dirty="0" smtClean="0"/>
              <a:t>(t1)</a:t>
            </a:r>
          </a:p>
          <a:p>
            <a:r>
              <a:rPr lang="fr-FR" sz="2800" dirty="0" smtClean="0"/>
              <a:t>size=</a:t>
            </a:r>
            <a:r>
              <a:rPr lang="fr-FR" sz="2800" dirty="0" err="1" smtClean="0"/>
              <a:t>len</a:t>
            </a:r>
            <a:r>
              <a:rPr lang="fr-FR" sz="2800" dirty="0" smtClean="0"/>
              <a:t>(t1)</a:t>
            </a:r>
          </a:p>
          <a:p>
            <a:r>
              <a:rPr lang="fr-FR" sz="2800" dirty="0" err="1" smtClean="0"/>
              <a:t>print</a:t>
            </a:r>
            <a:r>
              <a:rPr lang="fr-FR" sz="2800" dirty="0" smtClean="0"/>
              <a:t>(size)</a:t>
            </a:r>
          </a:p>
          <a:p>
            <a:r>
              <a:rPr lang="fr-FR" sz="2800" dirty="0" err="1" smtClean="0"/>
              <a:t>temp</a:t>
            </a:r>
            <a:r>
              <a:rPr lang="fr-FR" sz="2800" dirty="0" smtClean="0"/>
              <a:t>=t1[size-1]</a:t>
            </a:r>
          </a:p>
          <a:p>
            <a:r>
              <a:rPr lang="fr-FR" sz="2800" dirty="0" smtClean="0"/>
              <a:t>for i in range(size-1,0,-1):</a:t>
            </a:r>
          </a:p>
          <a:p>
            <a:r>
              <a:rPr lang="fr-FR" sz="2800" dirty="0" smtClean="0"/>
              <a:t>    t1[i]=t1[i-1]</a:t>
            </a:r>
          </a:p>
          <a:p>
            <a:endParaRPr lang="fr-FR" sz="2800" dirty="0" smtClean="0"/>
          </a:p>
          <a:p>
            <a:r>
              <a:rPr lang="fr-FR" sz="2800" dirty="0" smtClean="0"/>
              <a:t>t1[0]=</a:t>
            </a:r>
            <a:r>
              <a:rPr lang="fr-FR" sz="2800" dirty="0" err="1" smtClean="0"/>
              <a:t>temp</a:t>
            </a:r>
            <a:endParaRPr lang="fr-FR" sz="2800" dirty="0" smtClean="0"/>
          </a:p>
          <a:p>
            <a:r>
              <a:rPr lang="fr-FR" sz="2800" dirty="0" err="1" smtClean="0"/>
              <a:t>print</a:t>
            </a:r>
            <a:r>
              <a:rPr lang="fr-FR" sz="2800" dirty="0" smtClean="0"/>
              <a:t>(t1)</a:t>
            </a:r>
            <a:endParaRPr lang="en-US" sz="2800" dirty="0"/>
          </a:p>
        </p:txBody>
      </p:sp>
      <p:sp>
        <p:nvSpPr>
          <p:cNvPr id="5" name="Rectangle 4"/>
          <p:cNvSpPr/>
          <p:nvPr/>
        </p:nvSpPr>
        <p:spPr>
          <a:xfrm>
            <a:off x="5727700" y="5762625"/>
            <a:ext cx="2359941" cy="523220"/>
          </a:xfrm>
          <a:prstGeom prst="rect">
            <a:avLst/>
          </a:prstGeom>
        </p:spPr>
        <p:txBody>
          <a:bodyPr wrap="none">
            <a:spAutoFit/>
          </a:bodyPr>
          <a:lstStyle/>
          <a:p>
            <a:r>
              <a:rPr lang="en-US" sz="2800" dirty="0" smtClean="0"/>
              <a:t>[8, 3, 4, 5, 6, 7]</a:t>
            </a:r>
            <a:endParaRPr lang="en-US" sz="2800" dirty="0"/>
          </a:p>
        </p:txBody>
      </p:sp>
      <p:sp>
        <p:nvSpPr>
          <p:cNvPr id="6" name="TextBox 5"/>
          <p:cNvSpPr txBox="1"/>
          <p:nvPr/>
        </p:nvSpPr>
        <p:spPr>
          <a:xfrm>
            <a:off x="4584700" y="5762625"/>
            <a:ext cx="1326004" cy="523220"/>
          </a:xfrm>
          <a:prstGeom prst="rect">
            <a:avLst/>
          </a:prstGeom>
          <a:noFill/>
        </p:spPr>
        <p:txBody>
          <a:bodyPr wrap="none" rtlCol="0">
            <a:spAutoFit/>
          </a:bodyPr>
          <a:lstStyle/>
          <a:p>
            <a:r>
              <a:rPr lang="en-US" sz="2800" dirty="0" smtClean="0"/>
              <a:t>Output:</a:t>
            </a:r>
            <a:endParaRPr 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46100" y="809625"/>
            <a:ext cx="9677400" cy="6032421"/>
          </a:xfrm>
        </p:spPr>
        <p:txBody>
          <a:bodyPr/>
          <a:lstStyle/>
          <a:p>
            <a:pPr rtl="0" fontAlgn="base"/>
            <a:r>
              <a:rPr lang="en-US" sz="1600" dirty="0" smtClean="0">
                <a:latin typeface="Arial Rounded MT Bold" pitchFamily="34" charset="0"/>
              </a:rPr>
              <a:t>  </a:t>
            </a:r>
          </a:p>
          <a:p>
            <a:pPr rtl="0" fontAlgn="base"/>
            <a:r>
              <a:rPr lang="en-US" sz="2000" dirty="0" smtClean="0">
                <a:latin typeface="Arial Rounded MT Bold" pitchFamily="34" charset="0"/>
              </a:rPr>
              <a:t>R = int(input("Enter the number of rows:")) </a:t>
            </a:r>
          </a:p>
          <a:p>
            <a:pPr rtl="0" fontAlgn="base"/>
            <a:r>
              <a:rPr lang="en-US" sz="2000" dirty="0" smtClean="0">
                <a:latin typeface="Arial Rounded MT Bold" pitchFamily="34" charset="0"/>
              </a:rPr>
              <a:t>C = int(input("Enter the number of columns:")) </a:t>
            </a:r>
          </a:p>
          <a:p>
            <a:pPr rtl="0" fontAlgn="base"/>
            <a:r>
              <a:rPr lang="en-US" sz="2000" dirty="0" smtClean="0">
                <a:latin typeface="Arial Rounded MT Bold" pitchFamily="34" charset="0"/>
              </a:rPr>
              <a:t>  </a:t>
            </a:r>
          </a:p>
          <a:p>
            <a:pPr rtl="0" fontAlgn="base"/>
            <a:r>
              <a:rPr lang="en-US" sz="2000" dirty="0" smtClean="0">
                <a:latin typeface="Arial Rounded MT Bold" pitchFamily="34" charset="0"/>
              </a:rPr>
              <a:t>matrix = []</a:t>
            </a:r>
          </a:p>
          <a:p>
            <a:pPr rtl="0" fontAlgn="base"/>
            <a:r>
              <a:rPr lang="en-US" sz="2000" dirty="0" smtClean="0">
                <a:latin typeface="Arial Rounded MT Bold" pitchFamily="34" charset="0"/>
              </a:rPr>
              <a:t>print("Enter the entries row wise:") </a:t>
            </a:r>
          </a:p>
          <a:p>
            <a:pPr rtl="0" fontAlgn="base"/>
            <a:r>
              <a:rPr lang="en-US" sz="2000" dirty="0" smtClean="0">
                <a:latin typeface="Arial Rounded MT Bold" pitchFamily="34" charset="0"/>
              </a:rPr>
              <a:t>  </a:t>
            </a:r>
          </a:p>
          <a:p>
            <a:pPr rtl="0" fontAlgn="base"/>
            <a:r>
              <a:rPr lang="en-US" sz="2000" dirty="0" smtClean="0">
                <a:latin typeface="Arial Rounded MT Bold" pitchFamily="34" charset="0"/>
              </a:rPr>
              <a:t># For user input </a:t>
            </a:r>
          </a:p>
          <a:p>
            <a:pPr rtl="0" fontAlgn="base"/>
            <a:r>
              <a:rPr lang="en-US" sz="2000" dirty="0" smtClean="0">
                <a:latin typeface="Arial Rounded MT Bold" pitchFamily="34" charset="0"/>
              </a:rPr>
              <a:t>for </a:t>
            </a:r>
            <a:r>
              <a:rPr lang="en-US" sz="2000" dirty="0" err="1" smtClean="0">
                <a:latin typeface="Arial Rounded MT Bold" pitchFamily="34" charset="0"/>
              </a:rPr>
              <a:t>i</a:t>
            </a:r>
            <a:r>
              <a:rPr lang="en-US" sz="2000" dirty="0" smtClean="0">
                <a:latin typeface="Arial Rounded MT Bold" pitchFamily="34" charset="0"/>
              </a:rPr>
              <a:t> in range(R):          # A for loop for row entries </a:t>
            </a:r>
          </a:p>
          <a:p>
            <a:pPr rtl="0" fontAlgn="base"/>
            <a:r>
              <a:rPr lang="en-US" sz="2000" dirty="0" smtClean="0">
                <a:latin typeface="Arial Rounded MT Bold" pitchFamily="34" charset="0"/>
              </a:rPr>
              <a:t>    a =[] </a:t>
            </a:r>
          </a:p>
          <a:p>
            <a:pPr rtl="0" fontAlgn="base"/>
            <a:r>
              <a:rPr lang="en-US" sz="2000" dirty="0" smtClean="0">
                <a:latin typeface="Arial Rounded MT Bold" pitchFamily="34" charset="0"/>
              </a:rPr>
              <a:t>    for j in range(C):      # A for loop for column entries </a:t>
            </a:r>
          </a:p>
          <a:p>
            <a:pPr rtl="0" fontAlgn="base"/>
            <a:r>
              <a:rPr lang="en-US" sz="2000" dirty="0" smtClean="0">
                <a:latin typeface="Arial Rounded MT Bold" pitchFamily="34" charset="0"/>
              </a:rPr>
              <a:t>         </a:t>
            </a:r>
            <a:r>
              <a:rPr lang="en-US" sz="2000" dirty="0" err="1" smtClean="0">
                <a:latin typeface="Arial Rounded MT Bold" pitchFamily="34" charset="0"/>
              </a:rPr>
              <a:t>a.append</a:t>
            </a:r>
            <a:r>
              <a:rPr lang="en-US" sz="2000" dirty="0" smtClean="0">
                <a:latin typeface="Arial Rounded MT Bold" pitchFamily="34" charset="0"/>
              </a:rPr>
              <a:t>(</a:t>
            </a:r>
            <a:r>
              <a:rPr lang="en-US" sz="2000" dirty="0" err="1" smtClean="0">
                <a:latin typeface="Arial Rounded MT Bold" pitchFamily="34" charset="0"/>
              </a:rPr>
              <a:t>int</a:t>
            </a:r>
            <a:r>
              <a:rPr lang="en-US" sz="2000" dirty="0" smtClean="0">
                <a:latin typeface="Arial Rounded MT Bold" pitchFamily="34" charset="0"/>
              </a:rPr>
              <a:t>(input())) </a:t>
            </a:r>
          </a:p>
          <a:p>
            <a:pPr rtl="0" fontAlgn="base"/>
            <a:r>
              <a:rPr lang="en-US" sz="2000" dirty="0" smtClean="0">
                <a:latin typeface="Arial Rounded MT Bold" pitchFamily="34" charset="0"/>
              </a:rPr>
              <a:t>    </a:t>
            </a:r>
            <a:r>
              <a:rPr lang="en-US" sz="2000" dirty="0" err="1" smtClean="0">
                <a:latin typeface="Arial Rounded MT Bold" pitchFamily="34" charset="0"/>
              </a:rPr>
              <a:t>matrix.append</a:t>
            </a:r>
            <a:r>
              <a:rPr lang="en-US" sz="2000" dirty="0" smtClean="0">
                <a:latin typeface="Arial Rounded MT Bold" pitchFamily="34" charset="0"/>
              </a:rPr>
              <a:t>(a) </a:t>
            </a:r>
          </a:p>
          <a:p>
            <a:pPr rtl="0" fontAlgn="base"/>
            <a:r>
              <a:rPr lang="en-US" sz="2000" dirty="0" smtClean="0">
                <a:latin typeface="Arial Rounded MT Bold" pitchFamily="34" charset="0"/>
              </a:rPr>
              <a:t>  </a:t>
            </a:r>
          </a:p>
          <a:p>
            <a:pPr rtl="0" fontAlgn="base"/>
            <a:r>
              <a:rPr lang="en-US" sz="2000" dirty="0" smtClean="0">
                <a:latin typeface="Arial Rounded MT Bold" pitchFamily="34" charset="0"/>
              </a:rPr>
              <a:t># For printing the matrix </a:t>
            </a:r>
          </a:p>
          <a:p>
            <a:pPr rtl="0" fontAlgn="base"/>
            <a:r>
              <a:rPr lang="en-US" sz="2000" dirty="0" smtClean="0">
                <a:latin typeface="Arial Rounded MT Bold" pitchFamily="34" charset="0"/>
              </a:rPr>
              <a:t>for </a:t>
            </a:r>
            <a:r>
              <a:rPr lang="en-US" sz="2000" dirty="0" err="1" smtClean="0">
                <a:latin typeface="Arial Rounded MT Bold" pitchFamily="34" charset="0"/>
              </a:rPr>
              <a:t>i</a:t>
            </a:r>
            <a:r>
              <a:rPr lang="en-US" sz="2000" dirty="0" smtClean="0">
                <a:latin typeface="Arial Rounded MT Bold" pitchFamily="34" charset="0"/>
              </a:rPr>
              <a:t> in range(R): </a:t>
            </a:r>
          </a:p>
          <a:p>
            <a:pPr rtl="0" fontAlgn="base"/>
            <a:r>
              <a:rPr lang="en-US" sz="2000" dirty="0" smtClean="0">
                <a:latin typeface="Arial Rounded MT Bold" pitchFamily="34" charset="0"/>
              </a:rPr>
              <a:t>    for j in range(C): </a:t>
            </a:r>
          </a:p>
          <a:p>
            <a:pPr rtl="0" fontAlgn="base"/>
            <a:r>
              <a:rPr lang="en-US" sz="2000" dirty="0" smtClean="0">
                <a:latin typeface="Arial Rounded MT Bold" pitchFamily="34" charset="0"/>
              </a:rPr>
              <a:t>        print(matrix[</a:t>
            </a:r>
            <a:r>
              <a:rPr lang="en-US" sz="2000" dirty="0" err="1" smtClean="0">
                <a:latin typeface="Arial Rounded MT Bold" pitchFamily="34" charset="0"/>
              </a:rPr>
              <a:t>i</a:t>
            </a:r>
            <a:r>
              <a:rPr lang="en-US" sz="2000" dirty="0" smtClean="0">
                <a:latin typeface="Arial Rounded MT Bold" pitchFamily="34" charset="0"/>
              </a:rPr>
              <a:t>][j], end = " ") </a:t>
            </a:r>
          </a:p>
          <a:p>
            <a:pPr rtl="0" fontAlgn="base"/>
            <a:r>
              <a:rPr lang="en-US" sz="2000" dirty="0" smtClean="0">
                <a:latin typeface="Arial Rounded MT Bold" pitchFamily="34" charset="0"/>
              </a:rPr>
              <a:t>    print() </a:t>
            </a:r>
          </a:p>
          <a:p>
            <a:endParaRPr lang="en-US" sz="1600" dirty="0">
              <a:latin typeface="Arial Rounded MT Bold" pitchFamily="34" charset="0"/>
            </a:endParaRPr>
          </a:p>
        </p:txBody>
      </p:sp>
      <p:sp>
        <p:nvSpPr>
          <p:cNvPr id="4" name="TextBox 3"/>
          <p:cNvSpPr txBox="1"/>
          <p:nvPr/>
        </p:nvSpPr>
        <p:spPr>
          <a:xfrm>
            <a:off x="2755900" y="200025"/>
            <a:ext cx="2747740" cy="584775"/>
          </a:xfrm>
          <a:prstGeom prst="rect">
            <a:avLst/>
          </a:prstGeom>
          <a:noFill/>
        </p:spPr>
        <p:txBody>
          <a:bodyPr wrap="none" rtlCol="0">
            <a:spAutoFit/>
          </a:bodyPr>
          <a:lstStyle/>
          <a:p>
            <a:r>
              <a:rPr lang="en-US" sz="3200" dirty="0" smtClean="0">
                <a:solidFill>
                  <a:srgbClr val="C00000"/>
                </a:solidFill>
              </a:rPr>
              <a:t>Matrix creation</a:t>
            </a:r>
            <a:endParaRPr lang="en-US" sz="3200" dirty="0">
              <a:solidFill>
                <a:srgbClr val="C0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670300" y="0"/>
            <a:ext cx="3889142" cy="646331"/>
          </a:xfrm>
          <a:prstGeom prst="rect">
            <a:avLst/>
          </a:prstGeom>
        </p:spPr>
        <p:txBody>
          <a:bodyPr wrap="none">
            <a:spAutoFit/>
          </a:bodyPr>
          <a:lstStyle/>
          <a:p>
            <a:r>
              <a:rPr lang="en-US" sz="3600" dirty="0" smtClean="0">
                <a:solidFill>
                  <a:srgbClr val="FF0000"/>
                </a:solidFill>
              </a:rPr>
              <a:t>List Comprehension</a:t>
            </a:r>
            <a:endParaRPr lang="en-US" sz="3600" dirty="0">
              <a:solidFill>
                <a:srgbClr val="FF0000"/>
              </a:solidFill>
            </a:endParaRPr>
          </a:p>
        </p:txBody>
      </p:sp>
      <p:sp>
        <p:nvSpPr>
          <p:cNvPr id="8" name="Rectangle 7"/>
          <p:cNvSpPr/>
          <p:nvPr/>
        </p:nvSpPr>
        <p:spPr>
          <a:xfrm>
            <a:off x="317500" y="657225"/>
            <a:ext cx="10058400" cy="1323439"/>
          </a:xfrm>
          <a:prstGeom prst="rect">
            <a:avLst/>
          </a:prstGeom>
        </p:spPr>
        <p:txBody>
          <a:bodyPr wrap="square">
            <a:spAutoFit/>
          </a:bodyPr>
          <a:lstStyle/>
          <a:p>
            <a:pPr algn="just"/>
            <a:r>
              <a:rPr lang="en-US" sz="2000" dirty="0" smtClean="0"/>
              <a:t>List comprehensions provide a concise way to create lists. Common applications are to make new lists where each element is the result of some operations applied to each member of another sequence or </a:t>
            </a:r>
            <a:r>
              <a:rPr lang="en-US" sz="2000" dirty="0" err="1" smtClean="0"/>
              <a:t>iterable</a:t>
            </a:r>
            <a:r>
              <a:rPr lang="en-US" sz="2000" dirty="0" smtClean="0"/>
              <a:t>, or to create a subsequence of those elements that satisfy a certain condition.</a:t>
            </a:r>
            <a:endParaRPr lang="en-US" sz="2000" dirty="0"/>
          </a:p>
        </p:txBody>
      </p:sp>
      <p:sp>
        <p:nvSpPr>
          <p:cNvPr id="9" name="Rectangle 8"/>
          <p:cNvSpPr/>
          <p:nvPr/>
        </p:nvSpPr>
        <p:spPr>
          <a:xfrm>
            <a:off x="469900" y="2486025"/>
            <a:ext cx="8763000" cy="954107"/>
          </a:xfrm>
          <a:prstGeom prst="rect">
            <a:avLst/>
          </a:prstGeom>
        </p:spPr>
        <p:txBody>
          <a:bodyPr wrap="square">
            <a:spAutoFit/>
          </a:bodyPr>
          <a:lstStyle/>
          <a:p>
            <a:r>
              <a:rPr lang="en-US" b="1" dirty="0" smtClean="0"/>
              <a:t>The basic syntax of a list comprehension is:</a:t>
            </a:r>
          </a:p>
          <a:p>
            <a:endParaRPr lang="en-US" dirty="0" smtClean="0"/>
          </a:p>
          <a:p>
            <a:r>
              <a:rPr lang="en-US" sz="2000" b="1" dirty="0" err="1" smtClean="0"/>
              <a:t>new_list</a:t>
            </a:r>
            <a:r>
              <a:rPr lang="en-US" sz="2000" b="1" dirty="0" smtClean="0"/>
              <a:t> = [expression for item in </a:t>
            </a:r>
            <a:r>
              <a:rPr lang="en-US" sz="2000" b="1" dirty="0" err="1" smtClean="0"/>
              <a:t>iterable</a:t>
            </a:r>
            <a:r>
              <a:rPr lang="en-US" sz="2000" b="1" dirty="0" smtClean="0"/>
              <a:t> if condition]</a:t>
            </a:r>
            <a:endParaRPr lang="en-US" sz="2000" b="1" dirty="0"/>
          </a:p>
        </p:txBody>
      </p:sp>
      <p:sp>
        <p:nvSpPr>
          <p:cNvPr id="11" name="Rectangle 10"/>
          <p:cNvSpPr/>
          <p:nvPr/>
        </p:nvSpPr>
        <p:spPr>
          <a:xfrm>
            <a:off x="317500" y="3781425"/>
            <a:ext cx="9753600" cy="3139321"/>
          </a:xfrm>
          <a:prstGeom prst="rect">
            <a:avLst/>
          </a:prstGeom>
        </p:spPr>
        <p:txBody>
          <a:bodyPr wrap="square">
            <a:spAutoFit/>
          </a:bodyPr>
          <a:lstStyle/>
          <a:p>
            <a:r>
              <a:rPr lang="en-US" b="1" dirty="0" smtClean="0"/>
              <a:t>The components are:</a:t>
            </a:r>
          </a:p>
          <a:p>
            <a:r>
              <a:rPr lang="en-US" sz="2000" b="1" dirty="0" smtClean="0"/>
              <a:t>expression</a:t>
            </a:r>
            <a:r>
              <a:rPr lang="en-US" sz="2000" dirty="0" smtClean="0"/>
              <a:t>: The operation or value to be applied to each item to produce the elements of the new list.</a:t>
            </a:r>
          </a:p>
          <a:p>
            <a:endParaRPr lang="en-US" sz="2000" dirty="0" smtClean="0"/>
          </a:p>
          <a:p>
            <a:r>
              <a:rPr lang="en-US" sz="2000" b="1" dirty="0" smtClean="0"/>
              <a:t>item:</a:t>
            </a:r>
            <a:r>
              <a:rPr lang="en-US" sz="2000" dirty="0" smtClean="0"/>
              <a:t> A variable representing each element in the original </a:t>
            </a:r>
            <a:r>
              <a:rPr lang="en-US" sz="2000" dirty="0" err="1" smtClean="0"/>
              <a:t>iterable</a:t>
            </a:r>
            <a:r>
              <a:rPr lang="en-US" sz="2000" dirty="0" smtClean="0"/>
              <a:t>.</a:t>
            </a:r>
          </a:p>
          <a:p>
            <a:endParaRPr lang="en-US" sz="2000" dirty="0" smtClean="0"/>
          </a:p>
          <a:p>
            <a:r>
              <a:rPr lang="en-US" sz="2000" b="1" dirty="0" err="1" smtClean="0"/>
              <a:t>iterable</a:t>
            </a:r>
            <a:r>
              <a:rPr lang="en-US" sz="2000" b="1" dirty="0" smtClean="0"/>
              <a:t>: </a:t>
            </a:r>
            <a:r>
              <a:rPr lang="en-US" sz="2000" dirty="0" smtClean="0"/>
              <a:t>The source sequence (e.g., list, string, range(), etc.).</a:t>
            </a:r>
          </a:p>
          <a:p>
            <a:endParaRPr lang="en-US" sz="2000" dirty="0" smtClean="0"/>
          </a:p>
          <a:p>
            <a:r>
              <a:rPr lang="en-US" sz="2000" b="1" dirty="0" smtClean="0"/>
              <a:t>if condition</a:t>
            </a:r>
            <a:r>
              <a:rPr lang="en-US" sz="2000" dirty="0" smtClean="0"/>
              <a:t> (optional): A filter that determines whether an item is included in the new list. </a:t>
            </a:r>
          </a:p>
          <a:p>
            <a:r>
              <a:rPr lang="en-US" sz="2000" dirty="0" smtClean="0"/>
              <a:t>Basic Examples</a:t>
            </a:r>
            <a:endParaRPr lang="en-US" sz="20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670300" y="0"/>
            <a:ext cx="3889142" cy="646331"/>
          </a:xfrm>
          <a:prstGeom prst="rect">
            <a:avLst/>
          </a:prstGeom>
        </p:spPr>
        <p:txBody>
          <a:bodyPr wrap="none">
            <a:spAutoFit/>
          </a:bodyPr>
          <a:lstStyle/>
          <a:p>
            <a:r>
              <a:rPr lang="en-US" sz="3600" dirty="0" smtClean="0">
                <a:solidFill>
                  <a:srgbClr val="FF0000"/>
                </a:solidFill>
              </a:rPr>
              <a:t>List Comprehension</a:t>
            </a:r>
            <a:endParaRPr lang="en-US" sz="3600" dirty="0">
              <a:solidFill>
                <a:srgbClr val="FF0000"/>
              </a:solidFill>
            </a:endParaRPr>
          </a:p>
        </p:txBody>
      </p:sp>
      <p:sp>
        <p:nvSpPr>
          <p:cNvPr id="9" name="Rectangle 8"/>
          <p:cNvSpPr/>
          <p:nvPr/>
        </p:nvSpPr>
        <p:spPr>
          <a:xfrm>
            <a:off x="393700" y="885825"/>
            <a:ext cx="5181600" cy="1323439"/>
          </a:xfrm>
          <a:prstGeom prst="rect">
            <a:avLst/>
          </a:prstGeom>
          <a:ln>
            <a:solidFill>
              <a:srgbClr val="7030A0"/>
            </a:solidFill>
          </a:ln>
        </p:spPr>
        <p:txBody>
          <a:bodyPr wrap="square">
            <a:spAutoFit/>
          </a:bodyPr>
          <a:lstStyle/>
          <a:p>
            <a:r>
              <a:rPr lang="en-US" sz="2000" dirty="0" smtClean="0"/>
              <a:t>squares = []</a:t>
            </a:r>
          </a:p>
          <a:p>
            <a:r>
              <a:rPr lang="en-US" sz="2000" dirty="0" smtClean="0"/>
              <a:t>for x in range(10):</a:t>
            </a:r>
          </a:p>
          <a:p>
            <a:r>
              <a:rPr lang="en-US" sz="2000" dirty="0" smtClean="0"/>
              <a:t>    </a:t>
            </a:r>
            <a:r>
              <a:rPr lang="en-US" sz="2000" dirty="0" err="1" smtClean="0"/>
              <a:t>squares.append</a:t>
            </a:r>
            <a:r>
              <a:rPr lang="en-US" sz="2000" dirty="0" smtClean="0"/>
              <a:t>(x**2)</a:t>
            </a:r>
          </a:p>
          <a:p>
            <a:r>
              <a:rPr lang="en-US" sz="2000" dirty="0" smtClean="0"/>
              <a:t># Output: [0, 1, 4, 9, 16, 25, 36, 49, 64, 81]</a:t>
            </a:r>
            <a:endParaRPr lang="en-US" sz="2000" dirty="0"/>
          </a:p>
        </p:txBody>
      </p:sp>
      <p:sp>
        <p:nvSpPr>
          <p:cNvPr id="10" name="Rectangle 9"/>
          <p:cNvSpPr/>
          <p:nvPr/>
        </p:nvSpPr>
        <p:spPr>
          <a:xfrm>
            <a:off x="5803900" y="885825"/>
            <a:ext cx="4575291" cy="1569660"/>
          </a:xfrm>
          <a:prstGeom prst="rect">
            <a:avLst/>
          </a:prstGeom>
          <a:ln>
            <a:solidFill>
              <a:srgbClr val="C00000"/>
            </a:solidFill>
          </a:ln>
        </p:spPr>
        <p:txBody>
          <a:bodyPr wrap="none">
            <a:spAutoFit/>
          </a:bodyPr>
          <a:lstStyle/>
          <a:p>
            <a:r>
              <a:rPr lang="en-US" b="1" dirty="0" smtClean="0"/>
              <a:t>Using a list comprehension:</a:t>
            </a:r>
          </a:p>
          <a:p>
            <a:endParaRPr lang="en-US" b="1" dirty="0" smtClean="0"/>
          </a:p>
          <a:p>
            <a:r>
              <a:rPr lang="en-US" sz="2000" dirty="0" smtClean="0"/>
              <a:t>squares = [x**2 for x in range(10)]</a:t>
            </a:r>
          </a:p>
          <a:p>
            <a:r>
              <a:rPr lang="en-US" sz="2000" dirty="0" smtClean="0"/>
              <a:t># Output: [0, 1, 4, 9, 16, 25, 36, 49, 64, 81]</a:t>
            </a:r>
          </a:p>
          <a:p>
            <a:endParaRPr lang="en-US" sz="2000" dirty="0"/>
          </a:p>
        </p:txBody>
      </p:sp>
      <p:sp>
        <p:nvSpPr>
          <p:cNvPr id="12" name="Rectangle 11"/>
          <p:cNvSpPr/>
          <p:nvPr/>
        </p:nvSpPr>
        <p:spPr>
          <a:xfrm>
            <a:off x="393700" y="2867025"/>
            <a:ext cx="5346700" cy="646331"/>
          </a:xfrm>
          <a:prstGeom prst="rect">
            <a:avLst/>
          </a:prstGeom>
          <a:ln>
            <a:solidFill>
              <a:srgbClr val="C00000"/>
            </a:solidFill>
          </a:ln>
        </p:spPr>
        <p:txBody>
          <a:bodyPr>
            <a:spAutoFit/>
          </a:bodyPr>
          <a:lstStyle/>
          <a:p>
            <a:r>
              <a:rPr lang="en-US" dirty="0" err="1" smtClean="0"/>
              <a:t>even_numbers</a:t>
            </a:r>
            <a:r>
              <a:rPr lang="en-US" dirty="0" smtClean="0"/>
              <a:t> = [x for x in range(10) if x % 2 == 0]</a:t>
            </a:r>
          </a:p>
          <a:p>
            <a:r>
              <a:rPr lang="en-US" dirty="0" smtClean="0"/>
              <a:t># Output: [0, 2, 4, 6, 8]</a:t>
            </a:r>
            <a:endParaRPr lang="en-US" dirty="0"/>
          </a:p>
        </p:txBody>
      </p:sp>
      <p:sp>
        <p:nvSpPr>
          <p:cNvPr id="14" name="Rectangle 13"/>
          <p:cNvSpPr/>
          <p:nvPr/>
        </p:nvSpPr>
        <p:spPr>
          <a:xfrm>
            <a:off x="393700" y="3933825"/>
            <a:ext cx="5334000" cy="2308324"/>
          </a:xfrm>
          <a:prstGeom prst="rect">
            <a:avLst/>
          </a:prstGeom>
          <a:ln>
            <a:solidFill>
              <a:srgbClr val="C00000"/>
            </a:solidFill>
          </a:ln>
        </p:spPr>
        <p:txBody>
          <a:bodyPr wrap="square">
            <a:spAutoFit/>
          </a:bodyPr>
          <a:lstStyle/>
          <a:p>
            <a:r>
              <a:rPr lang="en-US" dirty="0" smtClean="0"/>
              <a:t>combs = []</a:t>
            </a:r>
          </a:p>
          <a:p>
            <a:r>
              <a:rPr lang="en-US" dirty="0" smtClean="0"/>
              <a:t>for x in [1,2,3]:</a:t>
            </a:r>
          </a:p>
          <a:p>
            <a:r>
              <a:rPr lang="en-US" dirty="0" smtClean="0"/>
              <a:t>     for y in [3,1,4]:</a:t>
            </a:r>
          </a:p>
          <a:p>
            <a:r>
              <a:rPr lang="en-US" dirty="0" smtClean="0"/>
              <a:t>         if x != y:</a:t>
            </a:r>
          </a:p>
          <a:p>
            <a:r>
              <a:rPr lang="en-US" dirty="0" smtClean="0"/>
              <a:t>             </a:t>
            </a:r>
            <a:r>
              <a:rPr lang="en-US" dirty="0" err="1" smtClean="0"/>
              <a:t>combs.append</a:t>
            </a:r>
            <a:r>
              <a:rPr lang="en-US" dirty="0" smtClean="0"/>
              <a:t>((x, y))</a:t>
            </a:r>
          </a:p>
          <a:p>
            <a:endParaRPr lang="en-US" dirty="0" smtClean="0"/>
          </a:p>
          <a:p>
            <a:r>
              <a:rPr lang="en-US" dirty="0" smtClean="0"/>
              <a:t>print(combs)</a:t>
            </a:r>
          </a:p>
          <a:p>
            <a:r>
              <a:rPr lang="en-US" dirty="0" smtClean="0"/>
              <a:t>[(1, 3), (1, 4), (2, 3), (2, 1), (2, 4), (3, 1), (3, 4)]</a:t>
            </a:r>
            <a:endParaRPr lang="en-US" dirty="0"/>
          </a:p>
        </p:txBody>
      </p:sp>
      <p:sp>
        <p:nvSpPr>
          <p:cNvPr id="16" name="Rectangle 15"/>
          <p:cNvSpPr/>
          <p:nvPr/>
        </p:nvSpPr>
        <p:spPr>
          <a:xfrm>
            <a:off x="4203700" y="6524625"/>
            <a:ext cx="5346700" cy="646331"/>
          </a:xfrm>
          <a:prstGeom prst="rect">
            <a:avLst/>
          </a:prstGeom>
          <a:ln>
            <a:solidFill>
              <a:srgbClr val="C00000"/>
            </a:solidFill>
          </a:ln>
        </p:spPr>
        <p:txBody>
          <a:bodyPr>
            <a:spAutoFit/>
          </a:bodyPr>
          <a:lstStyle/>
          <a:p>
            <a:r>
              <a:rPr lang="en-US" dirty="0" smtClean="0"/>
              <a:t>combs=[(x, y) for x in [1,2,3] for y in [3,1,4] if x != y]</a:t>
            </a:r>
          </a:p>
          <a:p>
            <a:r>
              <a:rPr lang="en-US" dirty="0" smtClean="0"/>
              <a:t>print(combs)</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3700" y="276225"/>
            <a:ext cx="3710888" cy="400110"/>
          </a:xfrm>
          <a:prstGeom prst="rect">
            <a:avLst/>
          </a:prstGeom>
        </p:spPr>
        <p:txBody>
          <a:bodyPr wrap="none">
            <a:spAutoFit/>
          </a:bodyPr>
          <a:lstStyle/>
          <a:p>
            <a:r>
              <a:rPr lang="en-US" sz="2000" dirty="0" smtClean="0">
                <a:solidFill>
                  <a:srgbClr val="FF0000"/>
                </a:solidFill>
              </a:rPr>
              <a:t>List comprehensions  using  if else</a:t>
            </a:r>
            <a:endParaRPr lang="en-US" sz="2000" dirty="0">
              <a:solidFill>
                <a:srgbClr val="FF0000"/>
              </a:solidFill>
            </a:endParaRPr>
          </a:p>
        </p:txBody>
      </p:sp>
      <p:sp>
        <p:nvSpPr>
          <p:cNvPr id="5" name="Rectangle 4"/>
          <p:cNvSpPr/>
          <p:nvPr/>
        </p:nvSpPr>
        <p:spPr>
          <a:xfrm>
            <a:off x="393700" y="1114425"/>
            <a:ext cx="8991600" cy="1200329"/>
          </a:xfrm>
          <a:prstGeom prst="rect">
            <a:avLst/>
          </a:prstGeom>
          <a:ln>
            <a:solidFill>
              <a:srgbClr val="C00000"/>
            </a:solidFill>
          </a:ln>
        </p:spPr>
        <p:txBody>
          <a:bodyPr wrap="square">
            <a:spAutoFit/>
          </a:bodyPr>
          <a:lstStyle/>
          <a:p>
            <a:r>
              <a:rPr lang="en-US" dirty="0" smtClean="0"/>
              <a:t>numbers = [1, 2, 3, 4, 5, 6]</a:t>
            </a:r>
          </a:p>
          <a:p>
            <a:r>
              <a:rPr lang="en-US" dirty="0" err="1" smtClean="0"/>
              <a:t>even_odd_list</a:t>
            </a:r>
            <a:r>
              <a:rPr lang="en-US" dirty="0" smtClean="0"/>
              <a:t> = ["Even" if n % 2 == 0 else "Odd" for n in numbers]</a:t>
            </a:r>
          </a:p>
          <a:p>
            <a:r>
              <a:rPr lang="en-US" dirty="0" smtClean="0"/>
              <a:t>print(</a:t>
            </a:r>
            <a:r>
              <a:rPr lang="en-US" dirty="0" err="1" smtClean="0"/>
              <a:t>even_odd_list</a:t>
            </a:r>
            <a:r>
              <a:rPr lang="en-US" dirty="0" smtClean="0"/>
              <a:t>)</a:t>
            </a:r>
          </a:p>
          <a:p>
            <a:r>
              <a:rPr lang="en-US" dirty="0" smtClean="0"/>
              <a:t># Output: ['Odd', 'Even', 'Odd', 'Even', 'Odd', 'Even']</a:t>
            </a:r>
            <a:endParaRPr lang="en-US" dirty="0"/>
          </a:p>
        </p:txBody>
      </p:sp>
      <p:sp>
        <p:nvSpPr>
          <p:cNvPr id="6" name="Rectangle 5"/>
          <p:cNvSpPr/>
          <p:nvPr/>
        </p:nvSpPr>
        <p:spPr>
          <a:xfrm>
            <a:off x="622300" y="2943225"/>
            <a:ext cx="8686800" cy="1200329"/>
          </a:xfrm>
          <a:prstGeom prst="rect">
            <a:avLst/>
          </a:prstGeom>
          <a:ln>
            <a:solidFill>
              <a:srgbClr val="C00000"/>
            </a:solidFill>
          </a:ln>
        </p:spPr>
        <p:txBody>
          <a:bodyPr wrap="square">
            <a:spAutoFit/>
          </a:bodyPr>
          <a:lstStyle/>
          <a:p>
            <a:r>
              <a:rPr lang="en-US" dirty="0" smtClean="0"/>
              <a:t>values = [10,20,3,45,9]</a:t>
            </a:r>
          </a:p>
          <a:p>
            <a:r>
              <a:rPr lang="en-US" dirty="0" err="1" smtClean="0"/>
              <a:t>modified_values</a:t>
            </a:r>
            <a:r>
              <a:rPr lang="en-US" dirty="0" smtClean="0"/>
              <a:t> = [v * 2 if v &gt; 10 else v / 2 for v in values]</a:t>
            </a:r>
          </a:p>
          <a:p>
            <a:r>
              <a:rPr lang="en-US" dirty="0" smtClean="0"/>
              <a:t>print(</a:t>
            </a:r>
            <a:r>
              <a:rPr lang="en-US" dirty="0" err="1" smtClean="0"/>
              <a:t>modified_values</a:t>
            </a:r>
            <a:r>
              <a:rPr lang="en-US" dirty="0" smtClean="0"/>
              <a:t>)</a:t>
            </a:r>
          </a:p>
          <a:p>
            <a:endParaRPr lang="en-US" dirty="0"/>
          </a:p>
        </p:txBody>
      </p:sp>
      <p:sp>
        <p:nvSpPr>
          <p:cNvPr id="7" name="Rectangle 6"/>
          <p:cNvSpPr/>
          <p:nvPr/>
        </p:nvSpPr>
        <p:spPr>
          <a:xfrm>
            <a:off x="317500" y="4619625"/>
            <a:ext cx="10210800" cy="1477328"/>
          </a:xfrm>
          <a:prstGeom prst="rect">
            <a:avLst/>
          </a:prstGeom>
          <a:ln>
            <a:solidFill>
              <a:srgbClr val="C00000"/>
            </a:solidFill>
          </a:ln>
        </p:spPr>
        <p:txBody>
          <a:bodyPr wrap="square">
            <a:spAutoFit/>
          </a:bodyPr>
          <a:lstStyle/>
          <a:p>
            <a:r>
              <a:rPr lang="en-US" dirty="0" err="1" smtClean="0"/>
              <a:t>new_list</a:t>
            </a:r>
            <a:r>
              <a:rPr lang="en-US" dirty="0" smtClean="0"/>
              <a:t> = ['</a:t>
            </a:r>
            <a:r>
              <a:rPr lang="en-US" dirty="0" err="1" smtClean="0"/>
              <a:t>fizzbuzz</a:t>
            </a:r>
            <a:r>
              <a:rPr lang="en-US" dirty="0" smtClean="0"/>
              <a:t>' if num % 3 == 0 and num % 5 == 0 else 'fizz' if num % 3 == 0 else 'buzz' if num % 5 == 0 else num for num in range(1, 11)]</a:t>
            </a:r>
          </a:p>
          <a:p>
            <a:r>
              <a:rPr lang="en-US" dirty="0" smtClean="0"/>
              <a:t>print(</a:t>
            </a:r>
            <a:r>
              <a:rPr lang="en-US" dirty="0" err="1" smtClean="0"/>
              <a:t>new_list</a:t>
            </a:r>
            <a:r>
              <a:rPr lang="en-US" dirty="0" smtClean="0"/>
              <a:t>)</a:t>
            </a:r>
          </a:p>
          <a:p>
            <a:r>
              <a:rPr lang="en-US" dirty="0" smtClean="0"/>
              <a:t># Output: [1, 2, 'fizz', 4, 'buzz', 'fizz', 7, 8, 'fizz', 'buzz']</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41300" y="772668"/>
            <a:ext cx="9982200" cy="6013703"/>
          </a:xfrm>
          <a:prstGeom prst="rect">
            <a:avLst/>
          </a:prstGeom>
          <a:blipFill>
            <a:blip r:embed="rId2" cstate="print"/>
            <a:stretch>
              <a:fillRect/>
            </a:stretch>
          </a:blipFill>
        </p:spPr>
        <p:txBody>
          <a:bodyPr wrap="square" lIns="0" tIns="0" rIns="0" bIns="0" rtlCol="0"/>
          <a:lstStyle/>
          <a:p>
            <a:endParaRPr/>
          </a:p>
        </p:txBody>
      </p:sp>
      <p:sp>
        <p:nvSpPr>
          <p:cNvPr id="4" name="Rectangle 3"/>
          <p:cNvSpPr/>
          <p:nvPr/>
        </p:nvSpPr>
        <p:spPr>
          <a:xfrm>
            <a:off x="546100" y="1190625"/>
            <a:ext cx="1828800" cy="1295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393700" y="4848225"/>
            <a:ext cx="4876800" cy="1676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65176" y="5631180"/>
            <a:ext cx="2711196" cy="944879"/>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241300" y="276225"/>
            <a:ext cx="1400810" cy="614680"/>
          </a:xfrm>
          <a:prstGeom prst="rect">
            <a:avLst/>
          </a:prstGeom>
        </p:spPr>
        <p:txBody>
          <a:bodyPr vert="horz" wrap="square" lIns="0" tIns="14605" rIns="0" bIns="0" rtlCol="0">
            <a:spAutoFit/>
          </a:bodyPr>
          <a:lstStyle/>
          <a:p>
            <a:pPr marL="12700">
              <a:lnSpc>
                <a:spcPct val="100000"/>
              </a:lnSpc>
              <a:spcBef>
                <a:spcPts val="115"/>
              </a:spcBef>
            </a:pPr>
            <a:r>
              <a:rPr b="0" u="heavy" spc="-955" dirty="0">
                <a:solidFill>
                  <a:srgbClr val="0070BF"/>
                </a:solidFill>
                <a:uFill>
                  <a:solidFill>
                    <a:srgbClr val="0070BF"/>
                  </a:solidFill>
                </a:uFill>
                <a:latin typeface="Times New Roman"/>
                <a:cs typeface="Times New Roman"/>
              </a:rPr>
              <a:t> </a:t>
            </a:r>
            <a:r>
              <a:rPr u="heavy" spc="-370" dirty="0">
                <a:solidFill>
                  <a:srgbClr val="0070BF"/>
                </a:solidFill>
                <a:uFill>
                  <a:solidFill>
                    <a:srgbClr val="0070BF"/>
                  </a:solidFill>
                </a:uFill>
              </a:rPr>
              <a:t>T</a:t>
            </a:r>
            <a:r>
              <a:rPr u="heavy" spc="15" dirty="0">
                <a:solidFill>
                  <a:srgbClr val="0070BF"/>
                </a:solidFill>
                <a:uFill>
                  <a:solidFill>
                    <a:srgbClr val="0070BF"/>
                  </a:solidFill>
                </a:uFill>
              </a:rPr>
              <a:t>up</a:t>
            </a:r>
            <a:r>
              <a:rPr u="heavy" spc="-35" dirty="0">
                <a:solidFill>
                  <a:srgbClr val="0070BF"/>
                </a:solidFill>
                <a:uFill>
                  <a:solidFill>
                    <a:srgbClr val="0070BF"/>
                  </a:solidFill>
                </a:uFill>
              </a:rPr>
              <a:t>l</a:t>
            </a:r>
            <a:r>
              <a:rPr u="heavy" spc="25" dirty="0">
                <a:solidFill>
                  <a:srgbClr val="0070BF"/>
                </a:solidFill>
                <a:uFill>
                  <a:solidFill>
                    <a:srgbClr val="0070BF"/>
                  </a:solidFill>
                </a:uFill>
              </a:rPr>
              <a:t>e</a:t>
            </a:r>
            <a:r>
              <a:rPr u="heavy" spc="5" dirty="0">
                <a:solidFill>
                  <a:srgbClr val="0070BF"/>
                </a:solidFill>
                <a:uFill>
                  <a:solidFill>
                    <a:srgbClr val="0070BF"/>
                  </a:solidFill>
                </a:uFill>
              </a:rPr>
              <a:t>s</a:t>
            </a:r>
          </a:p>
        </p:txBody>
      </p:sp>
      <p:sp>
        <p:nvSpPr>
          <p:cNvPr id="4" name="object 4"/>
          <p:cNvSpPr txBox="1"/>
          <p:nvPr/>
        </p:nvSpPr>
        <p:spPr>
          <a:xfrm>
            <a:off x="393700" y="1343025"/>
            <a:ext cx="9753600" cy="5088573"/>
          </a:xfrm>
          <a:prstGeom prst="rect">
            <a:avLst/>
          </a:prstGeom>
        </p:spPr>
        <p:txBody>
          <a:bodyPr vert="horz" wrap="square" lIns="0" tIns="172720" rIns="0" bIns="0" rtlCol="0">
            <a:spAutoFit/>
          </a:bodyPr>
          <a:lstStyle/>
          <a:p>
            <a:pPr marL="312420" indent="-300355">
              <a:spcBef>
                <a:spcPts val="1360"/>
              </a:spcBef>
              <a:buFont typeface="Arial"/>
              <a:buChar char="•"/>
              <a:tabLst>
                <a:tab pos="312420" algn="l"/>
                <a:tab pos="313055" algn="l"/>
              </a:tabLst>
            </a:pPr>
            <a:r>
              <a:rPr lang="en-US" sz="2400" spc="60" dirty="0" smtClean="0">
                <a:solidFill>
                  <a:srgbClr val="231F20"/>
                </a:solidFill>
                <a:latin typeface="Cambria"/>
                <a:cs typeface="Cambria"/>
              </a:rPr>
              <a:t>A</a:t>
            </a:r>
            <a:r>
              <a:rPr lang="en-US" sz="2400" spc="220" dirty="0" smtClean="0">
                <a:solidFill>
                  <a:srgbClr val="231F20"/>
                </a:solidFill>
                <a:latin typeface="Cambria"/>
                <a:cs typeface="Cambria"/>
              </a:rPr>
              <a:t> </a:t>
            </a:r>
            <a:r>
              <a:rPr lang="en-US" sz="2400" spc="65" dirty="0" err="1" smtClean="0">
                <a:solidFill>
                  <a:srgbClr val="231F20"/>
                </a:solidFill>
                <a:latin typeface="Cambria"/>
                <a:cs typeface="Cambria"/>
              </a:rPr>
              <a:t>tuple</a:t>
            </a:r>
            <a:r>
              <a:rPr lang="en-US" sz="2400" spc="220" dirty="0" smtClean="0">
                <a:solidFill>
                  <a:srgbClr val="231F20"/>
                </a:solidFill>
                <a:latin typeface="Cambria"/>
                <a:cs typeface="Cambria"/>
              </a:rPr>
              <a:t> </a:t>
            </a:r>
            <a:r>
              <a:rPr lang="en-US" sz="2400" spc="60" dirty="0" smtClean="0">
                <a:solidFill>
                  <a:srgbClr val="231F20"/>
                </a:solidFill>
                <a:latin typeface="Cambria"/>
                <a:cs typeface="Cambria"/>
              </a:rPr>
              <a:t>is</a:t>
            </a:r>
            <a:r>
              <a:rPr lang="en-US" sz="2400" spc="220" dirty="0" smtClean="0">
                <a:solidFill>
                  <a:srgbClr val="231F20"/>
                </a:solidFill>
                <a:latin typeface="Cambria"/>
                <a:cs typeface="Cambria"/>
              </a:rPr>
              <a:t> </a:t>
            </a:r>
            <a:r>
              <a:rPr lang="en-US" sz="2400" spc="100" dirty="0" smtClean="0">
                <a:solidFill>
                  <a:srgbClr val="231F20"/>
                </a:solidFill>
                <a:latin typeface="Cambria"/>
                <a:cs typeface="Cambria"/>
              </a:rPr>
              <a:t>an</a:t>
            </a:r>
            <a:r>
              <a:rPr lang="en-US" sz="2400" spc="220" dirty="0" smtClean="0">
                <a:solidFill>
                  <a:srgbClr val="231F20"/>
                </a:solidFill>
                <a:latin typeface="Cambria"/>
                <a:cs typeface="Cambria"/>
              </a:rPr>
              <a:t> </a:t>
            </a:r>
            <a:r>
              <a:rPr lang="en-US" sz="2400" dirty="0" smtClean="0">
                <a:solidFill>
                  <a:srgbClr val="231F20"/>
                </a:solidFill>
                <a:latin typeface="Cambria"/>
                <a:cs typeface="Cambria"/>
              </a:rPr>
              <a:t>ordered</a:t>
            </a:r>
            <a:r>
              <a:rPr lang="en-US" sz="2400" spc="220" dirty="0" smtClean="0">
                <a:solidFill>
                  <a:srgbClr val="231F20"/>
                </a:solidFill>
                <a:latin typeface="Cambria"/>
                <a:cs typeface="Cambria"/>
              </a:rPr>
              <a:t> </a:t>
            </a:r>
            <a:r>
              <a:rPr lang="en-US" sz="2400" spc="75" dirty="0" smtClean="0">
                <a:solidFill>
                  <a:srgbClr val="231F20"/>
                </a:solidFill>
                <a:latin typeface="Cambria"/>
                <a:cs typeface="Cambria"/>
              </a:rPr>
              <a:t>sequence</a:t>
            </a:r>
            <a:r>
              <a:rPr lang="en-US" sz="2400" spc="220" dirty="0" smtClean="0">
                <a:solidFill>
                  <a:srgbClr val="231F20"/>
                </a:solidFill>
                <a:latin typeface="Cambria"/>
                <a:cs typeface="Cambria"/>
              </a:rPr>
              <a:t> </a:t>
            </a:r>
            <a:r>
              <a:rPr lang="en-US" sz="2400" dirty="0" smtClean="0">
                <a:solidFill>
                  <a:srgbClr val="231F20"/>
                </a:solidFill>
                <a:latin typeface="Cambria"/>
                <a:cs typeface="Cambria"/>
              </a:rPr>
              <a:t>of</a:t>
            </a:r>
            <a:r>
              <a:rPr lang="en-US" sz="2400" spc="220" dirty="0" smtClean="0">
                <a:solidFill>
                  <a:srgbClr val="231F20"/>
                </a:solidFill>
                <a:latin typeface="Cambria"/>
                <a:cs typeface="Cambria"/>
              </a:rPr>
              <a:t> </a:t>
            </a:r>
            <a:r>
              <a:rPr lang="en-US" sz="2400" spc="60" dirty="0" smtClean="0">
                <a:solidFill>
                  <a:srgbClr val="231F20"/>
                </a:solidFill>
                <a:latin typeface="Cambria"/>
                <a:cs typeface="Cambria"/>
              </a:rPr>
              <a:t>elements</a:t>
            </a:r>
            <a:r>
              <a:rPr lang="en-US" sz="2400" spc="220" dirty="0" smtClean="0">
                <a:solidFill>
                  <a:srgbClr val="231F20"/>
                </a:solidFill>
                <a:latin typeface="Cambria"/>
                <a:cs typeface="Cambria"/>
              </a:rPr>
              <a:t> </a:t>
            </a:r>
            <a:r>
              <a:rPr lang="en-US" sz="2400" dirty="0" smtClean="0">
                <a:solidFill>
                  <a:srgbClr val="231F20"/>
                </a:solidFill>
                <a:latin typeface="Cambria"/>
                <a:cs typeface="Cambria"/>
              </a:rPr>
              <a:t>of</a:t>
            </a:r>
            <a:r>
              <a:rPr lang="en-US" sz="2400" spc="220" dirty="0" smtClean="0">
                <a:solidFill>
                  <a:srgbClr val="231F20"/>
                </a:solidFill>
                <a:latin typeface="Cambria"/>
                <a:cs typeface="Cambria"/>
              </a:rPr>
              <a:t> </a:t>
            </a:r>
            <a:r>
              <a:rPr lang="en-US" sz="2400" spc="-10" dirty="0" smtClean="0">
                <a:solidFill>
                  <a:srgbClr val="231F20"/>
                </a:solidFill>
                <a:latin typeface="Cambria"/>
                <a:cs typeface="Cambria"/>
              </a:rPr>
              <a:t>different </a:t>
            </a:r>
            <a:r>
              <a:rPr lang="en-US" sz="2400" spc="80" dirty="0" smtClean="0">
                <a:solidFill>
                  <a:srgbClr val="231F20"/>
                </a:solidFill>
                <a:latin typeface="Cambria"/>
                <a:cs typeface="Cambria"/>
              </a:rPr>
              <a:t>data</a:t>
            </a:r>
            <a:r>
              <a:rPr lang="en-US" sz="2400" spc="220" dirty="0" smtClean="0">
                <a:solidFill>
                  <a:srgbClr val="231F20"/>
                </a:solidFill>
                <a:latin typeface="Cambria"/>
                <a:cs typeface="Cambria"/>
              </a:rPr>
              <a:t> </a:t>
            </a:r>
            <a:r>
              <a:rPr lang="en-US" sz="2400" spc="75" dirty="0" smtClean="0">
                <a:solidFill>
                  <a:srgbClr val="231F20"/>
                </a:solidFill>
                <a:latin typeface="Cambria"/>
                <a:cs typeface="Cambria"/>
              </a:rPr>
              <a:t>types,</a:t>
            </a:r>
            <a:r>
              <a:rPr lang="en-US" sz="2400" spc="225" dirty="0" smtClean="0">
                <a:solidFill>
                  <a:srgbClr val="231F20"/>
                </a:solidFill>
                <a:latin typeface="Cambria"/>
                <a:cs typeface="Cambria"/>
              </a:rPr>
              <a:t> </a:t>
            </a:r>
            <a:r>
              <a:rPr lang="en-US" sz="2400" spc="110" dirty="0" smtClean="0">
                <a:solidFill>
                  <a:srgbClr val="231F20"/>
                </a:solidFill>
                <a:latin typeface="Cambria"/>
                <a:cs typeface="Cambria"/>
              </a:rPr>
              <a:t>such</a:t>
            </a:r>
            <a:r>
              <a:rPr lang="en-US" sz="2400" spc="229" dirty="0" smtClean="0">
                <a:solidFill>
                  <a:srgbClr val="231F20"/>
                </a:solidFill>
                <a:latin typeface="Cambria"/>
                <a:cs typeface="Cambria"/>
              </a:rPr>
              <a:t> </a:t>
            </a:r>
            <a:r>
              <a:rPr lang="en-US" sz="2400" spc="110" dirty="0" smtClean="0">
                <a:solidFill>
                  <a:srgbClr val="231F20"/>
                </a:solidFill>
                <a:latin typeface="Cambria"/>
                <a:cs typeface="Cambria"/>
              </a:rPr>
              <a:t>as</a:t>
            </a:r>
            <a:r>
              <a:rPr lang="en-US" sz="2400" spc="225" dirty="0" smtClean="0">
                <a:solidFill>
                  <a:srgbClr val="231F20"/>
                </a:solidFill>
                <a:latin typeface="Cambria"/>
                <a:cs typeface="Cambria"/>
              </a:rPr>
              <a:t> </a:t>
            </a:r>
            <a:r>
              <a:rPr lang="en-US" sz="2400" spc="55" dirty="0" smtClean="0">
                <a:solidFill>
                  <a:srgbClr val="231F20"/>
                </a:solidFill>
                <a:latin typeface="Cambria"/>
                <a:cs typeface="Cambria"/>
              </a:rPr>
              <a:t>integer,</a:t>
            </a:r>
            <a:r>
              <a:rPr lang="en-US" sz="2400" spc="225" dirty="0" smtClean="0">
                <a:solidFill>
                  <a:srgbClr val="231F20"/>
                </a:solidFill>
                <a:latin typeface="Cambria"/>
                <a:cs typeface="Cambria"/>
              </a:rPr>
              <a:t> </a:t>
            </a:r>
            <a:r>
              <a:rPr lang="en-US" sz="2400" spc="60" dirty="0" smtClean="0">
                <a:solidFill>
                  <a:srgbClr val="231F20"/>
                </a:solidFill>
                <a:latin typeface="Cambria"/>
                <a:cs typeface="Cambria"/>
              </a:rPr>
              <a:t>float,</a:t>
            </a:r>
            <a:r>
              <a:rPr lang="en-US" sz="2400" spc="225" dirty="0" smtClean="0">
                <a:solidFill>
                  <a:srgbClr val="231F20"/>
                </a:solidFill>
                <a:latin typeface="Cambria"/>
                <a:cs typeface="Cambria"/>
              </a:rPr>
              <a:t> </a:t>
            </a:r>
            <a:r>
              <a:rPr lang="en-US" sz="2400" spc="70" dirty="0" smtClean="0">
                <a:solidFill>
                  <a:srgbClr val="231F20"/>
                </a:solidFill>
                <a:latin typeface="Cambria"/>
                <a:cs typeface="Cambria"/>
              </a:rPr>
              <a:t>string,</a:t>
            </a:r>
            <a:r>
              <a:rPr lang="en-US" sz="2400" spc="225" dirty="0" smtClean="0">
                <a:solidFill>
                  <a:srgbClr val="231F20"/>
                </a:solidFill>
                <a:latin typeface="Cambria"/>
                <a:cs typeface="Cambria"/>
              </a:rPr>
              <a:t> </a:t>
            </a:r>
            <a:r>
              <a:rPr lang="en-US" sz="2400" spc="55" dirty="0" smtClean="0">
                <a:solidFill>
                  <a:srgbClr val="231F20"/>
                </a:solidFill>
                <a:latin typeface="Cambria"/>
                <a:cs typeface="Cambria"/>
              </a:rPr>
              <a:t>list</a:t>
            </a:r>
            <a:r>
              <a:rPr lang="en-US" sz="2400" spc="225" dirty="0" smtClean="0">
                <a:solidFill>
                  <a:srgbClr val="231F20"/>
                </a:solidFill>
                <a:latin typeface="Cambria"/>
                <a:cs typeface="Cambria"/>
              </a:rPr>
              <a:t> </a:t>
            </a:r>
            <a:r>
              <a:rPr lang="en-US" sz="2400" dirty="0" smtClean="0">
                <a:solidFill>
                  <a:srgbClr val="231F20"/>
                </a:solidFill>
                <a:latin typeface="Cambria"/>
                <a:cs typeface="Cambria"/>
              </a:rPr>
              <a:t>or</a:t>
            </a:r>
            <a:r>
              <a:rPr lang="en-US" sz="2400" spc="225" dirty="0" smtClean="0">
                <a:solidFill>
                  <a:srgbClr val="231F20"/>
                </a:solidFill>
                <a:latin typeface="Cambria"/>
                <a:cs typeface="Cambria"/>
              </a:rPr>
              <a:t> </a:t>
            </a:r>
            <a:r>
              <a:rPr lang="en-US" sz="2400" dirty="0" smtClean="0">
                <a:solidFill>
                  <a:srgbClr val="231F20"/>
                </a:solidFill>
                <a:latin typeface="Cambria"/>
                <a:cs typeface="Cambria"/>
              </a:rPr>
              <a:t>even</a:t>
            </a:r>
            <a:r>
              <a:rPr lang="en-US" sz="2400" spc="225" dirty="0" smtClean="0">
                <a:solidFill>
                  <a:srgbClr val="231F20"/>
                </a:solidFill>
                <a:latin typeface="Cambria"/>
                <a:cs typeface="Cambria"/>
              </a:rPr>
              <a:t> </a:t>
            </a:r>
            <a:r>
              <a:rPr lang="en-US" sz="2400" spc="55" dirty="0" smtClean="0">
                <a:solidFill>
                  <a:srgbClr val="231F20"/>
                </a:solidFill>
                <a:latin typeface="Cambria"/>
                <a:cs typeface="Cambria"/>
              </a:rPr>
              <a:t>a </a:t>
            </a:r>
            <a:r>
              <a:rPr lang="en-US" sz="2400" spc="80" dirty="0" err="1" smtClean="0">
                <a:solidFill>
                  <a:srgbClr val="231F20"/>
                </a:solidFill>
                <a:latin typeface="Cambria"/>
                <a:cs typeface="Cambria"/>
              </a:rPr>
              <a:t>tuple</a:t>
            </a:r>
            <a:r>
              <a:rPr lang="en-US" sz="2400" spc="80" dirty="0" smtClean="0">
                <a:solidFill>
                  <a:srgbClr val="231F20"/>
                </a:solidFill>
                <a:latin typeface="Cambria"/>
                <a:cs typeface="Cambria"/>
              </a:rPr>
              <a:t>.</a:t>
            </a:r>
            <a:r>
              <a:rPr lang="en-US" sz="2400" spc="225" dirty="0" smtClean="0">
                <a:solidFill>
                  <a:srgbClr val="231F20"/>
                </a:solidFill>
                <a:latin typeface="Cambria"/>
                <a:cs typeface="Cambria"/>
              </a:rPr>
              <a:t> </a:t>
            </a:r>
          </a:p>
          <a:p>
            <a:pPr marL="312420" indent="-300355">
              <a:spcBef>
                <a:spcPts val="1360"/>
              </a:spcBef>
              <a:buFont typeface="Arial"/>
              <a:buChar char="•"/>
              <a:tabLst>
                <a:tab pos="312420" algn="l"/>
                <a:tab pos="313055" algn="l"/>
              </a:tabLst>
            </a:pPr>
            <a:r>
              <a:rPr lang="en-US" sz="2400" spc="80" dirty="0" smtClean="0">
                <a:solidFill>
                  <a:srgbClr val="231F20"/>
                </a:solidFill>
                <a:latin typeface="Cambria"/>
                <a:cs typeface="Cambria"/>
              </a:rPr>
              <a:t>Elements</a:t>
            </a:r>
            <a:r>
              <a:rPr lang="en-US" sz="2400" spc="229" dirty="0" smtClean="0">
                <a:solidFill>
                  <a:srgbClr val="231F20"/>
                </a:solidFill>
                <a:latin typeface="Cambria"/>
                <a:cs typeface="Cambria"/>
              </a:rPr>
              <a:t> </a:t>
            </a:r>
            <a:r>
              <a:rPr lang="en-US" sz="2400" dirty="0" smtClean="0">
                <a:solidFill>
                  <a:srgbClr val="231F20"/>
                </a:solidFill>
                <a:latin typeface="Cambria"/>
                <a:cs typeface="Cambria"/>
              </a:rPr>
              <a:t>of</a:t>
            </a:r>
            <a:r>
              <a:rPr lang="en-US" sz="2400" spc="225" dirty="0" smtClean="0">
                <a:solidFill>
                  <a:srgbClr val="231F20"/>
                </a:solidFill>
                <a:latin typeface="Cambria"/>
                <a:cs typeface="Cambria"/>
              </a:rPr>
              <a:t> </a:t>
            </a:r>
            <a:r>
              <a:rPr lang="en-US" sz="2400" spc="105" dirty="0" smtClean="0">
                <a:solidFill>
                  <a:srgbClr val="231F20"/>
                </a:solidFill>
                <a:latin typeface="Cambria"/>
                <a:cs typeface="Cambria"/>
              </a:rPr>
              <a:t>a</a:t>
            </a:r>
            <a:r>
              <a:rPr lang="en-US" sz="2400" spc="229" dirty="0" smtClean="0">
                <a:solidFill>
                  <a:srgbClr val="231F20"/>
                </a:solidFill>
                <a:latin typeface="Cambria"/>
                <a:cs typeface="Cambria"/>
              </a:rPr>
              <a:t> </a:t>
            </a:r>
            <a:r>
              <a:rPr lang="en-US" sz="2400" spc="65" dirty="0" err="1" smtClean="0">
                <a:solidFill>
                  <a:srgbClr val="231F20"/>
                </a:solidFill>
                <a:latin typeface="Cambria"/>
                <a:cs typeface="Cambria"/>
              </a:rPr>
              <a:t>tuple</a:t>
            </a:r>
            <a:r>
              <a:rPr lang="en-US" sz="2400" spc="225" dirty="0" smtClean="0">
                <a:solidFill>
                  <a:srgbClr val="231F20"/>
                </a:solidFill>
                <a:latin typeface="Cambria"/>
                <a:cs typeface="Cambria"/>
              </a:rPr>
              <a:t> </a:t>
            </a:r>
            <a:r>
              <a:rPr lang="en-US" sz="2400" spc="55" dirty="0" smtClean="0">
                <a:solidFill>
                  <a:srgbClr val="231F20"/>
                </a:solidFill>
                <a:latin typeface="Cambria"/>
                <a:cs typeface="Cambria"/>
              </a:rPr>
              <a:t>are</a:t>
            </a:r>
            <a:r>
              <a:rPr lang="en-US" sz="2400" spc="229" dirty="0" smtClean="0">
                <a:solidFill>
                  <a:srgbClr val="231F20"/>
                </a:solidFill>
                <a:latin typeface="Cambria"/>
                <a:cs typeface="Cambria"/>
              </a:rPr>
              <a:t> </a:t>
            </a:r>
            <a:r>
              <a:rPr lang="en-US" sz="2400" spc="60" dirty="0" smtClean="0">
                <a:solidFill>
                  <a:srgbClr val="231F20"/>
                </a:solidFill>
                <a:latin typeface="Cambria"/>
                <a:cs typeface="Cambria"/>
              </a:rPr>
              <a:t>enclosed</a:t>
            </a:r>
            <a:r>
              <a:rPr lang="en-US" sz="2400" spc="229" dirty="0" smtClean="0">
                <a:solidFill>
                  <a:srgbClr val="231F20"/>
                </a:solidFill>
                <a:latin typeface="Cambria"/>
                <a:cs typeface="Cambria"/>
              </a:rPr>
              <a:t> </a:t>
            </a:r>
            <a:r>
              <a:rPr lang="en-US" sz="2400" spc="60" dirty="0" smtClean="0">
                <a:solidFill>
                  <a:srgbClr val="231F20"/>
                </a:solidFill>
                <a:latin typeface="Cambria"/>
                <a:cs typeface="Cambria"/>
              </a:rPr>
              <a:t>in</a:t>
            </a:r>
            <a:r>
              <a:rPr lang="en-US" sz="2400" spc="225" dirty="0" smtClean="0">
                <a:solidFill>
                  <a:srgbClr val="231F20"/>
                </a:solidFill>
                <a:latin typeface="Cambria"/>
                <a:cs typeface="Cambria"/>
              </a:rPr>
              <a:t> </a:t>
            </a:r>
            <a:r>
              <a:rPr lang="en-US" sz="2400" spc="60" dirty="0" smtClean="0">
                <a:solidFill>
                  <a:srgbClr val="231F20"/>
                </a:solidFill>
                <a:latin typeface="Cambria"/>
                <a:cs typeface="Cambria"/>
              </a:rPr>
              <a:t>parenthesis </a:t>
            </a:r>
            <a:r>
              <a:rPr lang="en-US" sz="2400" dirty="0" smtClean="0">
                <a:solidFill>
                  <a:srgbClr val="231F20"/>
                </a:solidFill>
                <a:latin typeface="Cambria"/>
                <a:cs typeface="Cambria"/>
              </a:rPr>
              <a:t>(round</a:t>
            </a:r>
            <a:r>
              <a:rPr lang="en-US" sz="2400" spc="75" dirty="0" smtClean="0">
                <a:solidFill>
                  <a:srgbClr val="231F20"/>
                </a:solidFill>
                <a:latin typeface="Cambria"/>
                <a:cs typeface="Cambria"/>
              </a:rPr>
              <a:t> </a:t>
            </a:r>
            <a:r>
              <a:rPr lang="en-US" sz="2400" spc="55" dirty="0" smtClean="0">
                <a:solidFill>
                  <a:srgbClr val="231F20"/>
                </a:solidFill>
                <a:latin typeface="Cambria"/>
                <a:cs typeface="Cambria"/>
              </a:rPr>
              <a:t>brackets)</a:t>
            </a:r>
            <a:r>
              <a:rPr lang="en-US" sz="2400" spc="75" dirty="0" smtClean="0">
                <a:solidFill>
                  <a:srgbClr val="231F20"/>
                </a:solidFill>
                <a:latin typeface="Cambria"/>
                <a:cs typeface="Cambria"/>
              </a:rPr>
              <a:t> </a:t>
            </a:r>
            <a:r>
              <a:rPr lang="en-US" sz="2400" spc="90" dirty="0" smtClean="0">
                <a:solidFill>
                  <a:srgbClr val="231F20"/>
                </a:solidFill>
                <a:latin typeface="Cambria"/>
                <a:cs typeface="Cambria"/>
              </a:rPr>
              <a:t>and</a:t>
            </a:r>
            <a:r>
              <a:rPr lang="en-US" sz="2400" spc="80" dirty="0" smtClean="0">
                <a:solidFill>
                  <a:srgbClr val="231F20"/>
                </a:solidFill>
                <a:latin typeface="Cambria"/>
                <a:cs typeface="Cambria"/>
              </a:rPr>
              <a:t> </a:t>
            </a:r>
            <a:r>
              <a:rPr lang="en-US" sz="2400" spc="55" dirty="0" smtClean="0">
                <a:solidFill>
                  <a:srgbClr val="231F20"/>
                </a:solidFill>
                <a:latin typeface="Cambria"/>
                <a:cs typeface="Cambria"/>
              </a:rPr>
              <a:t>are</a:t>
            </a:r>
            <a:r>
              <a:rPr lang="en-US" sz="2400" spc="75" dirty="0" smtClean="0">
                <a:solidFill>
                  <a:srgbClr val="231F20"/>
                </a:solidFill>
                <a:latin typeface="Cambria"/>
                <a:cs typeface="Cambria"/>
              </a:rPr>
              <a:t> </a:t>
            </a:r>
            <a:r>
              <a:rPr lang="en-US" sz="2400" spc="60" dirty="0" smtClean="0">
                <a:solidFill>
                  <a:srgbClr val="231F20"/>
                </a:solidFill>
                <a:latin typeface="Cambria"/>
                <a:cs typeface="Cambria"/>
              </a:rPr>
              <a:t>separated</a:t>
            </a:r>
            <a:r>
              <a:rPr lang="en-US" sz="2400" spc="75" dirty="0" smtClean="0">
                <a:solidFill>
                  <a:srgbClr val="231F20"/>
                </a:solidFill>
                <a:latin typeface="Cambria"/>
                <a:cs typeface="Cambria"/>
              </a:rPr>
              <a:t> </a:t>
            </a:r>
            <a:r>
              <a:rPr lang="en-US" sz="2400" spc="60" dirty="0" smtClean="0">
                <a:solidFill>
                  <a:srgbClr val="231F20"/>
                </a:solidFill>
                <a:latin typeface="Cambria"/>
                <a:cs typeface="Cambria"/>
              </a:rPr>
              <a:t>by</a:t>
            </a:r>
            <a:r>
              <a:rPr lang="en-US" sz="2400" spc="80" dirty="0" smtClean="0">
                <a:solidFill>
                  <a:srgbClr val="231F20"/>
                </a:solidFill>
                <a:latin typeface="Cambria"/>
                <a:cs typeface="Cambria"/>
              </a:rPr>
              <a:t> </a:t>
            </a:r>
            <a:r>
              <a:rPr lang="en-US" sz="2400" spc="100" dirty="0" smtClean="0">
                <a:solidFill>
                  <a:srgbClr val="231F20"/>
                </a:solidFill>
                <a:latin typeface="Cambria"/>
                <a:cs typeface="Cambria"/>
              </a:rPr>
              <a:t>commas.</a:t>
            </a:r>
            <a:r>
              <a:rPr lang="en-US" sz="2400" spc="75" dirty="0" smtClean="0">
                <a:solidFill>
                  <a:srgbClr val="231F20"/>
                </a:solidFill>
                <a:latin typeface="Cambria"/>
                <a:cs typeface="Cambria"/>
              </a:rPr>
              <a:t> </a:t>
            </a:r>
          </a:p>
          <a:p>
            <a:pPr marL="312420" indent="-300355">
              <a:spcBef>
                <a:spcPts val="1360"/>
              </a:spcBef>
              <a:buFont typeface="Arial"/>
              <a:buChar char="•"/>
              <a:tabLst>
                <a:tab pos="312420" algn="l"/>
                <a:tab pos="313055" algn="l"/>
              </a:tabLst>
            </a:pPr>
            <a:r>
              <a:rPr lang="en-US" sz="2400" spc="60" dirty="0" smtClean="0">
                <a:solidFill>
                  <a:srgbClr val="231F20"/>
                </a:solidFill>
                <a:latin typeface="Cambria"/>
                <a:cs typeface="Cambria"/>
              </a:rPr>
              <a:t>Like</a:t>
            </a:r>
            <a:r>
              <a:rPr lang="en-US" sz="2400" spc="75" dirty="0" smtClean="0">
                <a:solidFill>
                  <a:srgbClr val="231F20"/>
                </a:solidFill>
                <a:latin typeface="Cambria"/>
                <a:cs typeface="Cambria"/>
              </a:rPr>
              <a:t> </a:t>
            </a:r>
            <a:r>
              <a:rPr lang="en-US" sz="2400" spc="35" dirty="0" smtClean="0">
                <a:solidFill>
                  <a:srgbClr val="231F20"/>
                </a:solidFill>
                <a:latin typeface="Cambria"/>
                <a:cs typeface="Cambria"/>
              </a:rPr>
              <a:t>list </a:t>
            </a:r>
            <a:r>
              <a:rPr lang="en-US" sz="2400" spc="90" dirty="0" smtClean="0">
                <a:solidFill>
                  <a:srgbClr val="231F20"/>
                </a:solidFill>
                <a:latin typeface="Cambria"/>
                <a:cs typeface="Cambria"/>
              </a:rPr>
              <a:t>and</a:t>
            </a:r>
            <a:r>
              <a:rPr lang="en-US" sz="2400" spc="245" dirty="0" smtClean="0">
                <a:solidFill>
                  <a:srgbClr val="231F20"/>
                </a:solidFill>
                <a:latin typeface="Cambria"/>
                <a:cs typeface="Cambria"/>
              </a:rPr>
              <a:t> </a:t>
            </a:r>
            <a:r>
              <a:rPr lang="en-US" sz="2400" spc="70" dirty="0" smtClean="0">
                <a:solidFill>
                  <a:srgbClr val="231F20"/>
                </a:solidFill>
                <a:latin typeface="Cambria"/>
                <a:cs typeface="Cambria"/>
              </a:rPr>
              <a:t>string,</a:t>
            </a:r>
            <a:r>
              <a:rPr lang="en-US" sz="2400" spc="250" dirty="0" smtClean="0">
                <a:solidFill>
                  <a:srgbClr val="231F20"/>
                </a:solidFill>
                <a:latin typeface="Cambria"/>
                <a:cs typeface="Cambria"/>
              </a:rPr>
              <a:t> </a:t>
            </a:r>
            <a:r>
              <a:rPr lang="en-US" sz="2400" spc="60" dirty="0" smtClean="0">
                <a:solidFill>
                  <a:srgbClr val="231F20"/>
                </a:solidFill>
                <a:latin typeface="Cambria"/>
                <a:cs typeface="Cambria"/>
              </a:rPr>
              <a:t>elements</a:t>
            </a:r>
            <a:r>
              <a:rPr lang="en-US" sz="2400" spc="240" dirty="0" smtClean="0">
                <a:solidFill>
                  <a:srgbClr val="231F20"/>
                </a:solidFill>
                <a:latin typeface="Cambria"/>
                <a:cs typeface="Cambria"/>
              </a:rPr>
              <a:t> </a:t>
            </a:r>
            <a:r>
              <a:rPr lang="en-US" sz="2400" dirty="0" smtClean="0">
                <a:solidFill>
                  <a:srgbClr val="231F20"/>
                </a:solidFill>
                <a:latin typeface="Cambria"/>
                <a:cs typeface="Cambria"/>
              </a:rPr>
              <a:t>of</a:t>
            </a:r>
            <a:r>
              <a:rPr lang="en-US" sz="2400" spc="250" dirty="0" smtClean="0">
                <a:solidFill>
                  <a:srgbClr val="231F20"/>
                </a:solidFill>
                <a:latin typeface="Cambria"/>
                <a:cs typeface="Cambria"/>
              </a:rPr>
              <a:t> </a:t>
            </a:r>
            <a:r>
              <a:rPr lang="en-US" sz="2400" spc="105" dirty="0" smtClean="0">
                <a:solidFill>
                  <a:srgbClr val="231F20"/>
                </a:solidFill>
                <a:latin typeface="Cambria"/>
                <a:cs typeface="Cambria"/>
              </a:rPr>
              <a:t>a</a:t>
            </a:r>
            <a:r>
              <a:rPr lang="en-US" sz="2400" spc="245" dirty="0" smtClean="0">
                <a:solidFill>
                  <a:srgbClr val="231F20"/>
                </a:solidFill>
                <a:latin typeface="Cambria"/>
                <a:cs typeface="Cambria"/>
              </a:rPr>
              <a:t> </a:t>
            </a:r>
            <a:r>
              <a:rPr lang="en-US" sz="2400" spc="65" dirty="0" err="1" smtClean="0">
                <a:solidFill>
                  <a:srgbClr val="231F20"/>
                </a:solidFill>
                <a:latin typeface="Cambria"/>
                <a:cs typeface="Cambria"/>
              </a:rPr>
              <a:t>tuple</a:t>
            </a:r>
            <a:r>
              <a:rPr lang="en-US" sz="2400" spc="250" dirty="0" smtClean="0">
                <a:solidFill>
                  <a:srgbClr val="231F20"/>
                </a:solidFill>
                <a:latin typeface="Cambria"/>
                <a:cs typeface="Cambria"/>
              </a:rPr>
              <a:t> </a:t>
            </a:r>
            <a:r>
              <a:rPr lang="en-US" sz="2400" spc="100" dirty="0" smtClean="0">
                <a:solidFill>
                  <a:srgbClr val="231F20"/>
                </a:solidFill>
                <a:latin typeface="Cambria"/>
                <a:cs typeface="Cambria"/>
              </a:rPr>
              <a:t>can</a:t>
            </a:r>
            <a:r>
              <a:rPr lang="en-US" sz="2400" spc="245" dirty="0" smtClean="0">
                <a:solidFill>
                  <a:srgbClr val="231F20"/>
                </a:solidFill>
                <a:latin typeface="Cambria"/>
                <a:cs typeface="Cambria"/>
              </a:rPr>
              <a:t> </a:t>
            </a:r>
            <a:r>
              <a:rPr lang="en-US" sz="2400" spc="55" dirty="0" smtClean="0">
                <a:solidFill>
                  <a:srgbClr val="231F20"/>
                </a:solidFill>
                <a:latin typeface="Cambria"/>
                <a:cs typeface="Cambria"/>
              </a:rPr>
              <a:t>be</a:t>
            </a:r>
            <a:r>
              <a:rPr lang="en-US" sz="2400" spc="250" dirty="0" smtClean="0">
                <a:solidFill>
                  <a:srgbClr val="231F20"/>
                </a:solidFill>
                <a:latin typeface="Cambria"/>
                <a:cs typeface="Cambria"/>
              </a:rPr>
              <a:t> </a:t>
            </a:r>
            <a:r>
              <a:rPr lang="en-US" sz="2400" spc="80" dirty="0" smtClean="0">
                <a:solidFill>
                  <a:srgbClr val="231F20"/>
                </a:solidFill>
                <a:latin typeface="Cambria"/>
                <a:cs typeface="Cambria"/>
              </a:rPr>
              <a:t>accessed</a:t>
            </a:r>
            <a:r>
              <a:rPr lang="en-US" sz="2400" spc="245" dirty="0" smtClean="0">
                <a:solidFill>
                  <a:srgbClr val="231F20"/>
                </a:solidFill>
                <a:latin typeface="Cambria"/>
                <a:cs typeface="Cambria"/>
              </a:rPr>
              <a:t> </a:t>
            </a:r>
            <a:r>
              <a:rPr lang="en-US" sz="2400" spc="75" dirty="0" smtClean="0">
                <a:solidFill>
                  <a:srgbClr val="231F20"/>
                </a:solidFill>
                <a:latin typeface="Cambria"/>
                <a:cs typeface="Cambria"/>
              </a:rPr>
              <a:t>using </a:t>
            </a:r>
            <a:r>
              <a:rPr lang="en-US" sz="2400" spc="60" dirty="0" smtClean="0">
                <a:solidFill>
                  <a:srgbClr val="231F20"/>
                </a:solidFill>
                <a:latin typeface="Cambria"/>
                <a:cs typeface="Cambria"/>
              </a:rPr>
              <a:t>index</a:t>
            </a:r>
            <a:r>
              <a:rPr lang="en-US" sz="2400" spc="120" dirty="0" smtClean="0">
                <a:solidFill>
                  <a:srgbClr val="231F20"/>
                </a:solidFill>
                <a:latin typeface="Cambria"/>
                <a:cs typeface="Cambria"/>
              </a:rPr>
              <a:t> </a:t>
            </a:r>
            <a:r>
              <a:rPr lang="en-US" sz="2400" spc="85" dirty="0" smtClean="0">
                <a:solidFill>
                  <a:srgbClr val="231F20"/>
                </a:solidFill>
                <a:latin typeface="Cambria"/>
                <a:cs typeface="Cambria"/>
              </a:rPr>
              <a:t>values,</a:t>
            </a:r>
            <a:r>
              <a:rPr lang="en-US" sz="2400" spc="125" dirty="0" smtClean="0">
                <a:solidFill>
                  <a:srgbClr val="231F20"/>
                </a:solidFill>
                <a:latin typeface="Cambria"/>
                <a:cs typeface="Cambria"/>
              </a:rPr>
              <a:t> </a:t>
            </a:r>
            <a:r>
              <a:rPr lang="en-US" sz="2400" spc="65" dirty="0" smtClean="0">
                <a:solidFill>
                  <a:srgbClr val="231F20"/>
                </a:solidFill>
                <a:latin typeface="Cambria"/>
                <a:cs typeface="Cambria"/>
              </a:rPr>
              <a:t>starting</a:t>
            </a:r>
            <a:r>
              <a:rPr lang="en-US" sz="2400" spc="120" dirty="0" smtClean="0">
                <a:solidFill>
                  <a:srgbClr val="231F20"/>
                </a:solidFill>
                <a:latin typeface="Cambria"/>
                <a:cs typeface="Cambria"/>
              </a:rPr>
              <a:t> </a:t>
            </a:r>
            <a:r>
              <a:rPr lang="en-US" sz="2400" spc="50" dirty="0" smtClean="0">
                <a:solidFill>
                  <a:srgbClr val="231F20"/>
                </a:solidFill>
                <a:latin typeface="Cambria"/>
                <a:cs typeface="Cambria"/>
              </a:rPr>
              <a:t>from</a:t>
            </a:r>
            <a:r>
              <a:rPr lang="en-US" sz="2400" spc="120" dirty="0" smtClean="0">
                <a:solidFill>
                  <a:srgbClr val="231F20"/>
                </a:solidFill>
                <a:latin typeface="Cambria"/>
                <a:cs typeface="Cambria"/>
              </a:rPr>
              <a:t> </a:t>
            </a:r>
            <a:r>
              <a:rPr lang="en-US" sz="2400" spc="75" dirty="0" smtClean="0">
                <a:solidFill>
                  <a:srgbClr val="231F20"/>
                </a:solidFill>
                <a:latin typeface="Cambria"/>
                <a:cs typeface="Cambria"/>
              </a:rPr>
              <a:t>0.</a:t>
            </a:r>
          </a:p>
          <a:p>
            <a:pPr marL="312420" indent="-300355">
              <a:spcBef>
                <a:spcPts val="1360"/>
              </a:spcBef>
              <a:buFont typeface="Arial"/>
              <a:buChar char="•"/>
              <a:tabLst>
                <a:tab pos="312420" algn="l"/>
                <a:tab pos="313055" algn="l"/>
              </a:tabLst>
            </a:pPr>
            <a:r>
              <a:rPr lang="en-US" sz="2400" spc="60" dirty="0" err="1" smtClean="0">
                <a:solidFill>
                  <a:srgbClr val="231F20"/>
                </a:solidFill>
                <a:latin typeface="Cambria"/>
                <a:cs typeface="Cambria"/>
              </a:rPr>
              <a:t>Tuple</a:t>
            </a:r>
            <a:r>
              <a:rPr lang="en-US" sz="2400" spc="400" dirty="0" smtClean="0">
                <a:solidFill>
                  <a:srgbClr val="231F20"/>
                </a:solidFill>
                <a:latin typeface="Cambria"/>
                <a:cs typeface="Cambria"/>
              </a:rPr>
              <a:t> </a:t>
            </a:r>
            <a:r>
              <a:rPr lang="en-US" sz="2400" spc="60" dirty="0" smtClean="0">
                <a:solidFill>
                  <a:srgbClr val="231F20"/>
                </a:solidFill>
                <a:latin typeface="Cambria"/>
                <a:cs typeface="Cambria"/>
              </a:rPr>
              <a:t>is</a:t>
            </a:r>
            <a:r>
              <a:rPr lang="en-US" sz="2400" spc="395" dirty="0" smtClean="0">
                <a:solidFill>
                  <a:srgbClr val="231F20"/>
                </a:solidFill>
                <a:latin typeface="Cambria"/>
                <a:cs typeface="Cambria"/>
              </a:rPr>
              <a:t> </a:t>
            </a:r>
            <a:r>
              <a:rPr lang="en-US" sz="2400" spc="100" dirty="0" smtClean="0">
                <a:solidFill>
                  <a:srgbClr val="231F20"/>
                </a:solidFill>
                <a:latin typeface="Cambria"/>
                <a:cs typeface="Cambria"/>
              </a:rPr>
              <a:t>an</a:t>
            </a:r>
            <a:r>
              <a:rPr lang="en-US" sz="2400" spc="400" dirty="0" smtClean="0">
                <a:solidFill>
                  <a:srgbClr val="231F20"/>
                </a:solidFill>
                <a:latin typeface="Cambria"/>
                <a:cs typeface="Cambria"/>
              </a:rPr>
              <a:t> </a:t>
            </a:r>
            <a:r>
              <a:rPr lang="en-US" sz="2400" spc="80" dirty="0" smtClean="0">
                <a:solidFill>
                  <a:srgbClr val="FF0000"/>
                </a:solidFill>
                <a:latin typeface="Cambria"/>
                <a:cs typeface="Cambria"/>
              </a:rPr>
              <a:t>immutable</a:t>
            </a:r>
            <a:r>
              <a:rPr lang="en-US" sz="2400" spc="395" dirty="0" smtClean="0">
                <a:solidFill>
                  <a:srgbClr val="FF0000"/>
                </a:solidFill>
                <a:latin typeface="Cambria"/>
                <a:cs typeface="Cambria"/>
              </a:rPr>
              <a:t> </a:t>
            </a:r>
            <a:r>
              <a:rPr lang="en-US" sz="2400" spc="80" dirty="0" smtClean="0">
                <a:solidFill>
                  <a:srgbClr val="FF0000"/>
                </a:solidFill>
                <a:latin typeface="Cambria"/>
                <a:cs typeface="Cambria"/>
              </a:rPr>
              <a:t>data</a:t>
            </a:r>
            <a:r>
              <a:rPr lang="en-US" sz="2400" spc="400" dirty="0" smtClean="0">
                <a:solidFill>
                  <a:srgbClr val="FF0000"/>
                </a:solidFill>
                <a:latin typeface="Cambria"/>
                <a:cs typeface="Cambria"/>
              </a:rPr>
              <a:t> </a:t>
            </a:r>
            <a:r>
              <a:rPr lang="en-US" sz="2400" spc="70" dirty="0" smtClean="0">
                <a:solidFill>
                  <a:srgbClr val="FF0000"/>
                </a:solidFill>
                <a:latin typeface="Cambria"/>
                <a:cs typeface="Cambria"/>
              </a:rPr>
              <a:t>type</a:t>
            </a:r>
            <a:r>
              <a:rPr lang="en-US" sz="2400" spc="70" dirty="0" smtClean="0">
                <a:solidFill>
                  <a:srgbClr val="231F20"/>
                </a:solidFill>
                <a:latin typeface="Cambria"/>
                <a:cs typeface="Cambria"/>
              </a:rPr>
              <a:t>.</a:t>
            </a:r>
            <a:r>
              <a:rPr lang="en-US" sz="2400" spc="400" dirty="0" smtClean="0">
                <a:solidFill>
                  <a:srgbClr val="231F20"/>
                </a:solidFill>
                <a:latin typeface="Cambria"/>
                <a:cs typeface="Cambria"/>
              </a:rPr>
              <a:t> </a:t>
            </a:r>
            <a:r>
              <a:rPr lang="en-US" sz="2400" dirty="0" smtClean="0">
                <a:solidFill>
                  <a:srgbClr val="231F20"/>
                </a:solidFill>
                <a:latin typeface="Cambria"/>
                <a:cs typeface="Cambria"/>
              </a:rPr>
              <a:t>It</a:t>
            </a:r>
            <a:r>
              <a:rPr lang="en-US" sz="2400" spc="395" dirty="0" smtClean="0">
                <a:solidFill>
                  <a:srgbClr val="231F20"/>
                </a:solidFill>
                <a:latin typeface="Cambria"/>
                <a:cs typeface="Cambria"/>
              </a:rPr>
              <a:t> </a:t>
            </a:r>
            <a:r>
              <a:rPr lang="en-US" sz="2400" spc="90" dirty="0" smtClean="0">
                <a:solidFill>
                  <a:srgbClr val="231F20"/>
                </a:solidFill>
                <a:latin typeface="Cambria"/>
                <a:cs typeface="Cambria"/>
              </a:rPr>
              <a:t>means</a:t>
            </a:r>
            <a:r>
              <a:rPr lang="en-US" sz="2400" spc="400" dirty="0" smtClean="0">
                <a:solidFill>
                  <a:srgbClr val="231F20"/>
                </a:solidFill>
                <a:latin typeface="Cambria"/>
                <a:cs typeface="Cambria"/>
              </a:rPr>
              <a:t> </a:t>
            </a:r>
            <a:r>
              <a:rPr lang="en-US" sz="2400" spc="85" dirty="0" smtClean="0">
                <a:solidFill>
                  <a:srgbClr val="231F20"/>
                </a:solidFill>
                <a:latin typeface="Cambria"/>
                <a:cs typeface="Cambria"/>
              </a:rPr>
              <a:t>that</a:t>
            </a:r>
            <a:r>
              <a:rPr lang="en-US" sz="2400" spc="400" dirty="0" smtClean="0">
                <a:solidFill>
                  <a:srgbClr val="231F20"/>
                </a:solidFill>
                <a:latin typeface="Cambria"/>
                <a:cs typeface="Cambria"/>
              </a:rPr>
              <a:t> </a:t>
            </a:r>
            <a:r>
              <a:rPr lang="en-US" sz="2400" spc="45" dirty="0" smtClean="0">
                <a:solidFill>
                  <a:srgbClr val="231F20"/>
                </a:solidFill>
                <a:latin typeface="Cambria"/>
                <a:cs typeface="Cambria"/>
              </a:rPr>
              <a:t>the </a:t>
            </a:r>
            <a:r>
              <a:rPr lang="en-US" sz="2400" spc="60" dirty="0" smtClean="0">
                <a:solidFill>
                  <a:srgbClr val="231F20"/>
                </a:solidFill>
                <a:latin typeface="Cambria"/>
                <a:cs typeface="Cambria"/>
              </a:rPr>
              <a:t>elements</a:t>
            </a:r>
            <a:r>
              <a:rPr lang="en-US" sz="2400" spc="150" dirty="0" smtClean="0">
                <a:solidFill>
                  <a:srgbClr val="231F20"/>
                </a:solidFill>
                <a:latin typeface="Cambria"/>
                <a:cs typeface="Cambria"/>
              </a:rPr>
              <a:t> </a:t>
            </a:r>
            <a:r>
              <a:rPr lang="en-US" sz="2400" dirty="0" smtClean="0">
                <a:solidFill>
                  <a:srgbClr val="231F20"/>
                </a:solidFill>
                <a:latin typeface="Cambria"/>
                <a:cs typeface="Cambria"/>
              </a:rPr>
              <a:t>of</a:t>
            </a:r>
            <a:r>
              <a:rPr lang="en-US" sz="2400" spc="150" dirty="0" smtClean="0">
                <a:solidFill>
                  <a:srgbClr val="231F20"/>
                </a:solidFill>
                <a:latin typeface="Cambria"/>
                <a:cs typeface="Cambria"/>
              </a:rPr>
              <a:t> </a:t>
            </a:r>
            <a:r>
              <a:rPr lang="en-US" sz="2400" spc="105" dirty="0" smtClean="0">
                <a:solidFill>
                  <a:srgbClr val="231F20"/>
                </a:solidFill>
                <a:latin typeface="Cambria"/>
                <a:cs typeface="Cambria"/>
              </a:rPr>
              <a:t>a</a:t>
            </a:r>
            <a:r>
              <a:rPr lang="en-US" sz="2400" spc="150" dirty="0" smtClean="0">
                <a:solidFill>
                  <a:srgbClr val="231F20"/>
                </a:solidFill>
                <a:latin typeface="Cambria"/>
                <a:cs typeface="Cambria"/>
              </a:rPr>
              <a:t> </a:t>
            </a:r>
            <a:r>
              <a:rPr lang="en-US" sz="2400" spc="65" dirty="0" err="1" smtClean="0">
                <a:solidFill>
                  <a:srgbClr val="231F20"/>
                </a:solidFill>
                <a:latin typeface="Cambria"/>
                <a:cs typeface="Cambria"/>
              </a:rPr>
              <a:t>tuple</a:t>
            </a:r>
            <a:r>
              <a:rPr lang="en-US" sz="2400" spc="150" dirty="0" smtClean="0">
                <a:solidFill>
                  <a:srgbClr val="231F20"/>
                </a:solidFill>
                <a:latin typeface="Cambria"/>
                <a:cs typeface="Cambria"/>
              </a:rPr>
              <a:t> </a:t>
            </a:r>
            <a:r>
              <a:rPr lang="en-US" sz="2400" spc="85" dirty="0" smtClean="0">
                <a:solidFill>
                  <a:srgbClr val="231F20"/>
                </a:solidFill>
                <a:latin typeface="Cambria"/>
                <a:cs typeface="Cambria"/>
              </a:rPr>
              <a:t>cannot</a:t>
            </a:r>
            <a:r>
              <a:rPr lang="en-US" sz="2400" spc="150" dirty="0" smtClean="0">
                <a:solidFill>
                  <a:srgbClr val="231F20"/>
                </a:solidFill>
                <a:latin typeface="Cambria"/>
                <a:cs typeface="Cambria"/>
              </a:rPr>
              <a:t> </a:t>
            </a:r>
            <a:r>
              <a:rPr lang="en-US" sz="2400" spc="55" dirty="0" smtClean="0">
                <a:solidFill>
                  <a:srgbClr val="231F20"/>
                </a:solidFill>
                <a:latin typeface="Cambria"/>
                <a:cs typeface="Cambria"/>
              </a:rPr>
              <a:t>be</a:t>
            </a:r>
            <a:r>
              <a:rPr lang="en-US" sz="2400" spc="150" dirty="0" smtClean="0">
                <a:solidFill>
                  <a:srgbClr val="231F20"/>
                </a:solidFill>
                <a:latin typeface="Cambria"/>
                <a:cs typeface="Cambria"/>
              </a:rPr>
              <a:t> </a:t>
            </a:r>
            <a:r>
              <a:rPr lang="en-US" sz="2400" spc="80" dirty="0" smtClean="0">
                <a:solidFill>
                  <a:srgbClr val="231F20"/>
                </a:solidFill>
                <a:latin typeface="Cambria"/>
                <a:cs typeface="Cambria"/>
              </a:rPr>
              <a:t>changed</a:t>
            </a:r>
            <a:r>
              <a:rPr lang="en-US" sz="2400" spc="150" dirty="0" smtClean="0">
                <a:solidFill>
                  <a:srgbClr val="231F20"/>
                </a:solidFill>
                <a:latin typeface="Cambria"/>
                <a:cs typeface="Cambria"/>
              </a:rPr>
              <a:t> </a:t>
            </a:r>
            <a:r>
              <a:rPr lang="en-US" sz="2400" dirty="0" smtClean="0">
                <a:solidFill>
                  <a:srgbClr val="231F20"/>
                </a:solidFill>
                <a:latin typeface="Cambria"/>
                <a:cs typeface="Cambria"/>
              </a:rPr>
              <a:t>after</a:t>
            </a:r>
            <a:r>
              <a:rPr lang="en-US" sz="2400" spc="150" dirty="0" smtClean="0">
                <a:solidFill>
                  <a:srgbClr val="231F20"/>
                </a:solidFill>
                <a:latin typeface="Cambria"/>
                <a:cs typeface="Cambria"/>
              </a:rPr>
              <a:t> </a:t>
            </a:r>
            <a:r>
              <a:rPr lang="en-US" sz="2400" dirty="0" smtClean="0">
                <a:solidFill>
                  <a:srgbClr val="231F20"/>
                </a:solidFill>
                <a:latin typeface="Cambria"/>
                <a:cs typeface="Cambria"/>
              </a:rPr>
              <a:t>it</a:t>
            </a:r>
            <a:r>
              <a:rPr lang="en-US" sz="2400" spc="150" dirty="0" smtClean="0">
                <a:solidFill>
                  <a:srgbClr val="231F20"/>
                </a:solidFill>
                <a:latin typeface="Cambria"/>
                <a:cs typeface="Cambria"/>
              </a:rPr>
              <a:t> </a:t>
            </a:r>
            <a:r>
              <a:rPr lang="en-US" sz="2400" spc="110" dirty="0" smtClean="0">
                <a:solidFill>
                  <a:srgbClr val="231F20"/>
                </a:solidFill>
                <a:latin typeface="Cambria"/>
                <a:cs typeface="Cambria"/>
              </a:rPr>
              <a:t>has</a:t>
            </a:r>
            <a:r>
              <a:rPr lang="en-US" sz="2400" spc="150" dirty="0" smtClean="0">
                <a:solidFill>
                  <a:srgbClr val="231F20"/>
                </a:solidFill>
                <a:latin typeface="Cambria"/>
                <a:cs typeface="Cambria"/>
              </a:rPr>
              <a:t> </a:t>
            </a:r>
            <a:r>
              <a:rPr lang="en-US" sz="2400" spc="35" dirty="0" smtClean="0">
                <a:solidFill>
                  <a:srgbClr val="231F20"/>
                </a:solidFill>
                <a:latin typeface="Cambria"/>
                <a:cs typeface="Cambria"/>
              </a:rPr>
              <a:t>been </a:t>
            </a:r>
            <a:r>
              <a:rPr lang="en-US" sz="2400" spc="70" dirty="0" smtClean="0">
                <a:solidFill>
                  <a:srgbClr val="231F20"/>
                </a:solidFill>
                <a:latin typeface="Cambria"/>
                <a:cs typeface="Cambria"/>
              </a:rPr>
              <a:t>created.</a:t>
            </a:r>
            <a:r>
              <a:rPr lang="en-US" sz="2400" spc="150" dirty="0" smtClean="0">
                <a:solidFill>
                  <a:srgbClr val="231F20"/>
                </a:solidFill>
                <a:latin typeface="Cambria"/>
                <a:cs typeface="Cambria"/>
              </a:rPr>
              <a:t> </a:t>
            </a:r>
            <a:r>
              <a:rPr lang="en-US" sz="2400" spc="80" dirty="0" smtClean="0">
                <a:solidFill>
                  <a:srgbClr val="231F20"/>
                </a:solidFill>
                <a:latin typeface="Cambria"/>
                <a:cs typeface="Cambria"/>
              </a:rPr>
              <a:t>An</a:t>
            </a:r>
            <a:r>
              <a:rPr lang="en-US" sz="2400" spc="150" dirty="0" smtClean="0">
                <a:solidFill>
                  <a:srgbClr val="231F20"/>
                </a:solidFill>
                <a:latin typeface="Cambria"/>
                <a:cs typeface="Cambria"/>
              </a:rPr>
              <a:t> </a:t>
            </a:r>
            <a:r>
              <a:rPr lang="en-US" sz="2400" spc="65" dirty="0" smtClean="0">
                <a:solidFill>
                  <a:srgbClr val="231F20"/>
                </a:solidFill>
                <a:latin typeface="Cambria"/>
                <a:cs typeface="Cambria"/>
              </a:rPr>
              <a:t>attempt</a:t>
            </a:r>
            <a:r>
              <a:rPr lang="en-US" sz="2400" spc="150" dirty="0" smtClean="0">
                <a:solidFill>
                  <a:srgbClr val="231F20"/>
                </a:solidFill>
                <a:latin typeface="Cambria"/>
                <a:cs typeface="Cambria"/>
              </a:rPr>
              <a:t> </a:t>
            </a:r>
            <a:r>
              <a:rPr lang="en-US" sz="2400" dirty="0" smtClean="0">
                <a:solidFill>
                  <a:srgbClr val="231F20"/>
                </a:solidFill>
                <a:latin typeface="Cambria"/>
                <a:cs typeface="Cambria"/>
              </a:rPr>
              <a:t>to</a:t>
            </a:r>
            <a:r>
              <a:rPr lang="en-US" sz="2400" spc="150" dirty="0" smtClean="0">
                <a:solidFill>
                  <a:srgbClr val="231F20"/>
                </a:solidFill>
                <a:latin typeface="Cambria"/>
                <a:cs typeface="Cambria"/>
              </a:rPr>
              <a:t> </a:t>
            </a:r>
            <a:r>
              <a:rPr lang="en-US" sz="2400" dirty="0" smtClean="0">
                <a:solidFill>
                  <a:srgbClr val="231F20"/>
                </a:solidFill>
                <a:latin typeface="Cambria"/>
                <a:cs typeface="Cambria"/>
              </a:rPr>
              <a:t>do</a:t>
            </a:r>
            <a:r>
              <a:rPr lang="en-US" sz="2400" spc="150" dirty="0" smtClean="0">
                <a:solidFill>
                  <a:srgbClr val="231F20"/>
                </a:solidFill>
                <a:latin typeface="Cambria"/>
                <a:cs typeface="Cambria"/>
              </a:rPr>
              <a:t> </a:t>
            </a:r>
            <a:r>
              <a:rPr lang="en-US" sz="2400" spc="75" dirty="0" smtClean="0">
                <a:solidFill>
                  <a:srgbClr val="231F20"/>
                </a:solidFill>
                <a:latin typeface="Cambria"/>
                <a:cs typeface="Cambria"/>
              </a:rPr>
              <a:t>this</a:t>
            </a:r>
            <a:r>
              <a:rPr lang="en-US" sz="2400" spc="150" dirty="0" smtClean="0">
                <a:solidFill>
                  <a:srgbClr val="231F20"/>
                </a:solidFill>
                <a:latin typeface="Cambria"/>
                <a:cs typeface="Cambria"/>
              </a:rPr>
              <a:t> </a:t>
            </a:r>
            <a:r>
              <a:rPr lang="en-US" sz="2400" spc="50" dirty="0" smtClean="0">
                <a:solidFill>
                  <a:srgbClr val="231F20"/>
                </a:solidFill>
                <a:latin typeface="Cambria"/>
                <a:cs typeface="Cambria"/>
              </a:rPr>
              <a:t>would</a:t>
            </a:r>
            <a:r>
              <a:rPr lang="en-US" sz="2400" spc="150" dirty="0" smtClean="0">
                <a:solidFill>
                  <a:srgbClr val="231F20"/>
                </a:solidFill>
                <a:latin typeface="Cambria"/>
                <a:cs typeface="Cambria"/>
              </a:rPr>
              <a:t> </a:t>
            </a:r>
            <a:r>
              <a:rPr lang="en-US" sz="2400" spc="60" dirty="0" smtClean="0">
                <a:solidFill>
                  <a:srgbClr val="231F20"/>
                </a:solidFill>
                <a:latin typeface="Cambria"/>
                <a:cs typeface="Cambria"/>
              </a:rPr>
              <a:t>lead</a:t>
            </a:r>
            <a:r>
              <a:rPr lang="en-US" sz="2400" spc="150" dirty="0" smtClean="0">
                <a:solidFill>
                  <a:srgbClr val="231F20"/>
                </a:solidFill>
                <a:latin typeface="Cambria"/>
                <a:cs typeface="Cambria"/>
              </a:rPr>
              <a:t> </a:t>
            </a:r>
            <a:r>
              <a:rPr lang="en-US" sz="2400" dirty="0" smtClean="0">
                <a:solidFill>
                  <a:srgbClr val="231F20"/>
                </a:solidFill>
                <a:latin typeface="Cambria"/>
                <a:cs typeface="Cambria"/>
              </a:rPr>
              <a:t>to</a:t>
            </a:r>
            <a:r>
              <a:rPr lang="en-US" sz="2400" spc="145" dirty="0" smtClean="0">
                <a:solidFill>
                  <a:srgbClr val="231F20"/>
                </a:solidFill>
                <a:latin typeface="Cambria"/>
                <a:cs typeface="Cambria"/>
              </a:rPr>
              <a:t> </a:t>
            </a:r>
            <a:r>
              <a:rPr lang="en-US" sz="2400" spc="100" dirty="0" smtClean="0">
                <a:solidFill>
                  <a:srgbClr val="231F20"/>
                </a:solidFill>
                <a:latin typeface="Cambria"/>
                <a:cs typeface="Cambria"/>
              </a:rPr>
              <a:t>an</a:t>
            </a:r>
            <a:r>
              <a:rPr lang="en-US" sz="2400" spc="150" dirty="0" smtClean="0">
                <a:solidFill>
                  <a:srgbClr val="231F20"/>
                </a:solidFill>
                <a:latin typeface="Cambria"/>
                <a:cs typeface="Cambria"/>
              </a:rPr>
              <a:t> </a:t>
            </a:r>
            <a:r>
              <a:rPr lang="en-US" sz="2400" spc="-10" dirty="0" smtClean="0">
                <a:solidFill>
                  <a:srgbClr val="231F20"/>
                </a:solidFill>
                <a:latin typeface="Cambria"/>
                <a:cs typeface="Cambria"/>
              </a:rPr>
              <a:t>error.</a:t>
            </a:r>
            <a:endParaRPr lang="en-US" sz="2400" dirty="0" smtClean="0">
              <a:latin typeface="Cambria"/>
              <a:cs typeface="Cambria"/>
            </a:endParaRPr>
          </a:p>
          <a:p>
            <a:pPr marL="312420" indent="-300355">
              <a:spcBef>
                <a:spcPts val="1360"/>
              </a:spcBef>
              <a:buFont typeface="Arial"/>
              <a:buChar char="•"/>
              <a:tabLst>
                <a:tab pos="312420" algn="l"/>
                <a:tab pos="313055" algn="l"/>
              </a:tabLst>
            </a:pPr>
            <a:endParaRPr lang="en-US" sz="2400" dirty="0" smtClean="0">
              <a:latin typeface="Cambria"/>
              <a:cs typeface="Cambria"/>
            </a:endParaRPr>
          </a:p>
          <a:p>
            <a:pPr marL="312420" indent="-300355">
              <a:lnSpc>
                <a:spcPct val="100000"/>
              </a:lnSpc>
              <a:spcBef>
                <a:spcPts val="1360"/>
              </a:spcBef>
              <a:buFont typeface="Arial"/>
              <a:buChar char="•"/>
              <a:tabLst>
                <a:tab pos="312420" algn="l"/>
                <a:tab pos="313055" algn="l"/>
              </a:tabLst>
            </a:pPr>
            <a:endParaRPr sz="2100" dirty="0">
              <a:latin typeface="Times New Roman"/>
              <a:cs typeface="Times New Roman"/>
            </a:endParaRPr>
          </a:p>
        </p:txBody>
      </p:sp>
      <p:sp>
        <p:nvSpPr>
          <p:cNvPr id="5" name="Rectangle 4"/>
          <p:cNvSpPr/>
          <p:nvPr/>
        </p:nvSpPr>
        <p:spPr>
          <a:xfrm>
            <a:off x="317500" y="5610225"/>
            <a:ext cx="274320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65176" y="5631180"/>
            <a:ext cx="2711196" cy="944879"/>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802639" y="1354297"/>
            <a:ext cx="3217545" cy="614680"/>
          </a:xfrm>
          <a:prstGeom prst="rect">
            <a:avLst/>
          </a:prstGeom>
        </p:spPr>
        <p:txBody>
          <a:bodyPr vert="horz" wrap="square" lIns="0" tIns="14605" rIns="0" bIns="0" rtlCol="0">
            <a:spAutoFit/>
          </a:bodyPr>
          <a:lstStyle/>
          <a:p>
            <a:pPr marL="12700">
              <a:lnSpc>
                <a:spcPct val="100000"/>
              </a:lnSpc>
              <a:spcBef>
                <a:spcPts val="115"/>
              </a:spcBef>
            </a:pPr>
            <a:r>
              <a:rPr b="0" u="heavy" spc="-955" dirty="0">
                <a:solidFill>
                  <a:srgbClr val="0070BF"/>
                </a:solidFill>
                <a:uFill>
                  <a:solidFill>
                    <a:srgbClr val="0070BF"/>
                  </a:solidFill>
                </a:uFill>
                <a:latin typeface="Times New Roman"/>
                <a:cs typeface="Times New Roman"/>
              </a:rPr>
              <a:t> </a:t>
            </a:r>
            <a:r>
              <a:rPr u="heavy" spc="-55" dirty="0">
                <a:solidFill>
                  <a:srgbClr val="0070BF"/>
                </a:solidFill>
                <a:uFill>
                  <a:solidFill>
                    <a:srgbClr val="0070BF"/>
                  </a:solidFill>
                </a:uFill>
              </a:rPr>
              <a:t>Tuples</a:t>
            </a:r>
            <a:r>
              <a:rPr spc="-55" dirty="0">
                <a:solidFill>
                  <a:srgbClr val="0070BF"/>
                </a:solidFill>
              </a:rPr>
              <a:t> </a:t>
            </a:r>
            <a:r>
              <a:rPr dirty="0">
                <a:solidFill>
                  <a:srgbClr val="0070BF"/>
                </a:solidFill>
              </a:rPr>
              <a:t>-</a:t>
            </a:r>
            <a:r>
              <a:rPr spc="-35" dirty="0">
                <a:solidFill>
                  <a:srgbClr val="0070BF"/>
                </a:solidFill>
              </a:rPr>
              <a:t> </a:t>
            </a:r>
            <a:r>
              <a:rPr spc="-5" dirty="0"/>
              <a:t>Create</a:t>
            </a:r>
          </a:p>
        </p:txBody>
      </p:sp>
      <p:sp>
        <p:nvSpPr>
          <p:cNvPr id="4" name="object 4"/>
          <p:cNvSpPr txBox="1"/>
          <p:nvPr/>
        </p:nvSpPr>
        <p:spPr>
          <a:xfrm>
            <a:off x="1407717" y="2389102"/>
            <a:ext cx="5900420" cy="1362710"/>
          </a:xfrm>
          <a:prstGeom prst="rect">
            <a:avLst/>
          </a:prstGeom>
        </p:spPr>
        <p:txBody>
          <a:bodyPr vert="horz" wrap="square" lIns="0" tIns="12700" rIns="0" bIns="0" rtlCol="0">
            <a:spAutoFit/>
          </a:bodyPr>
          <a:lstStyle/>
          <a:p>
            <a:pPr marL="12700">
              <a:lnSpc>
                <a:spcPct val="100000"/>
              </a:lnSpc>
              <a:spcBef>
                <a:spcPts val="100"/>
              </a:spcBef>
            </a:pPr>
            <a:r>
              <a:rPr sz="1750" dirty="0">
                <a:latin typeface="Consolas"/>
                <a:cs typeface="Consolas"/>
              </a:rPr>
              <a:t>Tuple1 </a:t>
            </a:r>
            <a:r>
              <a:rPr sz="1750" b="1" dirty="0">
                <a:solidFill>
                  <a:srgbClr val="006699"/>
                </a:solidFill>
                <a:latin typeface="Consolas"/>
                <a:cs typeface="Consolas"/>
              </a:rPr>
              <a:t>= </a:t>
            </a:r>
            <a:r>
              <a:rPr sz="1750" dirty="0">
                <a:latin typeface="Consolas"/>
                <a:cs typeface="Consolas"/>
              </a:rPr>
              <a:t>() </a:t>
            </a:r>
            <a:r>
              <a:rPr sz="1750" dirty="0">
                <a:solidFill>
                  <a:srgbClr val="00AF50"/>
                </a:solidFill>
                <a:latin typeface="Consolas"/>
                <a:cs typeface="Consolas"/>
              </a:rPr>
              <a:t>//empty</a:t>
            </a:r>
            <a:r>
              <a:rPr sz="1750" spc="-10" dirty="0">
                <a:solidFill>
                  <a:srgbClr val="00AF50"/>
                </a:solidFill>
                <a:latin typeface="Consolas"/>
                <a:cs typeface="Consolas"/>
              </a:rPr>
              <a:t> </a:t>
            </a:r>
            <a:r>
              <a:rPr sz="1750" dirty="0">
                <a:solidFill>
                  <a:srgbClr val="00AF50"/>
                </a:solidFill>
                <a:latin typeface="Consolas"/>
                <a:cs typeface="Consolas"/>
              </a:rPr>
              <a:t>tuple</a:t>
            </a:r>
            <a:endParaRPr sz="1750">
              <a:latin typeface="Consolas"/>
              <a:cs typeface="Consolas"/>
            </a:endParaRPr>
          </a:p>
          <a:p>
            <a:pPr marL="12700" marR="5080">
              <a:lnSpc>
                <a:spcPts val="4220"/>
              </a:lnSpc>
              <a:spcBef>
                <a:spcPts val="475"/>
              </a:spcBef>
            </a:pPr>
            <a:r>
              <a:rPr sz="1750" dirty="0">
                <a:latin typeface="Consolas"/>
                <a:cs typeface="Consolas"/>
              </a:rPr>
              <a:t>Tuple2 </a:t>
            </a:r>
            <a:r>
              <a:rPr sz="1750" b="1" dirty="0">
                <a:solidFill>
                  <a:srgbClr val="006699"/>
                </a:solidFill>
                <a:latin typeface="Consolas"/>
                <a:cs typeface="Consolas"/>
              </a:rPr>
              <a:t>= </a:t>
            </a:r>
            <a:r>
              <a:rPr sz="1750" dirty="0">
                <a:latin typeface="Consolas"/>
                <a:cs typeface="Consolas"/>
              </a:rPr>
              <a:t>(</a:t>
            </a:r>
            <a:r>
              <a:rPr sz="1750" dirty="0">
                <a:solidFill>
                  <a:srgbClr val="0000FF"/>
                </a:solidFill>
                <a:latin typeface="Consolas"/>
                <a:cs typeface="Consolas"/>
              </a:rPr>
              <a:t>'zooming'</a:t>
            </a:r>
            <a:r>
              <a:rPr sz="1750" dirty="0">
                <a:latin typeface="Consolas"/>
                <a:cs typeface="Consolas"/>
              </a:rPr>
              <a:t>, </a:t>
            </a:r>
            <a:r>
              <a:rPr sz="1750" spc="-5" dirty="0">
                <a:solidFill>
                  <a:srgbClr val="0000FF"/>
                </a:solidFill>
                <a:latin typeface="Consolas"/>
                <a:cs typeface="Consolas"/>
              </a:rPr>
              <a:t>'For’</a:t>
            </a:r>
            <a:r>
              <a:rPr sz="1750" spc="-5" dirty="0">
                <a:latin typeface="Consolas"/>
                <a:cs typeface="Consolas"/>
              </a:rPr>
              <a:t>) </a:t>
            </a:r>
            <a:r>
              <a:rPr sz="1750" dirty="0">
                <a:solidFill>
                  <a:srgbClr val="00AF50"/>
                </a:solidFill>
                <a:latin typeface="Consolas"/>
                <a:cs typeface="Consolas"/>
              </a:rPr>
              <a:t>//tuple with </a:t>
            </a:r>
            <a:r>
              <a:rPr sz="1750" spc="-5" dirty="0">
                <a:solidFill>
                  <a:srgbClr val="00AF50"/>
                </a:solidFill>
                <a:latin typeface="Consolas"/>
                <a:cs typeface="Consolas"/>
              </a:rPr>
              <a:t>strings  </a:t>
            </a:r>
            <a:r>
              <a:rPr sz="1750" dirty="0">
                <a:latin typeface="Consolas"/>
                <a:cs typeface="Consolas"/>
              </a:rPr>
              <a:t>list1 </a:t>
            </a:r>
            <a:r>
              <a:rPr sz="1750" b="1" dirty="0">
                <a:solidFill>
                  <a:srgbClr val="006699"/>
                </a:solidFill>
                <a:latin typeface="Consolas"/>
                <a:cs typeface="Consolas"/>
              </a:rPr>
              <a:t>= </a:t>
            </a:r>
            <a:r>
              <a:rPr sz="1750" dirty="0">
                <a:latin typeface="Consolas"/>
                <a:cs typeface="Consolas"/>
              </a:rPr>
              <a:t>[</a:t>
            </a:r>
            <a:r>
              <a:rPr sz="1750" dirty="0">
                <a:solidFill>
                  <a:srgbClr val="009900"/>
                </a:solidFill>
                <a:latin typeface="Consolas"/>
                <a:cs typeface="Consolas"/>
              </a:rPr>
              <a:t>1</a:t>
            </a:r>
            <a:r>
              <a:rPr sz="1750" dirty="0">
                <a:latin typeface="Consolas"/>
                <a:cs typeface="Consolas"/>
              </a:rPr>
              <a:t>, </a:t>
            </a:r>
            <a:r>
              <a:rPr sz="1750" spc="-5" dirty="0">
                <a:solidFill>
                  <a:srgbClr val="009900"/>
                </a:solidFill>
                <a:latin typeface="Consolas"/>
                <a:cs typeface="Consolas"/>
              </a:rPr>
              <a:t>2</a:t>
            </a:r>
            <a:r>
              <a:rPr sz="1750" spc="-5" dirty="0">
                <a:latin typeface="Consolas"/>
                <a:cs typeface="Consolas"/>
              </a:rPr>
              <a:t>, </a:t>
            </a:r>
            <a:r>
              <a:rPr sz="1750" dirty="0">
                <a:solidFill>
                  <a:srgbClr val="009900"/>
                </a:solidFill>
                <a:latin typeface="Consolas"/>
                <a:cs typeface="Consolas"/>
              </a:rPr>
              <a:t>4</a:t>
            </a:r>
            <a:r>
              <a:rPr sz="1750" dirty="0">
                <a:latin typeface="Consolas"/>
                <a:cs typeface="Consolas"/>
              </a:rPr>
              <a:t>, </a:t>
            </a:r>
            <a:r>
              <a:rPr sz="1750" spc="-5" dirty="0">
                <a:solidFill>
                  <a:srgbClr val="009900"/>
                </a:solidFill>
                <a:latin typeface="Consolas"/>
                <a:cs typeface="Consolas"/>
              </a:rPr>
              <a:t>5</a:t>
            </a:r>
            <a:r>
              <a:rPr sz="1750" spc="-5" dirty="0">
                <a:latin typeface="Consolas"/>
                <a:cs typeface="Consolas"/>
              </a:rPr>
              <a:t>,</a:t>
            </a:r>
            <a:r>
              <a:rPr sz="1750" spc="-10" dirty="0">
                <a:latin typeface="Consolas"/>
                <a:cs typeface="Consolas"/>
              </a:rPr>
              <a:t> </a:t>
            </a:r>
            <a:r>
              <a:rPr sz="1750" spc="-5" dirty="0">
                <a:solidFill>
                  <a:srgbClr val="009900"/>
                </a:solidFill>
                <a:latin typeface="Consolas"/>
                <a:cs typeface="Consolas"/>
              </a:rPr>
              <a:t>6</a:t>
            </a:r>
            <a:r>
              <a:rPr sz="1750" spc="-5" dirty="0">
                <a:latin typeface="Consolas"/>
                <a:cs typeface="Consolas"/>
              </a:rPr>
              <a:t>]</a:t>
            </a:r>
            <a:endParaRPr sz="1750">
              <a:latin typeface="Consolas"/>
              <a:cs typeface="Consolas"/>
            </a:endParaRPr>
          </a:p>
        </p:txBody>
      </p:sp>
      <p:graphicFrame>
        <p:nvGraphicFramePr>
          <p:cNvPr id="5" name="object 5"/>
          <p:cNvGraphicFramePr>
            <a:graphicFrameLocks noGrp="1"/>
          </p:cNvGraphicFramePr>
          <p:nvPr/>
        </p:nvGraphicFramePr>
        <p:xfrm>
          <a:off x="1388667" y="3794080"/>
          <a:ext cx="8079737" cy="1293846"/>
        </p:xfrm>
        <a:graphic>
          <a:graphicData uri="http://schemas.openxmlformats.org/drawingml/2006/table">
            <a:tbl>
              <a:tblPr firstRow="1" bandRow="1">
                <a:tableStyleId>{2D5ABB26-0587-4C30-8999-92F81FD0307C}</a:tableStyleId>
              </a:tblPr>
              <a:tblGrid>
                <a:gridCol w="826769"/>
                <a:gridCol w="245109"/>
                <a:gridCol w="7007859"/>
              </a:tblGrid>
              <a:tr h="379495">
                <a:tc>
                  <a:txBody>
                    <a:bodyPr/>
                    <a:lstStyle/>
                    <a:p>
                      <a:pPr marL="31750">
                        <a:lnSpc>
                          <a:spcPts val="1650"/>
                        </a:lnSpc>
                      </a:pPr>
                      <a:r>
                        <a:rPr sz="1750" dirty="0">
                          <a:latin typeface="Consolas"/>
                          <a:cs typeface="Consolas"/>
                        </a:rPr>
                        <a:t>Tuple3</a:t>
                      </a:r>
                      <a:endParaRPr sz="1750">
                        <a:latin typeface="Consolas"/>
                        <a:cs typeface="Consolas"/>
                      </a:endParaRPr>
                    </a:p>
                  </a:txBody>
                  <a:tcPr marL="0" marR="0" marT="0" marB="0">
                    <a:solidFill>
                      <a:srgbClr val="FFFFFF"/>
                    </a:solidFill>
                  </a:tcPr>
                </a:tc>
                <a:tc>
                  <a:txBody>
                    <a:bodyPr/>
                    <a:lstStyle/>
                    <a:p>
                      <a:pPr algn="ctr">
                        <a:lnSpc>
                          <a:spcPts val="1650"/>
                        </a:lnSpc>
                      </a:pPr>
                      <a:r>
                        <a:rPr sz="1750" b="1" dirty="0">
                          <a:solidFill>
                            <a:srgbClr val="006699"/>
                          </a:solidFill>
                          <a:latin typeface="Consolas"/>
                          <a:cs typeface="Consolas"/>
                        </a:rPr>
                        <a:t>=</a:t>
                      </a:r>
                      <a:endParaRPr sz="1750">
                        <a:latin typeface="Consolas"/>
                        <a:cs typeface="Consolas"/>
                      </a:endParaRPr>
                    </a:p>
                  </a:txBody>
                  <a:tcPr marL="0" marR="0" marT="0" marB="0">
                    <a:solidFill>
                      <a:srgbClr val="FFFFFF"/>
                    </a:solidFill>
                  </a:tcPr>
                </a:tc>
                <a:tc>
                  <a:txBody>
                    <a:bodyPr/>
                    <a:lstStyle/>
                    <a:p>
                      <a:pPr marL="60325">
                        <a:lnSpc>
                          <a:spcPts val="1650"/>
                        </a:lnSpc>
                      </a:pPr>
                      <a:r>
                        <a:rPr sz="1750" dirty="0">
                          <a:solidFill>
                            <a:srgbClr val="FF1393"/>
                          </a:solidFill>
                          <a:latin typeface="Consolas"/>
                          <a:cs typeface="Consolas"/>
                        </a:rPr>
                        <a:t>tuple </a:t>
                      </a:r>
                      <a:r>
                        <a:rPr sz="1750" dirty="0">
                          <a:latin typeface="Consolas"/>
                          <a:cs typeface="Consolas"/>
                        </a:rPr>
                        <a:t>(list1) </a:t>
                      </a:r>
                      <a:r>
                        <a:rPr sz="1750" dirty="0">
                          <a:solidFill>
                            <a:srgbClr val="00AF50"/>
                          </a:solidFill>
                          <a:latin typeface="Consolas"/>
                          <a:cs typeface="Consolas"/>
                        </a:rPr>
                        <a:t>//tuple </a:t>
                      </a:r>
                      <a:r>
                        <a:rPr sz="1750" spc="-5" dirty="0">
                          <a:solidFill>
                            <a:srgbClr val="00AF50"/>
                          </a:solidFill>
                          <a:latin typeface="Consolas"/>
                          <a:cs typeface="Consolas"/>
                        </a:rPr>
                        <a:t>with </a:t>
                      </a:r>
                      <a:r>
                        <a:rPr sz="1750" spc="-10" dirty="0">
                          <a:solidFill>
                            <a:srgbClr val="00AF50"/>
                          </a:solidFill>
                          <a:latin typeface="Consolas"/>
                          <a:cs typeface="Consolas"/>
                        </a:rPr>
                        <a:t>the </a:t>
                      </a:r>
                      <a:r>
                        <a:rPr sz="1750" spc="-5" dirty="0">
                          <a:solidFill>
                            <a:srgbClr val="00AF50"/>
                          </a:solidFill>
                          <a:latin typeface="Consolas"/>
                          <a:cs typeface="Consolas"/>
                        </a:rPr>
                        <a:t>use </a:t>
                      </a:r>
                      <a:r>
                        <a:rPr sz="1750" spc="5" dirty="0">
                          <a:solidFill>
                            <a:srgbClr val="00AF50"/>
                          </a:solidFill>
                          <a:latin typeface="Consolas"/>
                          <a:cs typeface="Consolas"/>
                        </a:rPr>
                        <a:t>of </a:t>
                      </a:r>
                      <a:r>
                        <a:rPr sz="1750" dirty="0">
                          <a:solidFill>
                            <a:srgbClr val="00AF50"/>
                          </a:solidFill>
                          <a:latin typeface="Consolas"/>
                          <a:cs typeface="Consolas"/>
                        </a:rPr>
                        <a:t>list</a:t>
                      </a:r>
                      <a:endParaRPr sz="1750">
                        <a:latin typeface="Consolas"/>
                        <a:cs typeface="Consolas"/>
                      </a:endParaRPr>
                    </a:p>
                  </a:txBody>
                  <a:tcPr marL="0" marR="0" marT="0" marB="0">
                    <a:solidFill>
                      <a:srgbClr val="FFFFFF"/>
                    </a:solidFill>
                  </a:tcPr>
                </a:tc>
              </a:tr>
              <a:tr h="535671">
                <a:tc>
                  <a:txBody>
                    <a:bodyPr/>
                    <a:lstStyle/>
                    <a:p>
                      <a:pPr marL="31750">
                        <a:lnSpc>
                          <a:spcPct val="100000"/>
                        </a:lnSpc>
                        <a:spcBef>
                          <a:spcPts val="785"/>
                        </a:spcBef>
                      </a:pPr>
                      <a:r>
                        <a:rPr sz="1750" spc="-5" dirty="0">
                          <a:latin typeface="Consolas"/>
                          <a:cs typeface="Consolas"/>
                        </a:rPr>
                        <a:t>Tuple4</a:t>
                      </a:r>
                      <a:endParaRPr sz="1750">
                        <a:latin typeface="Consolas"/>
                        <a:cs typeface="Consolas"/>
                      </a:endParaRPr>
                    </a:p>
                  </a:txBody>
                  <a:tcPr marL="0" marR="0" marT="99695" marB="0">
                    <a:solidFill>
                      <a:srgbClr val="FFFFFF"/>
                    </a:solidFill>
                  </a:tcPr>
                </a:tc>
                <a:tc>
                  <a:txBody>
                    <a:bodyPr/>
                    <a:lstStyle/>
                    <a:p>
                      <a:pPr marL="1270" algn="ctr">
                        <a:lnSpc>
                          <a:spcPct val="100000"/>
                        </a:lnSpc>
                        <a:spcBef>
                          <a:spcPts val="785"/>
                        </a:spcBef>
                      </a:pPr>
                      <a:r>
                        <a:rPr sz="1750" b="1" dirty="0">
                          <a:solidFill>
                            <a:srgbClr val="006699"/>
                          </a:solidFill>
                          <a:latin typeface="Consolas"/>
                          <a:cs typeface="Consolas"/>
                        </a:rPr>
                        <a:t>=</a:t>
                      </a:r>
                      <a:endParaRPr sz="1750">
                        <a:latin typeface="Consolas"/>
                        <a:cs typeface="Consolas"/>
                      </a:endParaRPr>
                    </a:p>
                  </a:txBody>
                  <a:tcPr marL="0" marR="0" marT="99695" marB="0">
                    <a:solidFill>
                      <a:srgbClr val="FFFFFF"/>
                    </a:solidFill>
                  </a:tcPr>
                </a:tc>
                <a:tc>
                  <a:txBody>
                    <a:bodyPr/>
                    <a:lstStyle/>
                    <a:p>
                      <a:pPr marL="60325">
                        <a:lnSpc>
                          <a:spcPct val="100000"/>
                        </a:lnSpc>
                        <a:spcBef>
                          <a:spcPts val="785"/>
                        </a:spcBef>
                      </a:pPr>
                      <a:r>
                        <a:rPr sz="1750" spc="-5" dirty="0">
                          <a:latin typeface="Consolas"/>
                          <a:cs typeface="Consolas"/>
                        </a:rPr>
                        <a:t>(‘</a:t>
                      </a:r>
                      <a:r>
                        <a:rPr sz="1750" spc="-5" dirty="0">
                          <a:solidFill>
                            <a:srgbClr val="0000FF"/>
                          </a:solidFill>
                          <a:latin typeface="Consolas"/>
                          <a:cs typeface="Consolas"/>
                        </a:rPr>
                        <a:t>zooming’</a:t>
                      </a:r>
                      <a:r>
                        <a:rPr sz="1750" spc="-5" dirty="0">
                          <a:latin typeface="Consolas"/>
                          <a:cs typeface="Consolas"/>
                        </a:rPr>
                        <a:t>,) </a:t>
                      </a:r>
                      <a:r>
                        <a:rPr sz="1750" b="1" dirty="0">
                          <a:solidFill>
                            <a:srgbClr val="006699"/>
                          </a:solidFill>
                          <a:latin typeface="Consolas"/>
                          <a:cs typeface="Consolas"/>
                        </a:rPr>
                        <a:t>* </a:t>
                      </a:r>
                      <a:r>
                        <a:rPr sz="1750" dirty="0">
                          <a:solidFill>
                            <a:srgbClr val="009900"/>
                          </a:solidFill>
                          <a:latin typeface="Consolas"/>
                          <a:cs typeface="Consolas"/>
                        </a:rPr>
                        <a:t>3 </a:t>
                      </a:r>
                      <a:r>
                        <a:rPr sz="1750" spc="-5" dirty="0">
                          <a:solidFill>
                            <a:srgbClr val="00AF50"/>
                          </a:solidFill>
                          <a:latin typeface="Consolas"/>
                          <a:cs typeface="Consolas"/>
                        </a:rPr>
                        <a:t>//tuple with</a:t>
                      </a:r>
                      <a:r>
                        <a:rPr sz="1750" spc="95" dirty="0">
                          <a:solidFill>
                            <a:srgbClr val="00AF50"/>
                          </a:solidFill>
                          <a:latin typeface="Consolas"/>
                          <a:cs typeface="Consolas"/>
                        </a:rPr>
                        <a:t> </a:t>
                      </a:r>
                      <a:r>
                        <a:rPr sz="1750" spc="-5" dirty="0">
                          <a:solidFill>
                            <a:srgbClr val="00AF50"/>
                          </a:solidFill>
                          <a:latin typeface="Consolas"/>
                          <a:cs typeface="Consolas"/>
                        </a:rPr>
                        <a:t>repetition</a:t>
                      </a:r>
                      <a:endParaRPr sz="1750">
                        <a:latin typeface="Consolas"/>
                        <a:cs typeface="Consolas"/>
                      </a:endParaRPr>
                    </a:p>
                  </a:txBody>
                  <a:tcPr marL="0" marR="0" marT="99695" marB="0">
                    <a:solidFill>
                      <a:srgbClr val="FFFFFF"/>
                    </a:solidFill>
                  </a:tcPr>
                </a:tc>
              </a:tr>
              <a:tr h="378680">
                <a:tc>
                  <a:txBody>
                    <a:bodyPr/>
                    <a:lstStyle/>
                    <a:p>
                      <a:pPr marL="31750">
                        <a:lnSpc>
                          <a:spcPct val="100000"/>
                        </a:lnSpc>
                        <a:spcBef>
                          <a:spcPts val="780"/>
                        </a:spcBef>
                      </a:pPr>
                      <a:r>
                        <a:rPr sz="1750" spc="-5" dirty="0">
                          <a:latin typeface="Consolas"/>
                          <a:cs typeface="Consolas"/>
                        </a:rPr>
                        <a:t>Tuple5</a:t>
                      </a:r>
                      <a:endParaRPr sz="1750">
                        <a:latin typeface="Consolas"/>
                        <a:cs typeface="Consolas"/>
                      </a:endParaRPr>
                    </a:p>
                  </a:txBody>
                  <a:tcPr marL="0" marR="0" marT="99060" marB="0">
                    <a:solidFill>
                      <a:srgbClr val="FFFFFF"/>
                    </a:solidFill>
                  </a:tcPr>
                </a:tc>
                <a:tc>
                  <a:txBody>
                    <a:bodyPr/>
                    <a:lstStyle/>
                    <a:p>
                      <a:pPr marL="1270" algn="ctr">
                        <a:lnSpc>
                          <a:spcPct val="100000"/>
                        </a:lnSpc>
                        <a:spcBef>
                          <a:spcPts val="780"/>
                        </a:spcBef>
                      </a:pPr>
                      <a:r>
                        <a:rPr sz="1750" b="1" dirty="0">
                          <a:solidFill>
                            <a:srgbClr val="006699"/>
                          </a:solidFill>
                          <a:latin typeface="Consolas"/>
                          <a:cs typeface="Consolas"/>
                        </a:rPr>
                        <a:t>=</a:t>
                      </a:r>
                      <a:endParaRPr sz="1750">
                        <a:latin typeface="Consolas"/>
                        <a:cs typeface="Consolas"/>
                      </a:endParaRPr>
                    </a:p>
                  </a:txBody>
                  <a:tcPr marL="0" marR="0" marT="99060" marB="0">
                    <a:solidFill>
                      <a:srgbClr val="FFFFFF"/>
                    </a:solidFill>
                  </a:tcPr>
                </a:tc>
                <a:tc>
                  <a:txBody>
                    <a:bodyPr/>
                    <a:lstStyle/>
                    <a:p>
                      <a:pPr marL="60325">
                        <a:lnSpc>
                          <a:spcPct val="100000"/>
                        </a:lnSpc>
                        <a:spcBef>
                          <a:spcPts val="780"/>
                        </a:spcBef>
                      </a:pPr>
                      <a:r>
                        <a:rPr sz="1750" spc="-5" dirty="0">
                          <a:latin typeface="Consolas"/>
                          <a:cs typeface="Consolas"/>
                        </a:rPr>
                        <a:t>(</a:t>
                      </a:r>
                      <a:r>
                        <a:rPr sz="1750" spc="-5" dirty="0">
                          <a:solidFill>
                            <a:srgbClr val="009900"/>
                          </a:solidFill>
                          <a:latin typeface="Consolas"/>
                          <a:cs typeface="Consolas"/>
                        </a:rPr>
                        <a:t>5</a:t>
                      </a:r>
                      <a:r>
                        <a:rPr sz="1750" spc="-5" dirty="0">
                          <a:latin typeface="Consolas"/>
                          <a:cs typeface="Consolas"/>
                        </a:rPr>
                        <a:t>, </a:t>
                      </a:r>
                      <a:r>
                        <a:rPr sz="1750" spc="-5" dirty="0">
                          <a:solidFill>
                            <a:srgbClr val="0000FF"/>
                          </a:solidFill>
                          <a:latin typeface="Consolas"/>
                          <a:cs typeface="Consolas"/>
                        </a:rPr>
                        <a:t>'Welcome'</a:t>
                      </a:r>
                      <a:r>
                        <a:rPr sz="1750" spc="-5" dirty="0">
                          <a:latin typeface="Consolas"/>
                          <a:cs typeface="Consolas"/>
                        </a:rPr>
                        <a:t>, </a:t>
                      </a:r>
                      <a:r>
                        <a:rPr sz="1750" spc="-5" dirty="0">
                          <a:solidFill>
                            <a:srgbClr val="009900"/>
                          </a:solidFill>
                          <a:latin typeface="Consolas"/>
                          <a:cs typeface="Consolas"/>
                        </a:rPr>
                        <a:t>7</a:t>
                      </a:r>
                      <a:r>
                        <a:rPr sz="1750" spc="-5" dirty="0">
                          <a:latin typeface="Consolas"/>
                          <a:cs typeface="Consolas"/>
                        </a:rPr>
                        <a:t>, </a:t>
                      </a:r>
                      <a:r>
                        <a:rPr sz="1750" spc="-5" dirty="0">
                          <a:solidFill>
                            <a:srgbClr val="0000FF"/>
                          </a:solidFill>
                          <a:latin typeface="Consolas"/>
                          <a:cs typeface="Consolas"/>
                        </a:rPr>
                        <a:t>‘zooming’</a:t>
                      </a:r>
                      <a:r>
                        <a:rPr sz="1750" spc="-5" dirty="0">
                          <a:latin typeface="Consolas"/>
                          <a:cs typeface="Consolas"/>
                        </a:rPr>
                        <a:t>) </a:t>
                      </a:r>
                      <a:r>
                        <a:rPr sz="1750" spc="-5" dirty="0">
                          <a:solidFill>
                            <a:srgbClr val="00AF50"/>
                          </a:solidFill>
                          <a:latin typeface="Consolas"/>
                          <a:cs typeface="Consolas"/>
                        </a:rPr>
                        <a:t>//tuple with mixed</a:t>
                      </a:r>
                      <a:r>
                        <a:rPr sz="1750" spc="-280" dirty="0">
                          <a:solidFill>
                            <a:srgbClr val="00AF50"/>
                          </a:solidFill>
                          <a:latin typeface="Consolas"/>
                          <a:cs typeface="Consolas"/>
                        </a:rPr>
                        <a:t> </a:t>
                      </a:r>
                      <a:r>
                        <a:rPr sz="1750" spc="-5" dirty="0">
                          <a:solidFill>
                            <a:srgbClr val="00AF50"/>
                          </a:solidFill>
                          <a:latin typeface="Consolas"/>
                          <a:cs typeface="Consolas"/>
                        </a:rPr>
                        <a:t>datatypes</a:t>
                      </a:r>
                      <a:endParaRPr sz="1750">
                        <a:latin typeface="Consolas"/>
                        <a:cs typeface="Consolas"/>
                      </a:endParaRPr>
                    </a:p>
                  </a:txBody>
                  <a:tcPr marL="0" marR="0" marT="99060" marB="0">
                    <a:solidFill>
                      <a:srgbClr val="FFFFFF"/>
                    </a:solidFill>
                  </a:tcPr>
                </a:tc>
              </a:tr>
            </a:tbl>
          </a:graphicData>
        </a:graphic>
      </p:graphicFrame>
      <p:sp>
        <p:nvSpPr>
          <p:cNvPr id="6" name="Rectangle 5"/>
          <p:cNvSpPr/>
          <p:nvPr/>
        </p:nvSpPr>
        <p:spPr>
          <a:xfrm>
            <a:off x="317500" y="5610225"/>
            <a:ext cx="274320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4605" rIns="0" bIns="0" rtlCol="0">
            <a:spAutoFit/>
          </a:bodyPr>
          <a:lstStyle/>
          <a:p>
            <a:pPr marL="12700">
              <a:lnSpc>
                <a:spcPct val="100000"/>
              </a:lnSpc>
              <a:spcBef>
                <a:spcPts val="115"/>
              </a:spcBef>
            </a:pPr>
            <a:r>
              <a:rPr b="0" u="heavy" spc="-955" dirty="0">
                <a:solidFill>
                  <a:srgbClr val="0070BF"/>
                </a:solidFill>
                <a:uFill>
                  <a:solidFill>
                    <a:srgbClr val="0070BF"/>
                  </a:solidFill>
                </a:uFill>
                <a:latin typeface="Times New Roman"/>
                <a:cs typeface="Times New Roman"/>
              </a:rPr>
              <a:t> </a:t>
            </a:r>
            <a:r>
              <a:rPr u="heavy" spc="-55" dirty="0">
                <a:solidFill>
                  <a:srgbClr val="0070BF"/>
                </a:solidFill>
                <a:uFill>
                  <a:solidFill>
                    <a:srgbClr val="0070BF"/>
                  </a:solidFill>
                </a:uFill>
              </a:rPr>
              <a:t>Tuples</a:t>
            </a:r>
            <a:r>
              <a:rPr spc="-55" dirty="0">
                <a:solidFill>
                  <a:srgbClr val="0070BF"/>
                </a:solidFill>
              </a:rPr>
              <a:t> </a:t>
            </a:r>
            <a:r>
              <a:rPr dirty="0">
                <a:solidFill>
                  <a:srgbClr val="0070BF"/>
                </a:solidFill>
              </a:rPr>
              <a:t>-</a:t>
            </a:r>
            <a:r>
              <a:rPr spc="-10" dirty="0">
                <a:solidFill>
                  <a:srgbClr val="0070BF"/>
                </a:solidFill>
              </a:rPr>
              <a:t> </a:t>
            </a:r>
            <a:r>
              <a:rPr dirty="0"/>
              <a:t>Concatenation</a:t>
            </a:r>
          </a:p>
        </p:txBody>
      </p:sp>
      <p:sp>
        <p:nvSpPr>
          <p:cNvPr id="3" name="object 3"/>
          <p:cNvSpPr txBox="1"/>
          <p:nvPr/>
        </p:nvSpPr>
        <p:spPr>
          <a:xfrm>
            <a:off x="632003" y="1967990"/>
            <a:ext cx="4855845" cy="3712210"/>
          </a:xfrm>
          <a:prstGeom prst="rect">
            <a:avLst/>
          </a:prstGeom>
        </p:spPr>
        <p:txBody>
          <a:bodyPr vert="horz" wrap="square" lIns="0" tIns="12065" rIns="0" bIns="0" rtlCol="0">
            <a:spAutoFit/>
          </a:bodyPr>
          <a:lstStyle/>
          <a:p>
            <a:pPr marL="312420" marR="22860" indent="-300355">
              <a:lnSpc>
                <a:spcPct val="151000"/>
              </a:lnSpc>
              <a:spcBef>
                <a:spcPts val="95"/>
              </a:spcBef>
              <a:buFont typeface="Arial"/>
              <a:buChar char="•"/>
              <a:tabLst>
                <a:tab pos="312420" algn="l"/>
                <a:tab pos="313055" algn="l"/>
                <a:tab pos="1932939" algn="l"/>
                <a:tab pos="2286635" algn="l"/>
                <a:tab pos="2939415" algn="l"/>
                <a:tab pos="3251835" algn="l"/>
                <a:tab pos="3702050" algn="l"/>
                <a:tab pos="4611370" algn="l"/>
              </a:tabLst>
            </a:pPr>
            <a:r>
              <a:rPr sz="2000" spc="15" dirty="0">
                <a:latin typeface="Times New Roman"/>
                <a:cs typeface="Times New Roman"/>
              </a:rPr>
              <a:t>C</a:t>
            </a:r>
            <a:r>
              <a:rPr sz="2000" spc="5" dirty="0">
                <a:latin typeface="Times New Roman"/>
                <a:cs typeface="Times New Roman"/>
              </a:rPr>
              <a:t>on</a:t>
            </a:r>
            <a:r>
              <a:rPr sz="2000" spc="-5" dirty="0">
                <a:latin typeface="Times New Roman"/>
                <a:cs typeface="Times New Roman"/>
              </a:rPr>
              <a:t>c</a:t>
            </a:r>
            <a:r>
              <a:rPr sz="2000" spc="15" dirty="0">
                <a:latin typeface="Times New Roman"/>
                <a:cs typeface="Times New Roman"/>
              </a:rPr>
              <a:t>a</a:t>
            </a:r>
            <a:r>
              <a:rPr sz="2000" dirty="0">
                <a:latin typeface="Times New Roman"/>
                <a:cs typeface="Times New Roman"/>
              </a:rPr>
              <a:t>t</a:t>
            </a:r>
            <a:r>
              <a:rPr sz="2000" spc="15" dirty="0">
                <a:latin typeface="Times New Roman"/>
                <a:cs typeface="Times New Roman"/>
              </a:rPr>
              <a:t>e</a:t>
            </a:r>
            <a:r>
              <a:rPr sz="2000" spc="5" dirty="0">
                <a:latin typeface="Times New Roman"/>
                <a:cs typeface="Times New Roman"/>
              </a:rPr>
              <a:t>n</a:t>
            </a:r>
            <a:r>
              <a:rPr sz="2000" spc="-5" dirty="0">
                <a:latin typeface="Times New Roman"/>
                <a:cs typeface="Times New Roman"/>
              </a:rPr>
              <a:t>a</a:t>
            </a:r>
            <a:r>
              <a:rPr sz="2000" spc="5" dirty="0">
                <a:latin typeface="Times New Roman"/>
                <a:cs typeface="Times New Roman"/>
              </a:rPr>
              <a:t>tion</a:t>
            </a:r>
            <a:r>
              <a:rPr sz="2000" dirty="0">
                <a:latin typeface="Times New Roman"/>
                <a:cs typeface="Times New Roman"/>
              </a:rPr>
              <a:t>	</a:t>
            </a:r>
            <a:r>
              <a:rPr sz="2000" spc="5" dirty="0">
                <a:latin typeface="Times New Roman"/>
                <a:cs typeface="Times New Roman"/>
              </a:rPr>
              <a:t>of</a:t>
            </a:r>
            <a:r>
              <a:rPr sz="2000" dirty="0">
                <a:latin typeface="Times New Roman"/>
                <a:cs typeface="Times New Roman"/>
              </a:rPr>
              <a:t>	</a:t>
            </a:r>
            <a:r>
              <a:rPr sz="2000" spc="5" dirty="0">
                <a:latin typeface="Times New Roman"/>
                <a:cs typeface="Times New Roman"/>
              </a:rPr>
              <a:t>tuple</a:t>
            </a:r>
            <a:r>
              <a:rPr sz="2000" dirty="0">
                <a:latin typeface="Times New Roman"/>
                <a:cs typeface="Times New Roman"/>
              </a:rPr>
              <a:t>	</a:t>
            </a:r>
            <a:r>
              <a:rPr sz="2000" spc="5" dirty="0">
                <a:latin typeface="Times New Roman"/>
                <a:cs typeface="Times New Roman"/>
              </a:rPr>
              <a:t>is</a:t>
            </a:r>
            <a:r>
              <a:rPr sz="2000" dirty="0">
                <a:latin typeface="Times New Roman"/>
                <a:cs typeface="Times New Roman"/>
              </a:rPr>
              <a:t>	</a:t>
            </a:r>
            <a:r>
              <a:rPr sz="2000" spc="-20" dirty="0">
                <a:latin typeface="Times New Roman"/>
                <a:cs typeface="Times New Roman"/>
              </a:rPr>
              <a:t>t</a:t>
            </a:r>
            <a:r>
              <a:rPr sz="2000" spc="5" dirty="0">
                <a:latin typeface="Times New Roman"/>
                <a:cs typeface="Times New Roman"/>
              </a:rPr>
              <a:t>he</a:t>
            </a:r>
            <a:r>
              <a:rPr sz="2000" dirty="0">
                <a:latin typeface="Times New Roman"/>
                <a:cs typeface="Times New Roman"/>
              </a:rPr>
              <a:t>	</a:t>
            </a:r>
            <a:r>
              <a:rPr sz="2000" spc="5" dirty="0">
                <a:latin typeface="Times New Roman"/>
                <a:cs typeface="Times New Roman"/>
              </a:rPr>
              <a:t>p</a:t>
            </a:r>
            <a:r>
              <a:rPr sz="2000" spc="15" dirty="0">
                <a:latin typeface="Times New Roman"/>
                <a:cs typeface="Times New Roman"/>
              </a:rPr>
              <a:t>r</a:t>
            </a:r>
            <a:r>
              <a:rPr sz="2000" spc="5" dirty="0">
                <a:latin typeface="Times New Roman"/>
                <a:cs typeface="Times New Roman"/>
              </a:rPr>
              <a:t>o</a:t>
            </a:r>
            <a:r>
              <a:rPr sz="2000" spc="-5" dirty="0">
                <a:latin typeface="Times New Roman"/>
                <a:cs typeface="Times New Roman"/>
              </a:rPr>
              <a:t>c</a:t>
            </a:r>
            <a:r>
              <a:rPr sz="2000" spc="15" dirty="0">
                <a:latin typeface="Times New Roman"/>
                <a:cs typeface="Times New Roman"/>
              </a:rPr>
              <a:t>e</a:t>
            </a:r>
            <a:r>
              <a:rPr sz="2000" spc="5" dirty="0">
                <a:latin typeface="Times New Roman"/>
                <a:cs typeface="Times New Roman"/>
              </a:rPr>
              <a:t>ss</a:t>
            </a:r>
            <a:r>
              <a:rPr sz="2000" dirty="0">
                <a:latin typeface="Times New Roman"/>
                <a:cs typeface="Times New Roman"/>
              </a:rPr>
              <a:t>	</a:t>
            </a:r>
            <a:r>
              <a:rPr sz="2000" spc="5" dirty="0">
                <a:latin typeface="Times New Roman"/>
                <a:cs typeface="Times New Roman"/>
              </a:rPr>
              <a:t>of  joining of two or more</a:t>
            </a:r>
            <a:r>
              <a:rPr sz="2000" spc="-105" dirty="0">
                <a:latin typeface="Times New Roman"/>
                <a:cs typeface="Times New Roman"/>
              </a:rPr>
              <a:t> </a:t>
            </a:r>
            <a:r>
              <a:rPr sz="2000" spc="-5" dirty="0">
                <a:latin typeface="Times New Roman"/>
                <a:cs typeface="Times New Roman"/>
              </a:rPr>
              <a:t>Tuples.</a:t>
            </a:r>
            <a:endParaRPr sz="2000" dirty="0">
              <a:latin typeface="Times New Roman"/>
              <a:cs typeface="Times New Roman"/>
            </a:endParaRPr>
          </a:p>
          <a:p>
            <a:pPr marL="312420" marR="5080" indent="-300355">
              <a:lnSpc>
                <a:spcPct val="151000"/>
              </a:lnSpc>
              <a:spcBef>
                <a:spcPts val="10"/>
              </a:spcBef>
              <a:buFont typeface="Arial"/>
              <a:buChar char="•"/>
              <a:tabLst>
                <a:tab pos="312420" algn="l"/>
                <a:tab pos="313055" algn="l"/>
                <a:tab pos="1927860" algn="l"/>
                <a:tab pos="2232660" algn="l"/>
                <a:tab pos="2865120" algn="l"/>
                <a:tab pos="3256915" algn="l"/>
                <a:tab pos="3704590" algn="l"/>
                <a:tab pos="4180840" algn="l"/>
                <a:tab pos="4526915" algn="l"/>
              </a:tabLst>
            </a:pPr>
            <a:r>
              <a:rPr sz="2000" spc="15" dirty="0">
                <a:latin typeface="Times New Roman"/>
                <a:cs typeface="Times New Roman"/>
              </a:rPr>
              <a:t>C</a:t>
            </a:r>
            <a:r>
              <a:rPr sz="2000" spc="5" dirty="0">
                <a:latin typeface="Times New Roman"/>
                <a:cs typeface="Times New Roman"/>
              </a:rPr>
              <a:t>on</a:t>
            </a:r>
            <a:r>
              <a:rPr sz="2000" spc="-5" dirty="0">
                <a:latin typeface="Times New Roman"/>
                <a:cs typeface="Times New Roman"/>
              </a:rPr>
              <a:t>c</a:t>
            </a:r>
            <a:r>
              <a:rPr sz="2000" spc="15" dirty="0">
                <a:latin typeface="Times New Roman"/>
                <a:cs typeface="Times New Roman"/>
              </a:rPr>
              <a:t>a</a:t>
            </a:r>
            <a:r>
              <a:rPr sz="2000" dirty="0">
                <a:latin typeface="Times New Roman"/>
                <a:cs typeface="Times New Roman"/>
              </a:rPr>
              <a:t>t</a:t>
            </a:r>
            <a:r>
              <a:rPr sz="2000" spc="15" dirty="0">
                <a:latin typeface="Times New Roman"/>
                <a:cs typeface="Times New Roman"/>
              </a:rPr>
              <a:t>e</a:t>
            </a:r>
            <a:r>
              <a:rPr sz="2000" spc="5" dirty="0">
                <a:latin typeface="Times New Roman"/>
                <a:cs typeface="Times New Roman"/>
              </a:rPr>
              <a:t>n</a:t>
            </a:r>
            <a:r>
              <a:rPr sz="2000" spc="-5" dirty="0">
                <a:latin typeface="Times New Roman"/>
                <a:cs typeface="Times New Roman"/>
              </a:rPr>
              <a:t>a</a:t>
            </a:r>
            <a:r>
              <a:rPr sz="2000" spc="5" dirty="0">
                <a:latin typeface="Times New Roman"/>
                <a:cs typeface="Times New Roman"/>
              </a:rPr>
              <a:t>tion</a:t>
            </a:r>
            <a:r>
              <a:rPr sz="2000" dirty="0">
                <a:latin typeface="Times New Roman"/>
                <a:cs typeface="Times New Roman"/>
              </a:rPr>
              <a:t>	</a:t>
            </a:r>
            <a:r>
              <a:rPr sz="2000" spc="5" dirty="0">
                <a:latin typeface="Times New Roman"/>
                <a:cs typeface="Times New Roman"/>
              </a:rPr>
              <a:t>is</a:t>
            </a:r>
            <a:r>
              <a:rPr sz="2000" dirty="0">
                <a:latin typeface="Times New Roman"/>
                <a:cs typeface="Times New Roman"/>
              </a:rPr>
              <a:t>	</a:t>
            </a:r>
            <a:r>
              <a:rPr sz="2000" spc="5" dirty="0">
                <a:latin typeface="Times New Roman"/>
                <a:cs typeface="Times New Roman"/>
              </a:rPr>
              <a:t>done</a:t>
            </a:r>
            <a:r>
              <a:rPr sz="2000" dirty="0">
                <a:latin typeface="Times New Roman"/>
                <a:cs typeface="Times New Roman"/>
              </a:rPr>
              <a:t>	</a:t>
            </a:r>
            <a:r>
              <a:rPr sz="2000" spc="5" dirty="0">
                <a:latin typeface="Times New Roman"/>
                <a:cs typeface="Times New Roman"/>
              </a:rPr>
              <a:t>by</a:t>
            </a:r>
            <a:r>
              <a:rPr sz="2000" dirty="0">
                <a:latin typeface="Times New Roman"/>
                <a:cs typeface="Times New Roman"/>
              </a:rPr>
              <a:t>	</a:t>
            </a:r>
            <a:r>
              <a:rPr sz="2000" spc="5" dirty="0">
                <a:latin typeface="Times New Roman"/>
                <a:cs typeface="Times New Roman"/>
              </a:rPr>
              <a:t>the</a:t>
            </a:r>
            <a:r>
              <a:rPr sz="2000" dirty="0">
                <a:latin typeface="Times New Roman"/>
                <a:cs typeface="Times New Roman"/>
              </a:rPr>
              <a:t>	</a:t>
            </a:r>
            <a:r>
              <a:rPr sz="2000" spc="5" dirty="0">
                <a:latin typeface="Times New Roman"/>
                <a:cs typeface="Times New Roman"/>
              </a:rPr>
              <a:t>use</a:t>
            </a:r>
            <a:r>
              <a:rPr sz="2000" dirty="0">
                <a:latin typeface="Times New Roman"/>
                <a:cs typeface="Times New Roman"/>
              </a:rPr>
              <a:t>	</a:t>
            </a:r>
            <a:r>
              <a:rPr sz="2000" spc="5" dirty="0">
                <a:latin typeface="Times New Roman"/>
                <a:cs typeface="Times New Roman"/>
              </a:rPr>
              <a:t>of</a:t>
            </a:r>
            <a:r>
              <a:rPr sz="2000" dirty="0">
                <a:latin typeface="Times New Roman"/>
                <a:cs typeface="Times New Roman"/>
              </a:rPr>
              <a:t>	</a:t>
            </a:r>
            <a:r>
              <a:rPr sz="2000" spc="15" dirty="0">
                <a:latin typeface="Times New Roman"/>
                <a:cs typeface="Times New Roman"/>
              </a:rPr>
              <a:t>‘</a:t>
            </a:r>
            <a:r>
              <a:rPr sz="2000" spc="-5" dirty="0">
                <a:latin typeface="Times New Roman"/>
                <a:cs typeface="Times New Roman"/>
              </a:rPr>
              <a:t>+</a:t>
            </a:r>
            <a:r>
              <a:rPr sz="2000" dirty="0">
                <a:latin typeface="Times New Roman"/>
                <a:cs typeface="Times New Roman"/>
              </a:rPr>
              <a:t>’  </a:t>
            </a:r>
            <a:r>
              <a:rPr sz="2000" spc="-5" dirty="0">
                <a:latin typeface="Times New Roman"/>
                <a:cs typeface="Times New Roman"/>
              </a:rPr>
              <a:t>operator.</a:t>
            </a:r>
            <a:endParaRPr sz="2000" dirty="0">
              <a:latin typeface="Times New Roman"/>
              <a:cs typeface="Times New Roman"/>
            </a:endParaRPr>
          </a:p>
          <a:p>
            <a:pPr marL="312420" marR="20955" indent="-300355">
              <a:lnSpc>
                <a:spcPct val="151000"/>
              </a:lnSpc>
              <a:spcBef>
                <a:spcPts val="15"/>
              </a:spcBef>
              <a:buFont typeface="Arial"/>
              <a:buChar char="•"/>
              <a:tabLst>
                <a:tab pos="312420" algn="l"/>
                <a:tab pos="313055" algn="l"/>
                <a:tab pos="1958975" algn="l"/>
                <a:tab pos="2334895" algn="l"/>
                <a:tab pos="3113405" algn="l"/>
                <a:tab pos="3451225" algn="l"/>
                <a:tab pos="4114800" algn="l"/>
              </a:tabLst>
            </a:pPr>
            <a:r>
              <a:rPr sz="2000" spc="15" dirty="0">
                <a:latin typeface="Times New Roman"/>
                <a:cs typeface="Times New Roman"/>
              </a:rPr>
              <a:t>C</a:t>
            </a:r>
            <a:r>
              <a:rPr sz="2000" spc="5" dirty="0">
                <a:latin typeface="Times New Roman"/>
                <a:cs typeface="Times New Roman"/>
              </a:rPr>
              <a:t>on</a:t>
            </a:r>
            <a:r>
              <a:rPr sz="2000" spc="-5" dirty="0">
                <a:latin typeface="Times New Roman"/>
                <a:cs typeface="Times New Roman"/>
              </a:rPr>
              <a:t>c</a:t>
            </a:r>
            <a:r>
              <a:rPr sz="2000" spc="15" dirty="0">
                <a:latin typeface="Times New Roman"/>
                <a:cs typeface="Times New Roman"/>
              </a:rPr>
              <a:t>a</a:t>
            </a:r>
            <a:r>
              <a:rPr sz="2000" dirty="0">
                <a:latin typeface="Times New Roman"/>
                <a:cs typeface="Times New Roman"/>
              </a:rPr>
              <a:t>t</a:t>
            </a:r>
            <a:r>
              <a:rPr sz="2000" spc="15" dirty="0">
                <a:latin typeface="Times New Roman"/>
                <a:cs typeface="Times New Roman"/>
              </a:rPr>
              <a:t>e</a:t>
            </a:r>
            <a:r>
              <a:rPr sz="2000" spc="5" dirty="0">
                <a:latin typeface="Times New Roman"/>
                <a:cs typeface="Times New Roman"/>
              </a:rPr>
              <a:t>n</a:t>
            </a:r>
            <a:r>
              <a:rPr sz="2000" spc="-5" dirty="0">
                <a:latin typeface="Times New Roman"/>
                <a:cs typeface="Times New Roman"/>
              </a:rPr>
              <a:t>a</a:t>
            </a:r>
            <a:r>
              <a:rPr sz="2000" spc="5" dirty="0">
                <a:latin typeface="Times New Roman"/>
                <a:cs typeface="Times New Roman"/>
              </a:rPr>
              <a:t>tion</a:t>
            </a:r>
            <a:r>
              <a:rPr sz="2000" dirty="0">
                <a:latin typeface="Times New Roman"/>
                <a:cs typeface="Times New Roman"/>
              </a:rPr>
              <a:t>	</a:t>
            </a:r>
            <a:r>
              <a:rPr sz="2000" spc="5" dirty="0">
                <a:latin typeface="Times New Roman"/>
                <a:cs typeface="Times New Roman"/>
              </a:rPr>
              <a:t>of</a:t>
            </a:r>
            <a:r>
              <a:rPr sz="2000" dirty="0">
                <a:latin typeface="Times New Roman"/>
                <a:cs typeface="Times New Roman"/>
              </a:rPr>
              <a:t>	</a:t>
            </a:r>
            <a:r>
              <a:rPr sz="2000" spc="5" dirty="0" err="1">
                <a:latin typeface="Times New Roman"/>
                <a:cs typeface="Times New Roman"/>
              </a:rPr>
              <a:t>tupl</a:t>
            </a:r>
            <a:r>
              <a:rPr sz="2000" spc="15" dirty="0" err="1">
                <a:latin typeface="Times New Roman"/>
                <a:cs typeface="Times New Roman"/>
              </a:rPr>
              <a:t>e</a:t>
            </a:r>
            <a:r>
              <a:rPr sz="2000" spc="5" dirty="0" err="1">
                <a:latin typeface="Times New Roman"/>
                <a:cs typeface="Times New Roman"/>
              </a:rPr>
              <a:t>s</a:t>
            </a:r>
            <a:r>
              <a:rPr sz="2000" dirty="0">
                <a:latin typeface="Times New Roman"/>
                <a:cs typeface="Times New Roman"/>
              </a:rPr>
              <a:t>	</a:t>
            </a:r>
            <a:r>
              <a:rPr sz="2000" spc="5" dirty="0">
                <a:latin typeface="Times New Roman"/>
                <a:cs typeface="Times New Roman"/>
              </a:rPr>
              <a:t>is</a:t>
            </a:r>
            <a:r>
              <a:rPr sz="2000" dirty="0">
                <a:latin typeface="Times New Roman"/>
                <a:cs typeface="Times New Roman"/>
              </a:rPr>
              <a:t>	</a:t>
            </a:r>
            <a:r>
              <a:rPr sz="2000" spc="5" dirty="0">
                <a:latin typeface="Times New Roman"/>
                <a:cs typeface="Times New Roman"/>
              </a:rPr>
              <a:t>done</a:t>
            </a:r>
            <a:r>
              <a:rPr sz="2000" dirty="0">
                <a:latin typeface="Times New Roman"/>
                <a:cs typeface="Times New Roman"/>
              </a:rPr>
              <a:t>	</a:t>
            </a:r>
            <a:r>
              <a:rPr sz="2000" spc="-5" dirty="0">
                <a:latin typeface="Times New Roman"/>
                <a:cs typeface="Times New Roman"/>
              </a:rPr>
              <a:t>a</a:t>
            </a:r>
            <a:r>
              <a:rPr sz="2000" dirty="0">
                <a:latin typeface="Times New Roman"/>
                <a:cs typeface="Times New Roman"/>
              </a:rPr>
              <a:t>l</a:t>
            </a:r>
            <a:r>
              <a:rPr sz="2000" spc="5" dirty="0">
                <a:latin typeface="Times New Roman"/>
                <a:cs typeface="Times New Roman"/>
              </a:rPr>
              <a:t>w</a:t>
            </a:r>
            <a:r>
              <a:rPr sz="2000" spc="15" dirty="0">
                <a:latin typeface="Times New Roman"/>
                <a:cs typeface="Times New Roman"/>
              </a:rPr>
              <a:t>a</a:t>
            </a:r>
            <a:r>
              <a:rPr sz="2000" spc="5" dirty="0">
                <a:latin typeface="Times New Roman"/>
                <a:cs typeface="Times New Roman"/>
              </a:rPr>
              <a:t>ys  from the </a:t>
            </a:r>
            <a:r>
              <a:rPr sz="2000" spc="10" dirty="0">
                <a:latin typeface="Times New Roman"/>
                <a:cs typeface="Times New Roman"/>
              </a:rPr>
              <a:t>end </a:t>
            </a:r>
            <a:r>
              <a:rPr sz="2000" spc="5" dirty="0">
                <a:latin typeface="Times New Roman"/>
                <a:cs typeface="Times New Roman"/>
              </a:rPr>
              <a:t>of the original</a:t>
            </a:r>
            <a:r>
              <a:rPr sz="2000" spc="-90" dirty="0">
                <a:latin typeface="Times New Roman"/>
                <a:cs typeface="Times New Roman"/>
              </a:rPr>
              <a:t> </a:t>
            </a:r>
            <a:r>
              <a:rPr sz="2000" spc="5" dirty="0">
                <a:latin typeface="Times New Roman"/>
                <a:cs typeface="Times New Roman"/>
              </a:rPr>
              <a:t>tuple.</a:t>
            </a:r>
            <a:endParaRPr sz="2000" dirty="0">
              <a:latin typeface="Times New Roman"/>
              <a:cs typeface="Times New Roman"/>
            </a:endParaRPr>
          </a:p>
          <a:p>
            <a:pPr marL="312420" marR="18415" indent="-300355">
              <a:lnSpc>
                <a:spcPct val="151000"/>
              </a:lnSpc>
              <a:spcBef>
                <a:spcPts val="10"/>
              </a:spcBef>
              <a:buFont typeface="Arial"/>
              <a:buChar char="•"/>
              <a:tabLst>
                <a:tab pos="312420" algn="l"/>
                <a:tab pos="313055" algn="l"/>
              </a:tabLst>
            </a:pPr>
            <a:r>
              <a:rPr sz="2000" spc="5" dirty="0">
                <a:latin typeface="Times New Roman"/>
                <a:cs typeface="Times New Roman"/>
              </a:rPr>
              <a:t>Other </a:t>
            </a:r>
            <a:r>
              <a:rPr sz="2000" dirty="0">
                <a:latin typeface="Times New Roman"/>
                <a:cs typeface="Times New Roman"/>
              </a:rPr>
              <a:t>arithmetic </a:t>
            </a:r>
            <a:r>
              <a:rPr sz="2000" spc="5" dirty="0">
                <a:latin typeface="Times New Roman"/>
                <a:cs typeface="Times New Roman"/>
              </a:rPr>
              <a:t>operations do not </a:t>
            </a:r>
            <a:r>
              <a:rPr sz="2000" dirty="0">
                <a:latin typeface="Times New Roman"/>
                <a:cs typeface="Times New Roman"/>
              </a:rPr>
              <a:t>apply </a:t>
            </a:r>
            <a:r>
              <a:rPr sz="2000" spc="5" dirty="0">
                <a:latin typeface="Times New Roman"/>
                <a:cs typeface="Times New Roman"/>
              </a:rPr>
              <a:t>on  </a:t>
            </a:r>
            <a:r>
              <a:rPr sz="2000" spc="-5" dirty="0">
                <a:latin typeface="Times New Roman"/>
                <a:cs typeface="Times New Roman"/>
              </a:rPr>
              <a:t>Tuples.</a:t>
            </a:r>
            <a:endParaRPr sz="2000" dirty="0">
              <a:latin typeface="Times New Roman"/>
              <a:cs typeface="Times New Roman"/>
            </a:endParaRPr>
          </a:p>
        </p:txBody>
      </p:sp>
      <p:sp>
        <p:nvSpPr>
          <p:cNvPr id="4" name="object 4"/>
          <p:cNvSpPr txBox="1"/>
          <p:nvPr/>
        </p:nvSpPr>
        <p:spPr>
          <a:xfrm>
            <a:off x="5819659" y="2162035"/>
            <a:ext cx="4677410" cy="2162810"/>
          </a:xfrm>
          <a:prstGeom prst="rect">
            <a:avLst/>
          </a:prstGeom>
        </p:spPr>
        <p:txBody>
          <a:bodyPr vert="horz" wrap="square" lIns="0" tIns="12700" rIns="0" bIns="0" rtlCol="0">
            <a:spAutoFit/>
          </a:bodyPr>
          <a:lstStyle/>
          <a:p>
            <a:pPr marL="12700" marR="1719580">
              <a:lnSpc>
                <a:spcPct val="100000"/>
              </a:lnSpc>
              <a:spcBef>
                <a:spcPts val="100"/>
              </a:spcBef>
            </a:pPr>
            <a:r>
              <a:rPr sz="1750" dirty="0">
                <a:solidFill>
                  <a:srgbClr val="008200"/>
                </a:solidFill>
                <a:latin typeface="Consolas"/>
                <a:cs typeface="Consolas"/>
              </a:rPr>
              <a:t># Concatenaton of</a:t>
            </a:r>
            <a:r>
              <a:rPr sz="1750" spc="-85" dirty="0">
                <a:solidFill>
                  <a:srgbClr val="008200"/>
                </a:solidFill>
                <a:latin typeface="Consolas"/>
                <a:cs typeface="Consolas"/>
              </a:rPr>
              <a:t> </a:t>
            </a:r>
            <a:r>
              <a:rPr sz="1750" dirty="0" err="1">
                <a:solidFill>
                  <a:srgbClr val="008200"/>
                </a:solidFill>
                <a:latin typeface="Consolas"/>
                <a:cs typeface="Consolas"/>
              </a:rPr>
              <a:t>tuples</a:t>
            </a:r>
            <a:r>
              <a:rPr sz="1750" dirty="0">
                <a:solidFill>
                  <a:srgbClr val="008200"/>
                </a:solidFill>
                <a:latin typeface="Consolas"/>
                <a:cs typeface="Consolas"/>
              </a:rPr>
              <a:t>  </a:t>
            </a:r>
            <a:r>
              <a:rPr sz="1750" dirty="0">
                <a:latin typeface="Consolas"/>
                <a:cs typeface="Consolas"/>
              </a:rPr>
              <a:t>Tuple1 </a:t>
            </a:r>
            <a:r>
              <a:rPr sz="1750" b="1" dirty="0">
                <a:solidFill>
                  <a:srgbClr val="006699"/>
                </a:solidFill>
                <a:latin typeface="Consolas"/>
                <a:cs typeface="Consolas"/>
              </a:rPr>
              <a:t>= </a:t>
            </a:r>
            <a:r>
              <a:rPr sz="1750" spc="-5" dirty="0">
                <a:latin typeface="Consolas"/>
                <a:cs typeface="Consolas"/>
              </a:rPr>
              <a:t>(</a:t>
            </a:r>
            <a:r>
              <a:rPr sz="1750" spc="-5" dirty="0">
                <a:solidFill>
                  <a:srgbClr val="009900"/>
                </a:solidFill>
                <a:latin typeface="Consolas"/>
                <a:cs typeface="Consolas"/>
              </a:rPr>
              <a:t>0</a:t>
            </a:r>
            <a:r>
              <a:rPr sz="1750" spc="-5" dirty="0">
                <a:latin typeface="Consolas"/>
                <a:cs typeface="Consolas"/>
              </a:rPr>
              <a:t>, </a:t>
            </a:r>
            <a:r>
              <a:rPr sz="1750" spc="-5" dirty="0">
                <a:solidFill>
                  <a:srgbClr val="009900"/>
                </a:solidFill>
                <a:latin typeface="Consolas"/>
                <a:cs typeface="Consolas"/>
              </a:rPr>
              <a:t>1</a:t>
            </a:r>
            <a:r>
              <a:rPr sz="1750" spc="-5" dirty="0">
                <a:latin typeface="Consolas"/>
                <a:cs typeface="Consolas"/>
              </a:rPr>
              <a:t>, </a:t>
            </a:r>
            <a:r>
              <a:rPr sz="1750" spc="-5" dirty="0">
                <a:solidFill>
                  <a:srgbClr val="009900"/>
                </a:solidFill>
                <a:latin typeface="Consolas"/>
                <a:cs typeface="Consolas"/>
              </a:rPr>
              <a:t>2</a:t>
            </a:r>
            <a:r>
              <a:rPr sz="1750" spc="-5" dirty="0">
                <a:latin typeface="Consolas"/>
                <a:cs typeface="Consolas"/>
              </a:rPr>
              <a:t>,</a:t>
            </a:r>
            <a:r>
              <a:rPr sz="1750" spc="-15" dirty="0">
                <a:latin typeface="Consolas"/>
                <a:cs typeface="Consolas"/>
              </a:rPr>
              <a:t> </a:t>
            </a:r>
            <a:r>
              <a:rPr sz="1750" spc="-5" dirty="0">
                <a:solidFill>
                  <a:srgbClr val="009900"/>
                </a:solidFill>
                <a:latin typeface="Consolas"/>
                <a:cs typeface="Consolas"/>
              </a:rPr>
              <a:t>3</a:t>
            </a:r>
            <a:r>
              <a:rPr sz="1750" spc="-5" dirty="0">
                <a:latin typeface="Consolas"/>
                <a:cs typeface="Consolas"/>
              </a:rPr>
              <a:t>)</a:t>
            </a:r>
            <a:endParaRPr sz="1750" dirty="0">
              <a:latin typeface="Consolas"/>
              <a:cs typeface="Consolas"/>
            </a:endParaRPr>
          </a:p>
          <a:p>
            <a:pPr marL="12700">
              <a:lnSpc>
                <a:spcPct val="100000"/>
              </a:lnSpc>
            </a:pPr>
            <a:r>
              <a:rPr sz="1750" dirty="0">
                <a:latin typeface="Consolas"/>
                <a:cs typeface="Consolas"/>
              </a:rPr>
              <a:t>Tuple2 </a:t>
            </a:r>
            <a:r>
              <a:rPr sz="1750" b="1" dirty="0">
                <a:solidFill>
                  <a:srgbClr val="006699"/>
                </a:solidFill>
                <a:latin typeface="Consolas"/>
                <a:cs typeface="Consolas"/>
              </a:rPr>
              <a:t>= </a:t>
            </a:r>
            <a:r>
              <a:rPr sz="1750" dirty="0">
                <a:latin typeface="Consolas"/>
                <a:cs typeface="Consolas"/>
              </a:rPr>
              <a:t>(</a:t>
            </a:r>
            <a:r>
              <a:rPr sz="1750" dirty="0">
                <a:solidFill>
                  <a:srgbClr val="0000FF"/>
                </a:solidFill>
                <a:latin typeface="Consolas"/>
                <a:cs typeface="Consolas"/>
              </a:rPr>
              <a:t>‘Zooming'</a:t>
            </a:r>
            <a:r>
              <a:rPr sz="1750" dirty="0">
                <a:latin typeface="Consolas"/>
                <a:cs typeface="Consolas"/>
              </a:rPr>
              <a:t>, </a:t>
            </a:r>
            <a:r>
              <a:rPr sz="1750" spc="-5" dirty="0">
                <a:solidFill>
                  <a:srgbClr val="0000FF"/>
                </a:solidFill>
                <a:latin typeface="Consolas"/>
                <a:cs typeface="Consolas"/>
              </a:rPr>
              <a:t>'For'</a:t>
            </a:r>
            <a:r>
              <a:rPr sz="1750" spc="-5" dirty="0">
                <a:latin typeface="Consolas"/>
                <a:cs typeface="Consolas"/>
              </a:rPr>
              <a:t>,</a:t>
            </a:r>
            <a:r>
              <a:rPr sz="1750" spc="-20" dirty="0">
                <a:latin typeface="Consolas"/>
                <a:cs typeface="Consolas"/>
              </a:rPr>
              <a:t> </a:t>
            </a:r>
            <a:r>
              <a:rPr sz="1750" dirty="0">
                <a:solidFill>
                  <a:srgbClr val="0000FF"/>
                </a:solidFill>
                <a:latin typeface="Consolas"/>
                <a:cs typeface="Consolas"/>
              </a:rPr>
              <a:t>‘stud'</a:t>
            </a:r>
            <a:r>
              <a:rPr sz="1750" dirty="0">
                <a:latin typeface="Consolas"/>
                <a:cs typeface="Consolas"/>
              </a:rPr>
              <a:t>)</a:t>
            </a:r>
          </a:p>
          <a:p>
            <a:pPr>
              <a:lnSpc>
                <a:spcPct val="100000"/>
              </a:lnSpc>
              <a:spcBef>
                <a:spcPts val="5"/>
              </a:spcBef>
            </a:pPr>
            <a:endParaRPr sz="1800" dirty="0">
              <a:latin typeface="Consolas"/>
              <a:cs typeface="Consolas"/>
            </a:endParaRPr>
          </a:p>
          <a:p>
            <a:pPr marL="12700">
              <a:lnSpc>
                <a:spcPct val="100000"/>
              </a:lnSpc>
            </a:pPr>
            <a:r>
              <a:rPr sz="1750" dirty="0">
                <a:latin typeface="Consolas"/>
                <a:cs typeface="Consolas"/>
              </a:rPr>
              <a:t>Tuple3 </a:t>
            </a:r>
            <a:r>
              <a:rPr sz="1750" b="1" dirty="0">
                <a:solidFill>
                  <a:srgbClr val="006699"/>
                </a:solidFill>
                <a:latin typeface="Consolas"/>
                <a:cs typeface="Consolas"/>
              </a:rPr>
              <a:t>= </a:t>
            </a:r>
            <a:r>
              <a:rPr sz="1750" dirty="0">
                <a:latin typeface="Consolas"/>
                <a:cs typeface="Consolas"/>
              </a:rPr>
              <a:t>Tuple1 </a:t>
            </a:r>
            <a:r>
              <a:rPr sz="1750" b="1" dirty="0">
                <a:solidFill>
                  <a:srgbClr val="006699"/>
                </a:solidFill>
                <a:latin typeface="Consolas"/>
                <a:cs typeface="Consolas"/>
              </a:rPr>
              <a:t>+</a:t>
            </a:r>
            <a:r>
              <a:rPr sz="1750" b="1" spc="-10" dirty="0">
                <a:solidFill>
                  <a:srgbClr val="006699"/>
                </a:solidFill>
                <a:latin typeface="Consolas"/>
                <a:cs typeface="Consolas"/>
              </a:rPr>
              <a:t> </a:t>
            </a:r>
            <a:r>
              <a:rPr sz="1750" dirty="0">
                <a:latin typeface="Consolas"/>
                <a:cs typeface="Consolas"/>
              </a:rPr>
              <a:t>Tuple2</a:t>
            </a:r>
          </a:p>
          <a:p>
            <a:pPr>
              <a:lnSpc>
                <a:spcPct val="100000"/>
              </a:lnSpc>
              <a:spcBef>
                <a:spcPts val="5"/>
              </a:spcBef>
            </a:pPr>
            <a:endParaRPr sz="1800" dirty="0">
              <a:latin typeface="Consolas"/>
              <a:cs typeface="Consolas"/>
            </a:endParaRPr>
          </a:p>
          <a:p>
            <a:pPr marL="12700" marR="5080">
              <a:lnSpc>
                <a:spcPct val="100000"/>
              </a:lnSpc>
            </a:pPr>
            <a:r>
              <a:rPr sz="1750" b="1" dirty="0">
                <a:solidFill>
                  <a:srgbClr val="006699"/>
                </a:solidFill>
                <a:latin typeface="Consolas"/>
                <a:cs typeface="Consolas"/>
              </a:rPr>
              <a:t>print</a:t>
            </a:r>
            <a:r>
              <a:rPr sz="1750" dirty="0">
                <a:latin typeface="Consolas"/>
                <a:cs typeface="Consolas"/>
              </a:rPr>
              <a:t>(</a:t>
            </a:r>
            <a:r>
              <a:rPr sz="1750" dirty="0">
                <a:solidFill>
                  <a:srgbClr val="0000FF"/>
                </a:solidFill>
                <a:latin typeface="Consolas"/>
                <a:cs typeface="Consolas"/>
              </a:rPr>
              <a:t>"\nTuples after Concatenaton:</a:t>
            </a:r>
            <a:r>
              <a:rPr sz="1750" spc="-70" dirty="0">
                <a:solidFill>
                  <a:srgbClr val="0000FF"/>
                </a:solidFill>
                <a:latin typeface="Consolas"/>
                <a:cs typeface="Consolas"/>
              </a:rPr>
              <a:t> </a:t>
            </a:r>
            <a:r>
              <a:rPr sz="1750" spc="-5" dirty="0">
                <a:solidFill>
                  <a:srgbClr val="0000FF"/>
                </a:solidFill>
                <a:latin typeface="Consolas"/>
                <a:cs typeface="Consolas"/>
              </a:rPr>
              <a:t>"</a:t>
            </a:r>
            <a:r>
              <a:rPr sz="1750" spc="-5" dirty="0">
                <a:latin typeface="Consolas"/>
                <a:cs typeface="Consolas"/>
              </a:rPr>
              <a:t>)  </a:t>
            </a:r>
            <a:r>
              <a:rPr sz="1750" spc="-5" dirty="0">
                <a:solidFill>
                  <a:srgbClr val="FF1393"/>
                </a:solidFill>
                <a:latin typeface="Consolas"/>
                <a:cs typeface="Consolas"/>
              </a:rPr>
              <a:t>print</a:t>
            </a:r>
            <a:r>
              <a:rPr sz="1750" spc="-5" dirty="0">
                <a:latin typeface="Consolas"/>
                <a:cs typeface="Consolas"/>
              </a:rPr>
              <a:t>(Tuple3</a:t>
            </a:r>
            <a:endParaRPr sz="1750" dirty="0">
              <a:latin typeface="Consolas"/>
              <a:cs typeface="Consolas"/>
            </a:endParaRPr>
          </a:p>
        </p:txBody>
      </p:sp>
      <p:grpSp>
        <p:nvGrpSpPr>
          <p:cNvPr id="5" name="object 5"/>
          <p:cNvGrpSpPr/>
          <p:nvPr/>
        </p:nvGrpSpPr>
        <p:grpSpPr>
          <a:xfrm>
            <a:off x="265175" y="2174748"/>
            <a:ext cx="5451475" cy="4401820"/>
            <a:chOff x="265175" y="2174748"/>
            <a:chExt cx="5451475" cy="4401820"/>
          </a:xfrm>
        </p:grpSpPr>
        <p:sp>
          <p:nvSpPr>
            <p:cNvPr id="6" name="object 6"/>
            <p:cNvSpPr/>
            <p:nvPr/>
          </p:nvSpPr>
          <p:spPr>
            <a:xfrm>
              <a:off x="265175" y="5631180"/>
              <a:ext cx="2711196" cy="944879"/>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5708903" y="2174748"/>
              <a:ext cx="7620" cy="3040380"/>
            </a:xfrm>
            <a:custGeom>
              <a:avLst/>
              <a:gdLst/>
              <a:ahLst/>
              <a:cxnLst/>
              <a:rect l="l" t="t" r="r" b="b"/>
              <a:pathLst>
                <a:path w="7620" h="3040379">
                  <a:moveTo>
                    <a:pt x="7619" y="3040380"/>
                  </a:moveTo>
                  <a:lnTo>
                    <a:pt x="0" y="3040380"/>
                  </a:lnTo>
                  <a:lnTo>
                    <a:pt x="0" y="0"/>
                  </a:lnTo>
                  <a:lnTo>
                    <a:pt x="7619" y="0"/>
                  </a:lnTo>
                  <a:lnTo>
                    <a:pt x="7619" y="3040380"/>
                  </a:lnTo>
                  <a:close/>
                </a:path>
              </a:pathLst>
            </a:custGeom>
            <a:solidFill>
              <a:srgbClr val="00AF50"/>
            </a:solidFill>
          </p:spPr>
          <p:txBody>
            <a:bodyPr wrap="square" lIns="0" tIns="0" rIns="0" bIns="0" rtlCol="0"/>
            <a:lstStyle/>
            <a:p>
              <a:endParaRPr/>
            </a:p>
          </p:txBody>
        </p:sp>
      </p:grpSp>
      <p:sp>
        <p:nvSpPr>
          <p:cNvPr id="8" name="object 8"/>
          <p:cNvSpPr txBox="1"/>
          <p:nvPr/>
        </p:nvSpPr>
        <p:spPr>
          <a:xfrm>
            <a:off x="5539739" y="5486400"/>
            <a:ext cx="4745990" cy="617220"/>
          </a:xfrm>
          <a:prstGeom prst="rect">
            <a:avLst/>
          </a:prstGeom>
          <a:solidFill>
            <a:srgbClr val="DFDFDF"/>
          </a:solidFill>
        </p:spPr>
        <p:txBody>
          <a:bodyPr vert="horz" wrap="square" lIns="0" tIns="0" rIns="0" bIns="0" rtlCol="0">
            <a:spAutoFit/>
          </a:bodyPr>
          <a:lstStyle/>
          <a:p>
            <a:pPr marL="1270">
              <a:lnSpc>
                <a:spcPts val="2030"/>
              </a:lnSpc>
            </a:pPr>
            <a:r>
              <a:rPr sz="1750" dirty="0">
                <a:latin typeface="Consolas"/>
                <a:cs typeface="Consolas"/>
              </a:rPr>
              <a:t>Tuples after</a:t>
            </a:r>
            <a:r>
              <a:rPr sz="1750" spc="-15" dirty="0">
                <a:latin typeface="Consolas"/>
                <a:cs typeface="Consolas"/>
              </a:rPr>
              <a:t> </a:t>
            </a:r>
            <a:r>
              <a:rPr sz="1750" dirty="0">
                <a:latin typeface="Consolas"/>
                <a:cs typeface="Consolas"/>
              </a:rPr>
              <a:t>Concatenaton:</a:t>
            </a:r>
          </a:p>
          <a:p>
            <a:pPr marL="1270">
              <a:lnSpc>
                <a:spcPct val="100000"/>
              </a:lnSpc>
            </a:pPr>
            <a:r>
              <a:rPr sz="1750" dirty="0">
                <a:latin typeface="Consolas"/>
                <a:cs typeface="Consolas"/>
              </a:rPr>
              <a:t>(0, 1, </a:t>
            </a:r>
            <a:r>
              <a:rPr sz="1750" spc="-10" dirty="0">
                <a:latin typeface="Consolas"/>
                <a:cs typeface="Consolas"/>
              </a:rPr>
              <a:t>2, 3, </a:t>
            </a:r>
            <a:r>
              <a:rPr sz="1750" spc="-5" dirty="0">
                <a:latin typeface="Consolas"/>
                <a:cs typeface="Consolas"/>
              </a:rPr>
              <a:t>‘Zooming', 'For',</a:t>
            </a:r>
            <a:r>
              <a:rPr sz="1750" spc="90" dirty="0">
                <a:latin typeface="Consolas"/>
                <a:cs typeface="Consolas"/>
              </a:rPr>
              <a:t> </a:t>
            </a:r>
            <a:r>
              <a:rPr sz="1750" spc="-5" dirty="0">
                <a:latin typeface="Consolas"/>
                <a:cs typeface="Consolas"/>
              </a:rPr>
              <a:t>‘stud')</a:t>
            </a:r>
            <a:endParaRPr sz="1750" dirty="0">
              <a:latin typeface="Consolas"/>
              <a:cs typeface="Consolas"/>
            </a:endParaRPr>
          </a:p>
        </p:txBody>
      </p:sp>
      <p:sp>
        <p:nvSpPr>
          <p:cNvPr id="9" name="Rectangle 8"/>
          <p:cNvSpPr/>
          <p:nvPr/>
        </p:nvSpPr>
        <p:spPr>
          <a:xfrm>
            <a:off x="317500" y="5610225"/>
            <a:ext cx="274320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0"/>
            <a:ext cx="3225800" cy="614680"/>
          </a:xfrm>
          <a:prstGeom prst="rect">
            <a:avLst/>
          </a:prstGeom>
        </p:spPr>
        <p:txBody>
          <a:bodyPr vert="horz" wrap="square" lIns="0" tIns="14605" rIns="0" bIns="0" rtlCol="0">
            <a:spAutoFit/>
          </a:bodyPr>
          <a:lstStyle/>
          <a:p>
            <a:pPr marL="12700">
              <a:lnSpc>
                <a:spcPct val="100000"/>
              </a:lnSpc>
              <a:spcBef>
                <a:spcPts val="115"/>
              </a:spcBef>
            </a:pPr>
            <a:r>
              <a:rPr b="0" u="heavy" spc="-955" dirty="0">
                <a:solidFill>
                  <a:srgbClr val="0070BF"/>
                </a:solidFill>
                <a:uFill>
                  <a:solidFill>
                    <a:srgbClr val="0070BF"/>
                  </a:solidFill>
                </a:uFill>
                <a:latin typeface="Times New Roman"/>
                <a:cs typeface="Times New Roman"/>
              </a:rPr>
              <a:t> </a:t>
            </a:r>
            <a:r>
              <a:rPr u="heavy" spc="-55" dirty="0">
                <a:solidFill>
                  <a:srgbClr val="0070BF"/>
                </a:solidFill>
                <a:uFill>
                  <a:solidFill>
                    <a:srgbClr val="0070BF"/>
                  </a:solidFill>
                </a:uFill>
              </a:rPr>
              <a:t>Tuples</a:t>
            </a:r>
            <a:r>
              <a:rPr spc="-55" dirty="0">
                <a:solidFill>
                  <a:srgbClr val="0070BF"/>
                </a:solidFill>
              </a:rPr>
              <a:t> </a:t>
            </a:r>
            <a:r>
              <a:rPr dirty="0">
                <a:solidFill>
                  <a:srgbClr val="0070BF"/>
                </a:solidFill>
              </a:rPr>
              <a:t>-</a:t>
            </a:r>
            <a:r>
              <a:rPr spc="-30" dirty="0">
                <a:solidFill>
                  <a:srgbClr val="0070BF"/>
                </a:solidFill>
              </a:rPr>
              <a:t> </a:t>
            </a:r>
            <a:r>
              <a:rPr dirty="0"/>
              <a:t>Slicing</a:t>
            </a:r>
          </a:p>
        </p:txBody>
      </p:sp>
      <p:sp>
        <p:nvSpPr>
          <p:cNvPr id="3" name="object 3"/>
          <p:cNvSpPr/>
          <p:nvPr/>
        </p:nvSpPr>
        <p:spPr>
          <a:xfrm>
            <a:off x="265175" y="5631180"/>
            <a:ext cx="2665455" cy="936555"/>
          </a:xfrm>
          <a:prstGeom prst="rect">
            <a:avLst/>
          </a:prstGeom>
          <a:blipFill>
            <a:blip r:embed="rId2" cstate="print"/>
            <a:stretch>
              <a:fillRect/>
            </a:stretch>
          </a:blipFill>
        </p:spPr>
        <p:txBody>
          <a:bodyPr wrap="square" lIns="0" tIns="0" rIns="0" bIns="0" rtlCol="0"/>
          <a:lstStyle/>
          <a:p>
            <a:endParaRPr/>
          </a:p>
        </p:txBody>
      </p:sp>
      <p:sp>
        <p:nvSpPr>
          <p:cNvPr id="6" name="Rectangle 5"/>
          <p:cNvSpPr/>
          <p:nvPr/>
        </p:nvSpPr>
        <p:spPr>
          <a:xfrm>
            <a:off x="317500" y="5610225"/>
            <a:ext cx="274320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93700" y="733425"/>
            <a:ext cx="9829800" cy="6899325"/>
          </a:xfrm>
          <a:prstGeom prst="rect">
            <a:avLst/>
          </a:prstGeom>
        </p:spPr>
        <p:txBody>
          <a:bodyPr wrap="square">
            <a:spAutoFit/>
          </a:bodyPr>
          <a:lstStyle/>
          <a:p>
            <a:pPr marL="12700" algn="just">
              <a:lnSpc>
                <a:spcPct val="100000"/>
              </a:lnSpc>
              <a:spcBef>
                <a:spcPts val="509"/>
              </a:spcBef>
            </a:pPr>
            <a:r>
              <a:rPr lang="en-US" spc="60" dirty="0" smtClean="0">
                <a:solidFill>
                  <a:srgbClr val="231F20"/>
                </a:solidFill>
                <a:latin typeface="Cambria"/>
                <a:cs typeface="Cambria"/>
              </a:rPr>
              <a:t>Like </a:t>
            </a:r>
            <a:r>
              <a:rPr lang="en-US" spc="65" dirty="0" smtClean="0">
                <a:solidFill>
                  <a:srgbClr val="231F20"/>
                </a:solidFill>
                <a:latin typeface="Cambria"/>
                <a:cs typeface="Cambria"/>
              </a:rPr>
              <a:t>string</a:t>
            </a:r>
            <a:r>
              <a:rPr lang="en-US" spc="60" dirty="0" smtClean="0">
                <a:solidFill>
                  <a:srgbClr val="231F20"/>
                </a:solidFill>
                <a:latin typeface="Cambria"/>
                <a:cs typeface="Cambria"/>
              </a:rPr>
              <a:t> </a:t>
            </a:r>
            <a:r>
              <a:rPr lang="en-US" spc="90" dirty="0" smtClean="0">
                <a:solidFill>
                  <a:srgbClr val="231F20"/>
                </a:solidFill>
                <a:latin typeface="Cambria"/>
                <a:cs typeface="Cambria"/>
              </a:rPr>
              <a:t>and</a:t>
            </a:r>
            <a:r>
              <a:rPr lang="en-US" spc="60" dirty="0" smtClean="0">
                <a:solidFill>
                  <a:srgbClr val="231F20"/>
                </a:solidFill>
                <a:latin typeface="Cambria"/>
                <a:cs typeface="Cambria"/>
              </a:rPr>
              <a:t> </a:t>
            </a:r>
            <a:r>
              <a:rPr lang="en-US" spc="65" dirty="0" smtClean="0">
                <a:solidFill>
                  <a:srgbClr val="231F20"/>
                </a:solidFill>
                <a:latin typeface="Cambria"/>
                <a:cs typeface="Cambria"/>
              </a:rPr>
              <a:t>list,</a:t>
            </a:r>
            <a:r>
              <a:rPr lang="en-US" spc="60" dirty="0" smtClean="0">
                <a:solidFill>
                  <a:srgbClr val="231F20"/>
                </a:solidFill>
                <a:latin typeface="Cambria"/>
                <a:cs typeface="Cambria"/>
              </a:rPr>
              <a:t> </a:t>
            </a:r>
            <a:r>
              <a:rPr lang="en-US" spc="65" dirty="0" smtClean="0">
                <a:solidFill>
                  <a:srgbClr val="231F20"/>
                </a:solidFill>
                <a:latin typeface="Cambria"/>
                <a:cs typeface="Cambria"/>
              </a:rPr>
              <a:t>slicing </a:t>
            </a:r>
            <a:r>
              <a:rPr lang="en-US" spc="100" dirty="0" smtClean="0">
                <a:solidFill>
                  <a:srgbClr val="231F20"/>
                </a:solidFill>
                <a:latin typeface="Cambria"/>
                <a:cs typeface="Cambria"/>
              </a:rPr>
              <a:t>can</a:t>
            </a:r>
            <a:r>
              <a:rPr lang="en-US" spc="60" dirty="0" smtClean="0">
                <a:solidFill>
                  <a:srgbClr val="231F20"/>
                </a:solidFill>
                <a:latin typeface="Cambria"/>
                <a:cs typeface="Cambria"/>
              </a:rPr>
              <a:t> </a:t>
            </a:r>
            <a:r>
              <a:rPr lang="en-US" spc="55" dirty="0" smtClean="0">
                <a:solidFill>
                  <a:srgbClr val="231F20"/>
                </a:solidFill>
                <a:latin typeface="Cambria"/>
                <a:cs typeface="Cambria"/>
              </a:rPr>
              <a:t>be</a:t>
            </a:r>
            <a:r>
              <a:rPr lang="en-US" spc="60" dirty="0" smtClean="0">
                <a:solidFill>
                  <a:srgbClr val="231F20"/>
                </a:solidFill>
                <a:latin typeface="Cambria"/>
                <a:cs typeface="Cambria"/>
              </a:rPr>
              <a:t> </a:t>
            </a:r>
            <a:r>
              <a:rPr lang="en-US" spc="55" dirty="0" smtClean="0">
                <a:solidFill>
                  <a:srgbClr val="231F20"/>
                </a:solidFill>
                <a:latin typeface="Cambria"/>
                <a:cs typeface="Cambria"/>
              </a:rPr>
              <a:t>applied</a:t>
            </a:r>
            <a:r>
              <a:rPr lang="en-US" spc="60" dirty="0" smtClean="0">
                <a:solidFill>
                  <a:srgbClr val="231F20"/>
                </a:solidFill>
                <a:latin typeface="Cambria"/>
                <a:cs typeface="Cambria"/>
              </a:rPr>
              <a:t> </a:t>
            </a:r>
            <a:r>
              <a:rPr lang="en-US" dirty="0" smtClean="0">
                <a:solidFill>
                  <a:srgbClr val="231F20"/>
                </a:solidFill>
                <a:latin typeface="Cambria"/>
                <a:cs typeface="Cambria"/>
              </a:rPr>
              <a:t>to</a:t>
            </a:r>
            <a:r>
              <a:rPr lang="en-US" spc="65" dirty="0" smtClean="0">
                <a:solidFill>
                  <a:srgbClr val="231F20"/>
                </a:solidFill>
                <a:latin typeface="Cambria"/>
                <a:cs typeface="Cambria"/>
              </a:rPr>
              <a:t> </a:t>
            </a:r>
            <a:r>
              <a:rPr lang="en-US" spc="75" dirty="0" err="1" smtClean="0">
                <a:solidFill>
                  <a:srgbClr val="231F20"/>
                </a:solidFill>
                <a:latin typeface="Cambria"/>
                <a:cs typeface="Cambria"/>
              </a:rPr>
              <a:t>tuples</a:t>
            </a:r>
            <a:r>
              <a:rPr lang="en-US" spc="60" dirty="0" smtClean="0">
                <a:solidFill>
                  <a:srgbClr val="231F20"/>
                </a:solidFill>
                <a:latin typeface="Cambria"/>
                <a:cs typeface="Cambria"/>
              </a:rPr>
              <a:t> </a:t>
            </a:r>
            <a:r>
              <a:rPr lang="en-US" spc="70" dirty="0" smtClean="0">
                <a:solidFill>
                  <a:srgbClr val="231F20"/>
                </a:solidFill>
                <a:latin typeface="Cambria"/>
                <a:cs typeface="Cambria"/>
              </a:rPr>
              <a:t>also.</a:t>
            </a:r>
            <a:endParaRPr lang="en-US" dirty="0" smtClean="0">
              <a:latin typeface="Cambria"/>
              <a:cs typeface="Cambria"/>
            </a:endParaRPr>
          </a:p>
          <a:p>
            <a:pPr marL="298450">
              <a:lnSpc>
                <a:spcPct val="100000"/>
              </a:lnSpc>
              <a:spcBef>
                <a:spcPts val="80"/>
              </a:spcBef>
            </a:pPr>
            <a:r>
              <a:rPr lang="en-US" sz="1600" dirty="0" smtClean="0">
                <a:solidFill>
                  <a:srgbClr val="231F20"/>
                </a:solidFill>
                <a:latin typeface="Courier New"/>
                <a:cs typeface="Courier New"/>
              </a:rPr>
              <a:t>#tuple1</a:t>
            </a:r>
            <a:r>
              <a:rPr lang="en-US" sz="1600" spc="-30" dirty="0" smtClean="0">
                <a:solidFill>
                  <a:srgbClr val="231F20"/>
                </a:solidFill>
                <a:latin typeface="Courier New"/>
                <a:cs typeface="Courier New"/>
              </a:rPr>
              <a:t> </a:t>
            </a:r>
            <a:r>
              <a:rPr lang="en-US" sz="1600" dirty="0" smtClean="0">
                <a:solidFill>
                  <a:srgbClr val="231F20"/>
                </a:solidFill>
                <a:latin typeface="Courier New"/>
                <a:cs typeface="Courier New"/>
              </a:rPr>
              <a:t>is</a:t>
            </a:r>
            <a:r>
              <a:rPr lang="en-US" sz="1600" spc="-25" dirty="0" smtClean="0">
                <a:solidFill>
                  <a:srgbClr val="231F20"/>
                </a:solidFill>
                <a:latin typeface="Courier New"/>
                <a:cs typeface="Courier New"/>
              </a:rPr>
              <a:t> </a:t>
            </a:r>
            <a:r>
              <a:rPr lang="en-US" sz="1600" dirty="0" smtClean="0">
                <a:solidFill>
                  <a:srgbClr val="231F20"/>
                </a:solidFill>
                <a:latin typeface="Courier New"/>
                <a:cs typeface="Courier New"/>
              </a:rPr>
              <a:t>a</a:t>
            </a:r>
            <a:r>
              <a:rPr lang="en-US" sz="1600" spc="-30" dirty="0" smtClean="0">
                <a:solidFill>
                  <a:srgbClr val="231F20"/>
                </a:solidFill>
                <a:latin typeface="Courier New"/>
                <a:cs typeface="Courier New"/>
              </a:rPr>
              <a:t> </a:t>
            </a:r>
            <a:r>
              <a:rPr lang="en-US" sz="1600" spc="-10" dirty="0" err="1" smtClean="0">
                <a:solidFill>
                  <a:srgbClr val="231F20"/>
                </a:solidFill>
                <a:latin typeface="Courier New"/>
                <a:cs typeface="Courier New"/>
              </a:rPr>
              <a:t>tuple</a:t>
            </a:r>
            <a:endParaRPr lang="en-US" sz="1600" dirty="0" smtClean="0">
              <a:latin typeface="Courier New"/>
              <a:cs typeface="Courier New"/>
            </a:endParaRPr>
          </a:p>
          <a:p>
            <a:pPr marL="298450">
              <a:lnSpc>
                <a:spcPct val="100000"/>
              </a:lnSpc>
              <a:spcBef>
                <a:spcPts val="100"/>
              </a:spcBef>
            </a:pPr>
            <a:r>
              <a:rPr lang="en-US" sz="1600" dirty="0" smtClean="0">
                <a:solidFill>
                  <a:srgbClr val="231F20"/>
                </a:solidFill>
                <a:latin typeface="Courier New"/>
                <a:cs typeface="Courier New"/>
              </a:rPr>
              <a:t>&gt;&gt;&gt;</a:t>
            </a:r>
            <a:r>
              <a:rPr lang="en-US" sz="1600" spc="-30" dirty="0" smtClean="0">
                <a:solidFill>
                  <a:srgbClr val="231F20"/>
                </a:solidFill>
                <a:latin typeface="Courier New"/>
                <a:cs typeface="Courier New"/>
              </a:rPr>
              <a:t> </a:t>
            </a:r>
            <a:r>
              <a:rPr lang="en-US" sz="1600" dirty="0" smtClean="0">
                <a:solidFill>
                  <a:srgbClr val="231F20"/>
                </a:solidFill>
                <a:latin typeface="Courier New"/>
                <a:cs typeface="Courier New"/>
              </a:rPr>
              <a:t>tuple1</a:t>
            </a:r>
            <a:r>
              <a:rPr lang="en-US" sz="1600" spc="-25" dirty="0" smtClean="0">
                <a:solidFill>
                  <a:srgbClr val="231F20"/>
                </a:solidFill>
                <a:latin typeface="Courier New"/>
                <a:cs typeface="Courier New"/>
              </a:rPr>
              <a:t> </a:t>
            </a:r>
            <a:r>
              <a:rPr lang="en-US" sz="1600" dirty="0" smtClean="0">
                <a:solidFill>
                  <a:srgbClr val="231F20"/>
                </a:solidFill>
                <a:latin typeface="Courier New"/>
                <a:cs typeface="Courier New"/>
              </a:rPr>
              <a:t>=</a:t>
            </a:r>
            <a:r>
              <a:rPr lang="en-US" sz="1600" spc="-30" dirty="0" smtClean="0">
                <a:solidFill>
                  <a:srgbClr val="231F20"/>
                </a:solidFill>
                <a:latin typeface="Courier New"/>
                <a:cs typeface="Courier New"/>
              </a:rPr>
              <a:t> </a:t>
            </a:r>
            <a:r>
              <a:rPr lang="en-US" sz="1600" spc="-10" dirty="0" smtClean="0">
                <a:solidFill>
                  <a:srgbClr val="231F20"/>
                </a:solidFill>
                <a:latin typeface="Courier New"/>
                <a:cs typeface="Courier New"/>
              </a:rPr>
              <a:t>(10,20,30,40,50,60,70,80)</a:t>
            </a:r>
            <a:endParaRPr lang="en-US" sz="1600" dirty="0" smtClean="0">
              <a:latin typeface="Courier New"/>
              <a:cs typeface="Courier New"/>
            </a:endParaRPr>
          </a:p>
          <a:p>
            <a:pPr>
              <a:lnSpc>
                <a:spcPct val="100000"/>
              </a:lnSpc>
              <a:spcBef>
                <a:spcPts val="275"/>
              </a:spcBef>
            </a:pPr>
            <a:endParaRPr lang="en-US" sz="1600" dirty="0" smtClean="0">
              <a:latin typeface="Courier New"/>
              <a:cs typeface="Courier New"/>
            </a:endParaRPr>
          </a:p>
          <a:p>
            <a:pPr marL="298450">
              <a:lnSpc>
                <a:spcPct val="100000"/>
              </a:lnSpc>
            </a:pPr>
            <a:r>
              <a:rPr lang="en-US" sz="1600" dirty="0" smtClean="0">
                <a:solidFill>
                  <a:srgbClr val="231F20"/>
                </a:solidFill>
                <a:latin typeface="Courier New"/>
                <a:cs typeface="Courier New"/>
              </a:rPr>
              <a:t>#elements</a:t>
            </a:r>
            <a:r>
              <a:rPr lang="en-US" sz="1600" spc="-35" dirty="0" smtClean="0">
                <a:solidFill>
                  <a:srgbClr val="231F20"/>
                </a:solidFill>
                <a:latin typeface="Courier New"/>
                <a:cs typeface="Courier New"/>
              </a:rPr>
              <a:t> </a:t>
            </a:r>
            <a:r>
              <a:rPr lang="en-US" sz="1600" dirty="0" smtClean="0">
                <a:solidFill>
                  <a:srgbClr val="231F20"/>
                </a:solidFill>
                <a:latin typeface="Courier New"/>
                <a:cs typeface="Courier New"/>
              </a:rPr>
              <a:t>from</a:t>
            </a:r>
            <a:r>
              <a:rPr lang="en-US" sz="1600" spc="-35" dirty="0" smtClean="0">
                <a:solidFill>
                  <a:srgbClr val="231F20"/>
                </a:solidFill>
                <a:latin typeface="Courier New"/>
                <a:cs typeface="Courier New"/>
              </a:rPr>
              <a:t> </a:t>
            </a:r>
            <a:r>
              <a:rPr lang="en-US" sz="1600" dirty="0" smtClean="0">
                <a:solidFill>
                  <a:srgbClr val="231F20"/>
                </a:solidFill>
                <a:latin typeface="Courier New"/>
                <a:cs typeface="Courier New"/>
              </a:rPr>
              <a:t>index</a:t>
            </a:r>
            <a:r>
              <a:rPr lang="en-US" sz="1600" spc="-35" dirty="0" smtClean="0">
                <a:solidFill>
                  <a:srgbClr val="231F20"/>
                </a:solidFill>
                <a:latin typeface="Courier New"/>
                <a:cs typeface="Courier New"/>
              </a:rPr>
              <a:t> </a:t>
            </a:r>
            <a:r>
              <a:rPr lang="en-US" sz="1600" dirty="0" smtClean="0">
                <a:solidFill>
                  <a:srgbClr val="231F20"/>
                </a:solidFill>
                <a:latin typeface="Courier New"/>
                <a:cs typeface="Courier New"/>
              </a:rPr>
              <a:t>2</a:t>
            </a:r>
            <a:r>
              <a:rPr lang="en-US" sz="1600" spc="-30" dirty="0" smtClean="0">
                <a:solidFill>
                  <a:srgbClr val="231F20"/>
                </a:solidFill>
                <a:latin typeface="Courier New"/>
                <a:cs typeface="Courier New"/>
              </a:rPr>
              <a:t> </a:t>
            </a:r>
            <a:r>
              <a:rPr lang="en-US" sz="1600" dirty="0" smtClean="0">
                <a:solidFill>
                  <a:srgbClr val="231F20"/>
                </a:solidFill>
                <a:latin typeface="Courier New"/>
                <a:cs typeface="Courier New"/>
              </a:rPr>
              <a:t>to</a:t>
            </a:r>
            <a:r>
              <a:rPr lang="en-US" sz="1600" spc="-35" dirty="0" smtClean="0">
                <a:solidFill>
                  <a:srgbClr val="231F20"/>
                </a:solidFill>
                <a:latin typeface="Courier New"/>
                <a:cs typeface="Courier New"/>
              </a:rPr>
              <a:t> </a:t>
            </a:r>
            <a:r>
              <a:rPr lang="en-US" sz="1600" dirty="0" smtClean="0">
                <a:solidFill>
                  <a:srgbClr val="231F20"/>
                </a:solidFill>
                <a:latin typeface="Courier New"/>
                <a:cs typeface="Courier New"/>
              </a:rPr>
              <a:t>index</a:t>
            </a:r>
            <a:r>
              <a:rPr lang="en-US" sz="1600" spc="-35" dirty="0" smtClean="0">
                <a:solidFill>
                  <a:srgbClr val="231F20"/>
                </a:solidFill>
                <a:latin typeface="Courier New"/>
                <a:cs typeface="Courier New"/>
              </a:rPr>
              <a:t> </a:t>
            </a:r>
            <a:r>
              <a:rPr lang="en-US" sz="1600" spc="-50" dirty="0" smtClean="0">
                <a:solidFill>
                  <a:srgbClr val="231F20"/>
                </a:solidFill>
                <a:latin typeface="Courier New"/>
                <a:cs typeface="Courier New"/>
              </a:rPr>
              <a:t>6</a:t>
            </a:r>
            <a:endParaRPr lang="en-US" sz="1600" dirty="0" smtClean="0">
              <a:latin typeface="Courier New"/>
              <a:cs typeface="Courier New"/>
            </a:endParaRPr>
          </a:p>
          <a:p>
            <a:pPr marL="298450" marR="2157730">
              <a:lnSpc>
                <a:spcPct val="100000"/>
              </a:lnSpc>
            </a:pPr>
            <a:r>
              <a:rPr lang="en-US" sz="1600" dirty="0" smtClean="0">
                <a:solidFill>
                  <a:srgbClr val="231F20"/>
                </a:solidFill>
                <a:latin typeface="Courier New"/>
                <a:cs typeface="Courier New"/>
              </a:rPr>
              <a:t>&gt;&gt;&gt;</a:t>
            </a:r>
            <a:r>
              <a:rPr lang="en-US" sz="1600" spc="-25" dirty="0" smtClean="0">
                <a:solidFill>
                  <a:srgbClr val="231F20"/>
                </a:solidFill>
                <a:latin typeface="Courier New"/>
                <a:cs typeface="Courier New"/>
              </a:rPr>
              <a:t> </a:t>
            </a:r>
            <a:r>
              <a:rPr lang="en-US" sz="1600" spc="-10" dirty="0" smtClean="0">
                <a:solidFill>
                  <a:srgbClr val="231F20"/>
                </a:solidFill>
                <a:latin typeface="Courier New"/>
                <a:cs typeface="Courier New"/>
              </a:rPr>
              <a:t>tuple1[2:7]</a:t>
            </a:r>
            <a:r>
              <a:rPr lang="en-US" sz="1600" spc="500" dirty="0" smtClean="0">
                <a:solidFill>
                  <a:srgbClr val="231F20"/>
                </a:solidFill>
                <a:latin typeface="Courier New"/>
                <a:cs typeface="Courier New"/>
              </a:rPr>
              <a:t> </a:t>
            </a:r>
            <a:r>
              <a:rPr lang="en-US" sz="1600" dirty="0" smtClean="0">
                <a:solidFill>
                  <a:srgbClr val="231F20"/>
                </a:solidFill>
                <a:latin typeface="Courier New"/>
                <a:cs typeface="Courier New"/>
              </a:rPr>
              <a:t>(30,</a:t>
            </a:r>
            <a:r>
              <a:rPr lang="en-US" sz="1600" spc="-30" dirty="0" smtClean="0">
                <a:solidFill>
                  <a:srgbClr val="231F20"/>
                </a:solidFill>
                <a:latin typeface="Courier New"/>
                <a:cs typeface="Courier New"/>
              </a:rPr>
              <a:t> </a:t>
            </a:r>
            <a:r>
              <a:rPr lang="en-US" sz="1600" dirty="0" smtClean="0">
                <a:solidFill>
                  <a:srgbClr val="231F20"/>
                </a:solidFill>
                <a:latin typeface="Courier New"/>
                <a:cs typeface="Courier New"/>
              </a:rPr>
              <a:t>40,</a:t>
            </a:r>
            <a:r>
              <a:rPr lang="en-US" sz="1600" spc="-25" dirty="0" smtClean="0">
                <a:solidFill>
                  <a:srgbClr val="231F20"/>
                </a:solidFill>
                <a:latin typeface="Courier New"/>
                <a:cs typeface="Courier New"/>
              </a:rPr>
              <a:t> </a:t>
            </a:r>
            <a:r>
              <a:rPr lang="en-US" sz="1600" dirty="0" smtClean="0">
                <a:solidFill>
                  <a:srgbClr val="231F20"/>
                </a:solidFill>
                <a:latin typeface="Courier New"/>
                <a:cs typeface="Courier New"/>
              </a:rPr>
              <a:t>50,</a:t>
            </a:r>
            <a:r>
              <a:rPr lang="en-US" sz="1600" spc="-25" dirty="0" smtClean="0">
                <a:solidFill>
                  <a:srgbClr val="231F20"/>
                </a:solidFill>
                <a:latin typeface="Courier New"/>
                <a:cs typeface="Courier New"/>
              </a:rPr>
              <a:t> </a:t>
            </a:r>
            <a:r>
              <a:rPr lang="en-US" sz="1600" dirty="0" smtClean="0">
                <a:solidFill>
                  <a:srgbClr val="231F20"/>
                </a:solidFill>
                <a:latin typeface="Courier New"/>
                <a:cs typeface="Courier New"/>
              </a:rPr>
              <a:t>60,</a:t>
            </a:r>
            <a:r>
              <a:rPr lang="en-US" sz="1600" spc="-30" dirty="0" smtClean="0">
                <a:solidFill>
                  <a:srgbClr val="231F20"/>
                </a:solidFill>
                <a:latin typeface="Courier New"/>
                <a:cs typeface="Courier New"/>
              </a:rPr>
              <a:t> </a:t>
            </a:r>
            <a:r>
              <a:rPr lang="en-US" sz="1600" spc="-25" dirty="0" smtClean="0">
                <a:solidFill>
                  <a:srgbClr val="231F20"/>
                </a:solidFill>
                <a:latin typeface="Courier New"/>
                <a:cs typeface="Courier New"/>
              </a:rPr>
              <a:t>70)</a:t>
            </a:r>
            <a:endParaRPr lang="en-US" sz="1600" dirty="0" smtClean="0">
              <a:latin typeface="Courier New"/>
              <a:cs typeface="Courier New"/>
            </a:endParaRPr>
          </a:p>
          <a:p>
            <a:pPr>
              <a:lnSpc>
                <a:spcPct val="100000"/>
              </a:lnSpc>
              <a:spcBef>
                <a:spcPts val="75"/>
              </a:spcBef>
            </a:pPr>
            <a:endParaRPr lang="en-US" sz="1600" dirty="0" smtClean="0">
              <a:latin typeface="Courier New"/>
              <a:cs typeface="Courier New"/>
            </a:endParaRPr>
          </a:p>
          <a:p>
            <a:pPr marL="298450">
              <a:lnSpc>
                <a:spcPct val="100000"/>
              </a:lnSpc>
            </a:pPr>
            <a:r>
              <a:rPr lang="en-US" sz="1600" dirty="0" smtClean="0">
                <a:solidFill>
                  <a:srgbClr val="231F20"/>
                </a:solidFill>
                <a:latin typeface="Courier New"/>
                <a:cs typeface="Courier New"/>
              </a:rPr>
              <a:t>#all</a:t>
            </a:r>
            <a:r>
              <a:rPr lang="en-US" sz="1600" spc="-35" dirty="0" smtClean="0">
                <a:solidFill>
                  <a:srgbClr val="231F20"/>
                </a:solidFill>
                <a:latin typeface="Courier New"/>
                <a:cs typeface="Courier New"/>
              </a:rPr>
              <a:t> </a:t>
            </a:r>
            <a:r>
              <a:rPr lang="en-US" sz="1600" dirty="0" smtClean="0">
                <a:solidFill>
                  <a:srgbClr val="231F20"/>
                </a:solidFill>
                <a:latin typeface="Courier New"/>
                <a:cs typeface="Courier New"/>
              </a:rPr>
              <a:t>elements</a:t>
            </a:r>
            <a:r>
              <a:rPr lang="en-US" sz="1600" spc="-35" dirty="0" smtClean="0">
                <a:solidFill>
                  <a:srgbClr val="231F20"/>
                </a:solidFill>
                <a:latin typeface="Courier New"/>
                <a:cs typeface="Courier New"/>
              </a:rPr>
              <a:t> </a:t>
            </a:r>
            <a:r>
              <a:rPr lang="en-US" sz="1600" dirty="0" smtClean="0">
                <a:solidFill>
                  <a:srgbClr val="231F20"/>
                </a:solidFill>
                <a:latin typeface="Courier New"/>
                <a:cs typeface="Courier New"/>
              </a:rPr>
              <a:t>of</a:t>
            </a:r>
            <a:r>
              <a:rPr lang="en-US" sz="1600" spc="-35" dirty="0" smtClean="0">
                <a:solidFill>
                  <a:srgbClr val="231F20"/>
                </a:solidFill>
                <a:latin typeface="Courier New"/>
                <a:cs typeface="Courier New"/>
              </a:rPr>
              <a:t> </a:t>
            </a:r>
            <a:r>
              <a:rPr lang="en-US" sz="1600" dirty="0" err="1" smtClean="0">
                <a:solidFill>
                  <a:srgbClr val="231F20"/>
                </a:solidFill>
                <a:latin typeface="Courier New"/>
                <a:cs typeface="Courier New"/>
              </a:rPr>
              <a:t>tuple</a:t>
            </a:r>
            <a:r>
              <a:rPr lang="en-US" sz="1600" spc="-35" dirty="0" smtClean="0">
                <a:solidFill>
                  <a:srgbClr val="231F20"/>
                </a:solidFill>
                <a:latin typeface="Courier New"/>
                <a:cs typeface="Courier New"/>
              </a:rPr>
              <a:t> </a:t>
            </a:r>
            <a:r>
              <a:rPr lang="en-US" sz="1600" dirty="0" smtClean="0">
                <a:solidFill>
                  <a:srgbClr val="231F20"/>
                </a:solidFill>
                <a:latin typeface="Courier New"/>
                <a:cs typeface="Courier New"/>
              </a:rPr>
              <a:t>are</a:t>
            </a:r>
            <a:r>
              <a:rPr lang="en-US" sz="1600" spc="-35" dirty="0" smtClean="0">
                <a:solidFill>
                  <a:srgbClr val="231F20"/>
                </a:solidFill>
                <a:latin typeface="Courier New"/>
                <a:cs typeface="Courier New"/>
              </a:rPr>
              <a:t> </a:t>
            </a:r>
            <a:r>
              <a:rPr lang="en-US" sz="1600" spc="-10" dirty="0" smtClean="0">
                <a:solidFill>
                  <a:srgbClr val="231F20"/>
                </a:solidFill>
                <a:latin typeface="Courier New"/>
                <a:cs typeface="Courier New"/>
              </a:rPr>
              <a:t>printed</a:t>
            </a:r>
            <a:endParaRPr lang="en-US" sz="1600" dirty="0" smtClean="0">
              <a:latin typeface="Courier New"/>
              <a:cs typeface="Courier New"/>
            </a:endParaRPr>
          </a:p>
          <a:p>
            <a:pPr marL="298450">
              <a:lnSpc>
                <a:spcPct val="100000"/>
              </a:lnSpc>
            </a:pPr>
            <a:r>
              <a:rPr lang="en-US" sz="1600" dirty="0" smtClean="0">
                <a:solidFill>
                  <a:srgbClr val="231F20"/>
                </a:solidFill>
                <a:latin typeface="Courier New"/>
                <a:cs typeface="Courier New"/>
              </a:rPr>
              <a:t>&gt;&gt;&gt;</a:t>
            </a:r>
            <a:r>
              <a:rPr lang="en-US" sz="1600" spc="-25" dirty="0" smtClean="0">
                <a:solidFill>
                  <a:srgbClr val="231F20"/>
                </a:solidFill>
                <a:latin typeface="Courier New"/>
                <a:cs typeface="Courier New"/>
              </a:rPr>
              <a:t> </a:t>
            </a:r>
            <a:r>
              <a:rPr lang="en-US" sz="1600" spc="-10" dirty="0" smtClean="0">
                <a:solidFill>
                  <a:srgbClr val="231F20"/>
                </a:solidFill>
                <a:latin typeface="Courier New"/>
                <a:cs typeface="Courier New"/>
              </a:rPr>
              <a:t>tuple1[0:len(tuple1)]</a:t>
            </a:r>
            <a:endParaRPr lang="en-US" sz="1600" dirty="0" smtClean="0">
              <a:latin typeface="Courier New"/>
              <a:cs typeface="Courier New"/>
            </a:endParaRPr>
          </a:p>
          <a:p>
            <a:pPr marL="298450">
              <a:lnSpc>
                <a:spcPct val="100000"/>
              </a:lnSpc>
            </a:pPr>
            <a:r>
              <a:rPr lang="en-US" sz="1600" dirty="0" smtClean="0">
                <a:solidFill>
                  <a:srgbClr val="231F20"/>
                </a:solidFill>
                <a:latin typeface="Courier New"/>
                <a:cs typeface="Courier New"/>
              </a:rPr>
              <a:t>(10,</a:t>
            </a:r>
            <a:r>
              <a:rPr lang="en-US" sz="1600" spc="-30" dirty="0" smtClean="0">
                <a:solidFill>
                  <a:srgbClr val="231F20"/>
                </a:solidFill>
                <a:latin typeface="Courier New"/>
                <a:cs typeface="Courier New"/>
              </a:rPr>
              <a:t> </a:t>
            </a:r>
            <a:r>
              <a:rPr lang="en-US" sz="1600" dirty="0" smtClean="0">
                <a:solidFill>
                  <a:srgbClr val="231F20"/>
                </a:solidFill>
                <a:latin typeface="Courier New"/>
                <a:cs typeface="Courier New"/>
              </a:rPr>
              <a:t>20,</a:t>
            </a:r>
            <a:r>
              <a:rPr lang="en-US" sz="1600" spc="-25" dirty="0" smtClean="0">
                <a:solidFill>
                  <a:srgbClr val="231F20"/>
                </a:solidFill>
                <a:latin typeface="Courier New"/>
                <a:cs typeface="Courier New"/>
              </a:rPr>
              <a:t> </a:t>
            </a:r>
            <a:r>
              <a:rPr lang="en-US" sz="1600" dirty="0" smtClean="0">
                <a:solidFill>
                  <a:srgbClr val="231F20"/>
                </a:solidFill>
                <a:latin typeface="Courier New"/>
                <a:cs typeface="Courier New"/>
              </a:rPr>
              <a:t>30,</a:t>
            </a:r>
            <a:r>
              <a:rPr lang="en-US" sz="1600" spc="-25" dirty="0" smtClean="0">
                <a:solidFill>
                  <a:srgbClr val="231F20"/>
                </a:solidFill>
                <a:latin typeface="Courier New"/>
                <a:cs typeface="Courier New"/>
              </a:rPr>
              <a:t> </a:t>
            </a:r>
            <a:r>
              <a:rPr lang="en-US" sz="1600" dirty="0" smtClean="0">
                <a:solidFill>
                  <a:srgbClr val="231F20"/>
                </a:solidFill>
                <a:latin typeface="Courier New"/>
                <a:cs typeface="Courier New"/>
              </a:rPr>
              <a:t>40,</a:t>
            </a:r>
            <a:r>
              <a:rPr lang="en-US" sz="1600" spc="-25" dirty="0" smtClean="0">
                <a:solidFill>
                  <a:srgbClr val="231F20"/>
                </a:solidFill>
                <a:latin typeface="Courier New"/>
                <a:cs typeface="Courier New"/>
              </a:rPr>
              <a:t> </a:t>
            </a:r>
            <a:r>
              <a:rPr lang="en-US" sz="1600" dirty="0" smtClean="0">
                <a:solidFill>
                  <a:srgbClr val="231F20"/>
                </a:solidFill>
                <a:latin typeface="Courier New"/>
                <a:cs typeface="Courier New"/>
              </a:rPr>
              <a:t>50,</a:t>
            </a:r>
            <a:r>
              <a:rPr lang="en-US" sz="1600" spc="-25" dirty="0" smtClean="0">
                <a:solidFill>
                  <a:srgbClr val="231F20"/>
                </a:solidFill>
                <a:latin typeface="Courier New"/>
                <a:cs typeface="Courier New"/>
              </a:rPr>
              <a:t> </a:t>
            </a:r>
            <a:r>
              <a:rPr lang="en-US" sz="1600" dirty="0" smtClean="0">
                <a:solidFill>
                  <a:srgbClr val="231F20"/>
                </a:solidFill>
                <a:latin typeface="Courier New"/>
                <a:cs typeface="Courier New"/>
              </a:rPr>
              <a:t>60,</a:t>
            </a:r>
            <a:r>
              <a:rPr lang="en-US" sz="1600" spc="-25" dirty="0" smtClean="0">
                <a:solidFill>
                  <a:srgbClr val="231F20"/>
                </a:solidFill>
                <a:latin typeface="Courier New"/>
                <a:cs typeface="Courier New"/>
              </a:rPr>
              <a:t> </a:t>
            </a:r>
            <a:r>
              <a:rPr lang="en-US" sz="1600" dirty="0" smtClean="0">
                <a:solidFill>
                  <a:srgbClr val="231F20"/>
                </a:solidFill>
                <a:latin typeface="Courier New"/>
                <a:cs typeface="Courier New"/>
              </a:rPr>
              <a:t>70,</a:t>
            </a:r>
            <a:r>
              <a:rPr lang="en-US" sz="1600" spc="-30" dirty="0" smtClean="0">
                <a:solidFill>
                  <a:srgbClr val="231F20"/>
                </a:solidFill>
                <a:latin typeface="Courier New"/>
                <a:cs typeface="Courier New"/>
              </a:rPr>
              <a:t> </a:t>
            </a:r>
            <a:r>
              <a:rPr lang="en-US" sz="1600" spc="-25" dirty="0" smtClean="0">
                <a:solidFill>
                  <a:srgbClr val="231F20"/>
                </a:solidFill>
                <a:latin typeface="Courier New"/>
                <a:cs typeface="Courier New"/>
              </a:rPr>
              <a:t>80)</a:t>
            </a:r>
            <a:endParaRPr lang="en-US" sz="1600" dirty="0" smtClean="0">
              <a:latin typeface="Courier New"/>
              <a:cs typeface="Courier New"/>
            </a:endParaRPr>
          </a:p>
          <a:p>
            <a:pPr>
              <a:lnSpc>
                <a:spcPct val="100000"/>
              </a:lnSpc>
              <a:spcBef>
                <a:spcPts val="75"/>
              </a:spcBef>
            </a:pPr>
            <a:endParaRPr lang="en-US" sz="1600" dirty="0" smtClean="0">
              <a:latin typeface="Courier New"/>
              <a:cs typeface="Courier New"/>
            </a:endParaRPr>
          </a:p>
          <a:p>
            <a:pPr marL="298450">
              <a:lnSpc>
                <a:spcPct val="100000"/>
              </a:lnSpc>
            </a:pPr>
            <a:r>
              <a:rPr lang="en-US" sz="1600" dirty="0" smtClean="0">
                <a:solidFill>
                  <a:srgbClr val="231F20"/>
                </a:solidFill>
                <a:latin typeface="Courier New"/>
                <a:cs typeface="Courier New"/>
              </a:rPr>
              <a:t>#slice</a:t>
            </a:r>
            <a:r>
              <a:rPr lang="en-US" sz="1600" spc="-40" dirty="0" smtClean="0">
                <a:solidFill>
                  <a:srgbClr val="231F20"/>
                </a:solidFill>
                <a:latin typeface="Courier New"/>
                <a:cs typeface="Courier New"/>
              </a:rPr>
              <a:t> </a:t>
            </a:r>
            <a:r>
              <a:rPr lang="en-US" sz="1600" dirty="0" smtClean="0">
                <a:solidFill>
                  <a:srgbClr val="231F20"/>
                </a:solidFill>
                <a:latin typeface="Courier New"/>
                <a:cs typeface="Courier New"/>
              </a:rPr>
              <a:t>starts</a:t>
            </a:r>
            <a:r>
              <a:rPr lang="en-US" sz="1600" spc="-40" dirty="0" smtClean="0">
                <a:solidFill>
                  <a:srgbClr val="231F20"/>
                </a:solidFill>
                <a:latin typeface="Courier New"/>
                <a:cs typeface="Courier New"/>
              </a:rPr>
              <a:t> </a:t>
            </a:r>
            <a:r>
              <a:rPr lang="en-US" sz="1600" dirty="0" smtClean="0">
                <a:solidFill>
                  <a:srgbClr val="231F20"/>
                </a:solidFill>
                <a:latin typeface="Courier New"/>
                <a:cs typeface="Courier New"/>
              </a:rPr>
              <a:t>from</a:t>
            </a:r>
            <a:r>
              <a:rPr lang="en-US" sz="1600" spc="-35" dirty="0" smtClean="0">
                <a:solidFill>
                  <a:srgbClr val="231F20"/>
                </a:solidFill>
                <a:latin typeface="Courier New"/>
                <a:cs typeface="Courier New"/>
              </a:rPr>
              <a:t> </a:t>
            </a:r>
            <a:r>
              <a:rPr lang="en-US" sz="1600" dirty="0" smtClean="0">
                <a:solidFill>
                  <a:srgbClr val="231F20"/>
                </a:solidFill>
                <a:latin typeface="Courier New"/>
                <a:cs typeface="Courier New"/>
              </a:rPr>
              <a:t>zero</a:t>
            </a:r>
            <a:r>
              <a:rPr lang="en-US" sz="1600" spc="-40" dirty="0" smtClean="0">
                <a:solidFill>
                  <a:srgbClr val="231F20"/>
                </a:solidFill>
                <a:latin typeface="Courier New"/>
                <a:cs typeface="Courier New"/>
              </a:rPr>
              <a:t> </a:t>
            </a:r>
            <a:r>
              <a:rPr lang="en-US" sz="1600" spc="-10" dirty="0" smtClean="0">
                <a:solidFill>
                  <a:srgbClr val="231F20"/>
                </a:solidFill>
                <a:latin typeface="Courier New"/>
                <a:cs typeface="Courier New"/>
              </a:rPr>
              <a:t>index</a:t>
            </a:r>
            <a:endParaRPr lang="en-US" sz="1600" dirty="0" smtClean="0">
              <a:latin typeface="Courier New"/>
              <a:cs typeface="Courier New"/>
            </a:endParaRPr>
          </a:p>
          <a:p>
            <a:pPr marL="298450">
              <a:lnSpc>
                <a:spcPct val="100000"/>
              </a:lnSpc>
            </a:pPr>
            <a:r>
              <a:rPr lang="en-US" sz="1600" dirty="0" smtClean="0">
                <a:solidFill>
                  <a:srgbClr val="231F20"/>
                </a:solidFill>
                <a:latin typeface="Courier New"/>
                <a:cs typeface="Courier New"/>
              </a:rPr>
              <a:t>&gt;&gt;&gt;</a:t>
            </a:r>
            <a:r>
              <a:rPr lang="en-US" sz="1600" spc="-25" dirty="0" smtClean="0">
                <a:solidFill>
                  <a:srgbClr val="231F20"/>
                </a:solidFill>
                <a:latin typeface="Courier New"/>
                <a:cs typeface="Courier New"/>
              </a:rPr>
              <a:t> </a:t>
            </a:r>
            <a:r>
              <a:rPr lang="en-US" sz="1600" spc="-10" dirty="0" smtClean="0">
                <a:solidFill>
                  <a:srgbClr val="231F20"/>
                </a:solidFill>
                <a:latin typeface="Courier New"/>
                <a:cs typeface="Courier New"/>
              </a:rPr>
              <a:t>tuple1[:5]</a:t>
            </a:r>
            <a:endParaRPr lang="en-US" sz="1600" dirty="0" smtClean="0">
              <a:latin typeface="Courier New"/>
              <a:cs typeface="Courier New"/>
            </a:endParaRPr>
          </a:p>
          <a:p>
            <a:pPr marL="298450">
              <a:lnSpc>
                <a:spcPct val="100000"/>
              </a:lnSpc>
            </a:pPr>
            <a:r>
              <a:rPr lang="en-US" sz="1600" dirty="0" smtClean="0">
                <a:solidFill>
                  <a:srgbClr val="231F20"/>
                </a:solidFill>
                <a:latin typeface="Courier New"/>
                <a:cs typeface="Courier New"/>
              </a:rPr>
              <a:t>(10,</a:t>
            </a:r>
            <a:r>
              <a:rPr lang="en-US" sz="1600" spc="-30" dirty="0" smtClean="0">
                <a:solidFill>
                  <a:srgbClr val="231F20"/>
                </a:solidFill>
                <a:latin typeface="Courier New"/>
                <a:cs typeface="Courier New"/>
              </a:rPr>
              <a:t> </a:t>
            </a:r>
            <a:r>
              <a:rPr lang="en-US" sz="1600" dirty="0" smtClean="0">
                <a:solidFill>
                  <a:srgbClr val="231F20"/>
                </a:solidFill>
                <a:latin typeface="Courier New"/>
                <a:cs typeface="Courier New"/>
              </a:rPr>
              <a:t>20,</a:t>
            </a:r>
            <a:r>
              <a:rPr lang="en-US" sz="1600" spc="-25" dirty="0" smtClean="0">
                <a:solidFill>
                  <a:srgbClr val="231F20"/>
                </a:solidFill>
                <a:latin typeface="Courier New"/>
                <a:cs typeface="Courier New"/>
              </a:rPr>
              <a:t> </a:t>
            </a:r>
            <a:r>
              <a:rPr lang="en-US" sz="1600" dirty="0" smtClean="0">
                <a:solidFill>
                  <a:srgbClr val="231F20"/>
                </a:solidFill>
                <a:latin typeface="Courier New"/>
                <a:cs typeface="Courier New"/>
              </a:rPr>
              <a:t>30,</a:t>
            </a:r>
            <a:r>
              <a:rPr lang="en-US" sz="1600" spc="-25" dirty="0" smtClean="0">
                <a:solidFill>
                  <a:srgbClr val="231F20"/>
                </a:solidFill>
                <a:latin typeface="Courier New"/>
                <a:cs typeface="Courier New"/>
              </a:rPr>
              <a:t> </a:t>
            </a:r>
            <a:r>
              <a:rPr lang="en-US" sz="1600" dirty="0" smtClean="0">
                <a:solidFill>
                  <a:srgbClr val="231F20"/>
                </a:solidFill>
                <a:latin typeface="Courier New"/>
                <a:cs typeface="Courier New"/>
              </a:rPr>
              <a:t>40,</a:t>
            </a:r>
            <a:r>
              <a:rPr lang="en-US" sz="1600" spc="-30" dirty="0" smtClean="0">
                <a:solidFill>
                  <a:srgbClr val="231F20"/>
                </a:solidFill>
                <a:latin typeface="Courier New"/>
                <a:cs typeface="Courier New"/>
              </a:rPr>
              <a:t> </a:t>
            </a:r>
            <a:r>
              <a:rPr lang="en-US" sz="1600" spc="-25" dirty="0" smtClean="0">
                <a:solidFill>
                  <a:srgbClr val="231F20"/>
                </a:solidFill>
                <a:latin typeface="Courier New"/>
                <a:cs typeface="Courier New"/>
              </a:rPr>
              <a:t>50)</a:t>
            </a:r>
            <a:endParaRPr lang="en-US" sz="1600" dirty="0" smtClean="0">
              <a:latin typeface="Courier New"/>
              <a:cs typeface="Courier New"/>
            </a:endParaRPr>
          </a:p>
          <a:p>
            <a:pPr>
              <a:lnSpc>
                <a:spcPct val="100000"/>
              </a:lnSpc>
              <a:spcBef>
                <a:spcPts val="70"/>
              </a:spcBef>
            </a:pPr>
            <a:endParaRPr lang="en-US" sz="1600" dirty="0" smtClean="0">
              <a:latin typeface="Courier New"/>
              <a:cs typeface="Courier New"/>
            </a:endParaRPr>
          </a:p>
          <a:p>
            <a:pPr marL="298450">
              <a:lnSpc>
                <a:spcPct val="100000"/>
              </a:lnSpc>
              <a:spcBef>
                <a:spcPts val="5"/>
              </a:spcBef>
            </a:pPr>
            <a:r>
              <a:rPr lang="en-US" sz="1600" dirty="0" smtClean="0">
                <a:solidFill>
                  <a:srgbClr val="231F20"/>
                </a:solidFill>
                <a:latin typeface="Courier New"/>
                <a:cs typeface="Courier New"/>
              </a:rPr>
              <a:t>#slice</a:t>
            </a:r>
            <a:r>
              <a:rPr lang="en-US" sz="1600" spc="-30" dirty="0" smtClean="0">
                <a:solidFill>
                  <a:srgbClr val="231F20"/>
                </a:solidFill>
                <a:latin typeface="Courier New"/>
                <a:cs typeface="Courier New"/>
              </a:rPr>
              <a:t> </a:t>
            </a:r>
            <a:r>
              <a:rPr lang="en-US" sz="1600" dirty="0" smtClean="0">
                <a:solidFill>
                  <a:srgbClr val="231F20"/>
                </a:solidFill>
                <a:latin typeface="Courier New"/>
                <a:cs typeface="Courier New"/>
              </a:rPr>
              <a:t>is</a:t>
            </a:r>
            <a:r>
              <a:rPr lang="en-US" sz="1600" spc="-25" dirty="0" smtClean="0">
                <a:solidFill>
                  <a:srgbClr val="231F20"/>
                </a:solidFill>
                <a:latin typeface="Courier New"/>
                <a:cs typeface="Courier New"/>
              </a:rPr>
              <a:t> </a:t>
            </a:r>
            <a:r>
              <a:rPr lang="en-US" sz="1600" dirty="0" smtClean="0">
                <a:solidFill>
                  <a:srgbClr val="231F20"/>
                </a:solidFill>
                <a:latin typeface="Courier New"/>
                <a:cs typeface="Courier New"/>
              </a:rPr>
              <a:t>till</a:t>
            </a:r>
            <a:r>
              <a:rPr lang="en-US" sz="1600" spc="-30" dirty="0" smtClean="0">
                <a:solidFill>
                  <a:srgbClr val="231F20"/>
                </a:solidFill>
                <a:latin typeface="Courier New"/>
                <a:cs typeface="Courier New"/>
              </a:rPr>
              <a:t> </a:t>
            </a:r>
            <a:r>
              <a:rPr lang="en-US" sz="1600" dirty="0" smtClean="0">
                <a:solidFill>
                  <a:srgbClr val="231F20"/>
                </a:solidFill>
                <a:latin typeface="Courier New"/>
                <a:cs typeface="Courier New"/>
              </a:rPr>
              <a:t>end</a:t>
            </a:r>
            <a:r>
              <a:rPr lang="en-US" sz="1600" spc="-25" dirty="0" smtClean="0">
                <a:solidFill>
                  <a:srgbClr val="231F20"/>
                </a:solidFill>
                <a:latin typeface="Courier New"/>
                <a:cs typeface="Courier New"/>
              </a:rPr>
              <a:t> </a:t>
            </a:r>
            <a:r>
              <a:rPr lang="en-US" sz="1600" dirty="0" smtClean="0">
                <a:solidFill>
                  <a:srgbClr val="231F20"/>
                </a:solidFill>
                <a:latin typeface="Courier New"/>
                <a:cs typeface="Courier New"/>
              </a:rPr>
              <a:t>of</a:t>
            </a:r>
            <a:r>
              <a:rPr lang="en-US" sz="1600" spc="-30" dirty="0" smtClean="0">
                <a:solidFill>
                  <a:srgbClr val="231F20"/>
                </a:solidFill>
                <a:latin typeface="Courier New"/>
                <a:cs typeface="Courier New"/>
              </a:rPr>
              <a:t> </a:t>
            </a:r>
            <a:r>
              <a:rPr lang="en-US" sz="1600" dirty="0" smtClean="0">
                <a:solidFill>
                  <a:srgbClr val="231F20"/>
                </a:solidFill>
                <a:latin typeface="Courier New"/>
                <a:cs typeface="Courier New"/>
              </a:rPr>
              <a:t>the</a:t>
            </a:r>
            <a:r>
              <a:rPr lang="en-US" sz="1600" spc="-25" dirty="0" smtClean="0">
                <a:solidFill>
                  <a:srgbClr val="231F20"/>
                </a:solidFill>
                <a:latin typeface="Courier New"/>
                <a:cs typeface="Courier New"/>
              </a:rPr>
              <a:t> </a:t>
            </a:r>
            <a:r>
              <a:rPr lang="en-US" sz="1600" spc="-10" dirty="0" err="1" smtClean="0">
                <a:solidFill>
                  <a:srgbClr val="231F20"/>
                </a:solidFill>
                <a:latin typeface="Courier New"/>
                <a:cs typeface="Courier New"/>
              </a:rPr>
              <a:t>tuple</a:t>
            </a:r>
            <a:endParaRPr lang="en-US" sz="1600" dirty="0" smtClean="0">
              <a:latin typeface="Courier New"/>
              <a:cs typeface="Courier New"/>
            </a:endParaRPr>
          </a:p>
          <a:p>
            <a:pPr marL="298450">
              <a:lnSpc>
                <a:spcPct val="100000"/>
              </a:lnSpc>
            </a:pPr>
            <a:r>
              <a:rPr lang="en-US" sz="1600" dirty="0" smtClean="0">
                <a:solidFill>
                  <a:srgbClr val="231F20"/>
                </a:solidFill>
                <a:latin typeface="Courier New"/>
                <a:cs typeface="Courier New"/>
              </a:rPr>
              <a:t>&gt;&gt;&gt;</a:t>
            </a:r>
            <a:r>
              <a:rPr lang="en-US" sz="1600" spc="-25" dirty="0" smtClean="0">
                <a:solidFill>
                  <a:srgbClr val="231F20"/>
                </a:solidFill>
                <a:latin typeface="Courier New"/>
                <a:cs typeface="Courier New"/>
              </a:rPr>
              <a:t> </a:t>
            </a:r>
            <a:r>
              <a:rPr lang="en-US" sz="1600" spc="-10" dirty="0" smtClean="0">
                <a:solidFill>
                  <a:srgbClr val="231F20"/>
                </a:solidFill>
                <a:latin typeface="Courier New"/>
                <a:cs typeface="Courier New"/>
              </a:rPr>
              <a:t>tuple1[2:]</a:t>
            </a:r>
            <a:endParaRPr lang="en-US" sz="1600" dirty="0" smtClean="0">
              <a:latin typeface="Courier New"/>
              <a:cs typeface="Courier New"/>
            </a:endParaRPr>
          </a:p>
          <a:p>
            <a:pPr marL="298450">
              <a:lnSpc>
                <a:spcPct val="100000"/>
              </a:lnSpc>
            </a:pPr>
            <a:r>
              <a:rPr lang="en-US" sz="1600" dirty="0" smtClean="0">
                <a:solidFill>
                  <a:srgbClr val="231F20"/>
                </a:solidFill>
                <a:latin typeface="Courier New"/>
                <a:cs typeface="Courier New"/>
              </a:rPr>
              <a:t>(30,</a:t>
            </a:r>
            <a:r>
              <a:rPr lang="en-US" sz="1600" spc="-30" dirty="0" smtClean="0">
                <a:solidFill>
                  <a:srgbClr val="231F20"/>
                </a:solidFill>
                <a:latin typeface="Courier New"/>
                <a:cs typeface="Courier New"/>
              </a:rPr>
              <a:t> </a:t>
            </a:r>
            <a:r>
              <a:rPr lang="en-US" sz="1600" dirty="0" smtClean="0">
                <a:solidFill>
                  <a:srgbClr val="231F20"/>
                </a:solidFill>
                <a:latin typeface="Courier New"/>
                <a:cs typeface="Courier New"/>
              </a:rPr>
              <a:t>40,</a:t>
            </a:r>
            <a:r>
              <a:rPr lang="en-US" sz="1600" spc="-25" dirty="0" smtClean="0">
                <a:solidFill>
                  <a:srgbClr val="231F20"/>
                </a:solidFill>
                <a:latin typeface="Courier New"/>
                <a:cs typeface="Courier New"/>
              </a:rPr>
              <a:t> </a:t>
            </a:r>
            <a:r>
              <a:rPr lang="en-US" sz="1600" dirty="0" smtClean="0">
                <a:solidFill>
                  <a:srgbClr val="231F20"/>
                </a:solidFill>
                <a:latin typeface="Courier New"/>
                <a:cs typeface="Courier New"/>
              </a:rPr>
              <a:t>50,</a:t>
            </a:r>
            <a:r>
              <a:rPr lang="en-US" sz="1600" spc="-25" dirty="0" smtClean="0">
                <a:solidFill>
                  <a:srgbClr val="231F20"/>
                </a:solidFill>
                <a:latin typeface="Courier New"/>
                <a:cs typeface="Courier New"/>
              </a:rPr>
              <a:t> </a:t>
            </a:r>
            <a:r>
              <a:rPr lang="en-US" sz="1600" dirty="0" smtClean="0">
                <a:solidFill>
                  <a:srgbClr val="231F20"/>
                </a:solidFill>
                <a:latin typeface="Courier New"/>
                <a:cs typeface="Courier New"/>
              </a:rPr>
              <a:t>60,</a:t>
            </a:r>
            <a:r>
              <a:rPr lang="en-US" sz="1600" spc="-25" dirty="0" smtClean="0">
                <a:solidFill>
                  <a:srgbClr val="231F20"/>
                </a:solidFill>
                <a:latin typeface="Courier New"/>
                <a:cs typeface="Courier New"/>
              </a:rPr>
              <a:t> </a:t>
            </a:r>
            <a:r>
              <a:rPr lang="en-US" sz="1600" dirty="0" smtClean="0">
                <a:solidFill>
                  <a:srgbClr val="231F20"/>
                </a:solidFill>
                <a:latin typeface="Courier New"/>
                <a:cs typeface="Courier New"/>
              </a:rPr>
              <a:t>70,</a:t>
            </a:r>
            <a:r>
              <a:rPr lang="en-US" sz="1600" spc="-30" dirty="0" smtClean="0">
                <a:solidFill>
                  <a:srgbClr val="231F20"/>
                </a:solidFill>
                <a:latin typeface="Courier New"/>
                <a:cs typeface="Courier New"/>
              </a:rPr>
              <a:t> </a:t>
            </a:r>
            <a:r>
              <a:rPr lang="en-US" sz="1600" spc="-25" dirty="0" smtClean="0">
                <a:solidFill>
                  <a:srgbClr val="231F20"/>
                </a:solidFill>
                <a:latin typeface="Courier New"/>
                <a:cs typeface="Courier New"/>
              </a:rPr>
              <a:t>80)</a:t>
            </a:r>
          </a:p>
          <a:p>
            <a:pPr marL="298450">
              <a:lnSpc>
                <a:spcPct val="100000"/>
              </a:lnSpc>
              <a:spcBef>
                <a:spcPts val="100"/>
              </a:spcBef>
            </a:pPr>
            <a:r>
              <a:rPr lang="en-US" sz="1600" dirty="0" smtClean="0">
                <a:solidFill>
                  <a:srgbClr val="231F20"/>
                </a:solidFill>
                <a:latin typeface="Courier New"/>
                <a:cs typeface="Courier New"/>
              </a:rPr>
              <a:t>#step</a:t>
            </a:r>
            <a:r>
              <a:rPr lang="en-US" sz="1600" spc="-35" dirty="0" smtClean="0">
                <a:solidFill>
                  <a:srgbClr val="231F20"/>
                </a:solidFill>
                <a:latin typeface="Courier New"/>
                <a:cs typeface="Courier New"/>
              </a:rPr>
              <a:t> </a:t>
            </a:r>
            <a:r>
              <a:rPr lang="en-US" sz="1600" dirty="0" smtClean="0">
                <a:solidFill>
                  <a:srgbClr val="231F20"/>
                </a:solidFill>
                <a:latin typeface="Courier New"/>
                <a:cs typeface="Courier New"/>
              </a:rPr>
              <a:t>size</a:t>
            </a:r>
            <a:r>
              <a:rPr lang="en-US" sz="1600" spc="-35" dirty="0" smtClean="0">
                <a:solidFill>
                  <a:srgbClr val="231F20"/>
                </a:solidFill>
                <a:latin typeface="Courier New"/>
                <a:cs typeface="Courier New"/>
              </a:rPr>
              <a:t> </a:t>
            </a:r>
            <a:r>
              <a:rPr lang="en-US" sz="1600" spc="-50" dirty="0" smtClean="0">
                <a:solidFill>
                  <a:srgbClr val="231F20"/>
                </a:solidFill>
                <a:latin typeface="Courier New"/>
                <a:cs typeface="Courier New"/>
              </a:rPr>
              <a:t>2</a:t>
            </a:r>
            <a:endParaRPr lang="en-US" sz="1600" dirty="0" smtClean="0">
              <a:latin typeface="Courier New"/>
              <a:cs typeface="Courier New"/>
            </a:endParaRPr>
          </a:p>
          <a:p>
            <a:pPr marL="298450" marR="2463165">
              <a:lnSpc>
                <a:spcPct val="100000"/>
              </a:lnSpc>
            </a:pPr>
            <a:r>
              <a:rPr lang="en-US" sz="1600" dirty="0" smtClean="0">
                <a:solidFill>
                  <a:srgbClr val="231F20"/>
                </a:solidFill>
                <a:latin typeface="Courier New"/>
                <a:cs typeface="Courier New"/>
              </a:rPr>
              <a:t>&gt;&gt;&gt;</a:t>
            </a:r>
            <a:r>
              <a:rPr lang="en-US" sz="1600" spc="-25" dirty="0" smtClean="0">
                <a:solidFill>
                  <a:srgbClr val="231F20"/>
                </a:solidFill>
                <a:latin typeface="Courier New"/>
                <a:cs typeface="Courier New"/>
              </a:rPr>
              <a:t> </a:t>
            </a:r>
            <a:r>
              <a:rPr lang="en-US" sz="1600" spc="-10" dirty="0" smtClean="0">
                <a:solidFill>
                  <a:srgbClr val="231F20"/>
                </a:solidFill>
                <a:latin typeface="Courier New"/>
                <a:cs typeface="Courier New"/>
              </a:rPr>
              <a:t>tuple1[0:len(tuple1):2] </a:t>
            </a:r>
            <a:r>
              <a:rPr lang="en-US" sz="1600" dirty="0" smtClean="0">
                <a:solidFill>
                  <a:srgbClr val="231F20"/>
                </a:solidFill>
                <a:latin typeface="Courier New"/>
                <a:cs typeface="Courier New"/>
              </a:rPr>
              <a:t>(10,</a:t>
            </a:r>
            <a:r>
              <a:rPr lang="en-US" sz="1600" spc="-30" dirty="0" smtClean="0">
                <a:solidFill>
                  <a:srgbClr val="231F20"/>
                </a:solidFill>
                <a:latin typeface="Courier New"/>
                <a:cs typeface="Courier New"/>
              </a:rPr>
              <a:t> </a:t>
            </a:r>
            <a:r>
              <a:rPr lang="en-US" sz="1600" dirty="0" smtClean="0">
                <a:solidFill>
                  <a:srgbClr val="231F20"/>
                </a:solidFill>
                <a:latin typeface="Courier New"/>
                <a:cs typeface="Courier New"/>
              </a:rPr>
              <a:t>30,</a:t>
            </a:r>
            <a:r>
              <a:rPr lang="en-US" sz="1600" spc="-25" dirty="0" smtClean="0">
                <a:solidFill>
                  <a:srgbClr val="231F20"/>
                </a:solidFill>
                <a:latin typeface="Courier New"/>
                <a:cs typeface="Courier New"/>
              </a:rPr>
              <a:t> </a:t>
            </a:r>
            <a:r>
              <a:rPr lang="en-US" sz="1600" dirty="0" smtClean="0">
                <a:solidFill>
                  <a:srgbClr val="231F20"/>
                </a:solidFill>
                <a:latin typeface="Courier New"/>
                <a:cs typeface="Courier New"/>
              </a:rPr>
              <a:t>50,</a:t>
            </a:r>
            <a:r>
              <a:rPr lang="en-US" sz="1600" spc="-30" dirty="0" smtClean="0">
                <a:solidFill>
                  <a:srgbClr val="231F20"/>
                </a:solidFill>
                <a:latin typeface="Courier New"/>
                <a:cs typeface="Courier New"/>
              </a:rPr>
              <a:t> </a:t>
            </a:r>
            <a:r>
              <a:rPr lang="en-US" sz="1600" spc="-25" dirty="0" smtClean="0">
                <a:solidFill>
                  <a:srgbClr val="231F20"/>
                </a:solidFill>
                <a:latin typeface="Courier New"/>
                <a:cs typeface="Courier New"/>
              </a:rPr>
              <a:t>70)</a:t>
            </a:r>
            <a:endParaRPr lang="en-US" sz="1600" dirty="0" smtClean="0">
              <a:latin typeface="Courier New"/>
              <a:cs typeface="Courier New"/>
            </a:endParaRPr>
          </a:p>
          <a:p>
            <a:pPr marL="298450">
              <a:lnSpc>
                <a:spcPct val="100000"/>
              </a:lnSpc>
            </a:pPr>
            <a:r>
              <a:rPr lang="en-US" sz="1600" dirty="0" smtClean="0">
                <a:solidFill>
                  <a:srgbClr val="231F20"/>
                </a:solidFill>
                <a:latin typeface="Courier New"/>
                <a:cs typeface="Courier New"/>
              </a:rPr>
              <a:t>#negative</a:t>
            </a:r>
            <a:r>
              <a:rPr lang="en-US" sz="1600" spc="-65" dirty="0" smtClean="0">
                <a:solidFill>
                  <a:srgbClr val="231F20"/>
                </a:solidFill>
                <a:latin typeface="Courier New"/>
                <a:cs typeface="Courier New"/>
              </a:rPr>
              <a:t> </a:t>
            </a:r>
            <a:r>
              <a:rPr lang="en-US" sz="1600" spc="-10" dirty="0" smtClean="0">
                <a:solidFill>
                  <a:srgbClr val="231F20"/>
                </a:solidFill>
                <a:latin typeface="Courier New"/>
                <a:cs typeface="Courier New"/>
              </a:rPr>
              <a:t>indexing</a:t>
            </a:r>
            <a:endParaRPr lang="en-US" sz="1600" dirty="0" smtClean="0">
              <a:latin typeface="Courier New"/>
              <a:cs typeface="Courier New"/>
            </a:endParaRPr>
          </a:p>
          <a:p>
            <a:pPr marL="298450" marR="3302635">
              <a:lnSpc>
                <a:spcPct val="100000"/>
              </a:lnSpc>
            </a:pPr>
            <a:r>
              <a:rPr lang="en-US" sz="1600" dirty="0" smtClean="0">
                <a:solidFill>
                  <a:srgbClr val="231F20"/>
                </a:solidFill>
                <a:latin typeface="Courier New"/>
                <a:cs typeface="Courier New"/>
              </a:rPr>
              <a:t>&gt;&gt;&gt;</a:t>
            </a:r>
            <a:r>
              <a:rPr lang="en-US" sz="1600" spc="10" dirty="0" smtClean="0">
                <a:solidFill>
                  <a:srgbClr val="231F20"/>
                </a:solidFill>
                <a:latin typeface="Courier New"/>
                <a:cs typeface="Courier New"/>
              </a:rPr>
              <a:t> </a:t>
            </a:r>
            <a:r>
              <a:rPr lang="en-US" sz="1600" spc="-10" dirty="0" smtClean="0">
                <a:solidFill>
                  <a:srgbClr val="231F20"/>
                </a:solidFill>
                <a:latin typeface="Courier New"/>
                <a:cs typeface="Courier New"/>
              </a:rPr>
              <a:t>tuple1[-6:-</a:t>
            </a:r>
            <a:r>
              <a:rPr lang="en-US" sz="1600" spc="-25" dirty="0" smtClean="0">
                <a:solidFill>
                  <a:srgbClr val="231F20"/>
                </a:solidFill>
                <a:latin typeface="Courier New"/>
                <a:cs typeface="Courier New"/>
              </a:rPr>
              <a:t>4] </a:t>
            </a:r>
            <a:r>
              <a:rPr lang="en-US" sz="1600" dirty="0" smtClean="0">
                <a:solidFill>
                  <a:srgbClr val="231F20"/>
                </a:solidFill>
                <a:latin typeface="Courier New"/>
                <a:cs typeface="Courier New"/>
              </a:rPr>
              <a:t>(30,</a:t>
            </a:r>
            <a:r>
              <a:rPr lang="en-US" sz="1600" spc="-35" dirty="0" smtClean="0">
                <a:solidFill>
                  <a:srgbClr val="231F20"/>
                </a:solidFill>
                <a:latin typeface="Courier New"/>
                <a:cs typeface="Courier New"/>
              </a:rPr>
              <a:t> </a:t>
            </a:r>
            <a:r>
              <a:rPr lang="en-US" sz="1600" spc="-25" dirty="0" smtClean="0">
                <a:solidFill>
                  <a:srgbClr val="231F20"/>
                </a:solidFill>
                <a:latin typeface="Courier New"/>
                <a:cs typeface="Courier New"/>
              </a:rPr>
              <a:t>40)</a:t>
            </a:r>
            <a:endParaRPr lang="en-US" sz="1600" dirty="0" smtClean="0">
              <a:latin typeface="Courier New"/>
              <a:cs typeface="Courier New"/>
            </a:endParaRPr>
          </a:p>
          <a:p>
            <a:pPr>
              <a:lnSpc>
                <a:spcPct val="100000"/>
              </a:lnSpc>
              <a:spcBef>
                <a:spcPts val="70"/>
              </a:spcBef>
            </a:pPr>
            <a:endParaRPr lang="en-US" sz="1600" dirty="0" smtClean="0">
              <a:latin typeface="Courier New"/>
              <a:cs typeface="Courier New"/>
            </a:endParaRPr>
          </a:p>
          <a:p>
            <a:pPr marL="298450">
              <a:lnSpc>
                <a:spcPct val="100000"/>
              </a:lnSpc>
            </a:pPr>
            <a:r>
              <a:rPr lang="en-US" sz="1600" dirty="0" smtClean="0">
                <a:solidFill>
                  <a:srgbClr val="231F20"/>
                </a:solidFill>
                <a:latin typeface="Courier New"/>
                <a:cs typeface="Courier New"/>
              </a:rPr>
              <a:t>#</a:t>
            </a:r>
            <a:r>
              <a:rPr lang="en-US" sz="1600" dirty="0" err="1" smtClean="0">
                <a:solidFill>
                  <a:srgbClr val="231F20"/>
                </a:solidFill>
                <a:latin typeface="Courier New"/>
                <a:cs typeface="Courier New"/>
              </a:rPr>
              <a:t>tuple</a:t>
            </a:r>
            <a:r>
              <a:rPr lang="en-US" sz="1600" spc="-40" dirty="0" smtClean="0">
                <a:solidFill>
                  <a:srgbClr val="231F20"/>
                </a:solidFill>
                <a:latin typeface="Courier New"/>
                <a:cs typeface="Courier New"/>
              </a:rPr>
              <a:t> </a:t>
            </a:r>
            <a:r>
              <a:rPr lang="en-US" sz="1600" dirty="0" smtClean="0">
                <a:solidFill>
                  <a:srgbClr val="231F20"/>
                </a:solidFill>
                <a:latin typeface="Courier New"/>
                <a:cs typeface="Courier New"/>
              </a:rPr>
              <a:t>is</a:t>
            </a:r>
            <a:r>
              <a:rPr lang="en-US" sz="1600" spc="-40" dirty="0" smtClean="0">
                <a:solidFill>
                  <a:srgbClr val="231F20"/>
                </a:solidFill>
                <a:latin typeface="Courier New"/>
                <a:cs typeface="Courier New"/>
              </a:rPr>
              <a:t> </a:t>
            </a:r>
            <a:r>
              <a:rPr lang="en-US" sz="1600" dirty="0" smtClean="0">
                <a:solidFill>
                  <a:srgbClr val="231F20"/>
                </a:solidFill>
                <a:latin typeface="Courier New"/>
                <a:cs typeface="Courier New"/>
              </a:rPr>
              <a:t>traversed</a:t>
            </a:r>
            <a:r>
              <a:rPr lang="en-US" sz="1600" spc="-40" dirty="0" smtClean="0">
                <a:solidFill>
                  <a:srgbClr val="231F20"/>
                </a:solidFill>
                <a:latin typeface="Courier New"/>
                <a:cs typeface="Courier New"/>
              </a:rPr>
              <a:t> </a:t>
            </a:r>
            <a:r>
              <a:rPr lang="en-US" sz="1600" dirty="0" smtClean="0">
                <a:solidFill>
                  <a:srgbClr val="231F20"/>
                </a:solidFill>
                <a:latin typeface="Courier New"/>
                <a:cs typeface="Courier New"/>
              </a:rPr>
              <a:t>in</a:t>
            </a:r>
            <a:r>
              <a:rPr lang="en-US" sz="1600" spc="-40" dirty="0" smtClean="0">
                <a:solidFill>
                  <a:srgbClr val="231F20"/>
                </a:solidFill>
                <a:latin typeface="Courier New"/>
                <a:cs typeface="Courier New"/>
              </a:rPr>
              <a:t> </a:t>
            </a:r>
            <a:r>
              <a:rPr lang="en-US" sz="1600" dirty="0" smtClean="0">
                <a:solidFill>
                  <a:srgbClr val="231F20"/>
                </a:solidFill>
                <a:latin typeface="Courier New"/>
                <a:cs typeface="Courier New"/>
              </a:rPr>
              <a:t>reverse</a:t>
            </a:r>
            <a:r>
              <a:rPr lang="en-US" sz="1600" spc="-40" dirty="0" smtClean="0">
                <a:solidFill>
                  <a:srgbClr val="231F20"/>
                </a:solidFill>
                <a:latin typeface="Courier New"/>
                <a:cs typeface="Courier New"/>
              </a:rPr>
              <a:t> </a:t>
            </a:r>
            <a:r>
              <a:rPr lang="en-US" sz="1600" spc="-10" dirty="0" smtClean="0">
                <a:solidFill>
                  <a:srgbClr val="231F20"/>
                </a:solidFill>
                <a:latin typeface="Courier New"/>
                <a:cs typeface="Courier New"/>
              </a:rPr>
              <a:t>order</a:t>
            </a:r>
            <a:endParaRPr lang="en-US" sz="1600" dirty="0" smtClean="0">
              <a:latin typeface="Courier New"/>
              <a:cs typeface="Courier New"/>
            </a:endParaRPr>
          </a:p>
          <a:p>
            <a:pPr marL="298450">
              <a:lnSpc>
                <a:spcPct val="100000"/>
              </a:lnSpc>
            </a:pPr>
            <a:r>
              <a:rPr lang="en-US" sz="1600" dirty="0" smtClean="0">
                <a:solidFill>
                  <a:srgbClr val="231F20"/>
                </a:solidFill>
                <a:latin typeface="Courier New"/>
                <a:cs typeface="Courier New"/>
              </a:rPr>
              <a:t>&gt;&gt;&gt;</a:t>
            </a:r>
            <a:r>
              <a:rPr lang="en-US" sz="1600" spc="5" dirty="0" smtClean="0">
                <a:solidFill>
                  <a:srgbClr val="231F20"/>
                </a:solidFill>
                <a:latin typeface="Courier New"/>
                <a:cs typeface="Courier New"/>
              </a:rPr>
              <a:t> </a:t>
            </a:r>
            <a:r>
              <a:rPr lang="en-US" sz="1600" spc="-10" dirty="0" smtClean="0">
                <a:solidFill>
                  <a:srgbClr val="231F20"/>
                </a:solidFill>
                <a:latin typeface="Courier New"/>
                <a:cs typeface="Courier New"/>
              </a:rPr>
              <a:t>tuple1[::-</a:t>
            </a:r>
            <a:r>
              <a:rPr lang="en-US" sz="1600" spc="-25" dirty="0" smtClean="0">
                <a:solidFill>
                  <a:srgbClr val="231F20"/>
                </a:solidFill>
                <a:latin typeface="Courier New"/>
                <a:cs typeface="Courier New"/>
              </a:rPr>
              <a:t>1]</a:t>
            </a:r>
            <a:endParaRPr lang="en-US" sz="1600" dirty="0" smtClean="0">
              <a:latin typeface="Courier New"/>
              <a:cs typeface="Courier New"/>
            </a:endParaRPr>
          </a:p>
          <a:p>
            <a:pPr marL="298450">
              <a:lnSpc>
                <a:spcPct val="100000"/>
              </a:lnSpc>
            </a:pPr>
            <a:r>
              <a:rPr lang="en-US" sz="1600" dirty="0" smtClean="0">
                <a:solidFill>
                  <a:srgbClr val="231F20"/>
                </a:solidFill>
                <a:latin typeface="Courier New"/>
                <a:cs typeface="Courier New"/>
              </a:rPr>
              <a:t>(80,</a:t>
            </a:r>
            <a:r>
              <a:rPr lang="en-US" sz="1600" spc="-30" dirty="0" smtClean="0">
                <a:solidFill>
                  <a:srgbClr val="231F20"/>
                </a:solidFill>
                <a:latin typeface="Courier New"/>
                <a:cs typeface="Courier New"/>
              </a:rPr>
              <a:t> </a:t>
            </a:r>
            <a:r>
              <a:rPr lang="en-US" sz="1600" dirty="0" smtClean="0">
                <a:solidFill>
                  <a:srgbClr val="231F20"/>
                </a:solidFill>
                <a:latin typeface="Courier New"/>
                <a:cs typeface="Courier New"/>
              </a:rPr>
              <a:t>70,</a:t>
            </a:r>
            <a:r>
              <a:rPr lang="en-US" sz="1600" spc="-25" dirty="0" smtClean="0">
                <a:solidFill>
                  <a:srgbClr val="231F20"/>
                </a:solidFill>
                <a:latin typeface="Courier New"/>
                <a:cs typeface="Courier New"/>
              </a:rPr>
              <a:t> </a:t>
            </a:r>
            <a:r>
              <a:rPr lang="en-US" sz="1600" dirty="0" smtClean="0">
                <a:solidFill>
                  <a:srgbClr val="231F20"/>
                </a:solidFill>
                <a:latin typeface="Courier New"/>
                <a:cs typeface="Courier New"/>
              </a:rPr>
              <a:t>60,</a:t>
            </a:r>
            <a:r>
              <a:rPr lang="en-US" sz="1600" spc="-25" dirty="0" smtClean="0">
                <a:solidFill>
                  <a:srgbClr val="231F20"/>
                </a:solidFill>
                <a:latin typeface="Courier New"/>
                <a:cs typeface="Courier New"/>
              </a:rPr>
              <a:t> </a:t>
            </a:r>
            <a:r>
              <a:rPr lang="en-US" sz="1600" dirty="0" smtClean="0">
                <a:solidFill>
                  <a:srgbClr val="231F20"/>
                </a:solidFill>
                <a:latin typeface="Courier New"/>
                <a:cs typeface="Courier New"/>
              </a:rPr>
              <a:t>50,</a:t>
            </a:r>
            <a:r>
              <a:rPr lang="en-US" sz="1600" spc="-25" dirty="0" smtClean="0">
                <a:solidFill>
                  <a:srgbClr val="231F20"/>
                </a:solidFill>
                <a:latin typeface="Courier New"/>
                <a:cs typeface="Courier New"/>
              </a:rPr>
              <a:t> </a:t>
            </a:r>
            <a:r>
              <a:rPr lang="en-US" sz="1600" dirty="0" smtClean="0">
                <a:solidFill>
                  <a:srgbClr val="231F20"/>
                </a:solidFill>
                <a:latin typeface="Courier New"/>
                <a:cs typeface="Courier New"/>
              </a:rPr>
              <a:t>40,</a:t>
            </a:r>
            <a:r>
              <a:rPr lang="en-US" sz="1600" spc="-25" dirty="0" smtClean="0">
                <a:solidFill>
                  <a:srgbClr val="231F20"/>
                </a:solidFill>
                <a:latin typeface="Courier New"/>
                <a:cs typeface="Courier New"/>
              </a:rPr>
              <a:t> </a:t>
            </a:r>
            <a:r>
              <a:rPr lang="en-US" sz="1600" dirty="0" smtClean="0">
                <a:solidFill>
                  <a:srgbClr val="231F20"/>
                </a:solidFill>
                <a:latin typeface="Courier New"/>
                <a:cs typeface="Courier New"/>
              </a:rPr>
              <a:t>30,</a:t>
            </a:r>
            <a:r>
              <a:rPr lang="en-US" sz="1600" spc="-25" dirty="0" smtClean="0">
                <a:solidFill>
                  <a:srgbClr val="231F20"/>
                </a:solidFill>
                <a:latin typeface="Courier New"/>
                <a:cs typeface="Courier New"/>
              </a:rPr>
              <a:t> </a:t>
            </a:r>
            <a:r>
              <a:rPr lang="en-US" sz="1600" dirty="0" smtClean="0">
                <a:solidFill>
                  <a:srgbClr val="231F20"/>
                </a:solidFill>
                <a:latin typeface="Courier New"/>
                <a:cs typeface="Courier New"/>
              </a:rPr>
              <a:t>20,</a:t>
            </a:r>
            <a:r>
              <a:rPr lang="en-US" sz="1600" spc="-30" dirty="0" smtClean="0">
                <a:solidFill>
                  <a:srgbClr val="231F20"/>
                </a:solidFill>
                <a:latin typeface="Courier New"/>
                <a:cs typeface="Courier New"/>
              </a:rPr>
              <a:t> </a:t>
            </a:r>
            <a:r>
              <a:rPr lang="en-US" sz="1600" spc="-25" dirty="0" smtClean="0">
                <a:solidFill>
                  <a:srgbClr val="231F20"/>
                </a:solidFill>
                <a:latin typeface="Courier New"/>
                <a:cs typeface="Courier New"/>
              </a:rPr>
              <a:t>10)</a:t>
            </a:r>
            <a:endParaRPr lang="en-US" sz="1600" dirty="0" smtClean="0">
              <a:latin typeface="Courier New"/>
              <a:cs typeface="Courier New"/>
            </a:endParaRPr>
          </a:p>
          <a:p>
            <a:pPr marL="298450">
              <a:lnSpc>
                <a:spcPct val="100000"/>
              </a:lnSpc>
            </a:pPr>
            <a:endParaRPr lang="en-US" sz="1600" dirty="0">
              <a:latin typeface="Courier New"/>
              <a:cs typeface="Courier New"/>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317500" y="1038225"/>
            <a:ext cx="9906000" cy="5410200"/>
          </a:xfrm>
          <a:prstGeom prst="rect">
            <a:avLst/>
          </a:prstGeom>
          <a:noFill/>
          <a:ln w="9525">
            <a:noFill/>
            <a:miter lim="800000"/>
            <a:headEnd/>
            <a:tailEnd/>
          </a:ln>
        </p:spPr>
      </p:pic>
      <p:sp>
        <p:nvSpPr>
          <p:cNvPr id="6" name="Rectangle 5"/>
          <p:cNvSpPr/>
          <p:nvPr/>
        </p:nvSpPr>
        <p:spPr>
          <a:xfrm>
            <a:off x="1003300" y="2486025"/>
            <a:ext cx="19050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0" y="0"/>
            <a:ext cx="10693400" cy="7562850"/>
          </a:xfrm>
          <a:prstGeom prst="rect">
            <a:avLst/>
          </a:prstGeom>
          <a:noFill/>
          <a:ln w="9525">
            <a:noFill/>
            <a:miter lim="800000"/>
            <a:headEnd/>
            <a:tailEnd/>
          </a:ln>
        </p:spPr>
      </p:pic>
      <p:sp>
        <p:nvSpPr>
          <p:cNvPr id="6" name="Rectangle 5"/>
          <p:cNvSpPr/>
          <p:nvPr/>
        </p:nvSpPr>
        <p:spPr>
          <a:xfrm>
            <a:off x="698500" y="1876425"/>
            <a:ext cx="2133600" cy="533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02639" y="1354297"/>
            <a:ext cx="3549650" cy="614680"/>
          </a:xfrm>
          <a:prstGeom prst="rect">
            <a:avLst/>
          </a:prstGeom>
        </p:spPr>
        <p:txBody>
          <a:bodyPr vert="horz" wrap="square" lIns="0" tIns="14605" rIns="0" bIns="0" rtlCol="0">
            <a:spAutoFit/>
          </a:bodyPr>
          <a:lstStyle/>
          <a:p>
            <a:pPr marL="12700">
              <a:lnSpc>
                <a:spcPct val="100000"/>
              </a:lnSpc>
              <a:spcBef>
                <a:spcPts val="115"/>
              </a:spcBef>
            </a:pPr>
            <a:r>
              <a:rPr b="0" u="heavy" spc="-955" dirty="0">
                <a:solidFill>
                  <a:srgbClr val="0070BF"/>
                </a:solidFill>
                <a:uFill>
                  <a:solidFill>
                    <a:srgbClr val="0070BF"/>
                  </a:solidFill>
                </a:uFill>
                <a:latin typeface="Times New Roman"/>
                <a:cs typeface="Times New Roman"/>
              </a:rPr>
              <a:t> </a:t>
            </a:r>
            <a:r>
              <a:rPr u="heavy" spc="-55" dirty="0">
                <a:solidFill>
                  <a:srgbClr val="0070BF"/>
                </a:solidFill>
                <a:uFill>
                  <a:solidFill>
                    <a:srgbClr val="0070BF"/>
                  </a:solidFill>
                </a:uFill>
              </a:rPr>
              <a:t>Tuples</a:t>
            </a:r>
            <a:r>
              <a:rPr spc="-55" dirty="0">
                <a:solidFill>
                  <a:srgbClr val="0070BF"/>
                </a:solidFill>
              </a:rPr>
              <a:t> </a:t>
            </a:r>
            <a:r>
              <a:rPr dirty="0">
                <a:solidFill>
                  <a:srgbClr val="0070BF"/>
                </a:solidFill>
              </a:rPr>
              <a:t>-</a:t>
            </a:r>
            <a:r>
              <a:rPr spc="-40" dirty="0">
                <a:solidFill>
                  <a:srgbClr val="0070BF"/>
                </a:solidFill>
              </a:rPr>
              <a:t> </a:t>
            </a:r>
            <a:r>
              <a:rPr dirty="0"/>
              <a:t>Deleting</a:t>
            </a:r>
          </a:p>
        </p:txBody>
      </p:sp>
      <p:sp>
        <p:nvSpPr>
          <p:cNvPr id="3" name="object 3"/>
          <p:cNvSpPr/>
          <p:nvPr/>
        </p:nvSpPr>
        <p:spPr>
          <a:xfrm>
            <a:off x="265175" y="5631180"/>
            <a:ext cx="2665455" cy="936555"/>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1051102" y="2137771"/>
            <a:ext cx="4580890" cy="2910840"/>
          </a:xfrm>
          <a:prstGeom prst="rect">
            <a:avLst/>
          </a:prstGeom>
        </p:spPr>
        <p:txBody>
          <a:bodyPr vert="horz" wrap="square" lIns="0" tIns="12700" rIns="0" bIns="0" rtlCol="0">
            <a:spAutoFit/>
          </a:bodyPr>
          <a:lstStyle/>
          <a:p>
            <a:pPr marL="262255" marR="5715" indent="-250190">
              <a:lnSpc>
                <a:spcPct val="150000"/>
              </a:lnSpc>
              <a:spcBef>
                <a:spcPts val="100"/>
              </a:spcBef>
              <a:buFont typeface="Arial"/>
              <a:buChar char="•"/>
              <a:tabLst>
                <a:tab pos="262255" algn="l"/>
                <a:tab pos="262890" algn="l"/>
                <a:tab pos="1110615" algn="l"/>
                <a:tab pos="1566545" algn="l"/>
                <a:tab pos="2838450" algn="l"/>
                <a:tab pos="3353435" algn="l"/>
                <a:tab pos="4107815" algn="l"/>
              </a:tabLst>
            </a:pPr>
            <a:r>
              <a:rPr sz="2100" spc="-65" dirty="0">
                <a:latin typeface="Times New Roman"/>
                <a:cs typeface="Times New Roman"/>
              </a:rPr>
              <a:t>T</a:t>
            </a:r>
            <a:r>
              <a:rPr sz="2100" dirty="0">
                <a:latin typeface="Times New Roman"/>
                <a:cs typeface="Times New Roman"/>
              </a:rPr>
              <a:t>upl</a:t>
            </a:r>
            <a:r>
              <a:rPr sz="2100" spc="-10" dirty="0">
                <a:latin typeface="Times New Roman"/>
                <a:cs typeface="Times New Roman"/>
              </a:rPr>
              <a:t>e</a:t>
            </a:r>
            <a:r>
              <a:rPr sz="2100" dirty="0">
                <a:latin typeface="Times New Roman"/>
                <a:cs typeface="Times New Roman"/>
              </a:rPr>
              <a:t>s	</a:t>
            </a:r>
            <a:r>
              <a:rPr sz="2100" spc="10" dirty="0">
                <a:latin typeface="Times New Roman"/>
                <a:cs typeface="Times New Roman"/>
              </a:rPr>
              <a:t>a</a:t>
            </a:r>
            <a:r>
              <a:rPr sz="2100" spc="-10" dirty="0">
                <a:latin typeface="Times New Roman"/>
                <a:cs typeface="Times New Roman"/>
              </a:rPr>
              <a:t>r</a:t>
            </a:r>
            <a:r>
              <a:rPr sz="2100" dirty="0">
                <a:latin typeface="Times New Roman"/>
                <a:cs typeface="Times New Roman"/>
              </a:rPr>
              <a:t>e	i</a:t>
            </a:r>
            <a:r>
              <a:rPr sz="2100" spc="-20" dirty="0">
                <a:latin typeface="Times New Roman"/>
                <a:cs typeface="Times New Roman"/>
              </a:rPr>
              <a:t>mm</a:t>
            </a:r>
            <a:r>
              <a:rPr sz="2100" spc="20" dirty="0">
                <a:latin typeface="Times New Roman"/>
                <a:cs typeface="Times New Roman"/>
              </a:rPr>
              <a:t>u</a:t>
            </a:r>
            <a:r>
              <a:rPr sz="2100" dirty="0">
                <a:latin typeface="Times New Roman"/>
                <a:cs typeface="Times New Roman"/>
              </a:rPr>
              <a:t>t</a:t>
            </a:r>
            <a:r>
              <a:rPr sz="2100" spc="-10" dirty="0">
                <a:latin typeface="Times New Roman"/>
                <a:cs typeface="Times New Roman"/>
              </a:rPr>
              <a:t>a</a:t>
            </a:r>
            <a:r>
              <a:rPr sz="2100" spc="20" dirty="0">
                <a:latin typeface="Times New Roman"/>
                <a:cs typeface="Times New Roman"/>
              </a:rPr>
              <a:t>b</a:t>
            </a:r>
            <a:r>
              <a:rPr sz="2100" dirty="0">
                <a:latin typeface="Times New Roman"/>
                <a:cs typeface="Times New Roman"/>
              </a:rPr>
              <a:t>le	</a:t>
            </a:r>
            <a:r>
              <a:rPr sz="2100" spc="-10" dirty="0">
                <a:latin typeface="Times New Roman"/>
                <a:cs typeface="Times New Roman"/>
              </a:rPr>
              <a:t>a</a:t>
            </a:r>
            <a:r>
              <a:rPr sz="2100" dirty="0">
                <a:latin typeface="Times New Roman"/>
                <a:cs typeface="Times New Roman"/>
              </a:rPr>
              <a:t>nd	</a:t>
            </a:r>
            <a:r>
              <a:rPr sz="2100" spc="20" dirty="0">
                <a:latin typeface="Times New Roman"/>
                <a:cs typeface="Times New Roman"/>
              </a:rPr>
              <a:t>h</a:t>
            </a:r>
            <a:r>
              <a:rPr sz="2100" spc="-10" dirty="0">
                <a:latin typeface="Times New Roman"/>
                <a:cs typeface="Times New Roman"/>
              </a:rPr>
              <a:t>e</a:t>
            </a:r>
            <a:r>
              <a:rPr sz="2100" dirty="0">
                <a:latin typeface="Times New Roman"/>
                <a:cs typeface="Times New Roman"/>
              </a:rPr>
              <a:t>n</a:t>
            </a:r>
            <a:r>
              <a:rPr sz="2100" spc="10" dirty="0">
                <a:latin typeface="Times New Roman"/>
                <a:cs typeface="Times New Roman"/>
              </a:rPr>
              <a:t>c</a:t>
            </a:r>
            <a:r>
              <a:rPr sz="2100" dirty="0">
                <a:latin typeface="Times New Roman"/>
                <a:cs typeface="Times New Roman"/>
              </a:rPr>
              <a:t>e	t</a:t>
            </a:r>
            <a:r>
              <a:rPr sz="2100" spc="-25" dirty="0">
                <a:latin typeface="Times New Roman"/>
                <a:cs typeface="Times New Roman"/>
              </a:rPr>
              <a:t>h</a:t>
            </a:r>
            <a:r>
              <a:rPr sz="2100" spc="10" dirty="0">
                <a:latin typeface="Times New Roman"/>
                <a:cs typeface="Times New Roman"/>
              </a:rPr>
              <a:t>e</a:t>
            </a:r>
            <a:r>
              <a:rPr sz="2100" dirty="0">
                <a:latin typeface="Times New Roman"/>
                <a:cs typeface="Times New Roman"/>
              </a:rPr>
              <a:t>y  do </a:t>
            </a:r>
            <a:r>
              <a:rPr sz="2100" spc="5" dirty="0">
                <a:latin typeface="Times New Roman"/>
                <a:cs typeface="Times New Roman"/>
              </a:rPr>
              <a:t>not </a:t>
            </a:r>
            <a:r>
              <a:rPr sz="2100" dirty="0">
                <a:latin typeface="Times New Roman"/>
                <a:cs typeface="Times New Roman"/>
              </a:rPr>
              <a:t>allow deletion of a part of</a:t>
            </a:r>
            <a:r>
              <a:rPr sz="2100" spc="-130" dirty="0">
                <a:latin typeface="Times New Roman"/>
                <a:cs typeface="Times New Roman"/>
              </a:rPr>
              <a:t> </a:t>
            </a:r>
            <a:r>
              <a:rPr sz="2100" dirty="0">
                <a:latin typeface="Times New Roman"/>
                <a:cs typeface="Times New Roman"/>
              </a:rPr>
              <a:t>it.</a:t>
            </a:r>
          </a:p>
          <a:p>
            <a:pPr marL="262255" marR="5080" indent="-250190">
              <a:lnSpc>
                <a:spcPct val="150500"/>
              </a:lnSpc>
              <a:buFont typeface="Arial"/>
              <a:buChar char="•"/>
              <a:tabLst>
                <a:tab pos="262255" algn="l"/>
                <a:tab pos="262890" algn="l"/>
              </a:tabLst>
            </a:pPr>
            <a:r>
              <a:rPr sz="2100" spc="-5" dirty="0">
                <a:latin typeface="Times New Roman"/>
                <a:cs typeface="Times New Roman"/>
              </a:rPr>
              <a:t>Entire tuple gets deleted </a:t>
            </a:r>
            <a:r>
              <a:rPr sz="2100" spc="10" dirty="0">
                <a:latin typeface="Times New Roman"/>
                <a:cs typeface="Times New Roman"/>
              </a:rPr>
              <a:t>by </a:t>
            </a:r>
            <a:r>
              <a:rPr sz="2100" spc="5" dirty="0">
                <a:latin typeface="Times New Roman"/>
                <a:cs typeface="Times New Roman"/>
              </a:rPr>
              <a:t>the </a:t>
            </a:r>
            <a:r>
              <a:rPr sz="2100" dirty="0">
                <a:latin typeface="Times New Roman"/>
                <a:cs typeface="Times New Roman"/>
              </a:rPr>
              <a:t>use </a:t>
            </a:r>
            <a:r>
              <a:rPr sz="2100" spc="10" dirty="0">
                <a:latin typeface="Times New Roman"/>
                <a:cs typeface="Times New Roman"/>
              </a:rPr>
              <a:t>of  </a:t>
            </a:r>
            <a:r>
              <a:rPr sz="2100" dirty="0">
                <a:latin typeface="Times New Roman"/>
                <a:cs typeface="Times New Roman"/>
              </a:rPr>
              <a:t>del()</a:t>
            </a:r>
            <a:r>
              <a:rPr sz="2100" spc="-15" dirty="0">
                <a:latin typeface="Times New Roman"/>
                <a:cs typeface="Times New Roman"/>
              </a:rPr>
              <a:t> </a:t>
            </a:r>
            <a:r>
              <a:rPr sz="2100" spc="-5" dirty="0">
                <a:latin typeface="Times New Roman"/>
                <a:cs typeface="Times New Roman"/>
              </a:rPr>
              <a:t>method.</a:t>
            </a:r>
            <a:endParaRPr sz="2100" dirty="0">
              <a:latin typeface="Times New Roman"/>
              <a:cs typeface="Times New Roman"/>
            </a:endParaRPr>
          </a:p>
          <a:p>
            <a:pPr marL="262255" marR="5080" indent="-250190">
              <a:lnSpc>
                <a:spcPts val="3790"/>
              </a:lnSpc>
              <a:spcBef>
                <a:spcPts val="325"/>
              </a:spcBef>
              <a:buFont typeface="Arial"/>
              <a:buChar char="•"/>
              <a:tabLst>
                <a:tab pos="262255" algn="l"/>
                <a:tab pos="262890" algn="l"/>
                <a:tab pos="1012190" algn="l"/>
                <a:tab pos="2001520" algn="l"/>
                <a:tab pos="2350770" algn="l"/>
                <a:tab pos="3708400" algn="l"/>
              </a:tabLst>
            </a:pPr>
            <a:r>
              <a:rPr sz="2100" b="1" spc="-5" dirty="0">
                <a:latin typeface="Times New Roman"/>
                <a:cs typeface="Times New Roman"/>
              </a:rPr>
              <a:t>N</a:t>
            </a:r>
            <a:r>
              <a:rPr sz="2100" b="1" dirty="0">
                <a:latin typeface="Times New Roman"/>
                <a:cs typeface="Times New Roman"/>
              </a:rPr>
              <a:t>o</a:t>
            </a:r>
            <a:r>
              <a:rPr sz="2100" b="1" spc="-10" dirty="0">
                <a:latin typeface="Times New Roman"/>
                <a:cs typeface="Times New Roman"/>
              </a:rPr>
              <a:t>t</a:t>
            </a:r>
            <a:r>
              <a:rPr sz="2100" b="1" spc="10" dirty="0">
                <a:latin typeface="Times New Roman"/>
                <a:cs typeface="Times New Roman"/>
              </a:rPr>
              <a:t>e</a:t>
            </a:r>
            <a:r>
              <a:rPr sz="2100" b="1" dirty="0">
                <a:latin typeface="Times New Roman"/>
                <a:cs typeface="Times New Roman"/>
              </a:rPr>
              <a:t>-	</a:t>
            </a:r>
            <a:r>
              <a:rPr sz="2100" spc="5" dirty="0">
                <a:latin typeface="Times New Roman"/>
                <a:cs typeface="Times New Roman"/>
              </a:rPr>
              <a:t>P</a:t>
            </a:r>
            <a:r>
              <a:rPr sz="2100" spc="-10" dirty="0">
                <a:latin typeface="Times New Roman"/>
                <a:cs typeface="Times New Roman"/>
              </a:rPr>
              <a:t>r</a:t>
            </a:r>
            <a:r>
              <a:rPr sz="2100" dirty="0">
                <a:latin typeface="Times New Roman"/>
                <a:cs typeface="Times New Roman"/>
              </a:rPr>
              <a:t>inting	of	</a:t>
            </a:r>
            <a:r>
              <a:rPr sz="2100" spc="-90" dirty="0">
                <a:latin typeface="Times New Roman"/>
                <a:cs typeface="Times New Roman"/>
              </a:rPr>
              <a:t>T</a:t>
            </a:r>
            <a:r>
              <a:rPr sz="2100" spc="20" dirty="0">
                <a:latin typeface="Times New Roman"/>
                <a:cs typeface="Times New Roman"/>
              </a:rPr>
              <a:t>u</a:t>
            </a:r>
            <a:r>
              <a:rPr sz="2100" spc="-25" dirty="0">
                <a:latin typeface="Times New Roman"/>
                <a:cs typeface="Times New Roman"/>
              </a:rPr>
              <a:t>p</a:t>
            </a:r>
            <a:r>
              <a:rPr sz="2100" dirty="0">
                <a:latin typeface="Times New Roman"/>
                <a:cs typeface="Times New Roman"/>
              </a:rPr>
              <a:t>le </a:t>
            </a:r>
            <a:r>
              <a:rPr sz="2100" spc="-55" dirty="0">
                <a:latin typeface="Times New Roman"/>
                <a:cs typeface="Times New Roman"/>
              </a:rPr>
              <a:t> </a:t>
            </a:r>
            <a:r>
              <a:rPr sz="2100" spc="10" dirty="0">
                <a:latin typeface="Times New Roman"/>
                <a:cs typeface="Times New Roman"/>
              </a:rPr>
              <a:t>a</a:t>
            </a:r>
            <a:r>
              <a:rPr sz="2100" spc="-10" dirty="0">
                <a:latin typeface="Times New Roman"/>
                <a:cs typeface="Times New Roman"/>
              </a:rPr>
              <a:t>f</a:t>
            </a:r>
            <a:r>
              <a:rPr sz="2100" dirty="0">
                <a:latin typeface="Times New Roman"/>
                <a:cs typeface="Times New Roman"/>
              </a:rPr>
              <a:t>t</a:t>
            </a:r>
            <a:r>
              <a:rPr sz="2100" spc="10" dirty="0">
                <a:latin typeface="Times New Roman"/>
                <a:cs typeface="Times New Roman"/>
              </a:rPr>
              <a:t>e</a:t>
            </a:r>
            <a:r>
              <a:rPr sz="2100" dirty="0">
                <a:latin typeface="Times New Roman"/>
                <a:cs typeface="Times New Roman"/>
              </a:rPr>
              <a:t>r	d</a:t>
            </a:r>
            <a:r>
              <a:rPr sz="2100" spc="-10" dirty="0">
                <a:latin typeface="Times New Roman"/>
                <a:cs typeface="Times New Roman"/>
              </a:rPr>
              <a:t>e</a:t>
            </a:r>
            <a:r>
              <a:rPr sz="2100" dirty="0">
                <a:latin typeface="Times New Roman"/>
                <a:cs typeface="Times New Roman"/>
              </a:rPr>
              <a:t>l</a:t>
            </a:r>
            <a:r>
              <a:rPr sz="2100" spc="-10" dirty="0">
                <a:latin typeface="Times New Roman"/>
                <a:cs typeface="Times New Roman"/>
              </a:rPr>
              <a:t>e</a:t>
            </a:r>
            <a:r>
              <a:rPr sz="2100" dirty="0">
                <a:latin typeface="Times New Roman"/>
                <a:cs typeface="Times New Roman"/>
              </a:rPr>
              <a:t>tion  results to </a:t>
            </a:r>
            <a:r>
              <a:rPr sz="2100" spc="5" dirty="0">
                <a:latin typeface="Times New Roman"/>
                <a:cs typeface="Times New Roman"/>
              </a:rPr>
              <a:t>an</a:t>
            </a:r>
            <a:r>
              <a:rPr sz="2100" spc="-30" dirty="0">
                <a:latin typeface="Times New Roman"/>
                <a:cs typeface="Times New Roman"/>
              </a:rPr>
              <a:t> </a:t>
            </a:r>
            <a:r>
              <a:rPr sz="2100" spc="-25" dirty="0">
                <a:latin typeface="Times New Roman"/>
                <a:cs typeface="Times New Roman"/>
              </a:rPr>
              <a:t>Error.</a:t>
            </a:r>
            <a:endParaRPr sz="2100" dirty="0">
              <a:latin typeface="Times New Roman"/>
              <a:cs typeface="Times New Roman"/>
            </a:endParaRPr>
          </a:p>
        </p:txBody>
      </p:sp>
      <p:sp>
        <p:nvSpPr>
          <p:cNvPr id="5" name="object 5"/>
          <p:cNvSpPr txBox="1"/>
          <p:nvPr/>
        </p:nvSpPr>
        <p:spPr>
          <a:xfrm>
            <a:off x="6604506" y="2386060"/>
            <a:ext cx="2962910" cy="1627505"/>
          </a:xfrm>
          <a:prstGeom prst="rect">
            <a:avLst/>
          </a:prstGeom>
        </p:spPr>
        <p:txBody>
          <a:bodyPr vert="horz" wrap="square" lIns="0" tIns="12700" rIns="0" bIns="0" rtlCol="0">
            <a:spAutoFit/>
          </a:bodyPr>
          <a:lstStyle/>
          <a:p>
            <a:pPr marL="12700">
              <a:lnSpc>
                <a:spcPct val="100000"/>
              </a:lnSpc>
              <a:spcBef>
                <a:spcPts val="100"/>
              </a:spcBef>
            </a:pPr>
            <a:r>
              <a:rPr sz="1750" dirty="0">
                <a:solidFill>
                  <a:srgbClr val="008200"/>
                </a:solidFill>
                <a:latin typeface="Consolas"/>
                <a:cs typeface="Consolas"/>
              </a:rPr>
              <a:t># Deleting a</a:t>
            </a:r>
            <a:r>
              <a:rPr sz="1750" spc="-30" dirty="0">
                <a:solidFill>
                  <a:srgbClr val="008200"/>
                </a:solidFill>
                <a:latin typeface="Consolas"/>
                <a:cs typeface="Consolas"/>
              </a:rPr>
              <a:t> </a:t>
            </a:r>
            <a:r>
              <a:rPr sz="1750" dirty="0">
                <a:solidFill>
                  <a:srgbClr val="008200"/>
                </a:solidFill>
                <a:latin typeface="Consolas"/>
                <a:cs typeface="Consolas"/>
              </a:rPr>
              <a:t>Tuple</a:t>
            </a:r>
            <a:endParaRPr sz="1750">
              <a:latin typeface="Consolas"/>
              <a:cs typeface="Consolas"/>
            </a:endParaRPr>
          </a:p>
          <a:p>
            <a:pPr>
              <a:lnSpc>
                <a:spcPct val="100000"/>
              </a:lnSpc>
              <a:spcBef>
                <a:spcPts val="50"/>
              </a:spcBef>
            </a:pPr>
            <a:endParaRPr sz="1750">
              <a:latin typeface="Consolas"/>
              <a:cs typeface="Consolas"/>
            </a:endParaRPr>
          </a:p>
          <a:p>
            <a:pPr marL="12700">
              <a:lnSpc>
                <a:spcPct val="100000"/>
              </a:lnSpc>
            </a:pPr>
            <a:r>
              <a:rPr sz="1750" dirty="0">
                <a:latin typeface="Consolas"/>
                <a:cs typeface="Consolas"/>
              </a:rPr>
              <a:t>Tuple1 </a:t>
            </a:r>
            <a:r>
              <a:rPr sz="1750" b="1" dirty="0">
                <a:solidFill>
                  <a:srgbClr val="006699"/>
                </a:solidFill>
                <a:latin typeface="Consolas"/>
                <a:cs typeface="Consolas"/>
              </a:rPr>
              <a:t>= </a:t>
            </a:r>
            <a:r>
              <a:rPr sz="1750" spc="-5" dirty="0">
                <a:latin typeface="Consolas"/>
                <a:cs typeface="Consolas"/>
              </a:rPr>
              <a:t>(</a:t>
            </a:r>
            <a:r>
              <a:rPr sz="1750" spc="-5" dirty="0">
                <a:solidFill>
                  <a:srgbClr val="009900"/>
                </a:solidFill>
                <a:latin typeface="Consolas"/>
                <a:cs typeface="Consolas"/>
              </a:rPr>
              <a:t>0</a:t>
            </a:r>
            <a:r>
              <a:rPr sz="1750" spc="-5" dirty="0">
                <a:latin typeface="Consolas"/>
                <a:cs typeface="Consolas"/>
              </a:rPr>
              <a:t>, </a:t>
            </a:r>
            <a:r>
              <a:rPr sz="1750" spc="-5" dirty="0">
                <a:solidFill>
                  <a:srgbClr val="009900"/>
                </a:solidFill>
                <a:latin typeface="Consolas"/>
                <a:cs typeface="Consolas"/>
              </a:rPr>
              <a:t>1</a:t>
            </a:r>
            <a:r>
              <a:rPr sz="1750" spc="-5" dirty="0">
                <a:latin typeface="Consolas"/>
                <a:cs typeface="Consolas"/>
              </a:rPr>
              <a:t>, </a:t>
            </a:r>
            <a:r>
              <a:rPr sz="1750" spc="-5" dirty="0">
                <a:solidFill>
                  <a:srgbClr val="009900"/>
                </a:solidFill>
                <a:latin typeface="Consolas"/>
                <a:cs typeface="Consolas"/>
              </a:rPr>
              <a:t>2</a:t>
            </a:r>
            <a:r>
              <a:rPr sz="1750" spc="-5" dirty="0">
                <a:latin typeface="Consolas"/>
                <a:cs typeface="Consolas"/>
              </a:rPr>
              <a:t>, </a:t>
            </a:r>
            <a:r>
              <a:rPr sz="1750" spc="-5" dirty="0">
                <a:solidFill>
                  <a:srgbClr val="009900"/>
                </a:solidFill>
                <a:latin typeface="Consolas"/>
                <a:cs typeface="Consolas"/>
              </a:rPr>
              <a:t>3</a:t>
            </a:r>
            <a:r>
              <a:rPr sz="1750" spc="-5" dirty="0">
                <a:latin typeface="Consolas"/>
                <a:cs typeface="Consolas"/>
              </a:rPr>
              <a:t>,</a:t>
            </a:r>
            <a:r>
              <a:rPr sz="1750" spc="-20" dirty="0">
                <a:latin typeface="Consolas"/>
                <a:cs typeface="Consolas"/>
              </a:rPr>
              <a:t> </a:t>
            </a:r>
            <a:r>
              <a:rPr sz="1750" spc="-5" dirty="0">
                <a:solidFill>
                  <a:srgbClr val="009900"/>
                </a:solidFill>
                <a:latin typeface="Consolas"/>
                <a:cs typeface="Consolas"/>
              </a:rPr>
              <a:t>4</a:t>
            </a:r>
            <a:r>
              <a:rPr sz="1750" spc="-5" dirty="0">
                <a:latin typeface="Consolas"/>
                <a:cs typeface="Consolas"/>
              </a:rPr>
              <a:t>)</a:t>
            </a:r>
            <a:endParaRPr sz="1750">
              <a:latin typeface="Consolas"/>
              <a:cs typeface="Consolas"/>
            </a:endParaRPr>
          </a:p>
          <a:p>
            <a:pPr marL="12700">
              <a:lnSpc>
                <a:spcPct val="100000"/>
              </a:lnSpc>
              <a:spcBef>
                <a:spcPts val="15"/>
              </a:spcBef>
            </a:pPr>
            <a:r>
              <a:rPr sz="1750" b="1" dirty="0">
                <a:solidFill>
                  <a:srgbClr val="006699"/>
                </a:solidFill>
                <a:latin typeface="Consolas"/>
                <a:cs typeface="Consolas"/>
              </a:rPr>
              <a:t>del</a:t>
            </a:r>
            <a:r>
              <a:rPr sz="1750" b="1" spc="-15" dirty="0">
                <a:solidFill>
                  <a:srgbClr val="006699"/>
                </a:solidFill>
                <a:latin typeface="Consolas"/>
                <a:cs typeface="Consolas"/>
              </a:rPr>
              <a:t> </a:t>
            </a:r>
            <a:r>
              <a:rPr sz="1750" dirty="0">
                <a:latin typeface="Consolas"/>
                <a:cs typeface="Consolas"/>
              </a:rPr>
              <a:t>Tuple1</a:t>
            </a:r>
            <a:endParaRPr sz="1750">
              <a:latin typeface="Consolas"/>
              <a:cs typeface="Consolas"/>
            </a:endParaRPr>
          </a:p>
          <a:p>
            <a:pPr>
              <a:lnSpc>
                <a:spcPct val="100000"/>
              </a:lnSpc>
              <a:spcBef>
                <a:spcPts val="50"/>
              </a:spcBef>
            </a:pPr>
            <a:endParaRPr sz="1750">
              <a:latin typeface="Consolas"/>
              <a:cs typeface="Consolas"/>
            </a:endParaRPr>
          </a:p>
          <a:p>
            <a:pPr marL="12700">
              <a:lnSpc>
                <a:spcPct val="100000"/>
              </a:lnSpc>
            </a:pPr>
            <a:r>
              <a:rPr sz="1750" dirty="0">
                <a:solidFill>
                  <a:srgbClr val="FF1393"/>
                </a:solidFill>
                <a:latin typeface="Consolas"/>
                <a:cs typeface="Consolas"/>
              </a:rPr>
              <a:t>print</a:t>
            </a:r>
            <a:r>
              <a:rPr sz="1750" dirty="0">
                <a:latin typeface="Consolas"/>
                <a:cs typeface="Consolas"/>
              </a:rPr>
              <a:t>(Tuple1)</a:t>
            </a:r>
            <a:endParaRPr sz="1750">
              <a:latin typeface="Consolas"/>
              <a:cs typeface="Consolas"/>
            </a:endParaRPr>
          </a:p>
        </p:txBody>
      </p:sp>
      <p:sp>
        <p:nvSpPr>
          <p:cNvPr id="6" name="object 6"/>
          <p:cNvSpPr/>
          <p:nvPr/>
        </p:nvSpPr>
        <p:spPr>
          <a:xfrm>
            <a:off x="5992367" y="2174748"/>
            <a:ext cx="7620" cy="3040380"/>
          </a:xfrm>
          <a:custGeom>
            <a:avLst/>
            <a:gdLst/>
            <a:ahLst/>
            <a:cxnLst/>
            <a:rect l="l" t="t" r="r" b="b"/>
            <a:pathLst>
              <a:path w="7620" h="3040379">
                <a:moveTo>
                  <a:pt x="7619" y="3040380"/>
                </a:moveTo>
                <a:lnTo>
                  <a:pt x="0" y="3040380"/>
                </a:lnTo>
                <a:lnTo>
                  <a:pt x="0" y="0"/>
                </a:lnTo>
                <a:lnTo>
                  <a:pt x="7619" y="0"/>
                </a:lnTo>
                <a:lnTo>
                  <a:pt x="7619" y="3040380"/>
                </a:lnTo>
                <a:close/>
              </a:path>
            </a:pathLst>
          </a:custGeom>
          <a:solidFill>
            <a:srgbClr val="00AF50"/>
          </a:solidFill>
        </p:spPr>
        <p:txBody>
          <a:bodyPr wrap="square" lIns="0" tIns="0" rIns="0" bIns="0" rtlCol="0"/>
          <a:lstStyle/>
          <a:p>
            <a:endParaRPr/>
          </a:p>
        </p:txBody>
      </p:sp>
      <p:sp>
        <p:nvSpPr>
          <p:cNvPr id="7" name="object 7"/>
          <p:cNvSpPr txBox="1"/>
          <p:nvPr/>
        </p:nvSpPr>
        <p:spPr>
          <a:xfrm>
            <a:off x="6340888" y="4670537"/>
            <a:ext cx="3597910" cy="267335"/>
          </a:xfrm>
          <a:prstGeom prst="rect">
            <a:avLst/>
          </a:prstGeom>
        </p:spPr>
        <p:txBody>
          <a:bodyPr vert="horz" wrap="square" lIns="0" tIns="16510" rIns="0" bIns="0" rtlCol="0">
            <a:spAutoFit/>
          </a:bodyPr>
          <a:lstStyle/>
          <a:p>
            <a:pPr marL="12700">
              <a:lnSpc>
                <a:spcPct val="100000"/>
              </a:lnSpc>
              <a:spcBef>
                <a:spcPts val="130"/>
              </a:spcBef>
            </a:pPr>
            <a:r>
              <a:rPr sz="1550" i="1" spc="15" dirty="0">
                <a:latin typeface="Arial"/>
                <a:cs typeface="Arial"/>
              </a:rPr>
              <a:t>NameError: name </a:t>
            </a:r>
            <a:r>
              <a:rPr sz="1550" i="1" spc="-10" dirty="0">
                <a:latin typeface="Arial"/>
                <a:cs typeface="Arial"/>
              </a:rPr>
              <a:t>‘Tuple1’ </a:t>
            </a:r>
            <a:r>
              <a:rPr sz="1550" i="1" spc="5" dirty="0">
                <a:latin typeface="Arial"/>
                <a:cs typeface="Arial"/>
              </a:rPr>
              <a:t>is not</a:t>
            </a:r>
            <a:r>
              <a:rPr sz="1550" i="1" spc="-100" dirty="0">
                <a:latin typeface="Arial"/>
                <a:cs typeface="Arial"/>
              </a:rPr>
              <a:t> </a:t>
            </a:r>
            <a:r>
              <a:rPr sz="1550" i="1" spc="10" dirty="0">
                <a:latin typeface="Arial"/>
                <a:cs typeface="Arial"/>
              </a:rPr>
              <a:t>defined</a:t>
            </a:r>
            <a:endParaRPr sz="1550">
              <a:latin typeface="Arial"/>
              <a:cs typeface="Arial"/>
            </a:endParaRPr>
          </a:p>
        </p:txBody>
      </p:sp>
      <p:sp>
        <p:nvSpPr>
          <p:cNvPr id="8" name="Rectangle 7"/>
          <p:cNvSpPr/>
          <p:nvPr/>
        </p:nvSpPr>
        <p:spPr>
          <a:xfrm>
            <a:off x="317500" y="5610225"/>
            <a:ext cx="274320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p:nvPr/>
        </p:nvSpPr>
        <p:spPr>
          <a:xfrm>
            <a:off x="265175" y="5631180"/>
            <a:ext cx="2711196" cy="944879"/>
          </a:xfrm>
          <a:prstGeom prst="rect">
            <a:avLst/>
          </a:prstGeom>
          <a:blipFill>
            <a:blip r:embed="rId2" cstate="print"/>
            <a:stretch>
              <a:fillRect/>
            </a:stretch>
          </a:blipFill>
        </p:spPr>
        <p:txBody>
          <a:bodyPr wrap="square" lIns="0" tIns="0" rIns="0" bIns="0" rtlCol="0"/>
          <a:lstStyle/>
          <a:p>
            <a:endParaRPr/>
          </a:p>
        </p:txBody>
      </p:sp>
      <p:sp>
        <p:nvSpPr>
          <p:cNvPr id="5" name="Rectangle 4"/>
          <p:cNvSpPr/>
          <p:nvPr/>
        </p:nvSpPr>
        <p:spPr>
          <a:xfrm>
            <a:off x="317500" y="5610225"/>
            <a:ext cx="274320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object 15"/>
          <p:cNvGraphicFramePr>
            <a:graphicFrameLocks noGrp="1"/>
          </p:cNvGraphicFramePr>
          <p:nvPr/>
        </p:nvGraphicFramePr>
        <p:xfrm>
          <a:off x="393700" y="0"/>
          <a:ext cx="9982201" cy="7122286"/>
        </p:xfrm>
        <a:graphic>
          <a:graphicData uri="http://schemas.openxmlformats.org/drawingml/2006/table">
            <a:tbl>
              <a:tblPr firstRow="1" bandRow="1">
                <a:tableStyleId>{2D5ABB26-0587-4C30-8999-92F81FD0307C}</a:tableStyleId>
              </a:tblPr>
              <a:tblGrid>
                <a:gridCol w="1201279"/>
                <a:gridCol w="3867274"/>
                <a:gridCol w="589046"/>
                <a:gridCol w="4324602"/>
              </a:tblGrid>
              <a:tr h="226695">
                <a:tc>
                  <a:txBody>
                    <a:bodyPr/>
                    <a:lstStyle/>
                    <a:p>
                      <a:pPr marL="125095">
                        <a:lnSpc>
                          <a:spcPct val="100000"/>
                        </a:lnSpc>
                        <a:spcBef>
                          <a:spcPts val="284"/>
                        </a:spcBef>
                      </a:pPr>
                      <a:r>
                        <a:rPr sz="1600" b="1" spc="50" dirty="0">
                          <a:solidFill>
                            <a:srgbClr val="231F20"/>
                          </a:solidFill>
                          <a:latin typeface="Cambria"/>
                          <a:cs typeface="Cambria"/>
                        </a:rPr>
                        <a:t>Method</a:t>
                      </a:r>
                      <a:endParaRPr sz="1600">
                        <a:latin typeface="Cambria"/>
                        <a:cs typeface="Cambria"/>
                      </a:endParaRPr>
                    </a:p>
                  </a:txBody>
                  <a:tcPr marL="0" marR="0" marT="36194"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algn="ctr">
                        <a:lnSpc>
                          <a:spcPct val="100000"/>
                        </a:lnSpc>
                        <a:spcBef>
                          <a:spcPts val="284"/>
                        </a:spcBef>
                      </a:pPr>
                      <a:r>
                        <a:rPr sz="1600" b="1" spc="-10" dirty="0">
                          <a:solidFill>
                            <a:srgbClr val="231F20"/>
                          </a:solidFill>
                          <a:latin typeface="Cambria"/>
                          <a:cs typeface="Cambria"/>
                        </a:rPr>
                        <a:t>Description</a:t>
                      </a:r>
                      <a:endParaRPr sz="1600">
                        <a:latin typeface="Cambria"/>
                        <a:cs typeface="Cambria"/>
                      </a:endParaRPr>
                    </a:p>
                  </a:txBody>
                  <a:tcPr marL="0" marR="0" marT="36194"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gridSpan="2">
                  <a:txBody>
                    <a:bodyPr/>
                    <a:lstStyle/>
                    <a:p>
                      <a:pPr algn="ctr">
                        <a:lnSpc>
                          <a:spcPct val="100000"/>
                        </a:lnSpc>
                        <a:spcBef>
                          <a:spcPts val="284"/>
                        </a:spcBef>
                      </a:pPr>
                      <a:r>
                        <a:rPr sz="1600" b="1" spc="45" dirty="0">
                          <a:solidFill>
                            <a:srgbClr val="231F20"/>
                          </a:solidFill>
                          <a:latin typeface="Cambria"/>
                          <a:cs typeface="Cambria"/>
                        </a:rPr>
                        <a:t>Example</a:t>
                      </a:r>
                      <a:endParaRPr sz="1600">
                        <a:latin typeface="Cambria"/>
                        <a:cs typeface="Cambria"/>
                      </a:endParaRPr>
                    </a:p>
                  </a:txBody>
                  <a:tcPr marL="0" marR="0" marT="36194"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hMerge="1">
                  <a:txBody>
                    <a:bodyPr/>
                    <a:lstStyle/>
                    <a:p>
                      <a:endParaRPr/>
                    </a:p>
                  </a:txBody>
                  <a:tcPr marL="0" marR="0" marT="0" marB="0"/>
                </a:tc>
              </a:tr>
              <a:tr h="548640">
                <a:tc>
                  <a:txBody>
                    <a:bodyPr/>
                    <a:lstStyle/>
                    <a:p>
                      <a:pPr marL="68580">
                        <a:lnSpc>
                          <a:spcPct val="100000"/>
                        </a:lnSpc>
                        <a:spcBef>
                          <a:spcPts val="180"/>
                        </a:spcBef>
                      </a:pPr>
                      <a:r>
                        <a:rPr sz="1600" b="1" spc="-10" dirty="0">
                          <a:solidFill>
                            <a:srgbClr val="231F20"/>
                          </a:solidFill>
                          <a:latin typeface="Cambria"/>
                          <a:cs typeface="Cambria"/>
                        </a:rPr>
                        <a:t>len()</a:t>
                      </a:r>
                      <a:endParaRPr sz="1600" b="1">
                        <a:latin typeface="Cambria"/>
                        <a:cs typeface="Cambria"/>
                      </a:endParaRPr>
                    </a:p>
                  </a:txBody>
                  <a:tcPr marL="0" marR="0" marT="2286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68580" marR="60325" algn="just">
                        <a:lnSpc>
                          <a:spcPct val="113999"/>
                        </a:lnSpc>
                        <a:spcBef>
                          <a:spcPts val="20"/>
                        </a:spcBef>
                      </a:pPr>
                      <a:r>
                        <a:rPr sz="1600" b="1" spc="65" dirty="0">
                          <a:solidFill>
                            <a:srgbClr val="231F20"/>
                          </a:solidFill>
                          <a:latin typeface="Cambria"/>
                          <a:cs typeface="Cambria"/>
                        </a:rPr>
                        <a:t>Returns</a:t>
                      </a:r>
                      <a:r>
                        <a:rPr sz="1600" b="1" spc="220" dirty="0">
                          <a:solidFill>
                            <a:srgbClr val="231F20"/>
                          </a:solidFill>
                          <a:latin typeface="Cambria"/>
                          <a:cs typeface="Cambria"/>
                        </a:rPr>
                        <a:t> </a:t>
                      </a:r>
                      <a:r>
                        <a:rPr sz="1600" b="1" spc="50" dirty="0">
                          <a:solidFill>
                            <a:srgbClr val="231F20"/>
                          </a:solidFill>
                          <a:latin typeface="Cambria"/>
                          <a:cs typeface="Cambria"/>
                        </a:rPr>
                        <a:t>the</a:t>
                      </a:r>
                      <a:r>
                        <a:rPr sz="1600" b="1" spc="225" dirty="0">
                          <a:solidFill>
                            <a:srgbClr val="231F20"/>
                          </a:solidFill>
                          <a:latin typeface="Cambria"/>
                          <a:cs typeface="Cambria"/>
                        </a:rPr>
                        <a:t> </a:t>
                      </a:r>
                      <a:r>
                        <a:rPr sz="1600" b="1" dirty="0">
                          <a:solidFill>
                            <a:srgbClr val="231F20"/>
                          </a:solidFill>
                          <a:latin typeface="Cambria"/>
                          <a:cs typeface="Cambria"/>
                        </a:rPr>
                        <a:t>length</a:t>
                      </a:r>
                      <a:r>
                        <a:rPr sz="1600" b="1" spc="225" dirty="0">
                          <a:solidFill>
                            <a:srgbClr val="231F20"/>
                          </a:solidFill>
                          <a:latin typeface="Cambria"/>
                          <a:cs typeface="Cambria"/>
                        </a:rPr>
                        <a:t> </a:t>
                      </a:r>
                      <a:r>
                        <a:rPr sz="1600" b="1" dirty="0">
                          <a:solidFill>
                            <a:srgbClr val="231F20"/>
                          </a:solidFill>
                          <a:latin typeface="Cambria"/>
                          <a:cs typeface="Cambria"/>
                        </a:rPr>
                        <a:t>or</a:t>
                      </a:r>
                      <a:r>
                        <a:rPr sz="1600" b="1" spc="225" dirty="0">
                          <a:solidFill>
                            <a:srgbClr val="231F20"/>
                          </a:solidFill>
                          <a:latin typeface="Cambria"/>
                          <a:cs typeface="Cambria"/>
                        </a:rPr>
                        <a:t> </a:t>
                      </a:r>
                      <a:r>
                        <a:rPr sz="1600" b="1" spc="50" dirty="0">
                          <a:solidFill>
                            <a:srgbClr val="231F20"/>
                          </a:solidFill>
                          <a:latin typeface="Cambria"/>
                          <a:cs typeface="Cambria"/>
                        </a:rPr>
                        <a:t>the</a:t>
                      </a:r>
                      <a:r>
                        <a:rPr sz="1600" b="1" spc="225" dirty="0">
                          <a:solidFill>
                            <a:srgbClr val="231F20"/>
                          </a:solidFill>
                          <a:latin typeface="Cambria"/>
                          <a:cs typeface="Cambria"/>
                        </a:rPr>
                        <a:t> </a:t>
                      </a:r>
                      <a:r>
                        <a:rPr sz="1600" b="1" spc="75" dirty="0">
                          <a:solidFill>
                            <a:srgbClr val="231F20"/>
                          </a:solidFill>
                          <a:latin typeface="Cambria"/>
                          <a:cs typeface="Cambria"/>
                        </a:rPr>
                        <a:t>number</a:t>
                      </a:r>
                      <a:r>
                        <a:rPr sz="1600" b="1" spc="225" dirty="0">
                          <a:solidFill>
                            <a:srgbClr val="231F20"/>
                          </a:solidFill>
                          <a:latin typeface="Cambria"/>
                          <a:cs typeface="Cambria"/>
                        </a:rPr>
                        <a:t> </a:t>
                      </a:r>
                      <a:r>
                        <a:rPr sz="1600" b="1" spc="-25" dirty="0">
                          <a:solidFill>
                            <a:srgbClr val="231F20"/>
                          </a:solidFill>
                          <a:latin typeface="Cambria"/>
                          <a:cs typeface="Cambria"/>
                        </a:rPr>
                        <a:t>of</a:t>
                      </a:r>
                      <a:r>
                        <a:rPr sz="1600" b="1" spc="50" dirty="0">
                          <a:solidFill>
                            <a:srgbClr val="231F20"/>
                          </a:solidFill>
                          <a:latin typeface="Cambria"/>
                          <a:cs typeface="Cambria"/>
                        </a:rPr>
                        <a:t> elements</a:t>
                      </a:r>
                      <a:r>
                        <a:rPr sz="1600" b="1" spc="254" dirty="0">
                          <a:solidFill>
                            <a:srgbClr val="231F20"/>
                          </a:solidFill>
                          <a:latin typeface="Cambria"/>
                          <a:cs typeface="Cambria"/>
                        </a:rPr>
                        <a:t> </a:t>
                      </a:r>
                      <a:r>
                        <a:rPr sz="1600" b="1" dirty="0">
                          <a:solidFill>
                            <a:srgbClr val="231F20"/>
                          </a:solidFill>
                          <a:latin typeface="Cambria"/>
                          <a:cs typeface="Cambria"/>
                        </a:rPr>
                        <a:t>of</a:t>
                      </a:r>
                      <a:r>
                        <a:rPr sz="1600" b="1" spc="254" dirty="0">
                          <a:solidFill>
                            <a:srgbClr val="231F20"/>
                          </a:solidFill>
                          <a:latin typeface="Cambria"/>
                          <a:cs typeface="Cambria"/>
                        </a:rPr>
                        <a:t> </a:t>
                      </a:r>
                      <a:r>
                        <a:rPr sz="1600" b="1" spc="50" dirty="0">
                          <a:solidFill>
                            <a:srgbClr val="231F20"/>
                          </a:solidFill>
                          <a:latin typeface="Cambria"/>
                          <a:cs typeface="Cambria"/>
                        </a:rPr>
                        <a:t>the</a:t>
                      </a:r>
                      <a:r>
                        <a:rPr sz="1600" b="1" spc="254" dirty="0">
                          <a:solidFill>
                            <a:srgbClr val="231F20"/>
                          </a:solidFill>
                          <a:latin typeface="Cambria"/>
                          <a:cs typeface="Cambria"/>
                        </a:rPr>
                        <a:t> </a:t>
                      </a:r>
                      <a:r>
                        <a:rPr sz="1600" b="1" spc="50" dirty="0">
                          <a:solidFill>
                            <a:srgbClr val="231F20"/>
                          </a:solidFill>
                          <a:latin typeface="Cambria"/>
                          <a:cs typeface="Cambria"/>
                        </a:rPr>
                        <a:t>tuple</a:t>
                      </a:r>
                      <a:r>
                        <a:rPr sz="1600" b="1" spc="260" dirty="0">
                          <a:solidFill>
                            <a:srgbClr val="231F20"/>
                          </a:solidFill>
                          <a:latin typeface="Cambria"/>
                          <a:cs typeface="Cambria"/>
                        </a:rPr>
                        <a:t> </a:t>
                      </a:r>
                      <a:r>
                        <a:rPr sz="1600" b="1" spc="60" dirty="0">
                          <a:solidFill>
                            <a:srgbClr val="231F20"/>
                          </a:solidFill>
                          <a:latin typeface="Cambria"/>
                          <a:cs typeface="Cambria"/>
                        </a:rPr>
                        <a:t>passed</a:t>
                      </a:r>
                      <a:r>
                        <a:rPr sz="1600" b="1" spc="254" dirty="0">
                          <a:solidFill>
                            <a:srgbClr val="231F20"/>
                          </a:solidFill>
                          <a:latin typeface="Cambria"/>
                          <a:cs typeface="Cambria"/>
                        </a:rPr>
                        <a:t> </a:t>
                      </a:r>
                      <a:r>
                        <a:rPr sz="1600" b="1" spc="80" dirty="0">
                          <a:solidFill>
                            <a:srgbClr val="231F20"/>
                          </a:solidFill>
                          <a:latin typeface="Cambria"/>
                          <a:cs typeface="Cambria"/>
                        </a:rPr>
                        <a:t>as</a:t>
                      </a:r>
                      <a:r>
                        <a:rPr sz="1600" b="1" spc="254" dirty="0">
                          <a:solidFill>
                            <a:srgbClr val="231F20"/>
                          </a:solidFill>
                          <a:latin typeface="Cambria"/>
                          <a:cs typeface="Cambria"/>
                        </a:rPr>
                        <a:t> </a:t>
                      </a:r>
                      <a:r>
                        <a:rPr sz="1600" b="1" spc="25" dirty="0">
                          <a:solidFill>
                            <a:srgbClr val="231F20"/>
                          </a:solidFill>
                          <a:latin typeface="Cambria"/>
                          <a:cs typeface="Cambria"/>
                        </a:rPr>
                        <a:t>the </a:t>
                      </a:r>
                      <a:r>
                        <a:rPr sz="1600" b="1" spc="55" dirty="0">
                          <a:solidFill>
                            <a:srgbClr val="231F20"/>
                          </a:solidFill>
                          <a:latin typeface="Cambria"/>
                          <a:cs typeface="Cambria"/>
                        </a:rPr>
                        <a:t>argument</a:t>
                      </a:r>
                      <a:endParaRPr sz="1600" b="1">
                        <a:latin typeface="Cambria"/>
                        <a:cs typeface="Cambria"/>
                      </a:endParaRPr>
                    </a:p>
                  </a:txBody>
                  <a:tcPr marL="0" marR="0" marT="254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68580">
                        <a:lnSpc>
                          <a:spcPct val="100000"/>
                        </a:lnSpc>
                        <a:spcBef>
                          <a:spcPts val="60"/>
                        </a:spcBef>
                      </a:pPr>
                      <a:r>
                        <a:rPr sz="1600" b="1" spc="-25" dirty="0">
                          <a:solidFill>
                            <a:srgbClr val="231F20"/>
                          </a:solidFill>
                          <a:latin typeface="Courier New"/>
                          <a:cs typeface="Courier New"/>
                        </a:rPr>
                        <a:t>&gt;&gt;&gt;</a:t>
                      </a:r>
                      <a:endParaRPr sz="1600" b="1">
                        <a:latin typeface="Courier New"/>
                        <a:cs typeface="Courier New"/>
                      </a:endParaRPr>
                    </a:p>
                    <a:p>
                      <a:pPr marL="68580" marR="30480">
                        <a:lnSpc>
                          <a:spcPct val="120000"/>
                        </a:lnSpc>
                      </a:pPr>
                      <a:r>
                        <a:rPr sz="1600" b="1" spc="25" dirty="0">
                          <a:solidFill>
                            <a:srgbClr val="231F20"/>
                          </a:solidFill>
                          <a:latin typeface="Courier New"/>
                          <a:cs typeface="Courier New"/>
                        </a:rPr>
                        <a:t>&gt;&gt;&gt; </a:t>
                      </a:r>
                      <a:r>
                        <a:rPr sz="1600" b="1" spc="-50" dirty="0">
                          <a:solidFill>
                            <a:srgbClr val="231F20"/>
                          </a:solidFill>
                          <a:latin typeface="Courier New"/>
                          <a:cs typeface="Courier New"/>
                        </a:rPr>
                        <a:t>5</a:t>
                      </a:r>
                      <a:endParaRPr sz="1600" b="1">
                        <a:latin typeface="Courier New"/>
                        <a:cs typeface="Courier New"/>
                      </a:endParaRPr>
                    </a:p>
                  </a:txBody>
                  <a:tcPr marL="0" marR="0" marT="7620" marB="0">
                    <a:lnL w="6350">
                      <a:solidFill>
                        <a:srgbClr val="231F20"/>
                      </a:solidFill>
                      <a:prstDash val="solid"/>
                    </a:lnL>
                    <a:lnT w="6350">
                      <a:solidFill>
                        <a:srgbClr val="231F20"/>
                      </a:solidFill>
                      <a:prstDash val="solid"/>
                    </a:lnT>
                    <a:lnB w="6350">
                      <a:solidFill>
                        <a:srgbClr val="231F20"/>
                      </a:solidFill>
                      <a:prstDash val="solid"/>
                    </a:lnB>
                  </a:tcPr>
                </a:tc>
                <a:tc>
                  <a:txBody>
                    <a:bodyPr/>
                    <a:lstStyle/>
                    <a:p>
                      <a:pPr marL="44450">
                        <a:lnSpc>
                          <a:spcPct val="100000"/>
                        </a:lnSpc>
                        <a:spcBef>
                          <a:spcPts val="60"/>
                        </a:spcBef>
                      </a:pPr>
                      <a:r>
                        <a:rPr sz="1600" b="1" dirty="0">
                          <a:solidFill>
                            <a:srgbClr val="231F20"/>
                          </a:solidFill>
                          <a:latin typeface="Courier New"/>
                          <a:cs typeface="Courier New"/>
                        </a:rPr>
                        <a:t>tuple1</a:t>
                      </a:r>
                      <a:r>
                        <a:rPr sz="1600" b="1" spc="20" dirty="0">
                          <a:solidFill>
                            <a:srgbClr val="231F20"/>
                          </a:solidFill>
                          <a:latin typeface="Courier New"/>
                          <a:cs typeface="Courier New"/>
                        </a:rPr>
                        <a:t> </a:t>
                      </a:r>
                      <a:r>
                        <a:rPr sz="1600" b="1" dirty="0">
                          <a:solidFill>
                            <a:srgbClr val="231F20"/>
                          </a:solidFill>
                          <a:latin typeface="Courier New"/>
                          <a:cs typeface="Courier New"/>
                        </a:rPr>
                        <a:t>=</a:t>
                      </a:r>
                      <a:r>
                        <a:rPr sz="1600" b="1" spc="20" dirty="0">
                          <a:solidFill>
                            <a:srgbClr val="231F20"/>
                          </a:solidFill>
                          <a:latin typeface="Courier New"/>
                          <a:cs typeface="Courier New"/>
                        </a:rPr>
                        <a:t> </a:t>
                      </a:r>
                      <a:r>
                        <a:rPr sz="1600" b="1" spc="-10" dirty="0">
                          <a:solidFill>
                            <a:srgbClr val="231F20"/>
                          </a:solidFill>
                          <a:latin typeface="Courier New"/>
                          <a:cs typeface="Courier New"/>
                        </a:rPr>
                        <a:t>(10,20,30,40,50)</a:t>
                      </a:r>
                      <a:endParaRPr sz="1600" b="1">
                        <a:latin typeface="Courier New"/>
                        <a:cs typeface="Courier New"/>
                      </a:endParaRPr>
                    </a:p>
                    <a:p>
                      <a:pPr marL="43815">
                        <a:lnSpc>
                          <a:spcPct val="100000"/>
                        </a:lnSpc>
                        <a:spcBef>
                          <a:spcPts val="240"/>
                        </a:spcBef>
                      </a:pPr>
                      <a:r>
                        <a:rPr sz="1600" b="1" spc="-10" dirty="0">
                          <a:solidFill>
                            <a:srgbClr val="231F20"/>
                          </a:solidFill>
                          <a:latin typeface="Courier New"/>
                          <a:cs typeface="Courier New"/>
                        </a:rPr>
                        <a:t>len(tuple1)</a:t>
                      </a:r>
                      <a:endParaRPr sz="1600" b="1">
                        <a:latin typeface="Courier New"/>
                        <a:cs typeface="Courier New"/>
                      </a:endParaRPr>
                    </a:p>
                  </a:txBody>
                  <a:tcPr marL="0" marR="0" marT="7620" marB="0">
                    <a:lnR w="6350">
                      <a:solidFill>
                        <a:srgbClr val="231F20"/>
                      </a:solidFill>
                      <a:prstDash val="solid"/>
                    </a:lnR>
                    <a:lnT w="6350">
                      <a:solidFill>
                        <a:srgbClr val="231F20"/>
                      </a:solidFill>
                      <a:prstDash val="solid"/>
                    </a:lnT>
                    <a:lnB w="6350">
                      <a:solidFill>
                        <a:srgbClr val="231F20"/>
                      </a:solidFill>
                      <a:prstDash val="solid"/>
                    </a:lnB>
                  </a:tcPr>
                </a:tc>
              </a:tr>
              <a:tr h="375285">
                <a:tc>
                  <a:txBody>
                    <a:bodyPr/>
                    <a:lstStyle/>
                    <a:p>
                      <a:pPr marL="67945">
                        <a:lnSpc>
                          <a:spcPct val="100000"/>
                        </a:lnSpc>
                        <a:spcBef>
                          <a:spcPts val="180"/>
                        </a:spcBef>
                      </a:pPr>
                      <a:r>
                        <a:rPr sz="1600" b="1" spc="-10" dirty="0">
                          <a:solidFill>
                            <a:srgbClr val="231F20"/>
                          </a:solidFill>
                          <a:latin typeface="Cambria"/>
                          <a:cs typeface="Cambria"/>
                        </a:rPr>
                        <a:t>tuple()</a:t>
                      </a:r>
                      <a:endParaRPr sz="1600" b="1">
                        <a:latin typeface="Cambria"/>
                        <a:cs typeface="Cambria"/>
                      </a:endParaRPr>
                    </a:p>
                  </a:txBody>
                  <a:tcPr marL="0" marR="0" marT="22860" marB="0">
                    <a:lnL w="6350">
                      <a:solidFill>
                        <a:srgbClr val="231F20"/>
                      </a:solidFill>
                      <a:prstDash val="solid"/>
                    </a:lnL>
                    <a:lnR w="6350">
                      <a:solidFill>
                        <a:srgbClr val="231F20"/>
                      </a:solidFill>
                      <a:prstDash val="solid"/>
                    </a:lnR>
                    <a:lnT w="6350">
                      <a:solidFill>
                        <a:srgbClr val="231F20"/>
                      </a:solidFill>
                      <a:prstDash val="solid"/>
                    </a:lnT>
                  </a:tcPr>
                </a:tc>
                <a:tc>
                  <a:txBody>
                    <a:bodyPr/>
                    <a:lstStyle/>
                    <a:p>
                      <a:pPr marL="67945" marR="60325">
                        <a:lnSpc>
                          <a:spcPct val="113999"/>
                        </a:lnSpc>
                        <a:spcBef>
                          <a:spcPts val="20"/>
                        </a:spcBef>
                      </a:pPr>
                      <a:r>
                        <a:rPr sz="1600" b="1" spc="65" dirty="0">
                          <a:solidFill>
                            <a:srgbClr val="231F20"/>
                          </a:solidFill>
                          <a:latin typeface="Cambria"/>
                          <a:cs typeface="Cambria"/>
                        </a:rPr>
                        <a:t>Creates</a:t>
                      </a:r>
                      <a:r>
                        <a:rPr sz="1600" b="1" spc="-20" dirty="0">
                          <a:solidFill>
                            <a:srgbClr val="231F20"/>
                          </a:solidFill>
                          <a:latin typeface="Cambria"/>
                          <a:cs typeface="Cambria"/>
                        </a:rPr>
                        <a:t> </a:t>
                      </a:r>
                      <a:r>
                        <a:rPr sz="1600" b="1" spc="90" dirty="0">
                          <a:solidFill>
                            <a:srgbClr val="231F20"/>
                          </a:solidFill>
                          <a:latin typeface="Cambria"/>
                          <a:cs typeface="Cambria"/>
                        </a:rPr>
                        <a:t>an</a:t>
                      </a:r>
                      <a:r>
                        <a:rPr sz="1600" b="1" spc="-15" dirty="0">
                          <a:solidFill>
                            <a:srgbClr val="231F20"/>
                          </a:solidFill>
                          <a:latin typeface="Cambria"/>
                          <a:cs typeface="Cambria"/>
                        </a:rPr>
                        <a:t> </a:t>
                      </a:r>
                      <a:r>
                        <a:rPr sz="1600" b="1" spc="50" dirty="0">
                          <a:solidFill>
                            <a:srgbClr val="231F20"/>
                          </a:solidFill>
                          <a:latin typeface="Cambria"/>
                          <a:cs typeface="Cambria"/>
                        </a:rPr>
                        <a:t>empty</a:t>
                      </a:r>
                      <a:r>
                        <a:rPr sz="1600" b="1" spc="-15" dirty="0">
                          <a:solidFill>
                            <a:srgbClr val="231F20"/>
                          </a:solidFill>
                          <a:latin typeface="Cambria"/>
                          <a:cs typeface="Cambria"/>
                        </a:rPr>
                        <a:t> </a:t>
                      </a:r>
                      <a:r>
                        <a:rPr sz="1600" b="1" spc="50" dirty="0">
                          <a:solidFill>
                            <a:srgbClr val="231F20"/>
                          </a:solidFill>
                          <a:latin typeface="Cambria"/>
                          <a:cs typeface="Cambria"/>
                        </a:rPr>
                        <a:t>tuple</a:t>
                      </a:r>
                      <a:r>
                        <a:rPr sz="1600" b="1" spc="-20" dirty="0">
                          <a:solidFill>
                            <a:srgbClr val="231F20"/>
                          </a:solidFill>
                          <a:latin typeface="Cambria"/>
                          <a:cs typeface="Cambria"/>
                        </a:rPr>
                        <a:t> </a:t>
                      </a:r>
                      <a:r>
                        <a:rPr sz="1600" b="1" dirty="0">
                          <a:solidFill>
                            <a:srgbClr val="231F20"/>
                          </a:solidFill>
                          <a:latin typeface="Cambria"/>
                          <a:cs typeface="Cambria"/>
                        </a:rPr>
                        <a:t>if</a:t>
                      </a:r>
                      <a:r>
                        <a:rPr sz="1600" b="1" spc="-15" dirty="0">
                          <a:solidFill>
                            <a:srgbClr val="231F20"/>
                          </a:solidFill>
                          <a:latin typeface="Cambria"/>
                          <a:cs typeface="Cambria"/>
                        </a:rPr>
                        <a:t> </a:t>
                      </a:r>
                      <a:r>
                        <a:rPr sz="1600" b="1" spc="60" dirty="0">
                          <a:solidFill>
                            <a:srgbClr val="231F20"/>
                          </a:solidFill>
                          <a:latin typeface="Cambria"/>
                          <a:cs typeface="Cambria"/>
                        </a:rPr>
                        <a:t>no</a:t>
                      </a:r>
                      <a:r>
                        <a:rPr sz="1600" b="1" spc="-15" dirty="0">
                          <a:solidFill>
                            <a:srgbClr val="231F20"/>
                          </a:solidFill>
                          <a:latin typeface="Cambria"/>
                          <a:cs typeface="Cambria"/>
                        </a:rPr>
                        <a:t> </a:t>
                      </a:r>
                      <a:r>
                        <a:rPr sz="1600" b="1" spc="55" dirty="0">
                          <a:solidFill>
                            <a:srgbClr val="231F20"/>
                          </a:solidFill>
                          <a:latin typeface="Cambria"/>
                          <a:cs typeface="Cambria"/>
                        </a:rPr>
                        <a:t>argument </a:t>
                      </a:r>
                      <a:r>
                        <a:rPr sz="1600" b="1" spc="50" dirty="0">
                          <a:solidFill>
                            <a:srgbClr val="231F20"/>
                          </a:solidFill>
                          <a:latin typeface="Cambria"/>
                          <a:cs typeface="Cambria"/>
                        </a:rPr>
                        <a:t>is</a:t>
                      </a:r>
                      <a:r>
                        <a:rPr sz="1600" b="1" spc="90" dirty="0">
                          <a:solidFill>
                            <a:srgbClr val="231F20"/>
                          </a:solidFill>
                          <a:latin typeface="Cambria"/>
                          <a:cs typeface="Cambria"/>
                        </a:rPr>
                        <a:t> </a:t>
                      </a:r>
                      <a:r>
                        <a:rPr sz="1600" b="1" spc="50" dirty="0">
                          <a:solidFill>
                            <a:srgbClr val="231F20"/>
                          </a:solidFill>
                          <a:latin typeface="Cambria"/>
                          <a:cs typeface="Cambria"/>
                        </a:rPr>
                        <a:t>passed</a:t>
                      </a:r>
                      <a:endParaRPr sz="1600" b="1">
                        <a:latin typeface="Cambria"/>
                        <a:cs typeface="Cambria"/>
                      </a:endParaRPr>
                    </a:p>
                  </a:txBody>
                  <a:tcPr marL="0" marR="0" marT="2540" marB="0">
                    <a:lnL w="6350">
                      <a:solidFill>
                        <a:srgbClr val="231F20"/>
                      </a:solidFill>
                      <a:prstDash val="solid"/>
                    </a:lnL>
                    <a:lnR w="6350">
                      <a:solidFill>
                        <a:srgbClr val="231F20"/>
                      </a:solidFill>
                      <a:prstDash val="solid"/>
                    </a:lnR>
                    <a:lnT w="6350">
                      <a:solidFill>
                        <a:srgbClr val="231F20"/>
                      </a:solidFill>
                      <a:prstDash val="solid"/>
                    </a:lnT>
                  </a:tcPr>
                </a:tc>
                <a:tc gridSpan="2">
                  <a:txBody>
                    <a:bodyPr/>
                    <a:lstStyle/>
                    <a:p>
                      <a:pPr marL="68580">
                        <a:lnSpc>
                          <a:spcPct val="100000"/>
                        </a:lnSpc>
                        <a:spcBef>
                          <a:spcPts val="60"/>
                        </a:spcBef>
                      </a:pPr>
                      <a:r>
                        <a:rPr sz="1600" b="1" dirty="0">
                          <a:solidFill>
                            <a:srgbClr val="231F20"/>
                          </a:solidFill>
                          <a:latin typeface="Courier New"/>
                          <a:cs typeface="Courier New"/>
                        </a:rPr>
                        <a:t>&gt;&gt;&gt;</a:t>
                      </a:r>
                      <a:r>
                        <a:rPr sz="1600" b="1" spc="155" dirty="0">
                          <a:solidFill>
                            <a:srgbClr val="231F20"/>
                          </a:solidFill>
                          <a:latin typeface="Courier New"/>
                          <a:cs typeface="Courier New"/>
                        </a:rPr>
                        <a:t> </a:t>
                      </a:r>
                      <a:r>
                        <a:rPr sz="1600" b="1" dirty="0">
                          <a:solidFill>
                            <a:srgbClr val="231F20"/>
                          </a:solidFill>
                          <a:latin typeface="Courier New"/>
                          <a:cs typeface="Courier New"/>
                        </a:rPr>
                        <a:t>tuple1</a:t>
                      </a:r>
                      <a:r>
                        <a:rPr sz="1600" b="1" spc="40" dirty="0">
                          <a:solidFill>
                            <a:srgbClr val="231F20"/>
                          </a:solidFill>
                          <a:latin typeface="Courier New"/>
                          <a:cs typeface="Courier New"/>
                        </a:rPr>
                        <a:t> </a:t>
                      </a:r>
                      <a:r>
                        <a:rPr sz="1600" b="1" dirty="0">
                          <a:solidFill>
                            <a:srgbClr val="231F20"/>
                          </a:solidFill>
                          <a:latin typeface="Courier New"/>
                          <a:cs typeface="Courier New"/>
                        </a:rPr>
                        <a:t>=</a:t>
                      </a:r>
                      <a:r>
                        <a:rPr sz="1600" b="1" spc="45" dirty="0">
                          <a:solidFill>
                            <a:srgbClr val="231F20"/>
                          </a:solidFill>
                          <a:latin typeface="Courier New"/>
                          <a:cs typeface="Courier New"/>
                        </a:rPr>
                        <a:t> </a:t>
                      </a:r>
                      <a:r>
                        <a:rPr sz="1600" b="1" spc="-10" dirty="0">
                          <a:solidFill>
                            <a:srgbClr val="231F20"/>
                          </a:solidFill>
                          <a:latin typeface="Courier New"/>
                          <a:cs typeface="Courier New"/>
                        </a:rPr>
                        <a:t>tuple()</a:t>
                      </a:r>
                      <a:endParaRPr sz="1600" b="1">
                        <a:latin typeface="Courier New"/>
                        <a:cs typeface="Courier New"/>
                      </a:endParaRPr>
                    </a:p>
                    <a:p>
                      <a:pPr marL="68580">
                        <a:lnSpc>
                          <a:spcPct val="100000"/>
                        </a:lnSpc>
                        <a:spcBef>
                          <a:spcPts val="240"/>
                        </a:spcBef>
                      </a:pPr>
                      <a:r>
                        <a:rPr sz="1600" b="1" dirty="0">
                          <a:solidFill>
                            <a:srgbClr val="231F20"/>
                          </a:solidFill>
                          <a:latin typeface="Courier New"/>
                          <a:cs typeface="Courier New"/>
                        </a:rPr>
                        <a:t>&gt;&gt;&gt;</a:t>
                      </a:r>
                      <a:r>
                        <a:rPr sz="1600" b="1" spc="200" dirty="0">
                          <a:solidFill>
                            <a:srgbClr val="231F20"/>
                          </a:solidFill>
                          <a:latin typeface="Courier New"/>
                          <a:cs typeface="Courier New"/>
                        </a:rPr>
                        <a:t> </a:t>
                      </a:r>
                      <a:r>
                        <a:rPr sz="1600" b="1" spc="-10" dirty="0">
                          <a:solidFill>
                            <a:srgbClr val="231F20"/>
                          </a:solidFill>
                          <a:latin typeface="Courier New"/>
                          <a:cs typeface="Courier New"/>
                        </a:rPr>
                        <a:t>tuple1</a:t>
                      </a:r>
                      <a:endParaRPr sz="1600" b="1">
                        <a:latin typeface="Courier New"/>
                        <a:cs typeface="Courier New"/>
                      </a:endParaRPr>
                    </a:p>
                  </a:txBody>
                  <a:tcPr marL="0" marR="0" marT="7620" marB="0">
                    <a:lnL w="6350">
                      <a:solidFill>
                        <a:srgbClr val="231F20"/>
                      </a:solidFill>
                      <a:prstDash val="solid"/>
                    </a:lnL>
                    <a:lnR w="6350">
                      <a:solidFill>
                        <a:srgbClr val="231F20"/>
                      </a:solidFill>
                      <a:prstDash val="solid"/>
                    </a:lnR>
                    <a:lnT w="6350">
                      <a:solidFill>
                        <a:srgbClr val="231F20"/>
                      </a:solidFill>
                      <a:prstDash val="solid"/>
                    </a:lnT>
                  </a:tcPr>
                </a:tc>
                <a:tc hMerge="1">
                  <a:txBody>
                    <a:bodyPr/>
                    <a:lstStyle/>
                    <a:p>
                      <a:endParaRPr/>
                    </a:p>
                  </a:txBody>
                  <a:tcPr marL="0" marR="0" marT="0" marB="0"/>
                </a:tc>
              </a:tr>
              <a:tr h="548005">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tcPr>
                </a:tc>
                <a:tc>
                  <a:txBody>
                    <a:bodyPr/>
                    <a:lstStyle/>
                    <a:p>
                      <a:pPr marL="67945" marR="60960">
                        <a:lnSpc>
                          <a:spcPct val="113999"/>
                        </a:lnSpc>
                        <a:spcBef>
                          <a:spcPts val="960"/>
                        </a:spcBef>
                      </a:pPr>
                      <a:r>
                        <a:rPr sz="1600" b="1" spc="65" dirty="0">
                          <a:solidFill>
                            <a:srgbClr val="231F20"/>
                          </a:solidFill>
                          <a:latin typeface="Cambria"/>
                          <a:cs typeface="Cambria"/>
                        </a:rPr>
                        <a:t>Creates</a:t>
                      </a:r>
                      <a:r>
                        <a:rPr sz="1600" b="1" spc="180" dirty="0">
                          <a:solidFill>
                            <a:srgbClr val="231F20"/>
                          </a:solidFill>
                          <a:latin typeface="Cambria"/>
                          <a:cs typeface="Cambria"/>
                        </a:rPr>
                        <a:t>  </a:t>
                      </a:r>
                      <a:r>
                        <a:rPr sz="1600" b="1" spc="85" dirty="0">
                          <a:solidFill>
                            <a:srgbClr val="231F20"/>
                          </a:solidFill>
                          <a:latin typeface="Cambria"/>
                          <a:cs typeface="Cambria"/>
                        </a:rPr>
                        <a:t>a</a:t>
                      </a:r>
                      <a:r>
                        <a:rPr sz="1600" b="1" spc="185" dirty="0">
                          <a:solidFill>
                            <a:srgbClr val="231F20"/>
                          </a:solidFill>
                          <a:latin typeface="Cambria"/>
                          <a:cs typeface="Cambria"/>
                        </a:rPr>
                        <a:t>  </a:t>
                      </a:r>
                      <a:r>
                        <a:rPr sz="1600" b="1" spc="50" dirty="0">
                          <a:solidFill>
                            <a:srgbClr val="231F20"/>
                          </a:solidFill>
                          <a:latin typeface="Cambria"/>
                          <a:cs typeface="Cambria"/>
                        </a:rPr>
                        <a:t>tuple</a:t>
                      </a:r>
                      <a:r>
                        <a:rPr sz="1600" b="1" spc="180" dirty="0">
                          <a:solidFill>
                            <a:srgbClr val="231F20"/>
                          </a:solidFill>
                          <a:latin typeface="Cambria"/>
                          <a:cs typeface="Cambria"/>
                        </a:rPr>
                        <a:t>  </a:t>
                      </a:r>
                      <a:r>
                        <a:rPr sz="1600" b="1" dirty="0">
                          <a:solidFill>
                            <a:srgbClr val="231F20"/>
                          </a:solidFill>
                          <a:latin typeface="Cambria"/>
                          <a:cs typeface="Cambria"/>
                        </a:rPr>
                        <a:t>if</a:t>
                      </a:r>
                      <a:r>
                        <a:rPr sz="1600" b="1" spc="185" dirty="0">
                          <a:solidFill>
                            <a:srgbClr val="231F20"/>
                          </a:solidFill>
                          <a:latin typeface="Cambria"/>
                          <a:cs typeface="Cambria"/>
                        </a:rPr>
                        <a:t>  </a:t>
                      </a:r>
                      <a:r>
                        <a:rPr sz="1600" b="1" spc="85" dirty="0">
                          <a:solidFill>
                            <a:srgbClr val="231F20"/>
                          </a:solidFill>
                          <a:latin typeface="Cambria"/>
                          <a:cs typeface="Cambria"/>
                        </a:rPr>
                        <a:t>a</a:t>
                      </a:r>
                      <a:r>
                        <a:rPr sz="1600" b="1" spc="185" dirty="0">
                          <a:solidFill>
                            <a:srgbClr val="231F20"/>
                          </a:solidFill>
                          <a:latin typeface="Cambria"/>
                          <a:cs typeface="Cambria"/>
                        </a:rPr>
                        <a:t>  </a:t>
                      </a:r>
                      <a:r>
                        <a:rPr sz="1600" b="1" spc="60" dirty="0">
                          <a:solidFill>
                            <a:srgbClr val="231F20"/>
                          </a:solidFill>
                          <a:latin typeface="Cambria"/>
                          <a:cs typeface="Cambria"/>
                        </a:rPr>
                        <a:t>sequence</a:t>
                      </a:r>
                      <a:r>
                        <a:rPr sz="1600" b="1" spc="180" dirty="0">
                          <a:solidFill>
                            <a:srgbClr val="231F20"/>
                          </a:solidFill>
                          <a:latin typeface="Cambria"/>
                          <a:cs typeface="Cambria"/>
                        </a:rPr>
                        <a:t>  </a:t>
                      </a:r>
                      <a:r>
                        <a:rPr sz="1600" b="1" spc="-25" dirty="0">
                          <a:solidFill>
                            <a:srgbClr val="231F20"/>
                          </a:solidFill>
                          <a:latin typeface="Cambria"/>
                          <a:cs typeface="Cambria"/>
                        </a:rPr>
                        <a:t>is</a:t>
                      </a:r>
                      <a:r>
                        <a:rPr sz="1600" b="1" spc="60" dirty="0">
                          <a:solidFill>
                            <a:srgbClr val="231F20"/>
                          </a:solidFill>
                          <a:latin typeface="Cambria"/>
                          <a:cs typeface="Cambria"/>
                        </a:rPr>
                        <a:t> passed</a:t>
                      </a:r>
                      <a:r>
                        <a:rPr sz="1600" b="1" spc="95" dirty="0">
                          <a:solidFill>
                            <a:srgbClr val="231F20"/>
                          </a:solidFill>
                          <a:latin typeface="Cambria"/>
                          <a:cs typeface="Cambria"/>
                        </a:rPr>
                        <a:t> </a:t>
                      </a:r>
                      <a:r>
                        <a:rPr sz="1600" b="1" spc="80" dirty="0">
                          <a:solidFill>
                            <a:srgbClr val="231F20"/>
                          </a:solidFill>
                          <a:latin typeface="Cambria"/>
                          <a:cs typeface="Cambria"/>
                        </a:rPr>
                        <a:t>as</a:t>
                      </a:r>
                      <a:r>
                        <a:rPr sz="1600" b="1" spc="95" dirty="0">
                          <a:solidFill>
                            <a:srgbClr val="231F20"/>
                          </a:solidFill>
                          <a:latin typeface="Cambria"/>
                          <a:cs typeface="Cambria"/>
                        </a:rPr>
                        <a:t> </a:t>
                      </a:r>
                      <a:r>
                        <a:rPr sz="1600" b="1" spc="55" dirty="0">
                          <a:solidFill>
                            <a:srgbClr val="231F20"/>
                          </a:solidFill>
                          <a:latin typeface="Cambria"/>
                          <a:cs typeface="Cambria"/>
                        </a:rPr>
                        <a:t>argument</a:t>
                      </a:r>
                      <a:endParaRPr sz="1600" b="1">
                        <a:latin typeface="Cambria"/>
                        <a:cs typeface="Cambria"/>
                      </a:endParaRPr>
                    </a:p>
                  </a:txBody>
                  <a:tcPr marL="0" marR="0" marT="121920" marB="0">
                    <a:lnL w="6350">
                      <a:solidFill>
                        <a:srgbClr val="231F20"/>
                      </a:solidFill>
                      <a:prstDash val="solid"/>
                    </a:lnL>
                    <a:lnR w="6350">
                      <a:solidFill>
                        <a:srgbClr val="231F20"/>
                      </a:solidFill>
                      <a:prstDash val="solid"/>
                    </a:lnR>
                  </a:tcPr>
                </a:tc>
                <a:tc gridSpan="2">
                  <a:txBody>
                    <a:bodyPr/>
                    <a:lstStyle/>
                    <a:p>
                      <a:pPr marL="68580">
                        <a:lnSpc>
                          <a:spcPts val="1185"/>
                        </a:lnSpc>
                      </a:pPr>
                      <a:r>
                        <a:rPr sz="1600" b="1" dirty="0">
                          <a:solidFill>
                            <a:srgbClr val="231F20"/>
                          </a:solidFill>
                          <a:latin typeface="Courier New"/>
                          <a:cs typeface="Courier New"/>
                        </a:rPr>
                        <a:t>(</a:t>
                      </a:r>
                      <a:r>
                        <a:rPr sz="1600" b="1" spc="85" dirty="0">
                          <a:solidFill>
                            <a:srgbClr val="231F20"/>
                          </a:solidFill>
                          <a:latin typeface="Courier New"/>
                          <a:cs typeface="Courier New"/>
                        </a:rPr>
                        <a:t> </a:t>
                      </a:r>
                      <a:r>
                        <a:rPr sz="1600" b="1" spc="-50" dirty="0">
                          <a:solidFill>
                            <a:srgbClr val="231F20"/>
                          </a:solidFill>
                          <a:latin typeface="Courier New"/>
                          <a:cs typeface="Courier New"/>
                        </a:rPr>
                        <a:t>)</a:t>
                      </a:r>
                      <a:endParaRPr sz="1600" b="1">
                        <a:latin typeface="Courier New"/>
                        <a:cs typeface="Courier New"/>
                      </a:endParaRPr>
                    </a:p>
                    <a:p>
                      <a:pPr marL="68580">
                        <a:lnSpc>
                          <a:spcPct val="100000"/>
                        </a:lnSpc>
                        <a:spcBef>
                          <a:spcPts val="240"/>
                        </a:spcBef>
                      </a:pPr>
                      <a:r>
                        <a:rPr sz="1600" b="1" dirty="0">
                          <a:solidFill>
                            <a:srgbClr val="231F20"/>
                          </a:solidFill>
                          <a:latin typeface="Courier New"/>
                          <a:cs typeface="Courier New"/>
                        </a:rPr>
                        <a:t>&gt;&gt;&gt;</a:t>
                      </a:r>
                      <a:r>
                        <a:rPr sz="1600" b="1" spc="155" dirty="0">
                          <a:solidFill>
                            <a:srgbClr val="231F20"/>
                          </a:solidFill>
                          <a:latin typeface="Courier New"/>
                          <a:cs typeface="Courier New"/>
                        </a:rPr>
                        <a:t> </a:t>
                      </a:r>
                      <a:r>
                        <a:rPr sz="1600" b="1" dirty="0">
                          <a:solidFill>
                            <a:srgbClr val="231F20"/>
                          </a:solidFill>
                          <a:latin typeface="Courier New"/>
                          <a:cs typeface="Courier New"/>
                        </a:rPr>
                        <a:t>tuple1</a:t>
                      </a:r>
                      <a:r>
                        <a:rPr sz="1600" b="1" spc="40" dirty="0">
                          <a:solidFill>
                            <a:srgbClr val="231F20"/>
                          </a:solidFill>
                          <a:latin typeface="Courier New"/>
                          <a:cs typeface="Courier New"/>
                        </a:rPr>
                        <a:t> </a:t>
                      </a:r>
                      <a:r>
                        <a:rPr sz="1600" b="1" dirty="0">
                          <a:solidFill>
                            <a:srgbClr val="231F20"/>
                          </a:solidFill>
                          <a:latin typeface="Courier New"/>
                          <a:cs typeface="Courier New"/>
                        </a:rPr>
                        <a:t>=</a:t>
                      </a:r>
                      <a:r>
                        <a:rPr sz="1600" b="1" spc="45" dirty="0">
                          <a:solidFill>
                            <a:srgbClr val="231F20"/>
                          </a:solidFill>
                          <a:latin typeface="Courier New"/>
                          <a:cs typeface="Courier New"/>
                        </a:rPr>
                        <a:t> </a:t>
                      </a:r>
                      <a:r>
                        <a:rPr sz="1600" b="1" spc="-10" dirty="0">
                          <a:solidFill>
                            <a:srgbClr val="231F20"/>
                          </a:solidFill>
                          <a:latin typeface="Courier New"/>
                          <a:cs typeface="Courier New"/>
                        </a:rPr>
                        <a:t>tuple('aeiou')#string</a:t>
                      </a:r>
                      <a:endParaRPr sz="1600" b="1">
                        <a:latin typeface="Courier New"/>
                        <a:cs typeface="Courier New"/>
                      </a:endParaRPr>
                    </a:p>
                    <a:p>
                      <a:pPr marL="68580">
                        <a:lnSpc>
                          <a:spcPct val="100000"/>
                        </a:lnSpc>
                        <a:spcBef>
                          <a:spcPts val="240"/>
                        </a:spcBef>
                      </a:pPr>
                      <a:r>
                        <a:rPr sz="1600" b="1" dirty="0">
                          <a:solidFill>
                            <a:srgbClr val="231F20"/>
                          </a:solidFill>
                          <a:latin typeface="Courier New"/>
                          <a:cs typeface="Courier New"/>
                        </a:rPr>
                        <a:t>&gt;&gt;&gt;</a:t>
                      </a:r>
                      <a:r>
                        <a:rPr sz="1600" b="1" spc="200" dirty="0">
                          <a:solidFill>
                            <a:srgbClr val="231F20"/>
                          </a:solidFill>
                          <a:latin typeface="Courier New"/>
                          <a:cs typeface="Courier New"/>
                        </a:rPr>
                        <a:t> </a:t>
                      </a:r>
                      <a:r>
                        <a:rPr sz="1600" b="1" spc="-10" dirty="0">
                          <a:solidFill>
                            <a:srgbClr val="231F20"/>
                          </a:solidFill>
                          <a:latin typeface="Courier New"/>
                          <a:cs typeface="Courier New"/>
                        </a:rPr>
                        <a:t>tuple1</a:t>
                      </a:r>
                      <a:endParaRPr sz="1600" b="1">
                        <a:latin typeface="Courier New"/>
                        <a:cs typeface="Courier New"/>
                      </a:endParaRPr>
                    </a:p>
                  </a:txBody>
                  <a:tcPr marL="0" marR="0" marT="0" marB="0">
                    <a:lnL w="6350">
                      <a:solidFill>
                        <a:srgbClr val="231F20"/>
                      </a:solidFill>
                      <a:prstDash val="solid"/>
                    </a:lnL>
                    <a:lnR w="6350">
                      <a:solidFill>
                        <a:srgbClr val="231F20"/>
                      </a:solidFill>
                      <a:prstDash val="solid"/>
                    </a:lnR>
                  </a:tcPr>
                </a:tc>
                <a:tc hMerge="1">
                  <a:txBody>
                    <a:bodyPr/>
                    <a:lstStyle/>
                    <a:p>
                      <a:endParaRPr/>
                    </a:p>
                  </a:txBody>
                  <a:tcPr marL="0" marR="0" marT="0" marB="0"/>
                </a:tc>
              </a:tr>
              <a:tr h="273685">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tcPr>
                </a:tc>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tcPr>
                </a:tc>
                <a:tc gridSpan="2">
                  <a:txBody>
                    <a:bodyPr/>
                    <a:lstStyle/>
                    <a:p>
                      <a:pPr marL="68580">
                        <a:lnSpc>
                          <a:spcPts val="1185"/>
                        </a:lnSpc>
                      </a:pPr>
                      <a:r>
                        <a:rPr sz="1600" b="1" dirty="0">
                          <a:solidFill>
                            <a:srgbClr val="231F20"/>
                          </a:solidFill>
                          <a:latin typeface="Courier New"/>
                          <a:cs typeface="Courier New"/>
                        </a:rPr>
                        <a:t>('a',</a:t>
                      </a:r>
                      <a:r>
                        <a:rPr sz="1600" b="1" spc="254" dirty="0">
                          <a:solidFill>
                            <a:srgbClr val="231F20"/>
                          </a:solidFill>
                          <a:latin typeface="Courier New"/>
                          <a:cs typeface="Courier New"/>
                        </a:rPr>
                        <a:t> </a:t>
                      </a:r>
                      <a:r>
                        <a:rPr sz="1600" b="1" dirty="0">
                          <a:solidFill>
                            <a:srgbClr val="231F20"/>
                          </a:solidFill>
                          <a:latin typeface="Courier New"/>
                          <a:cs typeface="Courier New"/>
                        </a:rPr>
                        <a:t>'e',</a:t>
                      </a:r>
                      <a:r>
                        <a:rPr sz="1600" b="1" spc="260" dirty="0">
                          <a:solidFill>
                            <a:srgbClr val="231F20"/>
                          </a:solidFill>
                          <a:latin typeface="Courier New"/>
                          <a:cs typeface="Courier New"/>
                        </a:rPr>
                        <a:t> </a:t>
                      </a:r>
                      <a:r>
                        <a:rPr sz="1600" b="1" dirty="0">
                          <a:solidFill>
                            <a:srgbClr val="231F20"/>
                          </a:solidFill>
                          <a:latin typeface="Courier New"/>
                          <a:cs typeface="Courier New"/>
                        </a:rPr>
                        <a:t>'i',</a:t>
                      </a:r>
                      <a:r>
                        <a:rPr sz="1600" b="1" spc="254" dirty="0">
                          <a:solidFill>
                            <a:srgbClr val="231F20"/>
                          </a:solidFill>
                          <a:latin typeface="Courier New"/>
                          <a:cs typeface="Courier New"/>
                        </a:rPr>
                        <a:t> </a:t>
                      </a:r>
                      <a:r>
                        <a:rPr sz="1600" b="1" dirty="0">
                          <a:solidFill>
                            <a:srgbClr val="231F20"/>
                          </a:solidFill>
                          <a:latin typeface="Courier New"/>
                          <a:cs typeface="Courier New"/>
                        </a:rPr>
                        <a:t>'o',</a:t>
                      </a:r>
                      <a:r>
                        <a:rPr sz="1600" b="1" spc="260" dirty="0">
                          <a:solidFill>
                            <a:srgbClr val="231F20"/>
                          </a:solidFill>
                          <a:latin typeface="Courier New"/>
                          <a:cs typeface="Courier New"/>
                        </a:rPr>
                        <a:t> </a:t>
                      </a:r>
                      <a:r>
                        <a:rPr sz="1600" b="1" spc="30" dirty="0">
                          <a:solidFill>
                            <a:srgbClr val="231F20"/>
                          </a:solidFill>
                          <a:latin typeface="Courier New"/>
                          <a:cs typeface="Courier New"/>
                        </a:rPr>
                        <a:t>'u')</a:t>
                      </a:r>
                      <a:endParaRPr sz="1600" b="1">
                        <a:latin typeface="Courier New"/>
                        <a:cs typeface="Courier New"/>
                      </a:endParaRPr>
                    </a:p>
                  </a:txBody>
                  <a:tcPr marL="0" marR="0" marT="0" marB="0">
                    <a:lnL w="6350">
                      <a:solidFill>
                        <a:srgbClr val="231F20"/>
                      </a:solidFill>
                      <a:prstDash val="solid"/>
                    </a:lnL>
                    <a:lnR w="6350">
                      <a:solidFill>
                        <a:srgbClr val="231F20"/>
                      </a:solidFill>
                      <a:prstDash val="solid"/>
                    </a:lnR>
                  </a:tcPr>
                </a:tc>
                <a:tc hMerge="1">
                  <a:txBody>
                    <a:bodyPr/>
                    <a:lstStyle/>
                    <a:p>
                      <a:endParaRPr/>
                    </a:p>
                  </a:txBody>
                  <a:tcPr marL="0" marR="0" marT="0" marB="0"/>
                </a:tc>
              </a:tr>
              <a:tr h="274320">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tcPr>
                </a:tc>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tcPr>
                </a:tc>
                <a:tc gridSpan="2">
                  <a:txBody>
                    <a:bodyPr/>
                    <a:lstStyle/>
                    <a:p>
                      <a:pPr marL="68580">
                        <a:lnSpc>
                          <a:spcPct val="100000"/>
                        </a:lnSpc>
                        <a:spcBef>
                          <a:spcPts val="705"/>
                        </a:spcBef>
                      </a:pPr>
                      <a:r>
                        <a:rPr sz="1600" b="1" dirty="0">
                          <a:solidFill>
                            <a:srgbClr val="231F20"/>
                          </a:solidFill>
                          <a:latin typeface="Courier New"/>
                          <a:cs typeface="Courier New"/>
                        </a:rPr>
                        <a:t>&gt;&gt;&gt;</a:t>
                      </a:r>
                      <a:r>
                        <a:rPr sz="1600" b="1" spc="140" dirty="0">
                          <a:solidFill>
                            <a:srgbClr val="231F20"/>
                          </a:solidFill>
                          <a:latin typeface="Courier New"/>
                          <a:cs typeface="Courier New"/>
                        </a:rPr>
                        <a:t> </a:t>
                      </a:r>
                      <a:r>
                        <a:rPr sz="1600" b="1" dirty="0">
                          <a:solidFill>
                            <a:srgbClr val="231F20"/>
                          </a:solidFill>
                          <a:latin typeface="Courier New"/>
                          <a:cs typeface="Courier New"/>
                        </a:rPr>
                        <a:t>tuple2</a:t>
                      </a:r>
                      <a:r>
                        <a:rPr sz="1600" b="1" spc="30" dirty="0">
                          <a:solidFill>
                            <a:srgbClr val="231F20"/>
                          </a:solidFill>
                          <a:latin typeface="Courier New"/>
                          <a:cs typeface="Courier New"/>
                        </a:rPr>
                        <a:t> </a:t>
                      </a:r>
                      <a:r>
                        <a:rPr sz="1600" b="1" dirty="0">
                          <a:solidFill>
                            <a:srgbClr val="231F20"/>
                          </a:solidFill>
                          <a:latin typeface="Courier New"/>
                          <a:cs typeface="Courier New"/>
                        </a:rPr>
                        <a:t>=</a:t>
                      </a:r>
                      <a:r>
                        <a:rPr sz="1600" b="1" spc="30" dirty="0">
                          <a:solidFill>
                            <a:srgbClr val="231F20"/>
                          </a:solidFill>
                          <a:latin typeface="Courier New"/>
                          <a:cs typeface="Courier New"/>
                        </a:rPr>
                        <a:t> </a:t>
                      </a:r>
                      <a:r>
                        <a:rPr sz="1600" b="1" dirty="0">
                          <a:solidFill>
                            <a:srgbClr val="231F20"/>
                          </a:solidFill>
                          <a:latin typeface="Courier New"/>
                          <a:cs typeface="Courier New"/>
                        </a:rPr>
                        <a:t>tuple([1,2,3])</a:t>
                      </a:r>
                      <a:r>
                        <a:rPr sz="1600" b="1" spc="35" dirty="0">
                          <a:solidFill>
                            <a:srgbClr val="231F20"/>
                          </a:solidFill>
                          <a:latin typeface="Courier New"/>
                          <a:cs typeface="Courier New"/>
                        </a:rPr>
                        <a:t> </a:t>
                      </a:r>
                      <a:r>
                        <a:rPr sz="1600" b="1" spc="-10" dirty="0">
                          <a:solidFill>
                            <a:srgbClr val="231F20"/>
                          </a:solidFill>
                          <a:latin typeface="Courier New"/>
                          <a:cs typeface="Courier New"/>
                        </a:rPr>
                        <a:t>#list</a:t>
                      </a:r>
                      <a:endParaRPr sz="1600" b="1">
                        <a:latin typeface="Courier New"/>
                        <a:cs typeface="Courier New"/>
                      </a:endParaRPr>
                    </a:p>
                  </a:txBody>
                  <a:tcPr marL="0" marR="0" marT="89535" marB="0">
                    <a:lnL w="6350">
                      <a:solidFill>
                        <a:srgbClr val="231F20"/>
                      </a:solidFill>
                      <a:prstDash val="solid"/>
                    </a:lnL>
                    <a:lnR w="6350">
                      <a:solidFill>
                        <a:srgbClr val="231F20"/>
                      </a:solidFill>
                      <a:prstDash val="solid"/>
                    </a:lnR>
                  </a:tcPr>
                </a:tc>
                <a:tc hMerge="1">
                  <a:txBody>
                    <a:bodyPr/>
                    <a:lstStyle/>
                    <a:p>
                      <a:endParaRPr/>
                    </a:p>
                  </a:txBody>
                  <a:tcPr marL="0" marR="0" marT="0" marB="0"/>
                </a:tc>
              </a:tr>
              <a:tr h="182245">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tcPr>
                </a:tc>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tcPr>
                </a:tc>
                <a:tc gridSpan="2">
                  <a:txBody>
                    <a:bodyPr/>
                    <a:lstStyle/>
                    <a:p>
                      <a:pPr marL="68580">
                        <a:lnSpc>
                          <a:spcPts val="1185"/>
                        </a:lnSpc>
                      </a:pPr>
                      <a:r>
                        <a:rPr sz="1600" b="1" dirty="0">
                          <a:solidFill>
                            <a:srgbClr val="231F20"/>
                          </a:solidFill>
                          <a:latin typeface="Courier New"/>
                          <a:cs typeface="Courier New"/>
                        </a:rPr>
                        <a:t>&gt;&gt;&gt;</a:t>
                      </a:r>
                      <a:r>
                        <a:rPr sz="1600" b="1" spc="200" dirty="0">
                          <a:solidFill>
                            <a:srgbClr val="231F20"/>
                          </a:solidFill>
                          <a:latin typeface="Courier New"/>
                          <a:cs typeface="Courier New"/>
                        </a:rPr>
                        <a:t> </a:t>
                      </a:r>
                      <a:r>
                        <a:rPr sz="1600" b="1" spc="-10" dirty="0">
                          <a:solidFill>
                            <a:srgbClr val="231F20"/>
                          </a:solidFill>
                          <a:latin typeface="Courier New"/>
                          <a:cs typeface="Courier New"/>
                        </a:rPr>
                        <a:t>tuple2</a:t>
                      </a:r>
                      <a:endParaRPr sz="1600" b="1">
                        <a:latin typeface="Courier New"/>
                        <a:cs typeface="Courier New"/>
                      </a:endParaRPr>
                    </a:p>
                  </a:txBody>
                  <a:tcPr marL="0" marR="0" marT="0" marB="0">
                    <a:lnL w="6350">
                      <a:solidFill>
                        <a:srgbClr val="231F20"/>
                      </a:solidFill>
                      <a:prstDash val="solid"/>
                    </a:lnL>
                    <a:lnR w="6350">
                      <a:solidFill>
                        <a:srgbClr val="231F20"/>
                      </a:solidFill>
                      <a:prstDash val="solid"/>
                    </a:lnR>
                  </a:tcPr>
                </a:tc>
                <a:tc hMerge="1">
                  <a:txBody>
                    <a:bodyPr/>
                    <a:lstStyle/>
                    <a:p>
                      <a:endParaRPr/>
                    </a:p>
                  </a:txBody>
                  <a:tcPr marL="0" marR="0" marT="0" marB="0"/>
                </a:tc>
              </a:tr>
              <a:tr h="274320">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tcPr>
                </a:tc>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tcPr>
                </a:tc>
                <a:tc gridSpan="2">
                  <a:txBody>
                    <a:bodyPr/>
                    <a:lstStyle/>
                    <a:p>
                      <a:pPr marL="68580">
                        <a:lnSpc>
                          <a:spcPts val="1185"/>
                        </a:lnSpc>
                      </a:pPr>
                      <a:r>
                        <a:rPr sz="1600" b="1" dirty="0">
                          <a:solidFill>
                            <a:srgbClr val="231F20"/>
                          </a:solidFill>
                          <a:latin typeface="Courier New"/>
                          <a:cs typeface="Courier New"/>
                        </a:rPr>
                        <a:t>(1,</a:t>
                      </a:r>
                      <a:r>
                        <a:rPr sz="1600" b="1" spc="170" dirty="0">
                          <a:solidFill>
                            <a:srgbClr val="231F20"/>
                          </a:solidFill>
                          <a:latin typeface="Courier New"/>
                          <a:cs typeface="Courier New"/>
                        </a:rPr>
                        <a:t> </a:t>
                      </a:r>
                      <a:r>
                        <a:rPr sz="1600" b="1" dirty="0">
                          <a:solidFill>
                            <a:srgbClr val="231F20"/>
                          </a:solidFill>
                          <a:latin typeface="Courier New"/>
                          <a:cs typeface="Courier New"/>
                        </a:rPr>
                        <a:t>2,</a:t>
                      </a:r>
                      <a:r>
                        <a:rPr sz="1600" b="1" spc="170" dirty="0">
                          <a:solidFill>
                            <a:srgbClr val="231F20"/>
                          </a:solidFill>
                          <a:latin typeface="Courier New"/>
                          <a:cs typeface="Courier New"/>
                        </a:rPr>
                        <a:t> </a:t>
                      </a:r>
                      <a:r>
                        <a:rPr sz="1600" b="1" spc="15" dirty="0">
                          <a:solidFill>
                            <a:srgbClr val="231F20"/>
                          </a:solidFill>
                          <a:latin typeface="Courier New"/>
                          <a:cs typeface="Courier New"/>
                        </a:rPr>
                        <a:t>3)</a:t>
                      </a:r>
                      <a:endParaRPr sz="1600" b="1">
                        <a:latin typeface="Courier New"/>
                        <a:cs typeface="Courier New"/>
                      </a:endParaRPr>
                    </a:p>
                  </a:txBody>
                  <a:tcPr marL="0" marR="0" marT="0" marB="0">
                    <a:lnL w="6350">
                      <a:solidFill>
                        <a:srgbClr val="231F20"/>
                      </a:solidFill>
                      <a:prstDash val="solid"/>
                    </a:lnL>
                    <a:lnR w="6350">
                      <a:solidFill>
                        <a:srgbClr val="231F20"/>
                      </a:solidFill>
                      <a:prstDash val="solid"/>
                    </a:lnR>
                  </a:tcPr>
                </a:tc>
                <a:tc hMerge="1">
                  <a:txBody>
                    <a:bodyPr/>
                    <a:lstStyle/>
                    <a:p>
                      <a:endParaRPr/>
                    </a:p>
                  </a:txBody>
                  <a:tcPr marL="0" marR="0" marT="0" marB="0"/>
                </a:tc>
              </a:tr>
              <a:tr h="273685">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tcPr>
                </a:tc>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tcPr>
                </a:tc>
                <a:tc gridSpan="2">
                  <a:txBody>
                    <a:bodyPr/>
                    <a:lstStyle/>
                    <a:p>
                      <a:pPr marL="68580">
                        <a:lnSpc>
                          <a:spcPct val="100000"/>
                        </a:lnSpc>
                        <a:spcBef>
                          <a:spcPts val="705"/>
                        </a:spcBef>
                      </a:pPr>
                      <a:r>
                        <a:rPr sz="1600" b="1" dirty="0">
                          <a:solidFill>
                            <a:srgbClr val="231F20"/>
                          </a:solidFill>
                          <a:latin typeface="Courier New"/>
                          <a:cs typeface="Courier New"/>
                        </a:rPr>
                        <a:t>&gt;&gt;&gt;</a:t>
                      </a:r>
                      <a:r>
                        <a:rPr sz="1600" b="1" spc="155" dirty="0">
                          <a:solidFill>
                            <a:srgbClr val="231F20"/>
                          </a:solidFill>
                          <a:latin typeface="Courier New"/>
                          <a:cs typeface="Courier New"/>
                        </a:rPr>
                        <a:t> </a:t>
                      </a:r>
                      <a:r>
                        <a:rPr sz="1600" b="1" dirty="0">
                          <a:solidFill>
                            <a:srgbClr val="231F20"/>
                          </a:solidFill>
                          <a:latin typeface="Courier New"/>
                          <a:cs typeface="Courier New"/>
                        </a:rPr>
                        <a:t>tuple3</a:t>
                      </a:r>
                      <a:r>
                        <a:rPr sz="1600" b="1" spc="40" dirty="0">
                          <a:solidFill>
                            <a:srgbClr val="231F20"/>
                          </a:solidFill>
                          <a:latin typeface="Courier New"/>
                          <a:cs typeface="Courier New"/>
                        </a:rPr>
                        <a:t> </a:t>
                      </a:r>
                      <a:r>
                        <a:rPr sz="1600" b="1" dirty="0">
                          <a:solidFill>
                            <a:srgbClr val="231F20"/>
                          </a:solidFill>
                          <a:latin typeface="Courier New"/>
                          <a:cs typeface="Courier New"/>
                        </a:rPr>
                        <a:t>=</a:t>
                      </a:r>
                      <a:r>
                        <a:rPr sz="1600" b="1" spc="45" dirty="0">
                          <a:solidFill>
                            <a:srgbClr val="231F20"/>
                          </a:solidFill>
                          <a:latin typeface="Courier New"/>
                          <a:cs typeface="Courier New"/>
                        </a:rPr>
                        <a:t> </a:t>
                      </a:r>
                      <a:r>
                        <a:rPr sz="1600" b="1" spc="-10" dirty="0">
                          <a:solidFill>
                            <a:srgbClr val="231F20"/>
                          </a:solidFill>
                          <a:latin typeface="Courier New"/>
                          <a:cs typeface="Courier New"/>
                        </a:rPr>
                        <a:t>tuple(range(5))</a:t>
                      </a:r>
                      <a:endParaRPr sz="1600" b="1">
                        <a:latin typeface="Courier New"/>
                        <a:cs typeface="Courier New"/>
                      </a:endParaRPr>
                    </a:p>
                  </a:txBody>
                  <a:tcPr marL="0" marR="0" marT="89535" marB="0">
                    <a:lnL w="6350">
                      <a:solidFill>
                        <a:srgbClr val="231F20"/>
                      </a:solidFill>
                      <a:prstDash val="solid"/>
                    </a:lnL>
                    <a:lnR w="6350">
                      <a:solidFill>
                        <a:srgbClr val="231F20"/>
                      </a:solidFill>
                      <a:prstDash val="solid"/>
                    </a:lnR>
                  </a:tcPr>
                </a:tc>
                <a:tc hMerge="1">
                  <a:txBody>
                    <a:bodyPr/>
                    <a:lstStyle/>
                    <a:p>
                      <a:endParaRPr/>
                    </a:p>
                  </a:txBody>
                  <a:tcPr marL="0" marR="0" marT="0" marB="0"/>
                </a:tc>
              </a:tr>
              <a:tr h="182880">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tcPr>
                </a:tc>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tcPr>
                </a:tc>
                <a:tc gridSpan="2">
                  <a:txBody>
                    <a:bodyPr/>
                    <a:lstStyle/>
                    <a:p>
                      <a:pPr marL="68580">
                        <a:lnSpc>
                          <a:spcPts val="1185"/>
                        </a:lnSpc>
                      </a:pPr>
                      <a:r>
                        <a:rPr sz="1600" b="1" dirty="0">
                          <a:solidFill>
                            <a:srgbClr val="231F20"/>
                          </a:solidFill>
                          <a:latin typeface="Courier New"/>
                          <a:cs typeface="Courier New"/>
                        </a:rPr>
                        <a:t>&gt;&gt;&gt;</a:t>
                      </a:r>
                      <a:r>
                        <a:rPr sz="1600" b="1" spc="200" dirty="0">
                          <a:solidFill>
                            <a:srgbClr val="231F20"/>
                          </a:solidFill>
                          <a:latin typeface="Courier New"/>
                          <a:cs typeface="Courier New"/>
                        </a:rPr>
                        <a:t> </a:t>
                      </a:r>
                      <a:r>
                        <a:rPr sz="1600" b="1" spc="-10" dirty="0">
                          <a:solidFill>
                            <a:srgbClr val="231F20"/>
                          </a:solidFill>
                          <a:latin typeface="Courier New"/>
                          <a:cs typeface="Courier New"/>
                        </a:rPr>
                        <a:t>tuple3</a:t>
                      </a:r>
                      <a:endParaRPr sz="1600" b="1">
                        <a:latin typeface="Courier New"/>
                        <a:cs typeface="Courier New"/>
                      </a:endParaRPr>
                    </a:p>
                  </a:txBody>
                  <a:tcPr marL="0" marR="0" marT="0" marB="0">
                    <a:lnL w="6350">
                      <a:solidFill>
                        <a:srgbClr val="231F20"/>
                      </a:solidFill>
                      <a:prstDash val="solid"/>
                    </a:lnL>
                    <a:lnR w="6350">
                      <a:solidFill>
                        <a:srgbClr val="231F20"/>
                      </a:solidFill>
                      <a:prstDash val="solid"/>
                    </a:lnR>
                  </a:tcPr>
                </a:tc>
                <a:tc hMerge="1">
                  <a:txBody>
                    <a:bodyPr/>
                    <a:lstStyle/>
                    <a:p>
                      <a:endParaRPr/>
                    </a:p>
                  </a:txBody>
                  <a:tcPr marL="0" marR="0" marT="0" marB="0"/>
                </a:tc>
              </a:tr>
              <a:tr h="191135">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lnB w="6350">
                      <a:solidFill>
                        <a:srgbClr val="231F20"/>
                      </a:solidFill>
                      <a:prstDash val="solid"/>
                    </a:lnB>
                  </a:tcPr>
                </a:tc>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lnB w="6350">
                      <a:solidFill>
                        <a:srgbClr val="231F20"/>
                      </a:solidFill>
                      <a:prstDash val="solid"/>
                    </a:lnB>
                  </a:tcPr>
                </a:tc>
                <a:tc gridSpan="2">
                  <a:txBody>
                    <a:bodyPr/>
                    <a:lstStyle/>
                    <a:p>
                      <a:pPr marL="68580">
                        <a:lnSpc>
                          <a:spcPts val="1185"/>
                        </a:lnSpc>
                      </a:pPr>
                      <a:r>
                        <a:rPr sz="1600" b="1" dirty="0">
                          <a:solidFill>
                            <a:srgbClr val="231F20"/>
                          </a:solidFill>
                          <a:latin typeface="Courier New"/>
                          <a:cs typeface="Courier New"/>
                        </a:rPr>
                        <a:t>(0,</a:t>
                      </a:r>
                      <a:r>
                        <a:rPr sz="1600" b="1" spc="155" dirty="0">
                          <a:solidFill>
                            <a:srgbClr val="231F20"/>
                          </a:solidFill>
                          <a:latin typeface="Courier New"/>
                          <a:cs typeface="Courier New"/>
                        </a:rPr>
                        <a:t> </a:t>
                      </a:r>
                      <a:r>
                        <a:rPr sz="1600" b="1" dirty="0">
                          <a:solidFill>
                            <a:srgbClr val="231F20"/>
                          </a:solidFill>
                          <a:latin typeface="Courier New"/>
                          <a:cs typeface="Courier New"/>
                        </a:rPr>
                        <a:t>1,</a:t>
                      </a:r>
                      <a:r>
                        <a:rPr sz="1600" b="1" spc="160" dirty="0">
                          <a:solidFill>
                            <a:srgbClr val="231F20"/>
                          </a:solidFill>
                          <a:latin typeface="Courier New"/>
                          <a:cs typeface="Courier New"/>
                        </a:rPr>
                        <a:t> </a:t>
                      </a:r>
                      <a:r>
                        <a:rPr sz="1600" b="1" dirty="0">
                          <a:solidFill>
                            <a:srgbClr val="231F20"/>
                          </a:solidFill>
                          <a:latin typeface="Courier New"/>
                          <a:cs typeface="Courier New"/>
                        </a:rPr>
                        <a:t>2,</a:t>
                      </a:r>
                      <a:r>
                        <a:rPr sz="1600" b="1" spc="155" dirty="0">
                          <a:solidFill>
                            <a:srgbClr val="231F20"/>
                          </a:solidFill>
                          <a:latin typeface="Courier New"/>
                          <a:cs typeface="Courier New"/>
                        </a:rPr>
                        <a:t> </a:t>
                      </a:r>
                      <a:r>
                        <a:rPr sz="1600" b="1" dirty="0">
                          <a:solidFill>
                            <a:srgbClr val="231F20"/>
                          </a:solidFill>
                          <a:latin typeface="Courier New"/>
                          <a:cs typeface="Courier New"/>
                        </a:rPr>
                        <a:t>3,</a:t>
                      </a:r>
                      <a:r>
                        <a:rPr sz="1600" b="1" spc="160" dirty="0">
                          <a:solidFill>
                            <a:srgbClr val="231F20"/>
                          </a:solidFill>
                          <a:latin typeface="Courier New"/>
                          <a:cs typeface="Courier New"/>
                        </a:rPr>
                        <a:t> </a:t>
                      </a:r>
                      <a:r>
                        <a:rPr sz="1600" b="1" spc="25" dirty="0">
                          <a:solidFill>
                            <a:srgbClr val="231F20"/>
                          </a:solidFill>
                          <a:latin typeface="Courier New"/>
                          <a:cs typeface="Courier New"/>
                        </a:rPr>
                        <a:t>4)</a:t>
                      </a:r>
                      <a:endParaRPr sz="1600" b="1">
                        <a:latin typeface="Courier New"/>
                        <a:cs typeface="Courier New"/>
                      </a:endParaRPr>
                    </a:p>
                  </a:txBody>
                  <a:tcPr marL="0" marR="0" marT="0" marB="0">
                    <a:lnL w="6350">
                      <a:solidFill>
                        <a:srgbClr val="231F20"/>
                      </a:solidFill>
                      <a:prstDash val="solid"/>
                    </a:lnL>
                    <a:lnR w="6350">
                      <a:solidFill>
                        <a:srgbClr val="231F20"/>
                      </a:solidFill>
                      <a:prstDash val="solid"/>
                    </a:lnR>
                    <a:lnB w="6350">
                      <a:solidFill>
                        <a:srgbClr val="231F20"/>
                      </a:solidFill>
                      <a:prstDash val="solid"/>
                    </a:lnB>
                  </a:tcPr>
                </a:tc>
                <a:tc hMerge="1">
                  <a:txBody>
                    <a:bodyPr/>
                    <a:lstStyle/>
                    <a:p>
                      <a:endParaRPr/>
                    </a:p>
                  </a:txBody>
                  <a:tcPr marL="0" marR="0" marT="0" marB="0"/>
                </a:tc>
              </a:tr>
              <a:tr h="183515">
                <a:tc>
                  <a:txBody>
                    <a:bodyPr/>
                    <a:lstStyle/>
                    <a:p>
                      <a:pPr marL="67945">
                        <a:lnSpc>
                          <a:spcPct val="100000"/>
                        </a:lnSpc>
                        <a:spcBef>
                          <a:spcPts val="180"/>
                        </a:spcBef>
                      </a:pPr>
                      <a:r>
                        <a:rPr sz="1600" b="1" spc="-10" dirty="0">
                          <a:solidFill>
                            <a:srgbClr val="231F20"/>
                          </a:solidFill>
                          <a:latin typeface="Cambria"/>
                          <a:cs typeface="Cambria"/>
                        </a:rPr>
                        <a:t>count()</a:t>
                      </a:r>
                      <a:endParaRPr sz="1600" b="1">
                        <a:latin typeface="Cambria"/>
                        <a:cs typeface="Cambria"/>
                      </a:endParaRPr>
                    </a:p>
                  </a:txBody>
                  <a:tcPr marL="0" marR="0" marT="22860" marB="0">
                    <a:lnL w="6350">
                      <a:solidFill>
                        <a:srgbClr val="231F20"/>
                      </a:solidFill>
                      <a:prstDash val="solid"/>
                    </a:lnL>
                    <a:lnR w="6350">
                      <a:solidFill>
                        <a:srgbClr val="231F20"/>
                      </a:solidFill>
                      <a:prstDash val="solid"/>
                    </a:lnR>
                    <a:lnT w="6350">
                      <a:solidFill>
                        <a:srgbClr val="231F20"/>
                      </a:solidFill>
                      <a:prstDash val="solid"/>
                    </a:lnT>
                  </a:tcPr>
                </a:tc>
                <a:tc>
                  <a:txBody>
                    <a:bodyPr/>
                    <a:lstStyle/>
                    <a:p>
                      <a:pPr marL="67945">
                        <a:lnSpc>
                          <a:spcPct val="100000"/>
                        </a:lnSpc>
                        <a:spcBef>
                          <a:spcPts val="180"/>
                        </a:spcBef>
                      </a:pPr>
                      <a:r>
                        <a:rPr sz="1600" b="1" spc="65" dirty="0">
                          <a:solidFill>
                            <a:srgbClr val="231F20"/>
                          </a:solidFill>
                          <a:latin typeface="Cambria"/>
                          <a:cs typeface="Cambria"/>
                        </a:rPr>
                        <a:t>Returns</a:t>
                      </a:r>
                      <a:r>
                        <a:rPr sz="1600" b="1" spc="155" dirty="0">
                          <a:solidFill>
                            <a:srgbClr val="231F20"/>
                          </a:solidFill>
                          <a:latin typeface="Cambria"/>
                          <a:cs typeface="Cambria"/>
                        </a:rPr>
                        <a:t>  </a:t>
                      </a:r>
                      <a:r>
                        <a:rPr sz="1600" b="1" spc="50" dirty="0">
                          <a:solidFill>
                            <a:srgbClr val="231F20"/>
                          </a:solidFill>
                          <a:latin typeface="Cambria"/>
                          <a:cs typeface="Cambria"/>
                        </a:rPr>
                        <a:t>the</a:t>
                      </a:r>
                      <a:r>
                        <a:rPr sz="1600" b="1" spc="155" dirty="0">
                          <a:solidFill>
                            <a:srgbClr val="231F20"/>
                          </a:solidFill>
                          <a:latin typeface="Cambria"/>
                          <a:cs typeface="Cambria"/>
                        </a:rPr>
                        <a:t>  </a:t>
                      </a:r>
                      <a:r>
                        <a:rPr sz="1600" b="1" spc="75" dirty="0">
                          <a:solidFill>
                            <a:srgbClr val="231F20"/>
                          </a:solidFill>
                          <a:latin typeface="Cambria"/>
                          <a:cs typeface="Cambria"/>
                        </a:rPr>
                        <a:t>number</a:t>
                      </a:r>
                      <a:r>
                        <a:rPr sz="1600" b="1" spc="155" dirty="0">
                          <a:solidFill>
                            <a:srgbClr val="231F20"/>
                          </a:solidFill>
                          <a:latin typeface="Cambria"/>
                          <a:cs typeface="Cambria"/>
                        </a:rPr>
                        <a:t>  </a:t>
                      </a:r>
                      <a:r>
                        <a:rPr sz="1600" b="1" dirty="0">
                          <a:solidFill>
                            <a:srgbClr val="231F20"/>
                          </a:solidFill>
                          <a:latin typeface="Cambria"/>
                          <a:cs typeface="Cambria"/>
                        </a:rPr>
                        <a:t>of</a:t>
                      </a:r>
                      <a:r>
                        <a:rPr sz="1600" b="1" spc="160" dirty="0">
                          <a:solidFill>
                            <a:srgbClr val="231F20"/>
                          </a:solidFill>
                          <a:latin typeface="Cambria"/>
                          <a:cs typeface="Cambria"/>
                        </a:rPr>
                        <a:t>  </a:t>
                      </a:r>
                      <a:r>
                        <a:rPr sz="1600" b="1" spc="50" dirty="0">
                          <a:solidFill>
                            <a:srgbClr val="231F20"/>
                          </a:solidFill>
                          <a:latin typeface="Cambria"/>
                          <a:cs typeface="Cambria"/>
                        </a:rPr>
                        <a:t>times</a:t>
                      </a:r>
                      <a:r>
                        <a:rPr sz="1600" b="1" spc="155" dirty="0">
                          <a:solidFill>
                            <a:srgbClr val="231F20"/>
                          </a:solidFill>
                          <a:latin typeface="Cambria"/>
                          <a:cs typeface="Cambria"/>
                        </a:rPr>
                        <a:t>  </a:t>
                      </a:r>
                      <a:r>
                        <a:rPr sz="1600" b="1" spc="25" dirty="0">
                          <a:solidFill>
                            <a:srgbClr val="231F20"/>
                          </a:solidFill>
                          <a:latin typeface="Cambria"/>
                          <a:cs typeface="Cambria"/>
                        </a:rPr>
                        <a:t>the</a:t>
                      </a:r>
                      <a:endParaRPr sz="1600" b="1">
                        <a:latin typeface="Cambria"/>
                        <a:cs typeface="Cambria"/>
                      </a:endParaRPr>
                    </a:p>
                  </a:txBody>
                  <a:tcPr marL="0" marR="0" marT="22860" marB="0">
                    <a:lnL w="6350">
                      <a:solidFill>
                        <a:srgbClr val="231F20"/>
                      </a:solidFill>
                      <a:prstDash val="solid"/>
                    </a:lnL>
                    <a:lnR w="6350">
                      <a:solidFill>
                        <a:srgbClr val="231F20"/>
                      </a:solidFill>
                      <a:prstDash val="solid"/>
                    </a:lnR>
                    <a:lnT w="6350">
                      <a:solidFill>
                        <a:srgbClr val="231F20"/>
                      </a:solidFill>
                      <a:prstDash val="solid"/>
                    </a:lnT>
                  </a:tcPr>
                </a:tc>
                <a:tc>
                  <a:txBody>
                    <a:bodyPr/>
                    <a:lstStyle/>
                    <a:p>
                      <a:pPr marL="68580">
                        <a:lnSpc>
                          <a:spcPct val="100000"/>
                        </a:lnSpc>
                        <a:spcBef>
                          <a:spcPts val="60"/>
                        </a:spcBef>
                      </a:pPr>
                      <a:r>
                        <a:rPr sz="1600" b="1" spc="-25" dirty="0">
                          <a:solidFill>
                            <a:srgbClr val="231F20"/>
                          </a:solidFill>
                          <a:latin typeface="Courier New"/>
                          <a:cs typeface="Courier New"/>
                        </a:rPr>
                        <a:t>&gt;&gt;&gt;</a:t>
                      </a:r>
                      <a:endParaRPr sz="1600" b="1">
                        <a:latin typeface="Courier New"/>
                        <a:cs typeface="Courier New"/>
                      </a:endParaRPr>
                    </a:p>
                  </a:txBody>
                  <a:tcPr marL="0" marR="0" marT="7620" marB="0">
                    <a:lnL w="6350">
                      <a:solidFill>
                        <a:srgbClr val="231F20"/>
                      </a:solidFill>
                      <a:prstDash val="solid"/>
                    </a:lnL>
                    <a:lnT w="6350">
                      <a:solidFill>
                        <a:srgbClr val="231F20"/>
                      </a:solidFill>
                      <a:prstDash val="solid"/>
                    </a:lnT>
                  </a:tcPr>
                </a:tc>
                <a:tc>
                  <a:txBody>
                    <a:bodyPr/>
                    <a:lstStyle/>
                    <a:p>
                      <a:pPr marL="44450">
                        <a:lnSpc>
                          <a:spcPct val="100000"/>
                        </a:lnSpc>
                        <a:spcBef>
                          <a:spcPts val="60"/>
                        </a:spcBef>
                      </a:pPr>
                      <a:r>
                        <a:rPr sz="1600" b="1" dirty="0">
                          <a:solidFill>
                            <a:srgbClr val="231F20"/>
                          </a:solidFill>
                          <a:latin typeface="Courier New"/>
                          <a:cs typeface="Courier New"/>
                        </a:rPr>
                        <a:t>tuple1</a:t>
                      </a:r>
                      <a:r>
                        <a:rPr sz="1600" b="1" spc="20" dirty="0">
                          <a:solidFill>
                            <a:srgbClr val="231F20"/>
                          </a:solidFill>
                          <a:latin typeface="Courier New"/>
                          <a:cs typeface="Courier New"/>
                        </a:rPr>
                        <a:t> </a:t>
                      </a:r>
                      <a:r>
                        <a:rPr sz="1600" b="1" dirty="0">
                          <a:solidFill>
                            <a:srgbClr val="231F20"/>
                          </a:solidFill>
                          <a:latin typeface="Courier New"/>
                          <a:cs typeface="Courier New"/>
                        </a:rPr>
                        <a:t>=</a:t>
                      </a:r>
                      <a:r>
                        <a:rPr sz="1600" b="1" spc="20" dirty="0">
                          <a:solidFill>
                            <a:srgbClr val="231F20"/>
                          </a:solidFill>
                          <a:latin typeface="Courier New"/>
                          <a:cs typeface="Courier New"/>
                        </a:rPr>
                        <a:t> </a:t>
                      </a:r>
                      <a:r>
                        <a:rPr sz="1600" b="1" spc="-10" dirty="0">
                          <a:solidFill>
                            <a:srgbClr val="231F20"/>
                          </a:solidFill>
                          <a:latin typeface="Courier New"/>
                          <a:cs typeface="Courier New"/>
                        </a:rPr>
                        <a:t>(10,20,30,10,40,10,50)</a:t>
                      </a:r>
                      <a:endParaRPr sz="1600" b="1">
                        <a:latin typeface="Courier New"/>
                        <a:cs typeface="Courier New"/>
                      </a:endParaRPr>
                    </a:p>
                  </a:txBody>
                  <a:tcPr marL="0" marR="0" marT="7620" marB="0">
                    <a:lnR w="6350">
                      <a:solidFill>
                        <a:srgbClr val="231F20"/>
                      </a:solidFill>
                      <a:prstDash val="solid"/>
                    </a:lnR>
                    <a:lnT w="6350">
                      <a:solidFill>
                        <a:srgbClr val="231F20"/>
                      </a:solidFill>
                      <a:prstDash val="solid"/>
                    </a:lnT>
                  </a:tcPr>
                </a:tc>
              </a:tr>
              <a:tr h="191135">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tcPr>
                </a:tc>
                <a:tc>
                  <a:txBody>
                    <a:bodyPr/>
                    <a:lstStyle/>
                    <a:p>
                      <a:pPr marL="67945">
                        <a:lnSpc>
                          <a:spcPct val="100000"/>
                        </a:lnSpc>
                        <a:spcBef>
                          <a:spcPts val="30"/>
                        </a:spcBef>
                      </a:pPr>
                      <a:r>
                        <a:rPr sz="1600" b="1" spc="10" dirty="0">
                          <a:solidFill>
                            <a:srgbClr val="231F20"/>
                          </a:solidFill>
                          <a:latin typeface="Cambria"/>
                          <a:cs typeface="Cambria"/>
                        </a:rPr>
                        <a:t>given</a:t>
                      </a:r>
                      <a:r>
                        <a:rPr sz="1600" b="1" spc="165" dirty="0">
                          <a:solidFill>
                            <a:srgbClr val="231F20"/>
                          </a:solidFill>
                          <a:latin typeface="Cambria"/>
                          <a:cs typeface="Cambria"/>
                        </a:rPr>
                        <a:t> </a:t>
                      </a:r>
                      <a:r>
                        <a:rPr sz="1600" b="1" spc="10" dirty="0">
                          <a:solidFill>
                            <a:srgbClr val="231F20"/>
                          </a:solidFill>
                          <a:latin typeface="Cambria"/>
                          <a:cs typeface="Cambria"/>
                        </a:rPr>
                        <a:t>element</a:t>
                      </a:r>
                      <a:r>
                        <a:rPr sz="1600" b="1" spc="170" dirty="0">
                          <a:solidFill>
                            <a:srgbClr val="231F20"/>
                          </a:solidFill>
                          <a:latin typeface="Cambria"/>
                          <a:cs typeface="Cambria"/>
                        </a:rPr>
                        <a:t> </a:t>
                      </a:r>
                      <a:r>
                        <a:rPr sz="1600" b="1" spc="60" dirty="0">
                          <a:solidFill>
                            <a:srgbClr val="231F20"/>
                          </a:solidFill>
                          <a:latin typeface="Cambria"/>
                          <a:cs typeface="Cambria"/>
                        </a:rPr>
                        <a:t>appears</a:t>
                      </a:r>
                      <a:r>
                        <a:rPr sz="1600" b="1" spc="170" dirty="0">
                          <a:solidFill>
                            <a:srgbClr val="231F20"/>
                          </a:solidFill>
                          <a:latin typeface="Cambria"/>
                          <a:cs typeface="Cambria"/>
                        </a:rPr>
                        <a:t> </a:t>
                      </a:r>
                      <a:r>
                        <a:rPr sz="1600" b="1" spc="55" dirty="0">
                          <a:solidFill>
                            <a:srgbClr val="231F20"/>
                          </a:solidFill>
                          <a:latin typeface="Cambria"/>
                          <a:cs typeface="Cambria"/>
                        </a:rPr>
                        <a:t>in</a:t>
                      </a:r>
                      <a:r>
                        <a:rPr sz="1600" b="1" spc="170" dirty="0">
                          <a:solidFill>
                            <a:srgbClr val="231F20"/>
                          </a:solidFill>
                          <a:latin typeface="Cambria"/>
                          <a:cs typeface="Cambria"/>
                        </a:rPr>
                        <a:t> </a:t>
                      </a:r>
                      <a:r>
                        <a:rPr sz="1600" b="1" spc="50" dirty="0">
                          <a:solidFill>
                            <a:srgbClr val="231F20"/>
                          </a:solidFill>
                          <a:latin typeface="Cambria"/>
                          <a:cs typeface="Cambria"/>
                        </a:rPr>
                        <a:t>the</a:t>
                      </a:r>
                      <a:r>
                        <a:rPr sz="1600" b="1" spc="170" dirty="0">
                          <a:solidFill>
                            <a:srgbClr val="231F20"/>
                          </a:solidFill>
                          <a:latin typeface="Cambria"/>
                          <a:cs typeface="Cambria"/>
                        </a:rPr>
                        <a:t> </a:t>
                      </a:r>
                      <a:r>
                        <a:rPr sz="1600" b="1" spc="40" dirty="0">
                          <a:solidFill>
                            <a:srgbClr val="231F20"/>
                          </a:solidFill>
                          <a:latin typeface="Cambria"/>
                          <a:cs typeface="Cambria"/>
                        </a:rPr>
                        <a:t>tuple</a:t>
                      </a:r>
                      <a:endParaRPr sz="1600" b="1">
                        <a:latin typeface="Cambria"/>
                        <a:cs typeface="Cambria"/>
                      </a:endParaRPr>
                    </a:p>
                  </a:txBody>
                  <a:tcPr marL="0" marR="0" marT="3810" marB="0">
                    <a:lnL w="6350">
                      <a:solidFill>
                        <a:srgbClr val="231F20"/>
                      </a:solidFill>
                      <a:prstDash val="solid"/>
                    </a:lnL>
                    <a:lnR w="6350">
                      <a:solidFill>
                        <a:srgbClr val="231F20"/>
                      </a:solidFill>
                      <a:prstDash val="solid"/>
                    </a:lnR>
                  </a:tcPr>
                </a:tc>
                <a:tc>
                  <a:txBody>
                    <a:bodyPr/>
                    <a:lstStyle/>
                    <a:p>
                      <a:pPr marL="68580">
                        <a:lnSpc>
                          <a:spcPct val="100000"/>
                        </a:lnSpc>
                        <a:spcBef>
                          <a:spcPts val="50"/>
                        </a:spcBef>
                      </a:pPr>
                      <a:r>
                        <a:rPr sz="1600" b="1" spc="-25" dirty="0">
                          <a:solidFill>
                            <a:srgbClr val="231F20"/>
                          </a:solidFill>
                          <a:latin typeface="Courier New"/>
                          <a:cs typeface="Courier New"/>
                        </a:rPr>
                        <a:t>&gt;&gt;&gt;</a:t>
                      </a:r>
                      <a:endParaRPr sz="1600" b="1">
                        <a:latin typeface="Courier New"/>
                        <a:cs typeface="Courier New"/>
                      </a:endParaRPr>
                    </a:p>
                  </a:txBody>
                  <a:tcPr marL="0" marR="0" marT="6350" marB="0">
                    <a:lnL w="6350">
                      <a:solidFill>
                        <a:srgbClr val="231F20"/>
                      </a:solidFill>
                      <a:prstDash val="solid"/>
                    </a:lnL>
                  </a:tcPr>
                </a:tc>
                <a:tc>
                  <a:txBody>
                    <a:bodyPr/>
                    <a:lstStyle/>
                    <a:p>
                      <a:pPr marL="44450">
                        <a:lnSpc>
                          <a:spcPct val="100000"/>
                        </a:lnSpc>
                        <a:spcBef>
                          <a:spcPts val="50"/>
                        </a:spcBef>
                      </a:pPr>
                      <a:r>
                        <a:rPr sz="1600" b="1" spc="-10" dirty="0">
                          <a:solidFill>
                            <a:srgbClr val="231F20"/>
                          </a:solidFill>
                          <a:latin typeface="Courier New"/>
                          <a:cs typeface="Courier New"/>
                        </a:rPr>
                        <a:t>tuple1.count(10)</a:t>
                      </a:r>
                      <a:endParaRPr sz="1600" b="1">
                        <a:latin typeface="Courier New"/>
                        <a:cs typeface="Courier New"/>
                      </a:endParaRPr>
                    </a:p>
                  </a:txBody>
                  <a:tcPr marL="0" marR="0" marT="6350" marB="0">
                    <a:lnR w="6350">
                      <a:solidFill>
                        <a:srgbClr val="231F20"/>
                      </a:solidFill>
                      <a:prstDash val="solid"/>
                    </a:lnR>
                  </a:tcPr>
                </a:tc>
              </a:tr>
              <a:tr h="182245">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tcPr>
                </a:tc>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tcPr>
                </a:tc>
                <a:tc>
                  <a:txBody>
                    <a:bodyPr/>
                    <a:lstStyle/>
                    <a:p>
                      <a:pPr marL="68580">
                        <a:lnSpc>
                          <a:spcPts val="1185"/>
                        </a:lnSpc>
                      </a:pPr>
                      <a:r>
                        <a:rPr sz="1600" b="1" spc="-50" dirty="0">
                          <a:solidFill>
                            <a:srgbClr val="231F20"/>
                          </a:solidFill>
                          <a:latin typeface="Courier New"/>
                          <a:cs typeface="Courier New"/>
                        </a:rPr>
                        <a:t>3</a:t>
                      </a:r>
                      <a:endParaRPr sz="1600" b="1">
                        <a:latin typeface="Courier New"/>
                        <a:cs typeface="Courier New"/>
                      </a:endParaRPr>
                    </a:p>
                  </a:txBody>
                  <a:tcPr marL="0" marR="0" marT="0" marB="0">
                    <a:lnL w="6350">
                      <a:solidFill>
                        <a:srgbClr val="231F20"/>
                      </a:solidFill>
                      <a:prstDash val="solid"/>
                    </a:lnL>
                  </a:tcPr>
                </a:tc>
                <a:tc>
                  <a:txBody>
                    <a:bodyPr/>
                    <a:lstStyle/>
                    <a:p>
                      <a:pPr>
                        <a:lnSpc>
                          <a:spcPct val="100000"/>
                        </a:lnSpc>
                      </a:pPr>
                      <a:endParaRPr sz="1600" b="1">
                        <a:latin typeface="Times New Roman"/>
                        <a:cs typeface="Times New Roman"/>
                      </a:endParaRPr>
                    </a:p>
                  </a:txBody>
                  <a:tcPr marL="0" marR="0" marT="0" marB="0">
                    <a:lnR w="6350">
                      <a:solidFill>
                        <a:srgbClr val="231F20"/>
                      </a:solidFill>
                      <a:prstDash val="solid"/>
                    </a:lnR>
                  </a:tcPr>
                </a:tc>
              </a:tr>
              <a:tr h="182880">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tcPr>
                </a:tc>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tcPr>
                </a:tc>
                <a:tc>
                  <a:txBody>
                    <a:bodyPr/>
                    <a:lstStyle/>
                    <a:p>
                      <a:pPr marL="68580">
                        <a:lnSpc>
                          <a:spcPts val="1185"/>
                        </a:lnSpc>
                      </a:pPr>
                      <a:r>
                        <a:rPr sz="1600" b="1" spc="-25" dirty="0">
                          <a:solidFill>
                            <a:srgbClr val="231F20"/>
                          </a:solidFill>
                          <a:latin typeface="Courier New"/>
                          <a:cs typeface="Courier New"/>
                        </a:rPr>
                        <a:t>&gt;&gt;&gt;</a:t>
                      </a:r>
                      <a:endParaRPr sz="1600" b="1">
                        <a:latin typeface="Courier New"/>
                        <a:cs typeface="Courier New"/>
                      </a:endParaRPr>
                    </a:p>
                  </a:txBody>
                  <a:tcPr marL="0" marR="0" marT="0" marB="0">
                    <a:lnL w="6350">
                      <a:solidFill>
                        <a:srgbClr val="231F20"/>
                      </a:solidFill>
                      <a:prstDash val="solid"/>
                    </a:lnL>
                  </a:tcPr>
                </a:tc>
                <a:tc>
                  <a:txBody>
                    <a:bodyPr/>
                    <a:lstStyle/>
                    <a:p>
                      <a:pPr marL="44450">
                        <a:lnSpc>
                          <a:spcPts val="1185"/>
                        </a:lnSpc>
                      </a:pPr>
                      <a:r>
                        <a:rPr sz="1600" b="1" spc="-10" dirty="0">
                          <a:solidFill>
                            <a:srgbClr val="231F20"/>
                          </a:solidFill>
                          <a:latin typeface="Courier New"/>
                          <a:cs typeface="Courier New"/>
                        </a:rPr>
                        <a:t>tuple1.count(90)</a:t>
                      </a:r>
                      <a:endParaRPr sz="1600" b="1">
                        <a:latin typeface="Courier New"/>
                        <a:cs typeface="Courier New"/>
                      </a:endParaRPr>
                    </a:p>
                  </a:txBody>
                  <a:tcPr marL="0" marR="0" marT="0" marB="0">
                    <a:lnR w="6350">
                      <a:solidFill>
                        <a:srgbClr val="231F20"/>
                      </a:solidFill>
                      <a:prstDash val="solid"/>
                    </a:lnR>
                  </a:tcPr>
                </a:tc>
              </a:tr>
              <a:tr h="184785">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lnB w="6350">
                      <a:solidFill>
                        <a:srgbClr val="231F20"/>
                      </a:solidFill>
                      <a:prstDash val="solid"/>
                    </a:lnB>
                  </a:tcPr>
                </a:tc>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lnB w="6350">
                      <a:solidFill>
                        <a:srgbClr val="231F20"/>
                      </a:solidFill>
                      <a:prstDash val="solid"/>
                    </a:lnB>
                  </a:tcPr>
                </a:tc>
                <a:tc>
                  <a:txBody>
                    <a:bodyPr/>
                    <a:lstStyle/>
                    <a:p>
                      <a:pPr marL="68580">
                        <a:lnSpc>
                          <a:spcPts val="1185"/>
                        </a:lnSpc>
                      </a:pPr>
                      <a:r>
                        <a:rPr sz="1600" b="1" spc="-50" dirty="0">
                          <a:solidFill>
                            <a:srgbClr val="231F20"/>
                          </a:solidFill>
                          <a:latin typeface="Courier New"/>
                          <a:cs typeface="Courier New"/>
                        </a:rPr>
                        <a:t>0</a:t>
                      </a:r>
                      <a:endParaRPr sz="1600" b="1">
                        <a:latin typeface="Courier New"/>
                        <a:cs typeface="Courier New"/>
                      </a:endParaRPr>
                    </a:p>
                  </a:txBody>
                  <a:tcPr marL="0" marR="0" marT="0" marB="0">
                    <a:lnL w="6350">
                      <a:solidFill>
                        <a:srgbClr val="231F20"/>
                      </a:solidFill>
                      <a:prstDash val="solid"/>
                    </a:lnL>
                    <a:lnB w="6350">
                      <a:solidFill>
                        <a:srgbClr val="231F20"/>
                      </a:solidFill>
                      <a:prstDash val="solid"/>
                    </a:lnB>
                  </a:tcPr>
                </a:tc>
                <a:tc>
                  <a:txBody>
                    <a:bodyPr/>
                    <a:lstStyle/>
                    <a:p>
                      <a:pPr>
                        <a:lnSpc>
                          <a:spcPct val="100000"/>
                        </a:lnSpc>
                      </a:pPr>
                      <a:endParaRPr sz="1600" b="1">
                        <a:latin typeface="Times New Roman"/>
                        <a:cs typeface="Times New Roman"/>
                      </a:endParaRPr>
                    </a:p>
                  </a:txBody>
                  <a:tcPr marL="0" marR="0" marT="0" marB="0">
                    <a:lnR w="6350">
                      <a:solidFill>
                        <a:srgbClr val="231F20"/>
                      </a:solidFill>
                      <a:prstDash val="solid"/>
                    </a:lnR>
                    <a:lnB w="6350">
                      <a:solidFill>
                        <a:srgbClr val="231F20"/>
                      </a:solidFill>
                      <a:prstDash val="solid"/>
                    </a:lnB>
                  </a:tcPr>
                </a:tc>
              </a:tr>
              <a:tr h="183515">
                <a:tc>
                  <a:txBody>
                    <a:bodyPr/>
                    <a:lstStyle/>
                    <a:p>
                      <a:pPr marL="67945">
                        <a:lnSpc>
                          <a:spcPct val="100000"/>
                        </a:lnSpc>
                        <a:spcBef>
                          <a:spcPts val="180"/>
                        </a:spcBef>
                      </a:pPr>
                      <a:r>
                        <a:rPr sz="1600" b="1" spc="-10" dirty="0">
                          <a:solidFill>
                            <a:srgbClr val="231F20"/>
                          </a:solidFill>
                          <a:latin typeface="Cambria"/>
                          <a:cs typeface="Cambria"/>
                        </a:rPr>
                        <a:t>index()</a:t>
                      </a:r>
                      <a:endParaRPr sz="1600" b="1">
                        <a:latin typeface="Cambria"/>
                        <a:cs typeface="Cambria"/>
                      </a:endParaRPr>
                    </a:p>
                  </a:txBody>
                  <a:tcPr marL="0" marR="0" marT="22860" marB="0">
                    <a:lnL w="6350">
                      <a:solidFill>
                        <a:srgbClr val="231F20"/>
                      </a:solidFill>
                      <a:prstDash val="solid"/>
                    </a:lnL>
                    <a:lnR w="6350">
                      <a:solidFill>
                        <a:srgbClr val="231F20"/>
                      </a:solidFill>
                      <a:prstDash val="solid"/>
                    </a:lnR>
                    <a:lnT w="6350">
                      <a:solidFill>
                        <a:srgbClr val="231F20"/>
                      </a:solidFill>
                      <a:prstDash val="solid"/>
                    </a:lnT>
                  </a:tcPr>
                </a:tc>
                <a:tc>
                  <a:txBody>
                    <a:bodyPr/>
                    <a:lstStyle/>
                    <a:p>
                      <a:pPr marL="67945" algn="l">
                        <a:lnSpc>
                          <a:spcPct val="100000"/>
                        </a:lnSpc>
                        <a:spcBef>
                          <a:spcPts val="180"/>
                        </a:spcBef>
                        <a:tabLst>
                          <a:tab pos="676910" algn="l"/>
                          <a:tab pos="1001394" algn="l"/>
                          <a:tab pos="1457960" algn="l"/>
                          <a:tab pos="1700530" algn="l"/>
                          <a:tab pos="2024380" algn="l"/>
                        </a:tabLst>
                      </a:pPr>
                      <a:r>
                        <a:rPr sz="1600" b="1" spc="55" dirty="0">
                          <a:solidFill>
                            <a:srgbClr val="231F20"/>
                          </a:solidFill>
                          <a:latin typeface="Cambria"/>
                          <a:cs typeface="Cambria"/>
                        </a:rPr>
                        <a:t>Returns</a:t>
                      </a:r>
                      <a:r>
                        <a:rPr sz="1600" b="1" dirty="0">
                          <a:solidFill>
                            <a:srgbClr val="231F20"/>
                          </a:solidFill>
                          <a:latin typeface="Cambria"/>
                          <a:cs typeface="Cambria"/>
                        </a:rPr>
                        <a:t>	</a:t>
                      </a:r>
                      <a:r>
                        <a:rPr sz="1600" b="1" spc="25" dirty="0">
                          <a:solidFill>
                            <a:srgbClr val="231F20"/>
                          </a:solidFill>
                          <a:latin typeface="Cambria"/>
                          <a:cs typeface="Cambria"/>
                        </a:rPr>
                        <a:t>the</a:t>
                      </a:r>
                      <a:r>
                        <a:rPr sz="1600" b="1" dirty="0">
                          <a:solidFill>
                            <a:srgbClr val="231F20"/>
                          </a:solidFill>
                          <a:latin typeface="Cambria"/>
                          <a:cs typeface="Cambria"/>
                        </a:rPr>
                        <a:t>	</a:t>
                      </a:r>
                      <a:r>
                        <a:rPr sz="1600" b="1" spc="-10" dirty="0">
                          <a:solidFill>
                            <a:srgbClr val="231F20"/>
                          </a:solidFill>
                          <a:latin typeface="Cambria"/>
                          <a:cs typeface="Cambria"/>
                        </a:rPr>
                        <a:t>index</a:t>
                      </a:r>
                      <a:r>
                        <a:rPr sz="1600" b="1" dirty="0">
                          <a:solidFill>
                            <a:srgbClr val="231F20"/>
                          </a:solidFill>
                          <a:latin typeface="Cambria"/>
                          <a:cs typeface="Cambria"/>
                        </a:rPr>
                        <a:t>	</a:t>
                      </a:r>
                      <a:r>
                        <a:rPr sz="1600" b="1" spc="-25" dirty="0">
                          <a:solidFill>
                            <a:srgbClr val="231F20"/>
                          </a:solidFill>
                          <a:latin typeface="Cambria"/>
                          <a:cs typeface="Cambria"/>
                        </a:rPr>
                        <a:t>of</a:t>
                      </a:r>
                      <a:r>
                        <a:rPr sz="1600" b="1" dirty="0">
                          <a:solidFill>
                            <a:srgbClr val="231F20"/>
                          </a:solidFill>
                          <a:latin typeface="Cambria"/>
                          <a:cs typeface="Cambria"/>
                        </a:rPr>
                        <a:t>	</a:t>
                      </a:r>
                      <a:r>
                        <a:rPr sz="1600" b="1" spc="25" dirty="0">
                          <a:solidFill>
                            <a:srgbClr val="231F20"/>
                          </a:solidFill>
                          <a:latin typeface="Cambria"/>
                          <a:cs typeface="Cambria"/>
                        </a:rPr>
                        <a:t>the</a:t>
                      </a:r>
                      <a:r>
                        <a:rPr sz="1600" b="1" dirty="0">
                          <a:solidFill>
                            <a:srgbClr val="231F20"/>
                          </a:solidFill>
                          <a:latin typeface="Cambria"/>
                          <a:cs typeface="Cambria"/>
                        </a:rPr>
                        <a:t>	</a:t>
                      </a:r>
                      <a:r>
                        <a:rPr sz="1600" b="1" spc="-10" dirty="0">
                          <a:solidFill>
                            <a:srgbClr val="231F20"/>
                          </a:solidFill>
                          <a:latin typeface="Cambria"/>
                          <a:cs typeface="Cambria"/>
                        </a:rPr>
                        <a:t>first</a:t>
                      </a:r>
                      <a:endParaRPr sz="1600" b="1">
                        <a:latin typeface="Cambria"/>
                        <a:cs typeface="Cambria"/>
                      </a:endParaRPr>
                    </a:p>
                  </a:txBody>
                  <a:tcPr marL="0" marR="0" marT="22860" marB="0">
                    <a:lnL w="6350">
                      <a:solidFill>
                        <a:srgbClr val="231F20"/>
                      </a:solidFill>
                      <a:prstDash val="solid"/>
                    </a:lnL>
                    <a:lnR w="6350">
                      <a:solidFill>
                        <a:srgbClr val="231F20"/>
                      </a:solidFill>
                      <a:prstDash val="solid"/>
                    </a:lnR>
                    <a:lnT w="6350">
                      <a:solidFill>
                        <a:srgbClr val="231F20"/>
                      </a:solidFill>
                      <a:prstDash val="solid"/>
                    </a:lnT>
                  </a:tcPr>
                </a:tc>
                <a:tc gridSpan="2">
                  <a:txBody>
                    <a:bodyPr/>
                    <a:lstStyle/>
                    <a:p>
                      <a:pPr marL="68580">
                        <a:lnSpc>
                          <a:spcPct val="100000"/>
                        </a:lnSpc>
                        <a:spcBef>
                          <a:spcPts val="60"/>
                        </a:spcBef>
                      </a:pPr>
                      <a:r>
                        <a:rPr sz="1600" b="1" dirty="0">
                          <a:solidFill>
                            <a:srgbClr val="231F20"/>
                          </a:solidFill>
                          <a:latin typeface="Courier New"/>
                          <a:cs typeface="Courier New"/>
                        </a:rPr>
                        <a:t>&gt;&gt;&gt;</a:t>
                      </a:r>
                      <a:r>
                        <a:rPr sz="1600" b="1" spc="155" dirty="0">
                          <a:solidFill>
                            <a:srgbClr val="231F20"/>
                          </a:solidFill>
                          <a:latin typeface="Courier New"/>
                          <a:cs typeface="Courier New"/>
                        </a:rPr>
                        <a:t> </a:t>
                      </a:r>
                      <a:r>
                        <a:rPr sz="1600" b="1" dirty="0">
                          <a:solidFill>
                            <a:srgbClr val="231F20"/>
                          </a:solidFill>
                          <a:latin typeface="Courier New"/>
                          <a:cs typeface="Courier New"/>
                        </a:rPr>
                        <a:t>tuple1</a:t>
                      </a:r>
                      <a:r>
                        <a:rPr sz="1600" b="1" spc="40" dirty="0">
                          <a:solidFill>
                            <a:srgbClr val="231F20"/>
                          </a:solidFill>
                          <a:latin typeface="Courier New"/>
                          <a:cs typeface="Courier New"/>
                        </a:rPr>
                        <a:t> </a:t>
                      </a:r>
                      <a:r>
                        <a:rPr sz="1600" b="1" dirty="0">
                          <a:solidFill>
                            <a:srgbClr val="231F20"/>
                          </a:solidFill>
                          <a:latin typeface="Courier New"/>
                          <a:cs typeface="Courier New"/>
                        </a:rPr>
                        <a:t>=</a:t>
                      </a:r>
                      <a:r>
                        <a:rPr sz="1600" b="1" spc="45" dirty="0">
                          <a:solidFill>
                            <a:srgbClr val="231F20"/>
                          </a:solidFill>
                          <a:latin typeface="Courier New"/>
                          <a:cs typeface="Courier New"/>
                        </a:rPr>
                        <a:t> </a:t>
                      </a:r>
                      <a:r>
                        <a:rPr sz="1600" b="1" spc="-10" dirty="0">
                          <a:solidFill>
                            <a:srgbClr val="231F20"/>
                          </a:solidFill>
                          <a:latin typeface="Courier New"/>
                          <a:cs typeface="Courier New"/>
                        </a:rPr>
                        <a:t>(10,20,30,40,50)</a:t>
                      </a:r>
                      <a:endParaRPr sz="1600" b="1">
                        <a:latin typeface="Courier New"/>
                        <a:cs typeface="Courier New"/>
                      </a:endParaRPr>
                    </a:p>
                  </a:txBody>
                  <a:tcPr marL="0" marR="0" marT="7620" marB="0">
                    <a:lnL w="6350">
                      <a:solidFill>
                        <a:srgbClr val="231F20"/>
                      </a:solidFill>
                      <a:prstDash val="solid"/>
                    </a:lnL>
                    <a:lnR w="6350">
                      <a:solidFill>
                        <a:srgbClr val="231F20"/>
                      </a:solidFill>
                      <a:prstDash val="solid"/>
                    </a:lnR>
                    <a:lnT w="6350">
                      <a:solidFill>
                        <a:srgbClr val="231F20"/>
                      </a:solidFill>
                      <a:prstDash val="solid"/>
                    </a:lnT>
                  </a:tcPr>
                </a:tc>
                <a:tc hMerge="1">
                  <a:txBody>
                    <a:bodyPr/>
                    <a:lstStyle/>
                    <a:p>
                      <a:endParaRPr/>
                    </a:p>
                  </a:txBody>
                  <a:tcPr marL="0" marR="0" marT="0" marB="0"/>
                </a:tc>
              </a:tr>
              <a:tr h="173355">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tcPr>
                </a:tc>
                <a:tc>
                  <a:txBody>
                    <a:bodyPr/>
                    <a:lstStyle/>
                    <a:p>
                      <a:pPr marL="67945" algn="l">
                        <a:lnSpc>
                          <a:spcPct val="100000"/>
                        </a:lnSpc>
                        <a:spcBef>
                          <a:spcPts val="30"/>
                        </a:spcBef>
                      </a:pPr>
                      <a:r>
                        <a:rPr sz="1600" b="1" spc="50" dirty="0">
                          <a:solidFill>
                            <a:srgbClr val="231F20"/>
                          </a:solidFill>
                          <a:latin typeface="Cambria"/>
                          <a:cs typeface="Cambria"/>
                        </a:rPr>
                        <a:t>occurrence</a:t>
                      </a:r>
                      <a:r>
                        <a:rPr sz="1600" b="1" spc="210" dirty="0">
                          <a:solidFill>
                            <a:srgbClr val="231F20"/>
                          </a:solidFill>
                          <a:latin typeface="Cambria"/>
                          <a:cs typeface="Cambria"/>
                        </a:rPr>
                        <a:t>  </a:t>
                      </a:r>
                      <a:r>
                        <a:rPr sz="1600" b="1" dirty="0">
                          <a:solidFill>
                            <a:srgbClr val="231F20"/>
                          </a:solidFill>
                          <a:latin typeface="Cambria"/>
                          <a:cs typeface="Cambria"/>
                        </a:rPr>
                        <a:t>of</a:t>
                      </a:r>
                      <a:r>
                        <a:rPr sz="1600" b="1" spc="215" dirty="0">
                          <a:solidFill>
                            <a:srgbClr val="231F20"/>
                          </a:solidFill>
                          <a:latin typeface="Cambria"/>
                          <a:cs typeface="Cambria"/>
                        </a:rPr>
                        <a:t>  </a:t>
                      </a:r>
                      <a:r>
                        <a:rPr sz="1600" b="1" spc="50" dirty="0">
                          <a:solidFill>
                            <a:srgbClr val="231F20"/>
                          </a:solidFill>
                          <a:latin typeface="Cambria"/>
                          <a:cs typeface="Cambria"/>
                        </a:rPr>
                        <a:t>the</a:t>
                      </a:r>
                      <a:r>
                        <a:rPr sz="1600" b="1" spc="215" dirty="0">
                          <a:solidFill>
                            <a:srgbClr val="231F20"/>
                          </a:solidFill>
                          <a:latin typeface="Cambria"/>
                          <a:cs typeface="Cambria"/>
                        </a:rPr>
                        <a:t>  </a:t>
                      </a:r>
                      <a:r>
                        <a:rPr sz="1600" b="1" dirty="0">
                          <a:solidFill>
                            <a:srgbClr val="231F20"/>
                          </a:solidFill>
                          <a:latin typeface="Cambria"/>
                          <a:cs typeface="Cambria"/>
                        </a:rPr>
                        <a:t>element</a:t>
                      </a:r>
                      <a:r>
                        <a:rPr sz="1600" b="1" spc="215" dirty="0">
                          <a:solidFill>
                            <a:srgbClr val="231F20"/>
                          </a:solidFill>
                          <a:latin typeface="Cambria"/>
                          <a:cs typeface="Cambria"/>
                        </a:rPr>
                        <a:t>  </a:t>
                      </a:r>
                      <a:r>
                        <a:rPr sz="1600" b="1" spc="55" dirty="0">
                          <a:solidFill>
                            <a:srgbClr val="231F20"/>
                          </a:solidFill>
                          <a:latin typeface="Cambria"/>
                          <a:cs typeface="Cambria"/>
                        </a:rPr>
                        <a:t>in</a:t>
                      </a:r>
                      <a:r>
                        <a:rPr sz="1600" b="1" spc="215" dirty="0">
                          <a:solidFill>
                            <a:srgbClr val="231F20"/>
                          </a:solidFill>
                          <a:latin typeface="Cambria"/>
                          <a:cs typeface="Cambria"/>
                        </a:rPr>
                        <a:t>  </a:t>
                      </a:r>
                      <a:r>
                        <a:rPr sz="1600" b="1" spc="25" dirty="0">
                          <a:solidFill>
                            <a:srgbClr val="231F20"/>
                          </a:solidFill>
                          <a:latin typeface="Cambria"/>
                          <a:cs typeface="Cambria"/>
                        </a:rPr>
                        <a:t>the</a:t>
                      </a:r>
                      <a:endParaRPr sz="1600" b="1">
                        <a:latin typeface="Cambria"/>
                        <a:cs typeface="Cambria"/>
                      </a:endParaRPr>
                    </a:p>
                  </a:txBody>
                  <a:tcPr marL="0" marR="0" marT="3810" marB="0">
                    <a:lnL w="6350">
                      <a:solidFill>
                        <a:srgbClr val="231F20"/>
                      </a:solidFill>
                      <a:prstDash val="solid"/>
                    </a:lnL>
                    <a:lnR w="6350">
                      <a:solidFill>
                        <a:srgbClr val="231F20"/>
                      </a:solidFill>
                      <a:prstDash val="solid"/>
                    </a:lnR>
                  </a:tcPr>
                </a:tc>
                <a:tc gridSpan="2">
                  <a:txBody>
                    <a:bodyPr/>
                    <a:lstStyle/>
                    <a:p>
                      <a:pPr marL="68580">
                        <a:lnSpc>
                          <a:spcPct val="100000"/>
                        </a:lnSpc>
                        <a:spcBef>
                          <a:spcPts val="50"/>
                        </a:spcBef>
                      </a:pPr>
                      <a:r>
                        <a:rPr sz="1600" b="1" dirty="0">
                          <a:solidFill>
                            <a:srgbClr val="231F20"/>
                          </a:solidFill>
                          <a:latin typeface="Courier New"/>
                          <a:cs typeface="Courier New"/>
                        </a:rPr>
                        <a:t>&gt;&gt;&gt;</a:t>
                      </a:r>
                      <a:r>
                        <a:rPr sz="1600" b="1" spc="200" dirty="0">
                          <a:solidFill>
                            <a:srgbClr val="231F20"/>
                          </a:solidFill>
                          <a:latin typeface="Courier New"/>
                          <a:cs typeface="Courier New"/>
                        </a:rPr>
                        <a:t> </a:t>
                      </a:r>
                      <a:r>
                        <a:rPr sz="1600" b="1" spc="-10" dirty="0">
                          <a:solidFill>
                            <a:srgbClr val="231F20"/>
                          </a:solidFill>
                          <a:latin typeface="Courier New"/>
                          <a:cs typeface="Courier New"/>
                        </a:rPr>
                        <a:t>tuple1.index(30)</a:t>
                      </a:r>
                      <a:endParaRPr sz="1600" b="1">
                        <a:latin typeface="Courier New"/>
                        <a:cs typeface="Courier New"/>
                      </a:endParaRPr>
                    </a:p>
                  </a:txBody>
                  <a:tcPr marL="0" marR="0" marT="6350" marB="0">
                    <a:lnL w="6350">
                      <a:solidFill>
                        <a:srgbClr val="231F20"/>
                      </a:solidFill>
                      <a:prstDash val="solid"/>
                    </a:lnL>
                    <a:lnR w="6350">
                      <a:solidFill>
                        <a:srgbClr val="231F20"/>
                      </a:solidFill>
                      <a:prstDash val="solid"/>
                    </a:lnR>
                  </a:tcPr>
                </a:tc>
                <a:tc hMerge="1">
                  <a:txBody>
                    <a:bodyPr/>
                    <a:lstStyle/>
                    <a:p>
                      <a:endParaRPr/>
                    </a:p>
                  </a:txBody>
                  <a:tcPr marL="0" marR="0" marT="0" marB="0"/>
                </a:tc>
              </a:tr>
              <a:tr h="200025">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tcPr>
                </a:tc>
                <a:tc>
                  <a:txBody>
                    <a:bodyPr/>
                    <a:lstStyle/>
                    <a:p>
                      <a:pPr marL="67945" algn="l">
                        <a:lnSpc>
                          <a:spcPts val="1100"/>
                        </a:lnSpc>
                      </a:pPr>
                      <a:r>
                        <a:rPr sz="1600" b="1" dirty="0">
                          <a:solidFill>
                            <a:srgbClr val="231F20"/>
                          </a:solidFill>
                          <a:latin typeface="Cambria"/>
                          <a:cs typeface="Cambria"/>
                        </a:rPr>
                        <a:t>given</a:t>
                      </a:r>
                      <a:r>
                        <a:rPr sz="1600" b="1" spc="265" dirty="0">
                          <a:solidFill>
                            <a:srgbClr val="231F20"/>
                          </a:solidFill>
                          <a:latin typeface="Cambria"/>
                          <a:cs typeface="Cambria"/>
                        </a:rPr>
                        <a:t> </a:t>
                      </a:r>
                      <a:r>
                        <a:rPr sz="1600" b="1" spc="30" dirty="0">
                          <a:solidFill>
                            <a:srgbClr val="231F20"/>
                          </a:solidFill>
                          <a:latin typeface="Cambria"/>
                          <a:cs typeface="Cambria"/>
                        </a:rPr>
                        <a:t>tuple</a:t>
                      </a:r>
                      <a:endParaRPr sz="1600" b="1">
                        <a:latin typeface="Cambria"/>
                        <a:cs typeface="Cambria"/>
                      </a:endParaRPr>
                    </a:p>
                  </a:txBody>
                  <a:tcPr marL="0" marR="0" marT="0" marB="0">
                    <a:lnL w="6350">
                      <a:solidFill>
                        <a:srgbClr val="231F20"/>
                      </a:solidFill>
                      <a:prstDash val="solid"/>
                    </a:lnL>
                    <a:lnR w="6350">
                      <a:solidFill>
                        <a:srgbClr val="231F20"/>
                      </a:solidFill>
                      <a:prstDash val="solid"/>
                    </a:lnR>
                  </a:tcPr>
                </a:tc>
                <a:tc gridSpan="2">
                  <a:txBody>
                    <a:bodyPr/>
                    <a:lstStyle/>
                    <a:p>
                      <a:pPr marL="68580">
                        <a:lnSpc>
                          <a:spcPct val="100000"/>
                        </a:lnSpc>
                        <a:spcBef>
                          <a:spcPts val="120"/>
                        </a:spcBef>
                      </a:pPr>
                      <a:r>
                        <a:rPr sz="1600" b="1" spc="-50" dirty="0">
                          <a:solidFill>
                            <a:srgbClr val="231F20"/>
                          </a:solidFill>
                          <a:latin typeface="Courier New"/>
                          <a:cs typeface="Courier New"/>
                        </a:rPr>
                        <a:t>2</a:t>
                      </a:r>
                      <a:endParaRPr sz="1600" b="1">
                        <a:latin typeface="Courier New"/>
                        <a:cs typeface="Courier New"/>
                      </a:endParaRPr>
                    </a:p>
                  </a:txBody>
                  <a:tcPr marL="0" marR="0" marT="15240" marB="0">
                    <a:lnL w="6350">
                      <a:solidFill>
                        <a:srgbClr val="231F20"/>
                      </a:solidFill>
                      <a:prstDash val="solid"/>
                    </a:lnL>
                    <a:lnR w="6350">
                      <a:solidFill>
                        <a:srgbClr val="231F20"/>
                      </a:solidFill>
                      <a:prstDash val="solid"/>
                    </a:lnR>
                  </a:tcPr>
                </a:tc>
                <a:tc hMerge="1">
                  <a:txBody>
                    <a:bodyPr/>
                    <a:lstStyle/>
                    <a:p>
                      <a:endParaRPr/>
                    </a:p>
                  </a:txBody>
                  <a:tcPr marL="0" marR="0" marT="0" marB="0"/>
                </a:tc>
              </a:tr>
              <a:tr h="182880">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tcPr>
                </a:tc>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tcPr>
                </a:tc>
                <a:tc gridSpan="2">
                  <a:txBody>
                    <a:bodyPr/>
                    <a:lstStyle/>
                    <a:p>
                      <a:pPr marL="68580">
                        <a:lnSpc>
                          <a:spcPts val="1185"/>
                        </a:lnSpc>
                      </a:pPr>
                      <a:r>
                        <a:rPr sz="1600" b="1" dirty="0">
                          <a:solidFill>
                            <a:srgbClr val="231F20"/>
                          </a:solidFill>
                          <a:latin typeface="Courier New"/>
                          <a:cs typeface="Courier New"/>
                        </a:rPr>
                        <a:t>&gt;&gt;&gt;</a:t>
                      </a:r>
                      <a:r>
                        <a:rPr sz="1600" b="1" spc="200" dirty="0">
                          <a:solidFill>
                            <a:srgbClr val="231F20"/>
                          </a:solidFill>
                          <a:latin typeface="Courier New"/>
                          <a:cs typeface="Courier New"/>
                        </a:rPr>
                        <a:t> </a:t>
                      </a:r>
                      <a:r>
                        <a:rPr sz="1600" b="1" spc="-10" dirty="0">
                          <a:solidFill>
                            <a:srgbClr val="231F20"/>
                          </a:solidFill>
                          <a:latin typeface="Courier New"/>
                          <a:cs typeface="Courier New"/>
                        </a:rPr>
                        <a:t>tuple1.index(90)</a:t>
                      </a:r>
                      <a:endParaRPr sz="1600" b="1">
                        <a:latin typeface="Courier New"/>
                        <a:cs typeface="Courier New"/>
                      </a:endParaRPr>
                    </a:p>
                  </a:txBody>
                  <a:tcPr marL="0" marR="0" marT="0" marB="0">
                    <a:lnL w="6350">
                      <a:solidFill>
                        <a:srgbClr val="231F20"/>
                      </a:solidFill>
                      <a:prstDash val="solid"/>
                    </a:lnL>
                    <a:lnR w="6350">
                      <a:solidFill>
                        <a:srgbClr val="231F20"/>
                      </a:solidFill>
                      <a:prstDash val="solid"/>
                    </a:lnR>
                  </a:tcPr>
                </a:tc>
                <a:tc hMerge="1">
                  <a:txBody>
                    <a:bodyPr/>
                    <a:lstStyle/>
                    <a:p>
                      <a:endParaRPr/>
                    </a:p>
                  </a:txBody>
                  <a:tcPr marL="0" marR="0" marT="0" marB="0"/>
                </a:tc>
              </a:tr>
              <a:tr h="297815">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tcPr>
                </a:tc>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tcPr>
                </a:tc>
                <a:tc gridSpan="2">
                  <a:txBody>
                    <a:bodyPr/>
                    <a:lstStyle/>
                    <a:p>
                      <a:pPr marL="68580">
                        <a:lnSpc>
                          <a:spcPts val="1185"/>
                        </a:lnSpc>
                      </a:pPr>
                      <a:r>
                        <a:rPr sz="1600" b="1" spc="45" dirty="0">
                          <a:solidFill>
                            <a:srgbClr val="231F20"/>
                          </a:solidFill>
                          <a:latin typeface="Courier New"/>
                          <a:cs typeface="Courier New"/>
                        </a:rPr>
                        <a:t>ValueError:</a:t>
                      </a:r>
                      <a:r>
                        <a:rPr sz="1600" b="1" spc="110" dirty="0">
                          <a:solidFill>
                            <a:srgbClr val="231F20"/>
                          </a:solidFill>
                          <a:latin typeface="Courier New"/>
                          <a:cs typeface="Courier New"/>
                        </a:rPr>
                        <a:t> </a:t>
                      </a:r>
                      <a:r>
                        <a:rPr sz="1600" b="1" dirty="0">
                          <a:solidFill>
                            <a:srgbClr val="231F20"/>
                          </a:solidFill>
                          <a:latin typeface="Courier New"/>
                          <a:cs typeface="Courier New"/>
                        </a:rPr>
                        <a:t>tuple.index(x):</a:t>
                      </a:r>
                      <a:r>
                        <a:rPr sz="1600" b="1" spc="10" dirty="0">
                          <a:solidFill>
                            <a:srgbClr val="231F20"/>
                          </a:solidFill>
                          <a:latin typeface="Courier New"/>
                          <a:cs typeface="Courier New"/>
                        </a:rPr>
                        <a:t> </a:t>
                      </a:r>
                      <a:r>
                        <a:rPr sz="1600" b="1" dirty="0">
                          <a:solidFill>
                            <a:srgbClr val="231F20"/>
                          </a:solidFill>
                          <a:latin typeface="Courier New"/>
                          <a:cs typeface="Courier New"/>
                        </a:rPr>
                        <a:t>x</a:t>
                      </a:r>
                      <a:r>
                        <a:rPr sz="1600" b="1" spc="15" dirty="0">
                          <a:solidFill>
                            <a:srgbClr val="231F20"/>
                          </a:solidFill>
                          <a:latin typeface="Courier New"/>
                          <a:cs typeface="Courier New"/>
                        </a:rPr>
                        <a:t> </a:t>
                      </a:r>
                      <a:r>
                        <a:rPr sz="1600" b="1" spc="-25" dirty="0">
                          <a:solidFill>
                            <a:srgbClr val="231F20"/>
                          </a:solidFill>
                          <a:latin typeface="Courier New"/>
                          <a:cs typeface="Courier New"/>
                        </a:rPr>
                        <a:t>not</a:t>
                      </a:r>
                      <a:endParaRPr sz="1600" b="1">
                        <a:latin typeface="Courier New"/>
                        <a:cs typeface="Courier New"/>
                      </a:endParaRPr>
                    </a:p>
                    <a:p>
                      <a:pPr marL="68580">
                        <a:lnSpc>
                          <a:spcPts val="1019"/>
                        </a:lnSpc>
                        <a:spcBef>
                          <a:spcPts val="40"/>
                        </a:spcBef>
                      </a:pPr>
                      <a:r>
                        <a:rPr sz="1600" b="1" dirty="0">
                          <a:solidFill>
                            <a:srgbClr val="231F20"/>
                          </a:solidFill>
                          <a:latin typeface="Courier New"/>
                          <a:cs typeface="Courier New"/>
                        </a:rPr>
                        <a:t>in</a:t>
                      </a:r>
                      <a:r>
                        <a:rPr sz="1600" b="1" spc="-5" dirty="0">
                          <a:solidFill>
                            <a:srgbClr val="231F20"/>
                          </a:solidFill>
                          <a:latin typeface="Courier New"/>
                          <a:cs typeface="Courier New"/>
                        </a:rPr>
                        <a:t> </a:t>
                      </a:r>
                      <a:r>
                        <a:rPr sz="1600" b="1" spc="-10" dirty="0">
                          <a:solidFill>
                            <a:srgbClr val="231F20"/>
                          </a:solidFill>
                          <a:latin typeface="Courier New"/>
                          <a:cs typeface="Courier New"/>
                        </a:rPr>
                        <a:t>tuple</a:t>
                      </a:r>
                      <a:endParaRPr sz="1600" b="1">
                        <a:latin typeface="Courier New"/>
                        <a:cs typeface="Courier New"/>
                      </a:endParaRPr>
                    </a:p>
                  </a:txBody>
                  <a:tcPr marL="0" marR="0" marT="0" marB="0">
                    <a:lnL w="6350">
                      <a:solidFill>
                        <a:srgbClr val="231F20"/>
                      </a:solidFill>
                      <a:prstDash val="solid"/>
                    </a:lnL>
                    <a:lnR w="6350">
                      <a:solidFill>
                        <a:srgbClr val="231F20"/>
                      </a:solidFill>
                      <a:prstDash val="solid"/>
                    </a:lnR>
                  </a:tcPr>
                </a:tc>
                <a:tc hMerge="1">
                  <a:txBody>
                    <a:bodyPr/>
                    <a:lstStyle/>
                    <a:p>
                      <a:endParaRPr/>
                    </a:p>
                  </a:txBody>
                  <a:tcPr marL="0" marR="0" marT="0" marB="0"/>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9"/>
          <p:cNvGraphicFramePr>
            <a:graphicFrameLocks noGrp="1"/>
          </p:cNvGraphicFramePr>
          <p:nvPr/>
        </p:nvGraphicFramePr>
        <p:xfrm>
          <a:off x="0" y="1190625"/>
          <a:ext cx="10452101" cy="3230118"/>
        </p:xfrm>
        <a:graphic>
          <a:graphicData uri="http://schemas.openxmlformats.org/drawingml/2006/table">
            <a:tbl>
              <a:tblPr firstRow="1" bandRow="1">
                <a:tableStyleId>{2D5ABB26-0587-4C30-8999-92F81FD0307C}</a:tableStyleId>
              </a:tblPr>
              <a:tblGrid>
                <a:gridCol w="1257827"/>
                <a:gridCol w="4049321"/>
                <a:gridCol w="616775"/>
                <a:gridCol w="4528178"/>
              </a:tblGrid>
              <a:tr h="1008380">
                <a:tc>
                  <a:txBody>
                    <a:bodyPr/>
                    <a:lstStyle/>
                    <a:p>
                      <a:pPr marL="68580">
                        <a:lnSpc>
                          <a:spcPct val="100000"/>
                        </a:lnSpc>
                        <a:spcBef>
                          <a:spcPts val="180"/>
                        </a:spcBef>
                      </a:pPr>
                      <a:r>
                        <a:rPr sz="1600" b="1" spc="-10" dirty="0">
                          <a:solidFill>
                            <a:srgbClr val="231F20"/>
                          </a:solidFill>
                          <a:latin typeface="Cambria"/>
                          <a:cs typeface="Cambria"/>
                        </a:rPr>
                        <a:t>sorted()</a:t>
                      </a:r>
                      <a:endParaRPr sz="1600" b="1">
                        <a:latin typeface="Cambria"/>
                        <a:cs typeface="Cambria"/>
                      </a:endParaRPr>
                    </a:p>
                  </a:txBody>
                  <a:tcPr marL="0" marR="0" marT="22860" marB="0">
                    <a:lnL w="6350">
                      <a:solidFill>
                        <a:srgbClr val="231F20"/>
                      </a:solidFill>
                      <a:prstDash val="solid"/>
                    </a:lnL>
                    <a:lnR w="6350">
                      <a:solidFill>
                        <a:srgbClr val="231F20"/>
                      </a:solidFill>
                      <a:prstDash val="solid"/>
                    </a:lnR>
                    <a:lnB w="6350">
                      <a:solidFill>
                        <a:srgbClr val="231F20"/>
                      </a:solidFill>
                      <a:prstDash val="solid"/>
                    </a:lnB>
                  </a:tcPr>
                </a:tc>
                <a:tc>
                  <a:txBody>
                    <a:bodyPr/>
                    <a:lstStyle/>
                    <a:p>
                      <a:pPr marL="67945" marR="60325" algn="just">
                        <a:lnSpc>
                          <a:spcPct val="113999"/>
                        </a:lnSpc>
                        <a:spcBef>
                          <a:spcPts val="20"/>
                        </a:spcBef>
                      </a:pPr>
                      <a:r>
                        <a:rPr sz="1600" b="1" spc="60" dirty="0">
                          <a:solidFill>
                            <a:srgbClr val="231F20"/>
                          </a:solidFill>
                          <a:latin typeface="Cambria"/>
                          <a:cs typeface="Cambria"/>
                        </a:rPr>
                        <a:t>Takes</a:t>
                      </a:r>
                      <a:r>
                        <a:rPr sz="1600" b="1" spc="180" dirty="0">
                          <a:solidFill>
                            <a:srgbClr val="231F20"/>
                          </a:solidFill>
                          <a:latin typeface="Cambria"/>
                          <a:cs typeface="Cambria"/>
                        </a:rPr>
                        <a:t>  </a:t>
                      </a:r>
                      <a:r>
                        <a:rPr sz="1600" b="1" spc="50" dirty="0">
                          <a:solidFill>
                            <a:srgbClr val="231F20"/>
                          </a:solidFill>
                          <a:latin typeface="Cambria"/>
                          <a:cs typeface="Cambria"/>
                        </a:rPr>
                        <a:t>elements</a:t>
                      </a:r>
                      <a:r>
                        <a:rPr sz="1600" b="1" spc="185" dirty="0">
                          <a:solidFill>
                            <a:srgbClr val="231F20"/>
                          </a:solidFill>
                          <a:latin typeface="Cambria"/>
                          <a:cs typeface="Cambria"/>
                        </a:rPr>
                        <a:t>  </a:t>
                      </a:r>
                      <a:r>
                        <a:rPr sz="1600" b="1" spc="55" dirty="0">
                          <a:solidFill>
                            <a:srgbClr val="231F20"/>
                          </a:solidFill>
                          <a:latin typeface="Cambria"/>
                          <a:cs typeface="Cambria"/>
                        </a:rPr>
                        <a:t>in</a:t>
                      </a:r>
                      <a:r>
                        <a:rPr sz="1600" b="1" spc="185" dirty="0">
                          <a:solidFill>
                            <a:srgbClr val="231F20"/>
                          </a:solidFill>
                          <a:latin typeface="Cambria"/>
                          <a:cs typeface="Cambria"/>
                        </a:rPr>
                        <a:t>  </a:t>
                      </a:r>
                      <a:r>
                        <a:rPr sz="1600" b="1" spc="50" dirty="0">
                          <a:solidFill>
                            <a:srgbClr val="231F20"/>
                          </a:solidFill>
                          <a:latin typeface="Cambria"/>
                          <a:cs typeface="Cambria"/>
                        </a:rPr>
                        <a:t>the</a:t>
                      </a:r>
                      <a:r>
                        <a:rPr sz="1600" b="1" spc="185" dirty="0">
                          <a:solidFill>
                            <a:srgbClr val="231F20"/>
                          </a:solidFill>
                          <a:latin typeface="Cambria"/>
                          <a:cs typeface="Cambria"/>
                        </a:rPr>
                        <a:t>  </a:t>
                      </a:r>
                      <a:r>
                        <a:rPr sz="1600" b="1" spc="50" dirty="0">
                          <a:solidFill>
                            <a:srgbClr val="231F20"/>
                          </a:solidFill>
                          <a:latin typeface="Cambria"/>
                          <a:cs typeface="Cambria"/>
                        </a:rPr>
                        <a:t>tuple</a:t>
                      </a:r>
                      <a:r>
                        <a:rPr sz="1600" b="1" spc="185" dirty="0">
                          <a:solidFill>
                            <a:srgbClr val="231F20"/>
                          </a:solidFill>
                          <a:latin typeface="Cambria"/>
                          <a:cs typeface="Cambria"/>
                        </a:rPr>
                        <a:t>  </a:t>
                      </a:r>
                      <a:r>
                        <a:rPr sz="1600" b="1" spc="25" dirty="0">
                          <a:solidFill>
                            <a:srgbClr val="231F20"/>
                          </a:solidFill>
                          <a:latin typeface="Cambria"/>
                          <a:cs typeface="Cambria"/>
                        </a:rPr>
                        <a:t>and </a:t>
                      </a:r>
                      <a:r>
                        <a:rPr sz="1600" b="1" spc="60" dirty="0">
                          <a:solidFill>
                            <a:srgbClr val="231F20"/>
                          </a:solidFill>
                          <a:latin typeface="Cambria"/>
                          <a:cs typeface="Cambria"/>
                        </a:rPr>
                        <a:t>returns</a:t>
                      </a:r>
                      <a:r>
                        <a:rPr sz="1600" b="1" spc="345" dirty="0">
                          <a:solidFill>
                            <a:srgbClr val="231F20"/>
                          </a:solidFill>
                          <a:latin typeface="Cambria"/>
                          <a:cs typeface="Cambria"/>
                        </a:rPr>
                        <a:t> </a:t>
                      </a:r>
                      <a:r>
                        <a:rPr sz="1600" b="1" spc="85" dirty="0">
                          <a:solidFill>
                            <a:srgbClr val="231F20"/>
                          </a:solidFill>
                          <a:latin typeface="Cambria"/>
                          <a:cs typeface="Cambria"/>
                        </a:rPr>
                        <a:t>a</a:t>
                      </a:r>
                      <a:r>
                        <a:rPr sz="1600" b="1" spc="345" dirty="0">
                          <a:solidFill>
                            <a:srgbClr val="231F20"/>
                          </a:solidFill>
                          <a:latin typeface="Cambria"/>
                          <a:cs typeface="Cambria"/>
                        </a:rPr>
                        <a:t> </a:t>
                      </a:r>
                      <a:r>
                        <a:rPr sz="1600" b="1" dirty="0">
                          <a:solidFill>
                            <a:srgbClr val="231F20"/>
                          </a:solidFill>
                          <a:latin typeface="Cambria"/>
                          <a:cs typeface="Cambria"/>
                        </a:rPr>
                        <a:t>new</a:t>
                      </a:r>
                      <a:r>
                        <a:rPr sz="1600" b="1" spc="345" dirty="0">
                          <a:solidFill>
                            <a:srgbClr val="231F20"/>
                          </a:solidFill>
                          <a:latin typeface="Cambria"/>
                          <a:cs typeface="Cambria"/>
                        </a:rPr>
                        <a:t> </a:t>
                      </a:r>
                      <a:r>
                        <a:rPr sz="1600" b="1" dirty="0">
                          <a:solidFill>
                            <a:srgbClr val="231F20"/>
                          </a:solidFill>
                          <a:latin typeface="Cambria"/>
                          <a:cs typeface="Cambria"/>
                        </a:rPr>
                        <a:t>sorted</a:t>
                      </a:r>
                      <a:r>
                        <a:rPr sz="1600" b="1" spc="345" dirty="0">
                          <a:solidFill>
                            <a:srgbClr val="231F20"/>
                          </a:solidFill>
                          <a:latin typeface="Cambria"/>
                          <a:cs typeface="Cambria"/>
                        </a:rPr>
                        <a:t> </a:t>
                      </a:r>
                      <a:r>
                        <a:rPr sz="1600" b="1" spc="50" dirty="0">
                          <a:solidFill>
                            <a:srgbClr val="231F20"/>
                          </a:solidFill>
                          <a:latin typeface="Cambria"/>
                          <a:cs typeface="Cambria"/>
                        </a:rPr>
                        <a:t>list.</a:t>
                      </a:r>
                      <a:r>
                        <a:rPr sz="1600" b="1" spc="345" dirty="0">
                          <a:solidFill>
                            <a:srgbClr val="231F20"/>
                          </a:solidFill>
                          <a:latin typeface="Cambria"/>
                          <a:cs typeface="Cambria"/>
                        </a:rPr>
                        <a:t> </a:t>
                      </a:r>
                      <a:r>
                        <a:rPr sz="1600" b="1" dirty="0">
                          <a:solidFill>
                            <a:srgbClr val="231F20"/>
                          </a:solidFill>
                          <a:latin typeface="Cambria"/>
                          <a:cs typeface="Cambria"/>
                        </a:rPr>
                        <a:t>It</a:t>
                      </a:r>
                      <a:r>
                        <a:rPr sz="1600" b="1" spc="345" dirty="0">
                          <a:solidFill>
                            <a:srgbClr val="231F20"/>
                          </a:solidFill>
                          <a:latin typeface="Cambria"/>
                          <a:cs typeface="Cambria"/>
                        </a:rPr>
                        <a:t> </a:t>
                      </a:r>
                      <a:r>
                        <a:rPr sz="1600" b="1" spc="50" dirty="0">
                          <a:solidFill>
                            <a:srgbClr val="231F20"/>
                          </a:solidFill>
                          <a:latin typeface="Cambria"/>
                          <a:cs typeface="Cambria"/>
                        </a:rPr>
                        <a:t>should </a:t>
                      </a:r>
                      <a:r>
                        <a:rPr sz="1600" b="1" dirty="0">
                          <a:solidFill>
                            <a:srgbClr val="231F20"/>
                          </a:solidFill>
                          <a:latin typeface="Cambria"/>
                          <a:cs typeface="Cambria"/>
                        </a:rPr>
                        <a:t>be</a:t>
                      </a:r>
                      <a:r>
                        <a:rPr sz="1600" b="1" spc="155" dirty="0">
                          <a:solidFill>
                            <a:srgbClr val="231F20"/>
                          </a:solidFill>
                          <a:latin typeface="Cambria"/>
                          <a:cs typeface="Cambria"/>
                        </a:rPr>
                        <a:t> </a:t>
                      </a:r>
                      <a:r>
                        <a:rPr sz="1600" b="1" dirty="0">
                          <a:solidFill>
                            <a:srgbClr val="231F20"/>
                          </a:solidFill>
                          <a:latin typeface="Cambria"/>
                          <a:cs typeface="Cambria"/>
                        </a:rPr>
                        <a:t>noted</a:t>
                      </a:r>
                      <a:r>
                        <a:rPr sz="1600" b="1" spc="160" dirty="0">
                          <a:solidFill>
                            <a:srgbClr val="231F20"/>
                          </a:solidFill>
                          <a:latin typeface="Cambria"/>
                          <a:cs typeface="Cambria"/>
                        </a:rPr>
                        <a:t> </a:t>
                      </a:r>
                      <a:r>
                        <a:rPr sz="1600" b="1" spc="65" dirty="0">
                          <a:solidFill>
                            <a:srgbClr val="231F20"/>
                          </a:solidFill>
                          <a:latin typeface="Cambria"/>
                          <a:cs typeface="Cambria"/>
                        </a:rPr>
                        <a:t>that,</a:t>
                      </a:r>
                      <a:r>
                        <a:rPr sz="1600" b="1" spc="160" dirty="0">
                          <a:solidFill>
                            <a:srgbClr val="231F20"/>
                          </a:solidFill>
                          <a:latin typeface="Cambria"/>
                          <a:cs typeface="Cambria"/>
                        </a:rPr>
                        <a:t> </a:t>
                      </a:r>
                      <a:r>
                        <a:rPr sz="1600" b="1" dirty="0">
                          <a:solidFill>
                            <a:srgbClr val="231F20"/>
                          </a:solidFill>
                          <a:latin typeface="Cambria"/>
                          <a:cs typeface="Cambria"/>
                        </a:rPr>
                        <a:t>sorted()</a:t>
                      </a:r>
                      <a:r>
                        <a:rPr sz="1600" b="1" spc="155" dirty="0">
                          <a:solidFill>
                            <a:srgbClr val="231F20"/>
                          </a:solidFill>
                          <a:latin typeface="Cambria"/>
                          <a:cs typeface="Cambria"/>
                        </a:rPr>
                        <a:t> </a:t>
                      </a:r>
                      <a:r>
                        <a:rPr sz="1600" b="1" spc="50" dirty="0">
                          <a:solidFill>
                            <a:srgbClr val="231F20"/>
                          </a:solidFill>
                          <a:latin typeface="Cambria"/>
                          <a:cs typeface="Cambria"/>
                        </a:rPr>
                        <a:t>does</a:t>
                      </a:r>
                      <a:r>
                        <a:rPr sz="1600" b="1" spc="160" dirty="0">
                          <a:solidFill>
                            <a:srgbClr val="231F20"/>
                          </a:solidFill>
                          <a:latin typeface="Cambria"/>
                          <a:cs typeface="Cambria"/>
                        </a:rPr>
                        <a:t> </a:t>
                      </a:r>
                      <a:r>
                        <a:rPr sz="1600" b="1" spc="50" dirty="0">
                          <a:solidFill>
                            <a:srgbClr val="231F20"/>
                          </a:solidFill>
                          <a:latin typeface="Cambria"/>
                          <a:cs typeface="Cambria"/>
                        </a:rPr>
                        <a:t>not</a:t>
                      </a:r>
                      <a:r>
                        <a:rPr sz="1600" b="1" spc="160" dirty="0">
                          <a:solidFill>
                            <a:srgbClr val="231F20"/>
                          </a:solidFill>
                          <a:latin typeface="Cambria"/>
                          <a:cs typeface="Cambria"/>
                        </a:rPr>
                        <a:t> </a:t>
                      </a:r>
                      <a:r>
                        <a:rPr sz="1600" b="1" spc="55" dirty="0">
                          <a:solidFill>
                            <a:srgbClr val="231F20"/>
                          </a:solidFill>
                          <a:latin typeface="Cambria"/>
                          <a:cs typeface="Cambria"/>
                        </a:rPr>
                        <a:t>make </a:t>
                      </a:r>
                      <a:r>
                        <a:rPr sz="1600" b="1" spc="70" dirty="0">
                          <a:solidFill>
                            <a:srgbClr val="231F20"/>
                          </a:solidFill>
                          <a:latin typeface="Cambria"/>
                          <a:cs typeface="Cambria"/>
                        </a:rPr>
                        <a:t>any</a:t>
                      </a:r>
                      <a:r>
                        <a:rPr sz="1600" b="1" spc="155" dirty="0">
                          <a:solidFill>
                            <a:srgbClr val="231F20"/>
                          </a:solidFill>
                          <a:latin typeface="Cambria"/>
                          <a:cs typeface="Cambria"/>
                        </a:rPr>
                        <a:t> </a:t>
                      </a:r>
                      <a:r>
                        <a:rPr sz="1600" b="1" spc="70" dirty="0">
                          <a:solidFill>
                            <a:srgbClr val="231F20"/>
                          </a:solidFill>
                          <a:latin typeface="Cambria"/>
                          <a:cs typeface="Cambria"/>
                        </a:rPr>
                        <a:t>change</a:t>
                      </a:r>
                      <a:r>
                        <a:rPr sz="1600" b="1" spc="155" dirty="0">
                          <a:solidFill>
                            <a:srgbClr val="231F20"/>
                          </a:solidFill>
                          <a:latin typeface="Cambria"/>
                          <a:cs typeface="Cambria"/>
                        </a:rPr>
                        <a:t> </a:t>
                      </a:r>
                      <a:r>
                        <a:rPr sz="1600" b="1" spc="10" dirty="0">
                          <a:solidFill>
                            <a:srgbClr val="231F20"/>
                          </a:solidFill>
                          <a:latin typeface="Cambria"/>
                          <a:cs typeface="Cambria"/>
                        </a:rPr>
                        <a:t>to</a:t>
                      </a:r>
                      <a:r>
                        <a:rPr sz="1600" b="1" spc="155" dirty="0">
                          <a:solidFill>
                            <a:srgbClr val="231F20"/>
                          </a:solidFill>
                          <a:latin typeface="Cambria"/>
                          <a:cs typeface="Cambria"/>
                        </a:rPr>
                        <a:t> </a:t>
                      </a:r>
                      <a:r>
                        <a:rPr sz="1600" b="1" spc="50" dirty="0">
                          <a:solidFill>
                            <a:srgbClr val="231F20"/>
                          </a:solidFill>
                          <a:latin typeface="Cambria"/>
                          <a:cs typeface="Cambria"/>
                        </a:rPr>
                        <a:t>the</a:t>
                      </a:r>
                      <a:r>
                        <a:rPr sz="1600" b="1" spc="160" dirty="0">
                          <a:solidFill>
                            <a:srgbClr val="231F20"/>
                          </a:solidFill>
                          <a:latin typeface="Cambria"/>
                          <a:cs typeface="Cambria"/>
                        </a:rPr>
                        <a:t> </a:t>
                      </a:r>
                      <a:r>
                        <a:rPr sz="1600" b="1" spc="10" dirty="0">
                          <a:solidFill>
                            <a:srgbClr val="231F20"/>
                          </a:solidFill>
                          <a:latin typeface="Cambria"/>
                          <a:cs typeface="Cambria"/>
                        </a:rPr>
                        <a:t>original</a:t>
                      </a:r>
                      <a:r>
                        <a:rPr sz="1600" b="1" spc="160" dirty="0">
                          <a:solidFill>
                            <a:srgbClr val="231F20"/>
                          </a:solidFill>
                          <a:latin typeface="Cambria"/>
                          <a:cs typeface="Cambria"/>
                        </a:rPr>
                        <a:t> </a:t>
                      </a:r>
                      <a:r>
                        <a:rPr sz="1600" b="1" spc="30" dirty="0">
                          <a:solidFill>
                            <a:srgbClr val="231F20"/>
                          </a:solidFill>
                          <a:latin typeface="Cambria"/>
                          <a:cs typeface="Cambria"/>
                        </a:rPr>
                        <a:t>tuple</a:t>
                      </a:r>
                      <a:endParaRPr sz="1600" b="1">
                        <a:latin typeface="Cambria"/>
                        <a:cs typeface="Cambria"/>
                      </a:endParaRPr>
                    </a:p>
                  </a:txBody>
                  <a:tcPr marL="0" marR="0" marT="2540" marB="0">
                    <a:lnL w="6350">
                      <a:solidFill>
                        <a:srgbClr val="231F20"/>
                      </a:solidFill>
                      <a:prstDash val="solid"/>
                    </a:lnL>
                    <a:lnR w="6350">
                      <a:solidFill>
                        <a:srgbClr val="231F20"/>
                      </a:solidFill>
                      <a:prstDash val="solid"/>
                    </a:lnR>
                    <a:lnB w="6350">
                      <a:solidFill>
                        <a:srgbClr val="231F20"/>
                      </a:solidFill>
                      <a:prstDash val="solid"/>
                    </a:lnB>
                  </a:tcPr>
                </a:tc>
                <a:tc gridSpan="2">
                  <a:txBody>
                    <a:bodyPr/>
                    <a:lstStyle/>
                    <a:p>
                      <a:pPr marL="67945" marR="184150">
                        <a:lnSpc>
                          <a:spcPts val="1320"/>
                        </a:lnSpc>
                        <a:spcBef>
                          <a:spcPts val="5"/>
                        </a:spcBef>
                      </a:pPr>
                      <a:r>
                        <a:rPr sz="1600" b="1" dirty="0">
                          <a:solidFill>
                            <a:srgbClr val="231F20"/>
                          </a:solidFill>
                          <a:latin typeface="Courier New"/>
                          <a:cs typeface="Courier New"/>
                        </a:rPr>
                        <a:t>&gt;&gt;&gt;</a:t>
                      </a:r>
                      <a:r>
                        <a:rPr sz="1600" b="1" spc="155" dirty="0">
                          <a:solidFill>
                            <a:srgbClr val="231F20"/>
                          </a:solidFill>
                          <a:latin typeface="Courier New"/>
                          <a:cs typeface="Courier New"/>
                        </a:rPr>
                        <a:t> </a:t>
                      </a:r>
                      <a:r>
                        <a:rPr sz="1600" b="1" dirty="0">
                          <a:solidFill>
                            <a:srgbClr val="231F20"/>
                          </a:solidFill>
                          <a:latin typeface="Courier New"/>
                          <a:cs typeface="Courier New"/>
                        </a:rPr>
                        <a:t>tuple1</a:t>
                      </a:r>
                      <a:r>
                        <a:rPr sz="1600" b="1" spc="40" dirty="0">
                          <a:solidFill>
                            <a:srgbClr val="231F20"/>
                          </a:solidFill>
                          <a:latin typeface="Courier New"/>
                          <a:cs typeface="Courier New"/>
                        </a:rPr>
                        <a:t> </a:t>
                      </a:r>
                      <a:r>
                        <a:rPr sz="1600" b="1" dirty="0">
                          <a:solidFill>
                            <a:srgbClr val="231F20"/>
                          </a:solidFill>
                          <a:latin typeface="Courier New"/>
                          <a:cs typeface="Courier New"/>
                        </a:rPr>
                        <a:t>=</a:t>
                      </a:r>
                      <a:r>
                        <a:rPr sz="1600" b="1" spc="45" dirty="0">
                          <a:solidFill>
                            <a:srgbClr val="231F20"/>
                          </a:solidFill>
                          <a:latin typeface="Courier New"/>
                          <a:cs typeface="Courier New"/>
                        </a:rPr>
                        <a:t> </a:t>
                      </a:r>
                      <a:r>
                        <a:rPr sz="1600" b="1" spc="-10" dirty="0">
                          <a:solidFill>
                            <a:srgbClr val="231F20"/>
                          </a:solidFill>
                          <a:latin typeface="Courier New"/>
                          <a:cs typeface="Courier New"/>
                        </a:rPr>
                        <a:t>("Rama","Heena","Raj", "Mohsin","Aditya")</a:t>
                      </a:r>
                      <a:endParaRPr sz="1600" b="1">
                        <a:latin typeface="Courier New"/>
                        <a:cs typeface="Courier New"/>
                      </a:endParaRPr>
                    </a:p>
                    <a:p>
                      <a:pPr marL="67945">
                        <a:lnSpc>
                          <a:spcPct val="100000"/>
                        </a:lnSpc>
                        <a:spcBef>
                          <a:spcPts val="254"/>
                        </a:spcBef>
                      </a:pPr>
                      <a:r>
                        <a:rPr sz="1600" b="1" dirty="0">
                          <a:solidFill>
                            <a:srgbClr val="231F20"/>
                          </a:solidFill>
                          <a:latin typeface="Courier New"/>
                          <a:cs typeface="Courier New"/>
                        </a:rPr>
                        <a:t>&gt;&gt;&gt;</a:t>
                      </a:r>
                      <a:r>
                        <a:rPr sz="1600" b="1" spc="200" dirty="0">
                          <a:solidFill>
                            <a:srgbClr val="231F20"/>
                          </a:solidFill>
                          <a:latin typeface="Courier New"/>
                          <a:cs typeface="Courier New"/>
                        </a:rPr>
                        <a:t> </a:t>
                      </a:r>
                      <a:r>
                        <a:rPr sz="1600" b="1" spc="-10" dirty="0">
                          <a:solidFill>
                            <a:srgbClr val="231F20"/>
                          </a:solidFill>
                          <a:latin typeface="Courier New"/>
                          <a:cs typeface="Courier New"/>
                        </a:rPr>
                        <a:t>sorted(tuple1)</a:t>
                      </a:r>
                      <a:endParaRPr sz="1600" b="1">
                        <a:latin typeface="Courier New"/>
                        <a:cs typeface="Courier New"/>
                      </a:endParaRPr>
                    </a:p>
                    <a:p>
                      <a:pPr marL="67945" marR="101600">
                        <a:lnSpc>
                          <a:spcPct val="110000"/>
                        </a:lnSpc>
                        <a:spcBef>
                          <a:spcPts val="200"/>
                        </a:spcBef>
                      </a:pPr>
                      <a:r>
                        <a:rPr sz="1600" b="1" dirty="0">
                          <a:solidFill>
                            <a:srgbClr val="231F20"/>
                          </a:solidFill>
                          <a:latin typeface="Courier New"/>
                          <a:cs typeface="Courier New"/>
                        </a:rPr>
                        <a:t>['Aditya',</a:t>
                      </a:r>
                      <a:r>
                        <a:rPr sz="1600" b="1" spc="95" dirty="0">
                          <a:solidFill>
                            <a:srgbClr val="231F20"/>
                          </a:solidFill>
                          <a:latin typeface="Courier New"/>
                          <a:cs typeface="Courier New"/>
                        </a:rPr>
                        <a:t> </a:t>
                      </a:r>
                      <a:r>
                        <a:rPr sz="1600" b="1" dirty="0">
                          <a:solidFill>
                            <a:srgbClr val="231F20"/>
                          </a:solidFill>
                          <a:latin typeface="Courier New"/>
                          <a:cs typeface="Courier New"/>
                        </a:rPr>
                        <a:t>'Heena',</a:t>
                      </a:r>
                      <a:r>
                        <a:rPr sz="1600" b="1" spc="95" dirty="0">
                          <a:solidFill>
                            <a:srgbClr val="231F20"/>
                          </a:solidFill>
                          <a:latin typeface="Courier New"/>
                          <a:cs typeface="Courier New"/>
                        </a:rPr>
                        <a:t> </a:t>
                      </a:r>
                      <a:r>
                        <a:rPr sz="1600" b="1" dirty="0">
                          <a:solidFill>
                            <a:srgbClr val="231F20"/>
                          </a:solidFill>
                          <a:latin typeface="Courier New"/>
                          <a:cs typeface="Courier New"/>
                        </a:rPr>
                        <a:t>'Mohsin',</a:t>
                      </a:r>
                      <a:r>
                        <a:rPr sz="1600" b="1" spc="95" dirty="0">
                          <a:solidFill>
                            <a:srgbClr val="231F20"/>
                          </a:solidFill>
                          <a:latin typeface="Courier New"/>
                          <a:cs typeface="Courier New"/>
                        </a:rPr>
                        <a:t> </a:t>
                      </a:r>
                      <a:r>
                        <a:rPr sz="1600" b="1" spc="-10" dirty="0">
                          <a:solidFill>
                            <a:srgbClr val="231F20"/>
                          </a:solidFill>
                          <a:latin typeface="Courier New"/>
                          <a:cs typeface="Courier New"/>
                        </a:rPr>
                        <a:t>'Raj', 'Rama']</a:t>
                      </a:r>
                      <a:endParaRPr sz="1600" b="1">
                        <a:latin typeface="Courier New"/>
                        <a:cs typeface="Courier New"/>
                      </a:endParaRPr>
                    </a:p>
                  </a:txBody>
                  <a:tcPr marL="0" marR="0" marT="635" marB="0">
                    <a:lnL w="6350">
                      <a:solidFill>
                        <a:srgbClr val="231F20"/>
                      </a:solidFill>
                      <a:prstDash val="solid"/>
                    </a:lnL>
                    <a:lnR w="6350">
                      <a:solidFill>
                        <a:srgbClr val="231F20"/>
                      </a:solidFill>
                      <a:prstDash val="solid"/>
                    </a:lnR>
                    <a:lnB w="6350">
                      <a:solidFill>
                        <a:srgbClr val="231F20"/>
                      </a:solidFill>
                      <a:prstDash val="solid"/>
                    </a:lnB>
                  </a:tcPr>
                </a:tc>
                <a:tc hMerge="1">
                  <a:txBody>
                    <a:bodyPr/>
                    <a:lstStyle/>
                    <a:p>
                      <a:endParaRPr/>
                    </a:p>
                  </a:txBody>
                  <a:tcPr marL="0" marR="0" marT="0" marB="0"/>
                </a:tc>
              </a:tr>
              <a:tr h="183515">
                <a:tc>
                  <a:txBody>
                    <a:bodyPr/>
                    <a:lstStyle/>
                    <a:p>
                      <a:pPr marL="68580">
                        <a:lnSpc>
                          <a:spcPct val="100000"/>
                        </a:lnSpc>
                        <a:spcBef>
                          <a:spcPts val="180"/>
                        </a:spcBef>
                      </a:pPr>
                      <a:r>
                        <a:rPr sz="1600" b="1" spc="-10" dirty="0">
                          <a:solidFill>
                            <a:srgbClr val="231F20"/>
                          </a:solidFill>
                          <a:latin typeface="Cambria"/>
                          <a:cs typeface="Cambria"/>
                        </a:rPr>
                        <a:t>min()</a:t>
                      </a:r>
                      <a:endParaRPr sz="1600" b="1">
                        <a:latin typeface="Cambria"/>
                        <a:cs typeface="Cambria"/>
                      </a:endParaRPr>
                    </a:p>
                  </a:txBody>
                  <a:tcPr marL="0" marR="0" marT="22860" marB="0">
                    <a:lnL w="6350">
                      <a:solidFill>
                        <a:srgbClr val="231F20"/>
                      </a:solidFill>
                      <a:prstDash val="solid"/>
                    </a:lnL>
                    <a:lnR w="6350">
                      <a:solidFill>
                        <a:srgbClr val="231F20"/>
                      </a:solidFill>
                      <a:prstDash val="solid"/>
                    </a:lnR>
                    <a:lnT w="6350">
                      <a:solidFill>
                        <a:srgbClr val="231F20"/>
                      </a:solidFill>
                      <a:prstDash val="solid"/>
                    </a:lnT>
                  </a:tcPr>
                </a:tc>
                <a:tc>
                  <a:txBody>
                    <a:bodyPr/>
                    <a:lstStyle/>
                    <a:p>
                      <a:pPr marL="67945">
                        <a:lnSpc>
                          <a:spcPct val="100000"/>
                        </a:lnSpc>
                        <a:spcBef>
                          <a:spcPts val="180"/>
                        </a:spcBef>
                        <a:tabLst>
                          <a:tab pos="719455" algn="l"/>
                          <a:tab pos="1472565" algn="l"/>
                          <a:tab pos="1771014" algn="l"/>
                        </a:tabLst>
                      </a:pPr>
                      <a:r>
                        <a:rPr sz="1600" b="1" spc="55" dirty="0">
                          <a:solidFill>
                            <a:srgbClr val="231F20"/>
                          </a:solidFill>
                          <a:latin typeface="Cambria"/>
                          <a:cs typeface="Cambria"/>
                        </a:rPr>
                        <a:t>Returns</a:t>
                      </a:r>
                      <a:r>
                        <a:rPr sz="1600" b="1" dirty="0">
                          <a:solidFill>
                            <a:srgbClr val="231F20"/>
                          </a:solidFill>
                          <a:latin typeface="Cambria"/>
                          <a:cs typeface="Cambria"/>
                        </a:rPr>
                        <a:t>	</a:t>
                      </a:r>
                      <a:r>
                        <a:rPr sz="1600" b="1" spc="65" dirty="0">
                          <a:solidFill>
                            <a:srgbClr val="231F20"/>
                          </a:solidFill>
                          <a:latin typeface="Cambria"/>
                          <a:cs typeface="Cambria"/>
                        </a:rPr>
                        <a:t>minimum</a:t>
                      </a:r>
                      <a:r>
                        <a:rPr sz="1600" b="1" dirty="0">
                          <a:solidFill>
                            <a:srgbClr val="231F20"/>
                          </a:solidFill>
                          <a:latin typeface="Cambria"/>
                          <a:cs typeface="Cambria"/>
                        </a:rPr>
                        <a:t>	</a:t>
                      </a:r>
                      <a:r>
                        <a:rPr sz="1600" b="1" spc="-25" dirty="0">
                          <a:solidFill>
                            <a:srgbClr val="231F20"/>
                          </a:solidFill>
                          <a:latin typeface="Cambria"/>
                          <a:cs typeface="Cambria"/>
                        </a:rPr>
                        <a:t>or</a:t>
                      </a:r>
                      <a:r>
                        <a:rPr sz="1600" b="1" dirty="0">
                          <a:solidFill>
                            <a:srgbClr val="231F20"/>
                          </a:solidFill>
                          <a:latin typeface="Cambria"/>
                          <a:cs typeface="Cambria"/>
                        </a:rPr>
                        <a:t>	</a:t>
                      </a:r>
                      <a:r>
                        <a:rPr sz="1600" b="1" spc="45" dirty="0">
                          <a:solidFill>
                            <a:srgbClr val="231F20"/>
                          </a:solidFill>
                          <a:latin typeface="Cambria"/>
                          <a:cs typeface="Cambria"/>
                        </a:rPr>
                        <a:t>smallest</a:t>
                      </a:r>
                      <a:endParaRPr sz="1600" b="1">
                        <a:latin typeface="Cambria"/>
                        <a:cs typeface="Cambria"/>
                      </a:endParaRPr>
                    </a:p>
                  </a:txBody>
                  <a:tcPr marL="0" marR="0" marT="22860" marB="0">
                    <a:lnL w="6350">
                      <a:solidFill>
                        <a:srgbClr val="231F20"/>
                      </a:solidFill>
                      <a:prstDash val="solid"/>
                    </a:lnL>
                    <a:lnR w="6350">
                      <a:solidFill>
                        <a:srgbClr val="231F20"/>
                      </a:solidFill>
                      <a:prstDash val="solid"/>
                    </a:lnR>
                    <a:lnT w="6350">
                      <a:solidFill>
                        <a:srgbClr val="231F20"/>
                      </a:solidFill>
                      <a:prstDash val="solid"/>
                    </a:lnT>
                  </a:tcPr>
                </a:tc>
                <a:tc>
                  <a:txBody>
                    <a:bodyPr/>
                    <a:lstStyle/>
                    <a:p>
                      <a:pPr marL="67945">
                        <a:lnSpc>
                          <a:spcPct val="100000"/>
                        </a:lnSpc>
                        <a:spcBef>
                          <a:spcPts val="60"/>
                        </a:spcBef>
                      </a:pPr>
                      <a:r>
                        <a:rPr sz="1600" b="1" spc="-25" dirty="0">
                          <a:solidFill>
                            <a:srgbClr val="231F20"/>
                          </a:solidFill>
                          <a:latin typeface="Courier New"/>
                          <a:cs typeface="Courier New"/>
                        </a:rPr>
                        <a:t>&gt;&gt;&gt;</a:t>
                      </a:r>
                      <a:endParaRPr sz="1600" b="1">
                        <a:latin typeface="Courier New"/>
                        <a:cs typeface="Courier New"/>
                      </a:endParaRPr>
                    </a:p>
                  </a:txBody>
                  <a:tcPr marL="0" marR="0" marT="7620" marB="0">
                    <a:lnL w="6350">
                      <a:solidFill>
                        <a:srgbClr val="231F20"/>
                      </a:solidFill>
                      <a:prstDash val="solid"/>
                    </a:lnL>
                    <a:lnT w="6350">
                      <a:solidFill>
                        <a:srgbClr val="231F20"/>
                      </a:solidFill>
                      <a:prstDash val="solid"/>
                    </a:lnT>
                  </a:tcPr>
                </a:tc>
                <a:tc>
                  <a:txBody>
                    <a:bodyPr/>
                    <a:lstStyle/>
                    <a:p>
                      <a:pPr marL="44450">
                        <a:lnSpc>
                          <a:spcPct val="100000"/>
                        </a:lnSpc>
                        <a:spcBef>
                          <a:spcPts val="60"/>
                        </a:spcBef>
                      </a:pPr>
                      <a:r>
                        <a:rPr sz="1600" b="1" dirty="0">
                          <a:solidFill>
                            <a:srgbClr val="231F20"/>
                          </a:solidFill>
                          <a:latin typeface="Courier New"/>
                          <a:cs typeface="Courier New"/>
                        </a:rPr>
                        <a:t>tuple1</a:t>
                      </a:r>
                      <a:r>
                        <a:rPr sz="1600" b="1" spc="20" dirty="0">
                          <a:solidFill>
                            <a:srgbClr val="231F20"/>
                          </a:solidFill>
                          <a:latin typeface="Courier New"/>
                          <a:cs typeface="Courier New"/>
                        </a:rPr>
                        <a:t> </a:t>
                      </a:r>
                      <a:r>
                        <a:rPr sz="1600" b="1" dirty="0">
                          <a:solidFill>
                            <a:srgbClr val="231F20"/>
                          </a:solidFill>
                          <a:latin typeface="Courier New"/>
                          <a:cs typeface="Courier New"/>
                        </a:rPr>
                        <a:t>=</a:t>
                      </a:r>
                      <a:r>
                        <a:rPr sz="1600" b="1" spc="20" dirty="0">
                          <a:solidFill>
                            <a:srgbClr val="231F20"/>
                          </a:solidFill>
                          <a:latin typeface="Courier New"/>
                          <a:cs typeface="Courier New"/>
                        </a:rPr>
                        <a:t> </a:t>
                      </a:r>
                      <a:r>
                        <a:rPr sz="1600" b="1" spc="-10" dirty="0">
                          <a:solidFill>
                            <a:srgbClr val="231F20"/>
                          </a:solidFill>
                          <a:latin typeface="Courier New"/>
                          <a:cs typeface="Courier New"/>
                        </a:rPr>
                        <a:t>(19,12,56,18,9,87,34)</a:t>
                      </a:r>
                      <a:endParaRPr sz="1600" b="1">
                        <a:latin typeface="Courier New"/>
                        <a:cs typeface="Courier New"/>
                      </a:endParaRPr>
                    </a:p>
                  </a:txBody>
                  <a:tcPr marL="0" marR="0" marT="7620" marB="0">
                    <a:lnR w="6350">
                      <a:solidFill>
                        <a:srgbClr val="231F20"/>
                      </a:solidFill>
                      <a:prstDash val="solid"/>
                    </a:lnR>
                    <a:lnT w="6350">
                      <a:solidFill>
                        <a:srgbClr val="231F20"/>
                      </a:solidFill>
                      <a:prstDash val="solid"/>
                    </a:lnT>
                  </a:tcPr>
                </a:tc>
              </a:tr>
              <a:tr h="206375">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tcPr>
                </a:tc>
                <a:tc>
                  <a:txBody>
                    <a:bodyPr/>
                    <a:lstStyle/>
                    <a:p>
                      <a:pPr marL="67945">
                        <a:lnSpc>
                          <a:spcPct val="100000"/>
                        </a:lnSpc>
                        <a:spcBef>
                          <a:spcPts val="30"/>
                        </a:spcBef>
                      </a:pPr>
                      <a:r>
                        <a:rPr sz="1600" b="1" spc="10" dirty="0">
                          <a:solidFill>
                            <a:srgbClr val="231F20"/>
                          </a:solidFill>
                          <a:latin typeface="Cambria"/>
                          <a:cs typeface="Cambria"/>
                        </a:rPr>
                        <a:t>element</a:t>
                      </a:r>
                      <a:r>
                        <a:rPr sz="1600" b="1" spc="185" dirty="0">
                          <a:solidFill>
                            <a:srgbClr val="231F20"/>
                          </a:solidFill>
                          <a:latin typeface="Cambria"/>
                          <a:cs typeface="Cambria"/>
                        </a:rPr>
                        <a:t> </a:t>
                      </a:r>
                      <a:r>
                        <a:rPr sz="1600" b="1" spc="10" dirty="0">
                          <a:solidFill>
                            <a:srgbClr val="231F20"/>
                          </a:solidFill>
                          <a:latin typeface="Cambria"/>
                          <a:cs typeface="Cambria"/>
                        </a:rPr>
                        <a:t>of</a:t>
                      </a:r>
                      <a:r>
                        <a:rPr sz="1600" b="1" spc="195" dirty="0">
                          <a:solidFill>
                            <a:srgbClr val="231F20"/>
                          </a:solidFill>
                          <a:latin typeface="Cambria"/>
                          <a:cs typeface="Cambria"/>
                        </a:rPr>
                        <a:t> </a:t>
                      </a:r>
                      <a:r>
                        <a:rPr sz="1600" b="1" spc="50" dirty="0">
                          <a:solidFill>
                            <a:srgbClr val="231F20"/>
                          </a:solidFill>
                          <a:latin typeface="Cambria"/>
                          <a:cs typeface="Cambria"/>
                        </a:rPr>
                        <a:t>the</a:t>
                      </a:r>
                      <a:r>
                        <a:rPr sz="1600" b="1" spc="185" dirty="0">
                          <a:solidFill>
                            <a:srgbClr val="231F20"/>
                          </a:solidFill>
                          <a:latin typeface="Cambria"/>
                          <a:cs typeface="Cambria"/>
                        </a:rPr>
                        <a:t> </a:t>
                      </a:r>
                      <a:r>
                        <a:rPr sz="1600" b="1" spc="40" dirty="0">
                          <a:solidFill>
                            <a:srgbClr val="231F20"/>
                          </a:solidFill>
                          <a:latin typeface="Cambria"/>
                          <a:cs typeface="Cambria"/>
                        </a:rPr>
                        <a:t>tuple</a:t>
                      </a:r>
                      <a:endParaRPr sz="1600" b="1">
                        <a:latin typeface="Cambria"/>
                        <a:cs typeface="Cambria"/>
                      </a:endParaRPr>
                    </a:p>
                  </a:txBody>
                  <a:tcPr marL="0" marR="0" marT="3810" marB="0">
                    <a:lnL w="6350">
                      <a:solidFill>
                        <a:srgbClr val="231F20"/>
                      </a:solidFill>
                      <a:prstDash val="solid"/>
                    </a:lnL>
                    <a:lnR w="6350">
                      <a:solidFill>
                        <a:srgbClr val="231F20"/>
                      </a:solidFill>
                      <a:prstDash val="solid"/>
                    </a:lnR>
                  </a:tcPr>
                </a:tc>
                <a:tc>
                  <a:txBody>
                    <a:bodyPr/>
                    <a:lstStyle/>
                    <a:p>
                      <a:pPr marL="67945">
                        <a:lnSpc>
                          <a:spcPct val="100000"/>
                        </a:lnSpc>
                        <a:spcBef>
                          <a:spcPts val="130"/>
                        </a:spcBef>
                      </a:pPr>
                      <a:r>
                        <a:rPr sz="1600" b="1" spc="25" dirty="0">
                          <a:solidFill>
                            <a:srgbClr val="231F20"/>
                          </a:solidFill>
                          <a:latin typeface="Courier New"/>
                          <a:cs typeface="Courier New"/>
                        </a:rPr>
                        <a:t>&gt;&gt;&gt;</a:t>
                      </a:r>
                      <a:endParaRPr sz="1600" b="1">
                        <a:latin typeface="Courier New"/>
                        <a:cs typeface="Courier New"/>
                      </a:endParaRPr>
                    </a:p>
                  </a:txBody>
                  <a:tcPr marL="0" marR="0" marT="16510" marB="0">
                    <a:lnL w="6350">
                      <a:solidFill>
                        <a:srgbClr val="231F20"/>
                      </a:solidFill>
                      <a:prstDash val="solid"/>
                    </a:lnL>
                  </a:tcPr>
                </a:tc>
                <a:tc>
                  <a:txBody>
                    <a:bodyPr/>
                    <a:lstStyle/>
                    <a:p>
                      <a:pPr marL="43815">
                        <a:lnSpc>
                          <a:spcPct val="100000"/>
                        </a:lnSpc>
                        <a:spcBef>
                          <a:spcPts val="130"/>
                        </a:spcBef>
                      </a:pPr>
                      <a:r>
                        <a:rPr sz="1600" b="1" spc="-10" dirty="0">
                          <a:solidFill>
                            <a:srgbClr val="231F20"/>
                          </a:solidFill>
                          <a:latin typeface="Courier New"/>
                          <a:cs typeface="Courier New"/>
                        </a:rPr>
                        <a:t>min(tuple1)</a:t>
                      </a:r>
                      <a:endParaRPr sz="1600" b="1">
                        <a:latin typeface="Courier New"/>
                        <a:cs typeface="Courier New"/>
                      </a:endParaRPr>
                    </a:p>
                  </a:txBody>
                  <a:tcPr marL="0" marR="0" marT="16510" marB="0">
                    <a:lnR w="6350">
                      <a:solidFill>
                        <a:srgbClr val="231F20"/>
                      </a:solidFill>
                      <a:prstDash val="solid"/>
                    </a:lnR>
                  </a:tcPr>
                </a:tc>
              </a:tr>
              <a:tr h="189230">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tcPr>
                </a:tc>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tcPr>
                </a:tc>
                <a:tc>
                  <a:txBody>
                    <a:bodyPr/>
                    <a:lstStyle/>
                    <a:p>
                      <a:pPr marL="67945">
                        <a:lnSpc>
                          <a:spcPct val="100000"/>
                        </a:lnSpc>
                        <a:spcBef>
                          <a:spcPts val="25"/>
                        </a:spcBef>
                      </a:pPr>
                      <a:r>
                        <a:rPr sz="1600" b="1" spc="-50" dirty="0">
                          <a:solidFill>
                            <a:srgbClr val="231F20"/>
                          </a:solidFill>
                          <a:latin typeface="Courier New"/>
                          <a:cs typeface="Courier New"/>
                        </a:rPr>
                        <a:t>9</a:t>
                      </a:r>
                      <a:endParaRPr sz="1600" b="1">
                        <a:latin typeface="Courier New"/>
                        <a:cs typeface="Courier New"/>
                      </a:endParaRPr>
                    </a:p>
                  </a:txBody>
                  <a:tcPr marL="0" marR="0" marT="3175" marB="0">
                    <a:lnL w="6350">
                      <a:solidFill>
                        <a:srgbClr val="231F20"/>
                      </a:solidFill>
                      <a:prstDash val="solid"/>
                    </a:lnL>
                  </a:tcPr>
                </a:tc>
                <a:tc>
                  <a:txBody>
                    <a:bodyPr/>
                    <a:lstStyle/>
                    <a:p>
                      <a:pPr>
                        <a:lnSpc>
                          <a:spcPct val="100000"/>
                        </a:lnSpc>
                      </a:pPr>
                      <a:endParaRPr sz="1600" b="1">
                        <a:latin typeface="Times New Roman"/>
                        <a:cs typeface="Times New Roman"/>
                      </a:endParaRPr>
                    </a:p>
                  </a:txBody>
                  <a:tcPr marL="0" marR="0" marT="0" marB="0">
                    <a:lnR w="6350">
                      <a:solidFill>
                        <a:srgbClr val="231F20"/>
                      </a:solidFill>
                      <a:prstDash val="solid"/>
                    </a:lnR>
                  </a:tcPr>
                </a:tc>
              </a:tr>
              <a:tr h="180340">
                <a:tc>
                  <a:txBody>
                    <a:bodyPr/>
                    <a:lstStyle/>
                    <a:p>
                      <a:pPr marL="68580">
                        <a:lnSpc>
                          <a:spcPts val="1110"/>
                        </a:lnSpc>
                        <a:spcBef>
                          <a:spcPts val="210"/>
                        </a:spcBef>
                      </a:pPr>
                      <a:r>
                        <a:rPr sz="1600" b="1" spc="-10" dirty="0">
                          <a:solidFill>
                            <a:srgbClr val="231F20"/>
                          </a:solidFill>
                          <a:latin typeface="Cambria"/>
                          <a:cs typeface="Cambria"/>
                        </a:rPr>
                        <a:t>max()</a:t>
                      </a:r>
                      <a:endParaRPr sz="1600" b="1">
                        <a:latin typeface="Cambria"/>
                        <a:cs typeface="Cambria"/>
                      </a:endParaRPr>
                    </a:p>
                  </a:txBody>
                  <a:tcPr marL="0" marR="0" marT="26670" marB="0">
                    <a:lnL w="6350">
                      <a:solidFill>
                        <a:srgbClr val="231F20"/>
                      </a:solidFill>
                      <a:prstDash val="solid"/>
                    </a:lnL>
                    <a:lnR w="6350">
                      <a:solidFill>
                        <a:srgbClr val="231F20"/>
                      </a:solidFill>
                      <a:prstDash val="solid"/>
                    </a:lnR>
                  </a:tcPr>
                </a:tc>
                <a:tc>
                  <a:txBody>
                    <a:bodyPr/>
                    <a:lstStyle/>
                    <a:p>
                      <a:pPr marL="67945">
                        <a:lnSpc>
                          <a:spcPct val="100000"/>
                        </a:lnSpc>
                        <a:spcBef>
                          <a:spcPts val="110"/>
                        </a:spcBef>
                      </a:pPr>
                      <a:r>
                        <a:rPr sz="1600" b="1" spc="65" dirty="0">
                          <a:solidFill>
                            <a:srgbClr val="231F20"/>
                          </a:solidFill>
                          <a:latin typeface="Cambria"/>
                          <a:cs typeface="Cambria"/>
                        </a:rPr>
                        <a:t>Returns</a:t>
                      </a:r>
                      <a:r>
                        <a:rPr sz="1600" b="1" spc="150" dirty="0">
                          <a:solidFill>
                            <a:srgbClr val="231F20"/>
                          </a:solidFill>
                          <a:latin typeface="Cambria"/>
                          <a:cs typeface="Cambria"/>
                        </a:rPr>
                        <a:t> </a:t>
                      </a:r>
                      <a:r>
                        <a:rPr sz="1600" b="1" spc="85" dirty="0">
                          <a:solidFill>
                            <a:srgbClr val="231F20"/>
                          </a:solidFill>
                          <a:latin typeface="Cambria"/>
                          <a:cs typeface="Cambria"/>
                        </a:rPr>
                        <a:t>maximum</a:t>
                      </a:r>
                      <a:r>
                        <a:rPr sz="1600" b="1" spc="150" dirty="0">
                          <a:solidFill>
                            <a:srgbClr val="231F20"/>
                          </a:solidFill>
                          <a:latin typeface="Cambria"/>
                          <a:cs typeface="Cambria"/>
                        </a:rPr>
                        <a:t> </a:t>
                      </a:r>
                      <a:r>
                        <a:rPr sz="1600" b="1" spc="10" dirty="0">
                          <a:solidFill>
                            <a:srgbClr val="231F20"/>
                          </a:solidFill>
                          <a:latin typeface="Cambria"/>
                          <a:cs typeface="Cambria"/>
                        </a:rPr>
                        <a:t>or</a:t>
                      </a:r>
                      <a:r>
                        <a:rPr sz="1600" b="1" spc="150" dirty="0">
                          <a:solidFill>
                            <a:srgbClr val="231F20"/>
                          </a:solidFill>
                          <a:latin typeface="Cambria"/>
                          <a:cs typeface="Cambria"/>
                        </a:rPr>
                        <a:t> </a:t>
                      </a:r>
                      <a:r>
                        <a:rPr sz="1600" b="1" spc="10" dirty="0">
                          <a:solidFill>
                            <a:srgbClr val="231F20"/>
                          </a:solidFill>
                          <a:latin typeface="Cambria"/>
                          <a:cs typeface="Cambria"/>
                        </a:rPr>
                        <a:t>largest</a:t>
                      </a:r>
                      <a:r>
                        <a:rPr sz="1600" b="1" spc="155" dirty="0">
                          <a:solidFill>
                            <a:srgbClr val="231F20"/>
                          </a:solidFill>
                          <a:latin typeface="Cambria"/>
                          <a:cs typeface="Cambria"/>
                        </a:rPr>
                        <a:t> </a:t>
                      </a:r>
                      <a:r>
                        <a:rPr sz="1600" b="1" spc="-10" dirty="0">
                          <a:solidFill>
                            <a:srgbClr val="231F20"/>
                          </a:solidFill>
                          <a:latin typeface="Cambria"/>
                          <a:cs typeface="Cambria"/>
                        </a:rPr>
                        <a:t>element</a:t>
                      </a:r>
                      <a:endParaRPr sz="1600" b="1">
                        <a:latin typeface="Cambria"/>
                        <a:cs typeface="Cambria"/>
                      </a:endParaRPr>
                    </a:p>
                  </a:txBody>
                  <a:tcPr marL="0" marR="0" marT="13970" marB="0">
                    <a:lnL w="6350">
                      <a:solidFill>
                        <a:srgbClr val="231F20"/>
                      </a:solidFill>
                      <a:prstDash val="solid"/>
                    </a:lnL>
                    <a:lnR w="6350">
                      <a:solidFill>
                        <a:srgbClr val="231F20"/>
                      </a:solidFill>
                      <a:prstDash val="solid"/>
                    </a:lnR>
                  </a:tcPr>
                </a:tc>
                <a:tc>
                  <a:txBody>
                    <a:bodyPr/>
                    <a:lstStyle/>
                    <a:p>
                      <a:pPr marL="67945">
                        <a:lnSpc>
                          <a:spcPct val="100000"/>
                        </a:lnSpc>
                        <a:spcBef>
                          <a:spcPts val="50"/>
                        </a:spcBef>
                      </a:pPr>
                      <a:r>
                        <a:rPr sz="1600" b="1" spc="25" dirty="0">
                          <a:solidFill>
                            <a:srgbClr val="231F20"/>
                          </a:solidFill>
                          <a:latin typeface="Courier New"/>
                          <a:cs typeface="Courier New"/>
                        </a:rPr>
                        <a:t>&gt;&gt;&gt;</a:t>
                      </a:r>
                      <a:endParaRPr sz="1600" b="1">
                        <a:latin typeface="Courier New"/>
                        <a:cs typeface="Courier New"/>
                      </a:endParaRPr>
                    </a:p>
                  </a:txBody>
                  <a:tcPr marL="0" marR="0" marT="6350" marB="0">
                    <a:lnL w="6350">
                      <a:solidFill>
                        <a:srgbClr val="231F20"/>
                      </a:solidFill>
                      <a:prstDash val="solid"/>
                    </a:lnL>
                  </a:tcPr>
                </a:tc>
                <a:tc>
                  <a:txBody>
                    <a:bodyPr/>
                    <a:lstStyle/>
                    <a:p>
                      <a:pPr marL="43815">
                        <a:lnSpc>
                          <a:spcPct val="100000"/>
                        </a:lnSpc>
                        <a:spcBef>
                          <a:spcPts val="50"/>
                        </a:spcBef>
                      </a:pPr>
                      <a:r>
                        <a:rPr sz="1600" b="1" spc="-10" dirty="0">
                          <a:solidFill>
                            <a:srgbClr val="231F20"/>
                          </a:solidFill>
                          <a:latin typeface="Courier New"/>
                          <a:cs typeface="Courier New"/>
                        </a:rPr>
                        <a:t>max(tuple1)</a:t>
                      </a:r>
                      <a:endParaRPr sz="1600" b="1">
                        <a:latin typeface="Courier New"/>
                        <a:cs typeface="Courier New"/>
                      </a:endParaRPr>
                    </a:p>
                  </a:txBody>
                  <a:tcPr marL="0" marR="0" marT="6350" marB="0">
                    <a:lnR w="6350">
                      <a:solidFill>
                        <a:srgbClr val="231F20"/>
                      </a:solidFill>
                      <a:prstDash val="solid"/>
                    </a:lnR>
                  </a:tcPr>
                </a:tc>
              </a:tr>
              <a:tr h="208279">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tcPr>
                </a:tc>
                <a:tc>
                  <a:txBody>
                    <a:bodyPr/>
                    <a:lstStyle/>
                    <a:p>
                      <a:pPr marL="67945">
                        <a:lnSpc>
                          <a:spcPts val="1125"/>
                        </a:lnSpc>
                      </a:pPr>
                      <a:r>
                        <a:rPr sz="1600" b="1" dirty="0">
                          <a:solidFill>
                            <a:srgbClr val="231F20"/>
                          </a:solidFill>
                          <a:latin typeface="Cambria"/>
                          <a:cs typeface="Cambria"/>
                        </a:rPr>
                        <a:t>of</a:t>
                      </a:r>
                      <a:r>
                        <a:rPr sz="1600" b="1" spc="120" dirty="0">
                          <a:solidFill>
                            <a:srgbClr val="231F20"/>
                          </a:solidFill>
                          <a:latin typeface="Cambria"/>
                          <a:cs typeface="Cambria"/>
                        </a:rPr>
                        <a:t> </a:t>
                      </a:r>
                      <a:r>
                        <a:rPr sz="1600" b="1" spc="50" dirty="0">
                          <a:solidFill>
                            <a:srgbClr val="231F20"/>
                          </a:solidFill>
                          <a:latin typeface="Cambria"/>
                          <a:cs typeface="Cambria"/>
                        </a:rPr>
                        <a:t>the</a:t>
                      </a:r>
                      <a:r>
                        <a:rPr sz="1600" b="1" spc="114" dirty="0">
                          <a:solidFill>
                            <a:srgbClr val="231F20"/>
                          </a:solidFill>
                          <a:latin typeface="Cambria"/>
                          <a:cs typeface="Cambria"/>
                        </a:rPr>
                        <a:t> </a:t>
                      </a:r>
                      <a:r>
                        <a:rPr sz="1600" b="1" spc="30" dirty="0">
                          <a:solidFill>
                            <a:srgbClr val="231F20"/>
                          </a:solidFill>
                          <a:latin typeface="Cambria"/>
                          <a:cs typeface="Cambria"/>
                        </a:rPr>
                        <a:t>tuple</a:t>
                      </a:r>
                      <a:endParaRPr sz="1600" b="1">
                        <a:latin typeface="Cambria"/>
                        <a:cs typeface="Cambria"/>
                      </a:endParaRPr>
                    </a:p>
                  </a:txBody>
                  <a:tcPr marL="0" marR="0" marT="0" marB="0">
                    <a:lnL w="6350">
                      <a:solidFill>
                        <a:srgbClr val="231F20"/>
                      </a:solidFill>
                      <a:prstDash val="solid"/>
                    </a:lnL>
                    <a:lnR w="6350">
                      <a:solidFill>
                        <a:srgbClr val="231F20"/>
                      </a:solidFill>
                      <a:prstDash val="solid"/>
                    </a:lnR>
                  </a:tcPr>
                </a:tc>
                <a:tc>
                  <a:txBody>
                    <a:bodyPr/>
                    <a:lstStyle/>
                    <a:p>
                      <a:pPr marL="67945">
                        <a:lnSpc>
                          <a:spcPct val="100000"/>
                        </a:lnSpc>
                        <a:spcBef>
                          <a:spcPts val="150"/>
                        </a:spcBef>
                      </a:pPr>
                      <a:r>
                        <a:rPr sz="1600" b="1" spc="25" dirty="0">
                          <a:solidFill>
                            <a:srgbClr val="231F20"/>
                          </a:solidFill>
                          <a:latin typeface="Courier New"/>
                          <a:cs typeface="Courier New"/>
                        </a:rPr>
                        <a:t>87</a:t>
                      </a:r>
                      <a:endParaRPr sz="1600" b="1">
                        <a:latin typeface="Courier New"/>
                        <a:cs typeface="Courier New"/>
                      </a:endParaRPr>
                    </a:p>
                  </a:txBody>
                  <a:tcPr marL="0" marR="0" marT="19050" marB="0">
                    <a:lnL w="6350">
                      <a:solidFill>
                        <a:srgbClr val="231F20"/>
                      </a:solidFill>
                      <a:prstDash val="solid"/>
                    </a:lnL>
                  </a:tcPr>
                </a:tc>
                <a:tc>
                  <a:txBody>
                    <a:bodyPr/>
                    <a:lstStyle/>
                    <a:p>
                      <a:pPr>
                        <a:lnSpc>
                          <a:spcPct val="100000"/>
                        </a:lnSpc>
                      </a:pPr>
                      <a:endParaRPr sz="1600" b="1">
                        <a:latin typeface="Times New Roman"/>
                        <a:cs typeface="Times New Roman"/>
                      </a:endParaRPr>
                    </a:p>
                  </a:txBody>
                  <a:tcPr marL="0" marR="0" marT="0" marB="0">
                    <a:lnR w="6350">
                      <a:solidFill>
                        <a:srgbClr val="231F20"/>
                      </a:solidFill>
                      <a:prstDash val="solid"/>
                    </a:lnR>
                  </a:tcPr>
                </a:tc>
              </a:tr>
              <a:tr h="184785">
                <a:tc>
                  <a:txBody>
                    <a:bodyPr/>
                    <a:lstStyle/>
                    <a:p>
                      <a:pPr marL="68580">
                        <a:lnSpc>
                          <a:spcPts val="1110"/>
                        </a:lnSpc>
                        <a:spcBef>
                          <a:spcPts val="240"/>
                        </a:spcBef>
                      </a:pPr>
                      <a:r>
                        <a:rPr sz="1600" b="1" spc="-10" dirty="0">
                          <a:solidFill>
                            <a:srgbClr val="231F20"/>
                          </a:solidFill>
                          <a:latin typeface="Cambria"/>
                          <a:cs typeface="Cambria"/>
                        </a:rPr>
                        <a:t>sum()</a:t>
                      </a:r>
                      <a:endParaRPr sz="1600" b="1">
                        <a:latin typeface="Cambria"/>
                        <a:cs typeface="Cambria"/>
                      </a:endParaRPr>
                    </a:p>
                  </a:txBody>
                  <a:tcPr marL="0" marR="0" marT="30480" marB="0">
                    <a:lnL w="6350">
                      <a:solidFill>
                        <a:srgbClr val="231F20"/>
                      </a:solidFill>
                      <a:prstDash val="solid"/>
                    </a:lnL>
                    <a:lnR w="6350">
                      <a:solidFill>
                        <a:srgbClr val="231F20"/>
                      </a:solidFill>
                      <a:prstDash val="solid"/>
                    </a:lnR>
                  </a:tcPr>
                </a:tc>
                <a:tc>
                  <a:txBody>
                    <a:bodyPr/>
                    <a:lstStyle/>
                    <a:p>
                      <a:pPr marL="67945">
                        <a:lnSpc>
                          <a:spcPct val="100000"/>
                        </a:lnSpc>
                        <a:spcBef>
                          <a:spcPts val="140"/>
                        </a:spcBef>
                      </a:pPr>
                      <a:r>
                        <a:rPr sz="1600" b="1" spc="65" dirty="0">
                          <a:solidFill>
                            <a:srgbClr val="231F20"/>
                          </a:solidFill>
                          <a:latin typeface="Cambria"/>
                          <a:cs typeface="Cambria"/>
                        </a:rPr>
                        <a:t>Returns</a:t>
                      </a:r>
                      <a:r>
                        <a:rPr sz="1600" b="1" spc="265" dirty="0">
                          <a:solidFill>
                            <a:srgbClr val="231F20"/>
                          </a:solidFill>
                          <a:latin typeface="Cambria"/>
                          <a:cs typeface="Cambria"/>
                        </a:rPr>
                        <a:t> </a:t>
                      </a:r>
                      <a:r>
                        <a:rPr sz="1600" b="1" spc="95" dirty="0">
                          <a:solidFill>
                            <a:srgbClr val="231F20"/>
                          </a:solidFill>
                          <a:latin typeface="Cambria"/>
                          <a:cs typeface="Cambria"/>
                        </a:rPr>
                        <a:t>sum</a:t>
                      </a:r>
                      <a:r>
                        <a:rPr sz="1600" b="1" spc="270" dirty="0">
                          <a:solidFill>
                            <a:srgbClr val="231F20"/>
                          </a:solidFill>
                          <a:latin typeface="Cambria"/>
                          <a:cs typeface="Cambria"/>
                        </a:rPr>
                        <a:t> </a:t>
                      </a:r>
                      <a:r>
                        <a:rPr sz="1600" b="1" dirty="0">
                          <a:solidFill>
                            <a:srgbClr val="231F20"/>
                          </a:solidFill>
                          <a:latin typeface="Cambria"/>
                          <a:cs typeface="Cambria"/>
                        </a:rPr>
                        <a:t>of</a:t>
                      </a:r>
                      <a:r>
                        <a:rPr sz="1600" b="1" spc="270" dirty="0">
                          <a:solidFill>
                            <a:srgbClr val="231F20"/>
                          </a:solidFill>
                          <a:latin typeface="Cambria"/>
                          <a:cs typeface="Cambria"/>
                        </a:rPr>
                        <a:t> </a:t>
                      </a:r>
                      <a:r>
                        <a:rPr sz="1600" b="1" spc="50" dirty="0">
                          <a:solidFill>
                            <a:srgbClr val="231F20"/>
                          </a:solidFill>
                          <a:latin typeface="Cambria"/>
                          <a:cs typeface="Cambria"/>
                        </a:rPr>
                        <a:t>the</a:t>
                      </a:r>
                      <a:r>
                        <a:rPr sz="1600" b="1" spc="270" dirty="0">
                          <a:solidFill>
                            <a:srgbClr val="231F20"/>
                          </a:solidFill>
                          <a:latin typeface="Cambria"/>
                          <a:cs typeface="Cambria"/>
                        </a:rPr>
                        <a:t> </a:t>
                      </a:r>
                      <a:r>
                        <a:rPr sz="1600" b="1" spc="50" dirty="0">
                          <a:solidFill>
                            <a:srgbClr val="231F20"/>
                          </a:solidFill>
                          <a:latin typeface="Cambria"/>
                          <a:cs typeface="Cambria"/>
                        </a:rPr>
                        <a:t>elements</a:t>
                      </a:r>
                      <a:r>
                        <a:rPr sz="1600" b="1" spc="270" dirty="0">
                          <a:solidFill>
                            <a:srgbClr val="231F20"/>
                          </a:solidFill>
                          <a:latin typeface="Cambria"/>
                          <a:cs typeface="Cambria"/>
                        </a:rPr>
                        <a:t> </a:t>
                      </a:r>
                      <a:r>
                        <a:rPr sz="1600" b="1" dirty="0">
                          <a:solidFill>
                            <a:srgbClr val="231F20"/>
                          </a:solidFill>
                          <a:latin typeface="Cambria"/>
                          <a:cs typeface="Cambria"/>
                        </a:rPr>
                        <a:t>of</a:t>
                      </a:r>
                      <a:r>
                        <a:rPr sz="1600" b="1" spc="270" dirty="0">
                          <a:solidFill>
                            <a:srgbClr val="231F20"/>
                          </a:solidFill>
                          <a:latin typeface="Cambria"/>
                          <a:cs typeface="Cambria"/>
                        </a:rPr>
                        <a:t> </a:t>
                      </a:r>
                      <a:r>
                        <a:rPr sz="1600" b="1" spc="25" dirty="0">
                          <a:solidFill>
                            <a:srgbClr val="231F20"/>
                          </a:solidFill>
                          <a:latin typeface="Cambria"/>
                          <a:cs typeface="Cambria"/>
                        </a:rPr>
                        <a:t>the</a:t>
                      </a:r>
                      <a:endParaRPr sz="1600" b="1">
                        <a:latin typeface="Cambria"/>
                        <a:cs typeface="Cambria"/>
                      </a:endParaRPr>
                    </a:p>
                  </a:txBody>
                  <a:tcPr marL="0" marR="0" marT="17780" marB="0">
                    <a:lnL w="6350">
                      <a:solidFill>
                        <a:srgbClr val="231F20"/>
                      </a:solidFill>
                      <a:prstDash val="solid"/>
                    </a:lnL>
                    <a:lnR w="6350">
                      <a:solidFill>
                        <a:srgbClr val="231F20"/>
                      </a:solidFill>
                      <a:prstDash val="solid"/>
                    </a:lnR>
                  </a:tcPr>
                </a:tc>
                <a:tc>
                  <a:txBody>
                    <a:bodyPr/>
                    <a:lstStyle/>
                    <a:p>
                      <a:pPr marL="67945">
                        <a:lnSpc>
                          <a:spcPct val="100000"/>
                        </a:lnSpc>
                        <a:spcBef>
                          <a:spcPts val="25"/>
                        </a:spcBef>
                      </a:pPr>
                      <a:r>
                        <a:rPr sz="1600" b="1" spc="-25" dirty="0">
                          <a:solidFill>
                            <a:srgbClr val="231F20"/>
                          </a:solidFill>
                          <a:latin typeface="Courier New"/>
                          <a:cs typeface="Courier New"/>
                        </a:rPr>
                        <a:t>&gt;&gt;&gt;</a:t>
                      </a:r>
                      <a:endParaRPr sz="1600" b="1">
                        <a:latin typeface="Courier New"/>
                        <a:cs typeface="Courier New"/>
                      </a:endParaRPr>
                    </a:p>
                  </a:txBody>
                  <a:tcPr marL="0" marR="0" marT="3175" marB="0">
                    <a:lnL w="6350">
                      <a:solidFill>
                        <a:srgbClr val="231F20"/>
                      </a:solidFill>
                      <a:prstDash val="solid"/>
                    </a:lnL>
                  </a:tcPr>
                </a:tc>
                <a:tc>
                  <a:txBody>
                    <a:bodyPr/>
                    <a:lstStyle/>
                    <a:p>
                      <a:pPr marL="44450">
                        <a:lnSpc>
                          <a:spcPct val="100000"/>
                        </a:lnSpc>
                        <a:spcBef>
                          <a:spcPts val="25"/>
                        </a:spcBef>
                      </a:pPr>
                      <a:r>
                        <a:rPr sz="1600" b="1" spc="-10" dirty="0">
                          <a:solidFill>
                            <a:srgbClr val="231F20"/>
                          </a:solidFill>
                          <a:latin typeface="Courier New"/>
                          <a:cs typeface="Courier New"/>
                        </a:rPr>
                        <a:t>sum(tuple1)</a:t>
                      </a:r>
                      <a:endParaRPr sz="1600" b="1">
                        <a:latin typeface="Courier New"/>
                        <a:cs typeface="Courier New"/>
                      </a:endParaRPr>
                    </a:p>
                  </a:txBody>
                  <a:tcPr marL="0" marR="0" marT="3175" marB="0">
                    <a:lnR w="6350">
                      <a:solidFill>
                        <a:srgbClr val="231F20"/>
                      </a:solidFill>
                      <a:prstDash val="solid"/>
                    </a:lnR>
                  </a:tcPr>
                </a:tc>
              </a:tr>
              <a:tr h="228600">
                <a:tc>
                  <a:txBody>
                    <a:bodyPr/>
                    <a:lstStyle/>
                    <a:p>
                      <a:pPr>
                        <a:lnSpc>
                          <a:spcPct val="100000"/>
                        </a:lnSpc>
                      </a:pPr>
                      <a:endParaRPr sz="1600" b="1">
                        <a:latin typeface="Times New Roman"/>
                        <a:cs typeface="Times New Roman"/>
                      </a:endParaRPr>
                    </a:p>
                  </a:txBody>
                  <a:tcPr marL="0" marR="0" marT="0" marB="0">
                    <a:lnL w="6350">
                      <a:solidFill>
                        <a:srgbClr val="231F20"/>
                      </a:solidFill>
                      <a:prstDash val="solid"/>
                    </a:lnL>
                    <a:lnR w="6350">
                      <a:solidFill>
                        <a:srgbClr val="231F20"/>
                      </a:solidFill>
                      <a:prstDash val="solid"/>
                    </a:lnR>
                    <a:lnB w="6350">
                      <a:solidFill>
                        <a:srgbClr val="231F20"/>
                      </a:solidFill>
                      <a:prstDash val="solid"/>
                    </a:lnB>
                  </a:tcPr>
                </a:tc>
                <a:tc>
                  <a:txBody>
                    <a:bodyPr/>
                    <a:lstStyle/>
                    <a:p>
                      <a:pPr marL="67945">
                        <a:lnSpc>
                          <a:spcPts val="1125"/>
                        </a:lnSpc>
                      </a:pPr>
                      <a:r>
                        <a:rPr sz="1600" b="1" spc="40" dirty="0">
                          <a:solidFill>
                            <a:srgbClr val="231F20"/>
                          </a:solidFill>
                          <a:latin typeface="Cambria"/>
                          <a:cs typeface="Cambria"/>
                        </a:rPr>
                        <a:t>tuple</a:t>
                      </a:r>
                      <a:endParaRPr sz="1600" b="1">
                        <a:latin typeface="Cambria"/>
                        <a:cs typeface="Cambria"/>
                      </a:endParaRPr>
                    </a:p>
                  </a:txBody>
                  <a:tcPr marL="0" marR="0" marT="0" marB="0">
                    <a:lnL w="6350">
                      <a:solidFill>
                        <a:srgbClr val="231F20"/>
                      </a:solidFill>
                      <a:prstDash val="solid"/>
                    </a:lnL>
                    <a:lnR w="6350">
                      <a:solidFill>
                        <a:srgbClr val="231F20"/>
                      </a:solidFill>
                      <a:prstDash val="solid"/>
                    </a:lnR>
                    <a:lnB w="6350">
                      <a:solidFill>
                        <a:srgbClr val="231F20"/>
                      </a:solidFill>
                      <a:prstDash val="solid"/>
                    </a:lnB>
                  </a:tcPr>
                </a:tc>
                <a:tc>
                  <a:txBody>
                    <a:bodyPr/>
                    <a:lstStyle/>
                    <a:p>
                      <a:pPr marL="67945">
                        <a:lnSpc>
                          <a:spcPct val="100000"/>
                        </a:lnSpc>
                        <a:spcBef>
                          <a:spcPts val="90"/>
                        </a:spcBef>
                      </a:pPr>
                      <a:r>
                        <a:rPr sz="1600" b="1" spc="25" dirty="0">
                          <a:solidFill>
                            <a:srgbClr val="231F20"/>
                          </a:solidFill>
                          <a:latin typeface="Courier New"/>
                          <a:cs typeface="Courier New"/>
                        </a:rPr>
                        <a:t>235</a:t>
                      </a:r>
                      <a:endParaRPr sz="1600" b="1">
                        <a:latin typeface="Courier New"/>
                        <a:cs typeface="Courier New"/>
                      </a:endParaRPr>
                    </a:p>
                  </a:txBody>
                  <a:tcPr marL="0" marR="0" marT="11430" marB="0">
                    <a:lnL w="6350">
                      <a:solidFill>
                        <a:srgbClr val="231F20"/>
                      </a:solidFill>
                      <a:prstDash val="solid"/>
                    </a:lnL>
                    <a:lnB w="6350">
                      <a:solidFill>
                        <a:srgbClr val="231F20"/>
                      </a:solidFill>
                      <a:prstDash val="solid"/>
                    </a:lnB>
                  </a:tcPr>
                </a:tc>
                <a:tc>
                  <a:txBody>
                    <a:bodyPr/>
                    <a:lstStyle/>
                    <a:p>
                      <a:pPr>
                        <a:lnSpc>
                          <a:spcPct val="100000"/>
                        </a:lnSpc>
                      </a:pPr>
                      <a:endParaRPr sz="1600" b="1">
                        <a:latin typeface="Times New Roman"/>
                        <a:cs typeface="Times New Roman"/>
                      </a:endParaRPr>
                    </a:p>
                  </a:txBody>
                  <a:tcPr marL="0" marR="0" marT="0" marB="0">
                    <a:lnR w="6350">
                      <a:solidFill>
                        <a:srgbClr val="231F20"/>
                      </a:solidFill>
                      <a:prstDash val="solid"/>
                    </a:lnR>
                    <a:lnB w="6350">
                      <a:solidFill>
                        <a:srgbClr val="231F20"/>
                      </a:solidFill>
                      <a:prstDash val="solid"/>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469900" y="1513790"/>
            <a:ext cx="7391400" cy="424731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sz="2800" b="0" i="0" u="none" strike="noStrike" cap="none" normalizeH="0" baseline="0" dirty="0" err="1" smtClean="0">
                <a:ln>
                  <a:noFill/>
                </a:ln>
                <a:solidFill>
                  <a:srgbClr val="000000"/>
                </a:solidFill>
                <a:effectLst/>
                <a:cs typeface="Arial" pitchFamily="34" charset="0"/>
              </a:rPr>
              <a:t>len</a:t>
            </a:r>
            <a:r>
              <a:rPr kumimoji="0" lang="en-US" sz="2800" b="0" i="0" u="none" strike="noStrike" cap="none" normalizeH="0" baseline="0" dirty="0" smtClean="0">
                <a:ln>
                  <a:noFill/>
                </a:ln>
                <a:solidFill>
                  <a:srgbClr val="000000"/>
                </a:solidFill>
                <a:effectLst/>
                <a:cs typeface="Arial" pitchFamily="34" charset="0"/>
              </a:rPr>
              <a:t>(</a:t>
            </a:r>
            <a:r>
              <a:rPr kumimoji="0" lang="en-US" sz="2800" b="0" i="1" u="none" strike="noStrike" cap="none" normalizeH="0" baseline="0" dirty="0" smtClean="0">
                <a:ln>
                  <a:noFill/>
                </a:ln>
                <a:solidFill>
                  <a:srgbClr val="000000"/>
                </a:solidFill>
                <a:effectLst/>
                <a:cs typeface="Arial" pitchFamily="34" charset="0"/>
              </a:rPr>
              <a:t> object </a:t>
            </a:r>
            <a:r>
              <a:rPr kumimoji="0" lang="en-US" sz="2800" b="0" i="0" u="none" strike="noStrike" cap="none" normalizeH="0" baseline="0" dirty="0" smtClean="0">
                <a:ln>
                  <a:noFill/>
                </a:ln>
                <a:solidFill>
                  <a:srgbClr val="000000"/>
                </a:solidFill>
                <a:effectLst/>
                <a:cs typeface="Arial" pitchFamily="34" charset="0"/>
              </a:rPr>
              <a:t>) → integer</a:t>
            </a:r>
          </a:p>
          <a:p>
            <a:pPr marL="457200" marR="0" lvl="1" indent="-457200" algn="l" defTabSz="914400" rtl="0" eaLnBrk="0" fontAlgn="base" latinLnBrk="0" hangingPunct="0">
              <a:lnSpc>
                <a:spcPct val="150000"/>
              </a:lnSpc>
              <a:spcBef>
                <a:spcPct val="0"/>
              </a:spcBef>
              <a:spcAft>
                <a:spcPct val="0"/>
              </a:spcAft>
              <a:buClrTx/>
              <a:buSzTx/>
              <a:buFontTx/>
              <a:buNone/>
              <a:tabLst/>
            </a:pPr>
            <a:r>
              <a:rPr kumimoji="0" lang="en-US" sz="2800" b="0" i="0" u="none" strike="noStrike" cap="none" normalizeH="0" baseline="0" dirty="0" smtClean="0">
                <a:ln>
                  <a:noFill/>
                </a:ln>
                <a:solidFill>
                  <a:srgbClr val="000000"/>
                </a:solidFill>
                <a:effectLst/>
                <a:cs typeface="Arial" pitchFamily="34" charset="0"/>
              </a:rPr>
              <a:t>Return the number of items of a sequence</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800" b="0" i="0" u="none" strike="noStrike" cap="none" normalizeH="0" baseline="0" dirty="0" smtClean="0">
                <a:ln>
                  <a:noFill/>
                </a:ln>
                <a:solidFill>
                  <a:srgbClr val="000000"/>
                </a:solidFill>
                <a:effectLst/>
                <a:cs typeface="Arial" pitchFamily="34" charset="0"/>
              </a:rPr>
              <a:t>max(</a:t>
            </a:r>
            <a:r>
              <a:rPr kumimoji="0" lang="en-US" sz="2800" b="0" i="1" u="none" strike="noStrike" cap="none" normalizeH="0" baseline="0" dirty="0" smtClean="0">
                <a:ln>
                  <a:noFill/>
                </a:ln>
                <a:solidFill>
                  <a:srgbClr val="000000"/>
                </a:solidFill>
                <a:effectLst/>
                <a:cs typeface="Arial" pitchFamily="34" charset="0"/>
              </a:rPr>
              <a:t> </a:t>
            </a:r>
            <a:r>
              <a:rPr kumimoji="0" lang="en-US" sz="2800" b="0" i="1" u="none" strike="noStrike" cap="none" normalizeH="0" baseline="0" dirty="0" err="1" smtClean="0">
                <a:ln>
                  <a:noFill/>
                </a:ln>
                <a:solidFill>
                  <a:srgbClr val="000000"/>
                </a:solidFill>
                <a:effectLst/>
                <a:cs typeface="Arial" pitchFamily="34" charset="0"/>
              </a:rPr>
              <a:t>tuple</a:t>
            </a:r>
            <a:r>
              <a:rPr kumimoji="0" lang="en-US" sz="2800" b="0" i="1" u="none" strike="noStrike" cap="none" normalizeH="0" baseline="0" dirty="0" smtClean="0">
                <a:ln>
                  <a:noFill/>
                </a:ln>
                <a:solidFill>
                  <a:srgbClr val="000000"/>
                </a:solidFill>
                <a:effectLst/>
                <a:cs typeface="Arial" pitchFamily="34" charset="0"/>
              </a:rPr>
              <a:t> </a:t>
            </a:r>
            <a:r>
              <a:rPr kumimoji="0" lang="en-US" sz="2800" b="0" i="0" u="none" strike="noStrike" cap="none" normalizeH="0" baseline="0" dirty="0" smtClean="0">
                <a:ln>
                  <a:noFill/>
                </a:ln>
                <a:solidFill>
                  <a:srgbClr val="000000"/>
                </a:solidFill>
                <a:effectLst/>
                <a:cs typeface="Arial" pitchFamily="34" charset="0"/>
              </a:rPr>
              <a:t>) → value</a:t>
            </a:r>
          </a:p>
          <a:p>
            <a:pPr marL="457200" marR="0" lvl="1" indent="-457200" algn="l" defTabSz="914400" rtl="0" eaLnBrk="0" fontAlgn="base" latinLnBrk="0" hangingPunct="0">
              <a:lnSpc>
                <a:spcPct val="150000"/>
              </a:lnSpc>
              <a:spcBef>
                <a:spcPct val="0"/>
              </a:spcBef>
              <a:spcAft>
                <a:spcPct val="0"/>
              </a:spcAft>
              <a:buClrTx/>
              <a:buSzTx/>
              <a:buFontTx/>
              <a:buNone/>
              <a:tabLst/>
            </a:pPr>
            <a:r>
              <a:rPr kumimoji="0" lang="en-US" sz="2800" b="0" i="0" u="none" strike="noStrike" cap="none" normalizeH="0" baseline="0" dirty="0" smtClean="0">
                <a:ln>
                  <a:noFill/>
                </a:ln>
                <a:solidFill>
                  <a:srgbClr val="000000"/>
                </a:solidFill>
                <a:effectLst/>
                <a:cs typeface="Arial" pitchFamily="34" charset="0"/>
              </a:rPr>
              <a:t>Return its largest item in the sequence.</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800" b="0" i="0" u="none" strike="noStrike" cap="none" normalizeH="0" baseline="0" dirty="0" smtClean="0">
                <a:ln>
                  <a:noFill/>
                </a:ln>
                <a:solidFill>
                  <a:srgbClr val="000000"/>
                </a:solidFill>
                <a:effectLst/>
                <a:cs typeface="Arial" pitchFamily="34" charset="0"/>
              </a:rPr>
              <a:t>min(</a:t>
            </a:r>
            <a:r>
              <a:rPr kumimoji="0" lang="en-US" sz="2800" b="0" i="1" u="none" strike="noStrike" cap="none" normalizeH="0" baseline="0" dirty="0" smtClean="0">
                <a:ln>
                  <a:noFill/>
                </a:ln>
                <a:solidFill>
                  <a:srgbClr val="000000"/>
                </a:solidFill>
                <a:effectLst/>
                <a:cs typeface="Arial" pitchFamily="34" charset="0"/>
              </a:rPr>
              <a:t> </a:t>
            </a:r>
            <a:r>
              <a:rPr kumimoji="0" lang="en-US" sz="2800" b="0" i="1" u="none" strike="noStrike" cap="none" normalizeH="0" baseline="0" dirty="0" err="1" smtClean="0">
                <a:ln>
                  <a:noFill/>
                </a:ln>
                <a:solidFill>
                  <a:srgbClr val="000000"/>
                </a:solidFill>
                <a:effectLst/>
                <a:cs typeface="Arial" pitchFamily="34" charset="0"/>
              </a:rPr>
              <a:t>tuple</a:t>
            </a:r>
            <a:r>
              <a:rPr kumimoji="0" lang="en-US" sz="2800" b="0" i="1" u="none" strike="noStrike" cap="none" normalizeH="0" baseline="0" dirty="0" smtClean="0">
                <a:ln>
                  <a:noFill/>
                </a:ln>
                <a:solidFill>
                  <a:srgbClr val="000000"/>
                </a:solidFill>
                <a:effectLst/>
                <a:cs typeface="Arial" pitchFamily="34" charset="0"/>
              </a:rPr>
              <a:t> </a:t>
            </a:r>
            <a:r>
              <a:rPr kumimoji="0" lang="en-US" sz="2800" b="0" i="0" u="none" strike="noStrike" cap="none" normalizeH="0" baseline="0" dirty="0" smtClean="0">
                <a:ln>
                  <a:noFill/>
                </a:ln>
                <a:solidFill>
                  <a:srgbClr val="000000"/>
                </a:solidFill>
                <a:effectLst/>
                <a:cs typeface="Arial" pitchFamily="34" charset="0"/>
              </a:rPr>
              <a:t>) → value</a:t>
            </a:r>
          </a:p>
          <a:p>
            <a:pPr marL="457200" marR="0" lvl="1" indent="-457200" algn="l" defTabSz="914400" rtl="0" eaLnBrk="0" fontAlgn="base" latinLnBrk="0" hangingPunct="0">
              <a:lnSpc>
                <a:spcPct val="150000"/>
              </a:lnSpc>
              <a:spcBef>
                <a:spcPct val="0"/>
              </a:spcBef>
              <a:spcAft>
                <a:spcPct val="0"/>
              </a:spcAft>
              <a:buClrTx/>
              <a:buSzTx/>
              <a:buFontTx/>
              <a:buNone/>
              <a:tabLst/>
            </a:pPr>
            <a:r>
              <a:rPr kumimoji="0" lang="en-US" sz="2800" b="0" i="0" u="none" strike="noStrike" cap="none" normalizeH="0" baseline="0" dirty="0" smtClean="0">
                <a:ln>
                  <a:noFill/>
                </a:ln>
                <a:solidFill>
                  <a:srgbClr val="000000"/>
                </a:solidFill>
                <a:effectLst/>
                <a:cs typeface="Arial" pitchFamily="34" charset="0"/>
              </a:rPr>
              <a:t>Return its smallest item in the sequence.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5" name="Rectangle 4"/>
          <p:cNvSpPr/>
          <p:nvPr/>
        </p:nvSpPr>
        <p:spPr>
          <a:xfrm>
            <a:off x="2603500" y="-180975"/>
            <a:ext cx="5853141" cy="920252"/>
          </a:xfrm>
          <a:prstGeom prst="rect">
            <a:avLst/>
          </a:prstGeom>
        </p:spPr>
        <p:txBody>
          <a:bodyPr wrap="none">
            <a:spAutoFit/>
          </a:bodyPr>
          <a:lstStyle/>
          <a:p>
            <a:pPr lvl="0" fontAlgn="base">
              <a:lnSpc>
                <a:spcPct val="150000"/>
              </a:lnSpc>
              <a:spcBef>
                <a:spcPct val="0"/>
              </a:spcBef>
              <a:spcAft>
                <a:spcPct val="0"/>
              </a:spcAft>
            </a:pPr>
            <a:r>
              <a:rPr lang="en-US" dirty="0" smtClean="0">
                <a:solidFill>
                  <a:srgbClr val="FF0000"/>
                </a:solidFill>
                <a:cs typeface="Arial" pitchFamily="34" charset="0"/>
              </a:rPr>
              <a:t> </a:t>
            </a:r>
            <a:r>
              <a:rPr lang="en-US" sz="4000" dirty="0" smtClean="0">
                <a:solidFill>
                  <a:srgbClr val="FF0000"/>
                </a:solidFill>
                <a:cs typeface="Arial" pitchFamily="34" charset="0"/>
              </a:rPr>
              <a:t>Built-in functions  in Tuples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p:nvPr/>
        </p:nvSpPr>
        <p:spPr>
          <a:xfrm>
            <a:off x="698500" y="1495425"/>
            <a:ext cx="9601200" cy="2610843"/>
          </a:xfrm>
          <a:prstGeom prst="rect">
            <a:avLst/>
          </a:prstGeom>
        </p:spPr>
        <p:txBody>
          <a:bodyPr wrap="square">
            <a:spAutoFit/>
          </a:bodyPr>
          <a:lstStyle/>
          <a:p>
            <a:pPr lvl="0" eaLnBrk="0" fontAlgn="base" hangingPunct="0">
              <a:lnSpc>
                <a:spcPct val="150000"/>
              </a:lnSpc>
              <a:spcBef>
                <a:spcPct val="0"/>
              </a:spcBef>
              <a:spcAft>
                <a:spcPct val="0"/>
              </a:spcAft>
            </a:pPr>
            <a:r>
              <a:rPr lang="en-US" sz="2800" dirty="0" smtClean="0">
                <a:solidFill>
                  <a:srgbClr val="000000"/>
                </a:solidFill>
                <a:cs typeface="Arial" pitchFamily="34" charset="0"/>
              </a:rPr>
              <a:t>any(</a:t>
            </a:r>
            <a:r>
              <a:rPr lang="en-US" sz="2800" i="1" dirty="0" smtClean="0">
                <a:solidFill>
                  <a:srgbClr val="000000"/>
                </a:solidFill>
                <a:cs typeface="Arial" pitchFamily="34" charset="0"/>
              </a:rPr>
              <a:t> </a:t>
            </a:r>
            <a:r>
              <a:rPr lang="en-US" sz="2800" i="1" dirty="0" err="1" smtClean="0">
                <a:solidFill>
                  <a:srgbClr val="000000"/>
                </a:solidFill>
                <a:cs typeface="Arial" pitchFamily="34" charset="0"/>
              </a:rPr>
              <a:t>tuple</a:t>
            </a:r>
            <a:r>
              <a:rPr lang="en-US" sz="2800" i="1" dirty="0" smtClean="0">
                <a:solidFill>
                  <a:srgbClr val="000000"/>
                </a:solidFill>
                <a:cs typeface="Arial" pitchFamily="34" charset="0"/>
              </a:rPr>
              <a:t> </a:t>
            </a:r>
            <a:r>
              <a:rPr lang="en-US" sz="2800" dirty="0" smtClean="0">
                <a:solidFill>
                  <a:srgbClr val="000000"/>
                </a:solidFill>
                <a:cs typeface="Arial" pitchFamily="34" charset="0"/>
              </a:rPr>
              <a:t>) → </a:t>
            </a:r>
            <a:r>
              <a:rPr lang="en-US" sz="2800" dirty="0" err="1" smtClean="0">
                <a:solidFill>
                  <a:srgbClr val="000000"/>
                </a:solidFill>
                <a:cs typeface="Arial" pitchFamily="34" charset="0"/>
              </a:rPr>
              <a:t>boolean</a:t>
            </a:r>
            <a:endParaRPr lang="en-US" sz="2800" dirty="0" smtClean="0">
              <a:solidFill>
                <a:srgbClr val="000000"/>
              </a:solidFill>
              <a:cs typeface="Arial" pitchFamily="34" charset="0"/>
            </a:endParaRPr>
          </a:p>
          <a:p>
            <a:pPr lvl="1" indent="-457200" eaLnBrk="0" fontAlgn="base" hangingPunct="0">
              <a:lnSpc>
                <a:spcPct val="150000"/>
              </a:lnSpc>
              <a:spcBef>
                <a:spcPct val="0"/>
              </a:spcBef>
              <a:spcAft>
                <a:spcPct val="0"/>
              </a:spcAft>
            </a:pPr>
            <a:r>
              <a:rPr lang="en-US" sz="2800" dirty="0" smtClean="0">
                <a:solidFill>
                  <a:srgbClr val="000000"/>
                </a:solidFill>
                <a:cs typeface="Arial" pitchFamily="34" charset="0"/>
              </a:rPr>
              <a:t>Return True if there exists an item in the sequence which is True.</a:t>
            </a:r>
          </a:p>
          <a:p>
            <a:pPr lvl="0" eaLnBrk="0" fontAlgn="base" hangingPunct="0">
              <a:lnSpc>
                <a:spcPct val="150000"/>
              </a:lnSpc>
              <a:spcBef>
                <a:spcPct val="0"/>
              </a:spcBef>
              <a:spcAft>
                <a:spcPct val="0"/>
              </a:spcAft>
            </a:pPr>
            <a:r>
              <a:rPr lang="en-US" sz="2800" dirty="0" smtClean="0">
                <a:solidFill>
                  <a:srgbClr val="000000"/>
                </a:solidFill>
                <a:cs typeface="Arial" pitchFamily="34" charset="0"/>
              </a:rPr>
              <a:t>all(</a:t>
            </a:r>
            <a:r>
              <a:rPr lang="en-US" sz="2800" i="1" dirty="0" smtClean="0">
                <a:solidFill>
                  <a:srgbClr val="000000"/>
                </a:solidFill>
                <a:cs typeface="Arial" pitchFamily="34" charset="0"/>
              </a:rPr>
              <a:t> </a:t>
            </a:r>
            <a:r>
              <a:rPr lang="en-US" sz="2800" i="1" dirty="0" err="1" smtClean="0">
                <a:solidFill>
                  <a:srgbClr val="000000"/>
                </a:solidFill>
                <a:cs typeface="Arial" pitchFamily="34" charset="0"/>
              </a:rPr>
              <a:t>tuple</a:t>
            </a:r>
            <a:r>
              <a:rPr lang="en-US" sz="2800" i="1" dirty="0" smtClean="0">
                <a:solidFill>
                  <a:srgbClr val="000000"/>
                </a:solidFill>
                <a:cs typeface="Arial" pitchFamily="34" charset="0"/>
              </a:rPr>
              <a:t> </a:t>
            </a:r>
            <a:r>
              <a:rPr lang="en-US" sz="2800" dirty="0" smtClean="0">
                <a:solidFill>
                  <a:srgbClr val="000000"/>
                </a:solidFill>
                <a:cs typeface="Arial" pitchFamily="34" charset="0"/>
              </a:rPr>
              <a:t>) → </a:t>
            </a:r>
            <a:r>
              <a:rPr lang="en-US" sz="2800" dirty="0" err="1" smtClean="0">
                <a:solidFill>
                  <a:srgbClr val="000000"/>
                </a:solidFill>
                <a:cs typeface="Arial" pitchFamily="34" charset="0"/>
              </a:rPr>
              <a:t>boolean</a:t>
            </a:r>
            <a:endParaRPr lang="en-US" sz="2800" dirty="0" smtClean="0">
              <a:solidFill>
                <a:srgbClr val="000000"/>
              </a:solidFill>
              <a:cs typeface="Arial" pitchFamily="34" charset="0"/>
            </a:endParaRPr>
          </a:p>
          <a:p>
            <a:pPr lvl="1" indent="-457200" eaLnBrk="0" fontAlgn="base" hangingPunct="0">
              <a:lnSpc>
                <a:spcPct val="150000"/>
              </a:lnSpc>
              <a:spcBef>
                <a:spcPct val="0"/>
              </a:spcBef>
              <a:spcAft>
                <a:spcPct val="0"/>
              </a:spcAft>
            </a:pPr>
            <a:r>
              <a:rPr lang="en-US" sz="2800" dirty="0" smtClean="0">
                <a:solidFill>
                  <a:srgbClr val="000000"/>
                </a:solidFill>
                <a:cs typeface="Arial" pitchFamily="34" charset="0"/>
              </a:rPr>
              <a:t>Return True if all items in the sequence are True.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p:nvPr/>
        </p:nvSpPr>
        <p:spPr>
          <a:xfrm>
            <a:off x="1003300" y="1343025"/>
            <a:ext cx="5346700" cy="2739211"/>
          </a:xfrm>
          <a:prstGeom prst="rect">
            <a:avLst/>
          </a:prstGeom>
        </p:spPr>
        <p:txBody>
          <a:bodyPr>
            <a:spAutoFit/>
          </a:bodyPr>
          <a:lstStyle/>
          <a:p>
            <a:r>
              <a:rPr lang="de-DE" sz="2800" dirty="0" smtClean="0"/>
              <a:t>&gt;&gt;&gt; t1=(2,3,4,5,0)</a:t>
            </a:r>
          </a:p>
          <a:p>
            <a:r>
              <a:rPr lang="de-DE" sz="2800" dirty="0" smtClean="0"/>
              <a:t>&gt;&gt;&gt; any(t1)</a:t>
            </a:r>
          </a:p>
          <a:p>
            <a:r>
              <a:rPr lang="de-DE" sz="2800" dirty="0" smtClean="0"/>
              <a:t>True</a:t>
            </a:r>
          </a:p>
          <a:p>
            <a:r>
              <a:rPr lang="de-DE" sz="2800" dirty="0" smtClean="0"/>
              <a:t>&gt;&gt;&gt; all(t1)</a:t>
            </a:r>
          </a:p>
          <a:p>
            <a:r>
              <a:rPr lang="de-DE" sz="2800" dirty="0" smtClean="0"/>
              <a:t>False</a:t>
            </a:r>
          </a:p>
          <a:p>
            <a:endParaRPr lang="en-US" sz="3200" dirty="0"/>
          </a:p>
        </p:txBody>
      </p:sp>
      <p:sp>
        <p:nvSpPr>
          <p:cNvPr id="5" name="Rectangle 4"/>
          <p:cNvSpPr/>
          <p:nvPr/>
        </p:nvSpPr>
        <p:spPr>
          <a:xfrm>
            <a:off x="927100" y="3857625"/>
            <a:ext cx="5346700" cy="2308324"/>
          </a:xfrm>
          <a:prstGeom prst="rect">
            <a:avLst/>
          </a:prstGeom>
        </p:spPr>
        <p:txBody>
          <a:bodyPr>
            <a:spAutoFit/>
          </a:bodyPr>
          <a:lstStyle/>
          <a:p>
            <a:r>
              <a:rPr lang="en-US" sz="2400" dirty="0" smtClean="0"/>
              <a:t>&gt;&gt;&gt; t2=(2,3,'a')</a:t>
            </a:r>
          </a:p>
          <a:p>
            <a:r>
              <a:rPr lang="en-US" sz="2400" dirty="0" smtClean="0"/>
              <a:t>&gt;&gt;&gt; any(t2)</a:t>
            </a:r>
          </a:p>
          <a:p>
            <a:r>
              <a:rPr lang="en-US" sz="2400" dirty="0" smtClean="0"/>
              <a:t>True</a:t>
            </a:r>
          </a:p>
          <a:p>
            <a:r>
              <a:rPr lang="en-US" sz="2400" dirty="0" smtClean="0"/>
              <a:t>&gt;&gt;&gt; all(t2)</a:t>
            </a:r>
          </a:p>
          <a:p>
            <a:r>
              <a:rPr lang="en-US" sz="2400" dirty="0" smtClean="0"/>
              <a:t>True</a:t>
            </a:r>
          </a:p>
          <a:p>
            <a:r>
              <a:rPr lang="en-US" sz="2400" dirty="0" smtClean="0"/>
              <a:t>&gt;&gt;&gt; </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5" name="Rectangle 1"/>
          <p:cNvSpPr>
            <a:spLocks noChangeArrowheads="1"/>
          </p:cNvSpPr>
          <p:nvPr/>
        </p:nvSpPr>
        <p:spPr bwMode="auto">
          <a:xfrm>
            <a:off x="317500" y="967487"/>
            <a:ext cx="9906000" cy="4339650"/>
          </a:xfrm>
          <a:prstGeom prst="rect">
            <a:avLst/>
          </a:prstGeom>
          <a:solidFill>
            <a:schemeClr val="bg1"/>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rgbClr val="222222"/>
                </a:solidFill>
                <a:effectLst/>
                <a:cs typeface="Arial" pitchFamily="34" charset="0"/>
              </a:rPr>
              <a:t>Packing and Unpacking</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dirty="0" smtClean="0">
              <a:ln>
                <a:noFill/>
              </a:ln>
              <a:solidFill>
                <a:srgbClr val="222222"/>
              </a:solidFill>
              <a:effectLst/>
              <a:cs typeface="Arial" pitchFamily="34" charset="0"/>
            </a:endParaRPr>
          </a:p>
          <a:p>
            <a:pPr marL="0" marR="0" lvl="0" indent="0" algn="l" defTabSz="914400" rtl="0" eaLnBrk="0" fontAlgn="base" latinLnBrk="0" hangingPunct="0">
              <a:spcBef>
                <a:spcPct val="0"/>
              </a:spcBef>
              <a:spcAft>
                <a:spcPct val="0"/>
              </a:spcAft>
              <a:buClrTx/>
              <a:buSzTx/>
              <a:buFontTx/>
              <a:buNone/>
              <a:tabLst/>
            </a:pPr>
            <a:r>
              <a:rPr kumimoji="0" lang="en-US" sz="2400" b="0" i="0" u="none" strike="noStrike" cap="none" normalizeH="0" baseline="0" dirty="0" smtClean="0">
                <a:ln>
                  <a:noFill/>
                </a:ln>
                <a:solidFill>
                  <a:srgbClr val="222222"/>
                </a:solidFill>
                <a:effectLst/>
                <a:cs typeface="Arial" pitchFamily="34" charset="0"/>
              </a:rPr>
              <a:t>In packing, we place value into a new </a:t>
            </a:r>
            <a:r>
              <a:rPr kumimoji="0" lang="en-US" sz="2400" b="0" i="0" u="none" strike="noStrike" cap="none" normalizeH="0" baseline="0" dirty="0" err="1" smtClean="0">
                <a:ln>
                  <a:noFill/>
                </a:ln>
                <a:solidFill>
                  <a:srgbClr val="222222"/>
                </a:solidFill>
                <a:effectLst/>
                <a:cs typeface="Arial" pitchFamily="34" charset="0"/>
              </a:rPr>
              <a:t>tuple</a:t>
            </a:r>
            <a:r>
              <a:rPr kumimoji="0" lang="en-US" sz="2400" b="0" i="0" u="none" strike="noStrike" cap="none" normalizeH="0" baseline="0" dirty="0" smtClean="0">
                <a:ln>
                  <a:noFill/>
                </a:ln>
                <a:solidFill>
                  <a:srgbClr val="222222"/>
                </a:solidFill>
                <a:effectLst/>
                <a:cs typeface="Arial" pitchFamily="34" charset="0"/>
              </a:rPr>
              <a:t> while in unpacking we extract those values back into variables.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400" b="0" i="0" u="none" strike="noStrike" cap="none" normalizeH="0" baseline="0" dirty="0" smtClean="0">
                <a:ln>
                  <a:noFill/>
                </a:ln>
                <a:solidFill>
                  <a:srgbClr val="222222"/>
                </a:solidFill>
                <a:effectLst/>
                <a:cs typeface="Arial" pitchFamily="34" charset="0"/>
              </a:rPr>
              <a:t>x = (“Silicon", 20, "Education")     # </a:t>
            </a:r>
            <a:r>
              <a:rPr kumimoji="0" lang="en-US" sz="2400" b="0" i="0" u="none" strike="noStrike" cap="none" normalizeH="0" baseline="0" dirty="0" err="1" smtClean="0">
                <a:ln>
                  <a:noFill/>
                </a:ln>
                <a:solidFill>
                  <a:srgbClr val="222222"/>
                </a:solidFill>
                <a:effectLst/>
                <a:cs typeface="Arial" pitchFamily="34" charset="0"/>
              </a:rPr>
              <a:t>tuple</a:t>
            </a:r>
            <a:r>
              <a:rPr kumimoji="0" lang="en-US" sz="2400" b="0" i="0" u="none" strike="noStrike" cap="none" normalizeH="0" baseline="0" dirty="0" smtClean="0">
                <a:ln>
                  <a:noFill/>
                </a:ln>
                <a:solidFill>
                  <a:srgbClr val="222222"/>
                </a:solidFill>
                <a:effectLst/>
                <a:cs typeface="Arial" pitchFamily="34" charset="0"/>
              </a:rPr>
              <a:t> packing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400" b="0" i="0" u="none" strike="noStrike" cap="none" normalizeH="0" baseline="0" dirty="0" smtClean="0">
                <a:ln>
                  <a:noFill/>
                </a:ln>
                <a:solidFill>
                  <a:srgbClr val="222222"/>
                </a:solidFill>
                <a:effectLst/>
                <a:cs typeface="Arial" pitchFamily="34" charset="0"/>
              </a:rPr>
              <a:t>(company, </a:t>
            </a:r>
            <a:r>
              <a:rPr kumimoji="0" lang="en-US" sz="2400" b="0" i="0" u="none" strike="noStrike" cap="none" normalizeH="0" baseline="0" dirty="0" err="1" smtClean="0">
                <a:ln>
                  <a:noFill/>
                </a:ln>
                <a:solidFill>
                  <a:srgbClr val="222222"/>
                </a:solidFill>
                <a:effectLst/>
                <a:cs typeface="Arial" pitchFamily="34" charset="0"/>
              </a:rPr>
              <a:t>emp</a:t>
            </a:r>
            <a:r>
              <a:rPr kumimoji="0" lang="en-US" sz="2400" b="0" i="0" u="none" strike="noStrike" cap="none" normalizeH="0" baseline="0" dirty="0" smtClean="0">
                <a:ln>
                  <a:noFill/>
                </a:ln>
                <a:solidFill>
                  <a:srgbClr val="222222"/>
                </a:solidFill>
                <a:effectLst/>
                <a:cs typeface="Arial" pitchFamily="34" charset="0"/>
              </a:rPr>
              <a:t>, profile) = x            # </a:t>
            </a:r>
            <a:r>
              <a:rPr kumimoji="0" lang="en-US" sz="2400" b="0" i="0" u="none" strike="noStrike" cap="none" normalizeH="0" baseline="0" dirty="0" err="1" smtClean="0">
                <a:ln>
                  <a:noFill/>
                </a:ln>
                <a:solidFill>
                  <a:srgbClr val="222222"/>
                </a:solidFill>
                <a:effectLst/>
                <a:cs typeface="Arial" pitchFamily="34" charset="0"/>
              </a:rPr>
              <a:t>tuple</a:t>
            </a:r>
            <a:r>
              <a:rPr kumimoji="0" lang="en-US" sz="2400" b="0" i="0" u="none" strike="noStrike" cap="none" normalizeH="0" baseline="0" dirty="0" smtClean="0">
                <a:ln>
                  <a:noFill/>
                </a:ln>
                <a:solidFill>
                  <a:srgbClr val="222222"/>
                </a:solidFill>
                <a:effectLst/>
                <a:cs typeface="Arial" pitchFamily="34" charset="0"/>
              </a:rPr>
              <a:t> unpacking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400" b="0" i="0" u="none" strike="noStrike" cap="none" normalizeH="0" baseline="0" dirty="0" smtClean="0">
                <a:ln>
                  <a:noFill/>
                </a:ln>
                <a:solidFill>
                  <a:srgbClr val="222222"/>
                </a:solidFill>
                <a:effectLst/>
                <a:cs typeface="Arial" pitchFamily="34" charset="0"/>
              </a:rPr>
              <a:t>print(company)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400" b="0" i="0" u="none" strike="noStrike" cap="none" normalizeH="0" baseline="0" dirty="0" smtClean="0">
                <a:ln>
                  <a:noFill/>
                </a:ln>
                <a:solidFill>
                  <a:srgbClr val="222222"/>
                </a:solidFill>
                <a:effectLst/>
                <a:cs typeface="Arial" pitchFamily="34" charset="0"/>
              </a:rPr>
              <a:t>print(</a:t>
            </a:r>
            <a:r>
              <a:rPr kumimoji="0" lang="en-US" sz="2400" b="0" i="0" u="none" strike="noStrike" cap="none" normalizeH="0" baseline="0" dirty="0" err="1" smtClean="0">
                <a:ln>
                  <a:noFill/>
                </a:ln>
                <a:solidFill>
                  <a:srgbClr val="222222"/>
                </a:solidFill>
                <a:effectLst/>
                <a:cs typeface="Arial" pitchFamily="34" charset="0"/>
              </a:rPr>
              <a:t>emp</a:t>
            </a:r>
            <a:r>
              <a:rPr kumimoji="0" lang="en-US" sz="2400" b="0" i="0" u="none" strike="noStrike" cap="none" normalizeH="0" baseline="0" dirty="0" smtClean="0">
                <a:ln>
                  <a:noFill/>
                </a:ln>
                <a:solidFill>
                  <a:srgbClr val="222222"/>
                </a:solidFill>
                <a:effectLst/>
                <a:cs typeface="Arial" pitchFamily="34" charset="0"/>
              </a:rPr>
              <a:t>)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400" b="0" i="0" u="none" strike="noStrike" cap="none" normalizeH="0" baseline="0" dirty="0" smtClean="0">
                <a:ln>
                  <a:noFill/>
                </a:ln>
                <a:solidFill>
                  <a:srgbClr val="222222"/>
                </a:solidFill>
                <a:effectLst/>
                <a:cs typeface="Arial" pitchFamily="34" charset="0"/>
              </a:rPr>
              <a:t>print(profile)</a:t>
            </a:r>
            <a:r>
              <a:rPr kumimoji="0" lang="en-US" sz="2400" b="0" i="0" u="none" strike="noStrike" cap="none" normalizeH="0" baseline="0" dirty="0" smtClean="0">
                <a:ln>
                  <a:noFill/>
                </a:ln>
                <a:solidFill>
                  <a:schemeClr val="tx1"/>
                </a:solidFill>
                <a:effectLst/>
                <a:cs typeface="Arial" pitchFamily="34" charset="0"/>
              </a:rPr>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2070100" y="276225"/>
            <a:ext cx="2398092" cy="461665"/>
          </a:xfrm>
          <a:prstGeom prst="rect">
            <a:avLst/>
          </a:prstGeom>
          <a:noFill/>
        </p:spPr>
        <p:txBody>
          <a:bodyPr wrap="none" rtlCol="0">
            <a:spAutoFit/>
          </a:bodyPr>
          <a:lstStyle/>
          <a:p>
            <a:r>
              <a:rPr lang="en-US" sz="2400" b="1" dirty="0" smtClean="0"/>
              <a:t>sorted() in Tuples</a:t>
            </a:r>
            <a:endParaRPr lang="en-US" sz="2400" b="1" dirty="0"/>
          </a:p>
        </p:txBody>
      </p:sp>
      <p:sp>
        <p:nvSpPr>
          <p:cNvPr id="5" name="Rectangle 4"/>
          <p:cNvSpPr/>
          <p:nvPr/>
        </p:nvSpPr>
        <p:spPr>
          <a:xfrm>
            <a:off x="774700" y="1038225"/>
            <a:ext cx="8382000" cy="5693866"/>
          </a:xfrm>
          <a:prstGeom prst="rect">
            <a:avLst/>
          </a:prstGeom>
        </p:spPr>
        <p:txBody>
          <a:bodyPr wrap="square">
            <a:spAutoFit/>
          </a:bodyPr>
          <a:lstStyle/>
          <a:p>
            <a:r>
              <a:rPr lang="en-US" sz="2800" dirty="0" smtClean="0"/>
              <a:t>t = (4, 1, 3, 2)</a:t>
            </a:r>
          </a:p>
          <a:p>
            <a:r>
              <a:rPr lang="en-US" sz="2800" dirty="0" smtClean="0"/>
              <a:t>result = sorted(t)</a:t>
            </a:r>
          </a:p>
          <a:p>
            <a:r>
              <a:rPr lang="en-US" sz="2800" dirty="0" smtClean="0"/>
              <a:t>print(result)</a:t>
            </a:r>
            <a:endParaRPr lang="en-US" sz="2800" b="1" dirty="0" smtClean="0"/>
          </a:p>
          <a:p>
            <a:endParaRPr lang="en-US" sz="2800" b="1" dirty="0" smtClean="0"/>
          </a:p>
          <a:p>
            <a:r>
              <a:rPr lang="en-US" sz="2800" dirty="0" smtClean="0"/>
              <a:t>sorted() always returns a </a:t>
            </a:r>
            <a:r>
              <a:rPr lang="en-US" sz="2800" b="1" dirty="0" smtClean="0"/>
              <a:t>list</a:t>
            </a:r>
            <a:r>
              <a:rPr lang="en-US" sz="2800" dirty="0" smtClean="0"/>
              <a:t>.</a:t>
            </a:r>
          </a:p>
          <a:p>
            <a:endParaRPr lang="en-US" sz="2800" dirty="0" smtClean="0"/>
          </a:p>
          <a:p>
            <a:r>
              <a:rPr lang="en-US" sz="2800" dirty="0" smtClean="0"/>
              <a:t>t = (4, 1, 3, 2)</a:t>
            </a:r>
          </a:p>
          <a:p>
            <a:r>
              <a:rPr lang="en-US" sz="2800" dirty="0" smtClean="0"/>
              <a:t>result = </a:t>
            </a:r>
            <a:r>
              <a:rPr lang="en-US" sz="2800" dirty="0" err="1" smtClean="0"/>
              <a:t>tuple</a:t>
            </a:r>
            <a:r>
              <a:rPr lang="en-US" sz="2800" dirty="0" smtClean="0"/>
              <a:t>(sorted(t))</a:t>
            </a:r>
          </a:p>
          <a:p>
            <a:r>
              <a:rPr lang="en-US" sz="2800" dirty="0" smtClean="0"/>
              <a:t>print(result)</a:t>
            </a:r>
          </a:p>
          <a:p>
            <a:endParaRPr lang="en-US" sz="2800" dirty="0" smtClean="0"/>
          </a:p>
          <a:p>
            <a:r>
              <a:rPr lang="en-US" sz="2800" dirty="0" smtClean="0"/>
              <a:t>t = (4, 1, 3, 2)</a:t>
            </a:r>
          </a:p>
          <a:p>
            <a:r>
              <a:rPr lang="en-US" sz="2800" dirty="0" smtClean="0"/>
              <a:t>result = </a:t>
            </a:r>
            <a:r>
              <a:rPr lang="en-US" sz="2800" dirty="0" err="1" smtClean="0"/>
              <a:t>tuple</a:t>
            </a:r>
            <a:r>
              <a:rPr lang="en-US" sz="2800" dirty="0" smtClean="0"/>
              <a:t>(sorted(t, reverse=True))</a:t>
            </a:r>
          </a:p>
          <a:p>
            <a:r>
              <a:rPr lang="en-US" sz="2800" dirty="0" smtClean="0"/>
              <a:t>print(result)</a:t>
            </a:r>
            <a:endParaRPr lang="en-US" sz="2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93700" y="1038225"/>
            <a:ext cx="5346700" cy="1477328"/>
          </a:xfrm>
          <a:prstGeom prst="rect">
            <a:avLst/>
          </a:prstGeom>
        </p:spPr>
        <p:txBody>
          <a:bodyPr>
            <a:spAutoFit/>
          </a:bodyPr>
          <a:lstStyle/>
          <a:p>
            <a:r>
              <a:rPr lang="en-US" dirty="0" smtClean="0"/>
              <a:t>t = ((1, 3), (4, 1), (2, 2))</a:t>
            </a:r>
          </a:p>
          <a:p>
            <a:r>
              <a:rPr lang="en-US" dirty="0" smtClean="0"/>
              <a:t>result = sorted(t)</a:t>
            </a:r>
          </a:p>
          <a:p>
            <a:r>
              <a:rPr lang="en-US" dirty="0" smtClean="0"/>
              <a:t>print(result)</a:t>
            </a:r>
          </a:p>
          <a:p>
            <a:endParaRPr lang="en-US" dirty="0" smtClean="0"/>
          </a:p>
          <a:p>
            <a:r>
              <a:rPr lang="en-US" dirty="0" smtClean="0"/>
              <a:t>[(1, 3), (2, 2), (4, 1)]</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03300" y="1114425"/>
            <a:ext cx="5346700" cy="3416320"/>
          </a:xfrm>
          <a:prstGeom prst="rect">
            <a:avLst/>
          </a:prstGeom>
        </p:spPr>
        <p:txBody>
          <a:bodyPr>
            <a:spAutoFit/>
          </a:bodyPr>
          <a:lstStyle/>
          <a:p>
            <a:r>
              <a:rPr lang="en-US" dirty="0" smtClean="0">
                <a:solidFill>
                  <a:srgbClr val="FF0000"/>
                </a:solidFill>
              </a:rPr>
              <a:t>Creating a Nested </a:t>
            </a:r>
            <a:r>
              <a:rPr lang="en-US" dirty="0" err="1" smtClean="0">
                <a:solidFill>
                  <a:srgbClr val="FF0000"/>
                </a:solidFill>
              </a:rPr>
              <a:t>Tuple</a:t>
            </a:r>
            <a:endParaRPr lang="fr-FR" dirty="0" smtClean="0">
              <a:solidFill>
                <a:srgbClr val="FF0000"/>
              </a:solidFill>
            </a:endParaRPr>
          </a:p>
          <a:p>
            <a:endParaRPr lang="fr-FR" dirty="0" smtClean="0"/>
          </a:p>
          <a:p>
            <a:r>
              <a:rPr lang="fr-FR" dirty="0" smtClean="0"/>
              <a:t>t = (1, 2, (3, 4), (5, 6, 7))</a:t>
            </a:r>
          </a:p>
          <a:p>
            <a:r>
              <a:rPr lang="fr-FR" dirty="0" err="1" smtClean="0"/>
              <a:t>print</a:t>
            </a:r>
            <a:r>
              <a:rPr lang="fr-FR" dirty="0" smtClean="0"/>
              <a:t>(t)</a:t>
            </a:r>
          </a:p>
          <a:p>
            <a:endParaRPr lang="fr-FR" dirty="0" smtClean="0"/>
          </a:p>
          <a:p>
            <a:r>
              <a:rPr lang="fr-FR" dirty="0" smtClean="0"/>
              <a:t>t = (10, 20, (30, 40, 50))</a:t>
            </a:r>
          </a:p>
          <a:p>
            <a:r>
              <a:rPr lang="fr-FR" dirty="0" err="1" smtClean="0"/>
              <a:t>print</a:t>
            </a:r>
            <a:r>
              <a:rPr lang="fr-FR" dirty="0" smtClean="0"/>
              <a:t>(t[2])      # </a:t>
            </a:r>
            <a:r>
              <a:rPr lang="fr-FR" dirty="0" err="1" smtClean="0"/>
              <a:t>inner</a:t>
            </a:r>
            <a:r>
              <a:rPr lang="fr-FR" dirty="0" smtClean="0"/>
              <a:t> </a:t>
            </a:r>
            <a:r>
              <a:rPr lang="fr-FR" dirty="0" err="1" smtClean="0"/>
              <a:t>tuple</a:t>
            </a:r>
            <a:endParaRPr lang="fr-FR" dirty="0" smtClean="0"/>
          </a:p>
          <a:p>
            <a:r>
              <a:rPr lang="fr-FR" dirty="0" err="1" smtClean="0"/>
              <a:t>print</a:t>
            </a:r>
            <a:r>
              <a:rPr lang="fr-FR" dirty="0" smtClean="0"/>
              <a:t>(t[2][1])   # </a:t>
            </a:r>
            <a:r>
              <a:rPr lang="fr-FR" dirty="0" err="1" smtClean="0"/>
              <a:t>element</a:t>
            </a:r>
            <a:r>
              <a:rPr lang="fr-FR" dirty="0" smtClean="0"/>
              <a:t> </a:t>
            </a:r>
            <a:r>
              <a:rPr lang="fr-FR" dirty="0" err="1" smtClean="0"/>
              <a:t>inside</a:t>
            </a:r>
            <a:r>
              <a:rPr lang="fr-FR" dirty="0" smtClean="0"/>
              <a:t> </a:t>
            </a:r>
            <a:r>
              <a:rPr lang="fr-FR" dirty="0" err="1" smtClean="0"/>
              <a:t>inner</a:t>
            </a:r>
            <a:r>
              <a:rPr lang="fr-FR" dirty="0" smtClean="0"/>
              <a:t> </a:t>
            </a:r>
            <a:r>
              <a:rPr lang="fr-FR" dirty="0" err="1" smtClean="0"/>
              <a:t>tuple</a:t>
            </a:r>
            <a:endParaRPr lang="fr-FR" dirty="0" smtClean="0"/>
          </a:p>
          <a:p>
            <a:endParaRPr lang="fr-FR" dirty="0" smtClean="0"/>
          </a:p>
          <a:p>
            <a:r>
              <a:rPr lang="fr-FR" dirty="0" smtClean="0"/>
              <a:t>t = (1, 2, [3, 4])</a:t>
            </a:r>
          </a:p>
          <a:p>
            <a:r>
              <a:rPr lang="fr-FR" dirty="0" smtClean="0"/>
              <a:t>t[2][0] = 9</a:t>
            </a:r>
          </a:p>
          <a:p>
            <a:r>
              <a:rPr lang="fr-FR" dirty="0" err="1" smtClean="0"/>
              <a:t>print</a:t>
            </a:r>
            <a:r>
              <a:rPr lang="fr-FR" dirty="0" smtClean="0"/>
              <a:t>(t)</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5100" y="276225"/>
            <a:ext cx="10210800" cy="830997"/>
          </a:xfrm>
          <a:prstGeom prst="rect">
            <a:avLst/>
          </a:prstGeom>
        </p:spPr>
        <p:txBody>
          <a:bodyPr wrap="square">
            <a:spAutoFit/>
          </a:bodyPr>
          <a:lstStyle/>
          <a:p>
            <a:r>
              <a:rPr lang="en-US" dirty="0" smtClean="0"/>
              <a:t>   </a:t>
            </a:r>
            <a:r>
              <a:rPr lang="en-US" sz="2400" dirty="0" smtClean="0"/>
              <a:t>Write a code to filter out students with scores less than 90 from a given a list of     </a:t>
            </a:r>
            <a:r>
              <a:rPr lang="en-US" sz="2400" dirty="0" err="1" smtClean="0"/>
              <a:t>tuples</a:t>
            </a:r>
            <a:endParaRPr lang="en-US" sz="2400" dirty="0"/>
          </a:p>
        </p:txBody>
      </p:sp>
      <p:sp>
        <p:nvSpPr>
          <p:cNvPr id="5" name="Rectangle 4"/>
          <p:cNvSpPr/>
          <p:nvPr/>
        </p:nvSpPr>
        <p:spPr>
          <a:xfrm>
            <a:off x="393700" y="1571625"/>
            <a:ext cx="8153400" cy="461665"/>
          </a:xfrm>
          <a:prstGeom prst="rect">
            <a:avLst/>
          </a:prstGeom>
        </p:spPr>
        <p:txBody>
          <a:bodyPr wrap="square">
            <a:spAutoFit/>
          </a:bodyPr>
          <a:lstStyle/>
          <a:p>
            <a:r>
              <a:rPr lang="en-US" sz="2400" dirty="0" smtClean="0"/>
              <a:t>students = [('Alice', 85), ('Bob', 92), ('Charlie', 78), ('David', 95)]</a:t>
            </a:r>
            <a:endParaRPr lang="en-US" sz="2400" dirty="0"/>
          </a:p>
        </p:txBody>
      </p:sp>
      <p:sp>
        <p:nvSpPr>
          <p:cNvPr id="6" name="Rectangle 5"/>
          <p:cNvSpPr/>
          <p:nvPr/>
        </p:nvSpPr>
        <p:spPr>
          <a:xfrm>
            <a:off x="546100" y="2638425"/>
            <a:ext cx="7315200" cy="2554545"/>
          </a:xfrm>
          <a:prstGeom prst="rect">
            <a:avLst/>
          </a:prstGeom>
          <a:ln>
            <a:solidFill>
              <a:srgbClr val="C00000"/>
            </a:solidFill>
          </a:ln>
        </p:spPr>
        <p:txBody>
          <a:bodyPr wrap="square">
            <a:spAutoFit/>
          </a:bodyPr>
          <a:lstStyle/>
          <a:p>
            <a:r>
              <a:rPr lang="en-US" sz="2000" dirty="0" smtClean="0"/>
              <a:t>students = [('Alice', 85), ('Bob', 92), ('Charlie', 78), ('David', 95)]</a:t>
            </a:r>
          </a:p>
          <a:p>
            <a:r>
              <a:rPr lang="en-US" sz="2000" dirty="0" smtClean="0"/>
              <a:t>print(</a:t>
            </a:r>
            <a:r>
              <a:rPr lang="en-US" sz="2000" dirty="0" err="1" smtClean="0"/>
              <a:t>f"Original</a:t>
            </a:r>
            <a:r>
              <a:rPr lang="en-US" sz="2000" dirty="0" smtClean="0"/>
              <a:t> student list: {students}")</a:t>
            </a:r>
          </a:p>
          <a:p>
            <a:endParaRPr lang="en-US" sz="2000" dirty="0" smtClean="0"/>
          </a:p>
          <a:p>
            <a:r>
              <a:rPr lang="en-US" sz="2000" dirty="0" smtClean="0"/>
              <a:t>Less_than_90 = []</a:t>
            </a:r>
          </a:p>
          <a:p>
            <a:r>
              <a:rPr lang="en-US" sz="2000" dirty="0" smtClean="0"/>
              <a:t>for s in students:</a:t>
            </a:r>
          </a:p>
          <a:p>
            <a:r>
              <a:rPr lang="en-US" sz="2000" dirty="0" smtClean="0"/>
              <a:t>  if s[1] &lt; 90:</a:t>
            </a:r>
          </a:p>
          <a:p>
            <a:r>
              <a:rPr lang="en-US" sz="2000" dirty="0" smtClean="0"/>
              <a:t>    less_than_90.append(s)</a:t>
            </a:r>
          </a:p>
          <a:p>
            <a:r>
              <a:rPr lang="en-US" sz="2000" dirty="0" smtClean="0"/>
              <a:t>print(less_than_90)</a:t>
            </a:r>
            <a:endParaRPr lang="en-US"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69900" y="1266825"/>
            <a:ext cx="9379967" cy="2769989"/>
          </a:xfrm>
        </p:spPr>
        <p:txBody>
          <a:bodyPr/>
          <a:lstStyle/>
          <a:p>
            <a:r>
              <a:rPr lang="en-US" sz="2000" dirty="0" smtClean="0"/>
              <a:t>students = [('Alice', 85), ('Bob', 92), ('Charlie', 78), ('David', 95)]</a:t>
            </a:r>
          </a:p>
          <a:p>
            <a:r>
              <a:rPr lang="en-US" sz="2000" dirty="0" smtClean="0"/>
              <a:t>print("Original student list:” students)</a:t>
            </a:r>
          </a:p>
          <a:p>
            <a:endParaRPr lang="en-US" sz="2000" dirty="0" smtClean="0"/>
          </a:p>
          <a:p>
            <a:r>
              <a:rPr lang="en-US" sz="2000" dirty="0" smtClean="0"/>
              <a:t># Using a list comprehension for filtering</a:t>
            </a:r>
          </a:p>
          <a:p>
            <a:r>
              <a:rPr lang="en-US" sz="2000" dirty="0" smtClean="0"/>
              <a:t># For each student </a:t>
            </a:r>
            <a:r>
              <a:rPr lang="en-US" sz="2000" dirty="0" err="1" smtClean="0"/>
              <a:t>tuple</a:t>
            </a:r>
            <a:r>
              <a:rPr lang="en-US" sz="2000" dirty="0" smtClean="0"/>
              <a:t>, check if their score (student[1]) is &lt; 90</a:t>
            </a:r>
          </a:p>
          <a:p>
            <a:endParaRPr lang="en-US" sz="2000" dirty="0" smtClean="0"/>
          </a:p>
          <a:p>
            <a:r>
              <a:rPr lang="en-US" sz="2000" dirty="0" err="1" smtClean="0"/>
              <a:t>low_achievers</a:t>
            </a:r>
            <a:r>
              <a:rPr lang="en-US" sz="2000" dirty="0" smtClean="0"/>
              <a:t> = [s for s in students if s[1] &lt; 90]</a:t>
            </a:r>
          </a:p>
          <a:p>
            <a:endParaRPr lang="en-US" sz="2000" dirty="0" smtClean="0"/>
          </a:p>
          <a:p>
            <a:r>
              <a:rPr lang="en-US" sz="2000" dirty="0" smtClean="0"/>
              <a:t>print(</a:t>
            </a:r>
            <a:r>
              <a:rPr lang="en-US" sz="2000" dirty="0" err="1" smtClean="0"/>
              <a:t>low_achievers</a:t>
            </a:r>
            <a:r>
              <a:rPr lang="en-US" sz="2000" dirty="0" smtClean="0"/>
              <a:t>)</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3700" y="1571625"/>
            <a:ext cx="9829800" cy="5324535"/>
          </a:xfrm>
          <a:prstGeom prst="rect">
            <a:avLst/>
          </a:prstGeom>
        </p:spPr>
        <p:txBody>
          <a:bodyPr wrap="square">
            <a:spAutoFit/>
          </a:bodyPr>
          <a:lstStyle/>
          <a:p>
            <a:r>
              <a:rPr lang="en-US" sz="2000" dirty="0" err="1" smtClean="0"/>
              <a:t>lst</a:t>
            </a:r>
            <a:r>
              <a:rPr lang="en-US" sz="2000" dirty="0" smtClean="0"/>
              <a:t> = [1, [2, [3, 4], 5], [6, [7, [8, 9]]]]</a:t>
            </a:r>
          </a:p>
          <a:p>
            <a:endParaRPr lang="en-US" sz="2000" dirty="0" smtClean="0"/>
          </a:p>
          <a:p>
            <a:r>
              <a:rPr lang="en-US" sz="2000" dirty="0" smtClean="0"/>
              <a:t>flat = []</a:t>
            </a:r>
          </a:p>
          <a:p>
            <a:r>
              <a:rPr lang="en-US" sz="2000" dirty="0" smtClean="0"/>
              <a:t>stack = </a:t>
            </a:r>
            <a:r>
              <a:rPr lang="en-US" sz="2000" dirty="0" err="1" smtClean="0"/>
              <a:t>lst</a:t>
            </a:r>
            <a:r>
              <a:rPr lang="en-US" sz="2000" dirty="0" smtClean="0"/>
              <a:t>[:]   # copy of list</a:t>
            </a:r>
          </a:p>
          <a:p>
            <a:r>
              <a:rPr lang="en-US" sz="2000" dirty="0" smtClean="0"/>
              <a:t>#print(stack)</a:t>
            </a:r>
          </a:p>
          <a:p>
            <a:endParaRPr lang="en-US" sz="2000" dirty="0" smtClean="0"/>
          </a:p>
          <a:p>
            <a:r>
              <a:rPr lang="en-US" sz="2000" dirty="0" smtClean="0"/>
              <a:t>while stack:</a:t>
            </a:r>
          </a:p>
          <a:p>
            <a:r>
              <a:rPr lang="en-US" sz="2000" dirty="0" smtClean="0"/>
              <a:t>    item = stack.pop(0)</a:t>
            </a:r>
          </a:p>
          <a:p>
            <a:r>
              <a:rPr lang="en-US" sz="2000" dirty="0" smtClean="0"/>
              <a:t>    print("deleted item", item)</a:t>
            </a:r>
          </a:p>
          <a:p>
            <a:r>
              <a:rPr lang="en-US" sz="2000" dirty="0" smtClean="0"/>
              <a:t>    if </a:t>
            </a:r>
            <a:r>
              <a:rPr lang="en-US" sz="2000" dirty="0" err="1" smtClean="0"/>
              <a:t>isinstance</a:t>
            </a:r>
            <a:r>
              <a:rPr lang="en-US" sz="2000" dirty="0" smtClean="0"/>
              <a:t>(item, list):</a:t>
            </a:r>
          </a:p>
          <a:p>
            <a:r>
              <a:rPr lang="en-US" sz="2000" dirty="0" smtClean="0"/>
              <a:t>        stack = item + stack</a:t>
            </a:r>
          </a:p>
          <a:p>
            <a:r>
              <a:rPr lang="en-US" sz="2000" dirty="0" smtClean="0"/>
              <a:t>        print("my stack", stack)</a:t>
            </a:r>
          </a:p>
          <a:p>
            <a:r>
              <a:rPr lang="en-US" sz="2000" dirty="0" smtClean="0"/>
              <a:t>    else:</a:t>
            </a:r>
          </a:p>
          <a:p>
            <a:r>
              <a:rPr lang="en-US" sz="2000" dirty="0" smtClean="0"/>
              <a:t>        </a:t>
            </a:r>
            <a:r>
              <a:rPr lang="en-US" sz="2000" dirty="0" err="1" smtClean="0"/>
              <a:t>flat.append</a:t>
            </a:r>
            <a:r>
              <a:rPr lang="en-US" sz="2000" dirty="0" smtClean="0"/>
              <a:t>(item)</a:t>
            </a:r>
          </a:p>
          <a:p>
            <a:r>
              <a:rPr lang="en-US" sz="2000" dirty="0" smtClean="0"/>
              <a:t>        print("flat" , flat)</a:t>
            </a:r>
          </a:p>
          <a:p>
            <a:endParaRPr lang="en-US" sz="2000" dirty="0" smtClean="0"/>
          </a:p>
          <a:p>
            <a:r>
              <a:rPr lang="en-US" sz="2000" dirty="0" smtClean="0"/>
              <a:t>#print(flat)</a:t>
            </a:r>
            <a:endParaRPr lang="en-US" sz="2000" dirty="0"/>
          </a:p>
        </p:txBody>
      </p:sp>
      <p:sp>
        <p:nvSpPr>
          <p:cNvPr id="5" name="Rectangle 4"/>
          <p:cNvSpPr/>
          <p:nvPr/>
        </p:nvSpPr>
        <p:spPr>
          <a:xfrm>
            <a:off x="469900" y="428625"/>
            <a:ext cx="9677400" cy="830997"/>
          </a:xfrm>
          <a:prstGeom prst="rect">
            <a:avLst/>
          </a:prstGeom>
        </p:spPr>
        <p:txBody>
          <a:bodyPr wrap="square">
            <a:spAutoFit/>
          </a:bodyPr>
          <a:lstStyle/>
          <a:p>
            <a:r>
              <a:rPr lang="en-US" sz="2400" dirty="0" smtClean="0"/>
              <a:t>Write a python program that takes a </a:t>
            </a:r>
            <a:r>
              <a:rPr lang="en-US" sz="2400" u="sng" dirty="0" smtClean="0"/>
              <a:t>list</a:t>
            </a:r>
            <a:r>
              <a:rPr lang="en-US" sz="2400" dirty="0" smtClean="0"/>
              <a:t> containing other lists (of any depth) and  display a single “flat” list of all elements.</a:t>
            </a:r>
            <a:endParaRPr lang="en-US"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772668"/>
            <a:ext cx="10692384" cy="6013703"/>
          </a:xfrm>
          <a:prstGeom prst="rect">
            <a:avLst/>
          </a:prstGeom>
          <a:blipFill>
            <a:blip r:embed="rId2" cstate="print"/>
            <a:stretch>
              <a:fillRect/>
            </a:stretch>
          </a:blipFill>
        </p:spPr>
        <p:txBody>
          <a:bodyPr wrap="square" lIns="0" tIns="0" rIns="0" bIns="0" rtlCol="0"/>
          <a:lstStyle/>
          <a:p>
            <a:endParaRPr/>
          </a:p>
        </p:txBody>
      </p:sp>
      <p:sp>
        <p:nvSpPr>
          <p:cNvPr id="3" name="Rectangle 2"/>
          <p:cNvSpPr/>
          <p:nvPr/>
        </p:nvSpPr>
        <p:spPr>
          <a:xfrm>
            <a:off x="546100" y="1114425"/>
            <a:ext cx="1828800" cy="12192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393700" y="4695825"/>
            <a:ext cx="4800600" cy="1905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94100" y="0"/>
            <a:ext cx="2259965" cy="614680"/>
          </a:xfrm>
          <a:prstGeom prst="rect">
            <a:avLst/>
          </a:prstGeom>
        </p:spPr>
        <p:txBody>
          <a:bodyPr vert="horz" wrap="square" lIns="0" tIns="14605" rIns="0" bIns="0" rtlCol="0">
            <a:spAutoFit/>
          </a:bodyPr>
          <a:lstStyle/>
          <a:p>
            <a:pPr marL="12700">
              <a:lnSpc>
                <a:spcPct val="100000"/>
              </a:lnSpc>
              <a:spcBef>
                <a:spcPts val="115"/>
              </a:spcBef>
            </a:pPr>
            <a:r>
              <a:rPr b="0" u="heavy" spc="-955" dirty="0">
                <a:solidFill>
                  <a:srgbClr val="0070BF"/>
                </a:solidFill>
                <a:uFill>
                  <a:solidFill>
                    <a:srgbClr val="0070BF"/>
                  </a:solidFill>
                </a:uFill>
                <a:latin typeface="Times New Roman"/>
                <a:cs typeface="Times New Roman"/>
              </a:rPr>
              <a:t> </a:t>
            </a:r>
            <a:r>
              <a:rPr u="heavy" dirty="0">
                <a:solidFill>
                  <a:srgbClr val="FF0000"/>
                </a:solidFill>
                <a:uFill>
                  <a:solidFill>
                    <a:srgbClr val="0070BF"/>
                  </a:solidFill>
                </a:uFill>
                <a:latin typeface="+mj-lt"/>
              </a:rPr>
              <a:t>Dictionary</a:t>
            </a:r>
          </a:p>
        </p:txBody>
      </p:sp>
      <p:sp>
        <p:nvSpPr>
          <p:cNvPr id="3" name="object 3"/>
          <p:cNvSpPr/>
          <p:nvPr/>
        </p:nvSpPr>
        <p:spPr>
          <a:xfrm>
            <a:off x="265175" y="5631180"/>
            <a:ext cx="2711196" cy="944879"/>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774700" y="657225"/>
            <a:ext cx="9372600" cy="5052665"/>
          </a:xfrm>
          <a:prstGeom prst="rect">
            <a:avLst/>
          </a:prstGeom>
        </p:spPr>
        <p:txBody>
          <a:bodyPr vert="horz" wrap="square" lIns="0" tIns="172720" rIns="0" bIns="0" rtlCol="0">
            <a:spAutoFit/>
          </a:bodyPr>
          <a:lstStyle/>
          <a:p>
            <a:pPr marL="312420" indent="-300355" algn="just">
              <a:lnSpc>
                <a:spcPct val="100000"/>
              </a:lnSpc>
              <a:spcBef>
                <a:spcPts val="1360"/>
              </a:spcBef>
              <a:buFont typeface="Arial"/>
              <a:buChar char="•"/>
              <a:tabLst>
                <a:tab pos="312420" algn="l"/>
                <a:tab pos="313055" algn="l"/>
              </a:tabLst>
            </a:pPr>
            <a:r>
              <a:rPr sz="2800" spc="-5" dirty="0">
                <a:cs typeface="Times New Roman"/>
              </a:rPr>
              <a:t>It </a:t>
            </a:r>
            <a:r>
              <a:rPr sz="2800" dirty="0">
                <a:cs typeface="Times New Roman"/>
              </a:rPr>
              <a:t>is </a:t>
            </a:r>
            <a:r>
              <a:rPr sz="2800" spc="-5" dirty="0">
                <a:cs typeface="Times New Roman"/>
              </a:rPr>
              <a:t>an </a:t>
            </a:r>
            <a:r>
              <a:rPr sz="2800" dirty="0">
                <a:cs typeface="Times New Roman"/>
              </a:rPr>
              <a:t>unordered </a:t>
            </a:r>
            <a:r>
              <a:rPr sz="2800" spc="-5" dirty="0">
                <a:cs typeface="Times New Roman"/>
              </a:rPr>
              <a:t>collection </a:t>
            </a:r>
            <a:r>
              <a:rPr sz="2800" spc="10" dirty="0">
                <a:cs typeface="Times New Roman"/>
              </a:rPr>
              <a:t>of </a:t>
            </a:r>
            <a:r>
              <a:rPr sz="2800" dirty="0">
                <a:cs typeface="Times New Roman"/>
              </a:rPr>
              <a:t>data values, used to </a:t>
            </a:r>
            <a:r>
              <a:rPr sz="2800" spc="-5" dirty="0">
                <a:cs typeface="Times New Roman"/>
              </a:rPr>
              <a:t>store data </a:t>
            </a:r>
            <a:r>
              <a:rPr sz="2800" dirty="0">
                <a:cs typeface="Times New Roman"/>
              </a:rPr>
              <a:t>values </a:t>
            </a:r>
            <a:r>
              <a:rPr lang="en-US" sz="2800" dirty="0" smtClean="0">
                <a:cs typeface="Times New Roman"/>
              </a:rPr>
              <a:t> in pairs.</a:t>
            </a:r>
            <a:endParaRPr sz="2800" dirty="0">
              <a:cs typeface="Times New Roman"/>
            </a:endParaRPr>
          </a:p>
          <a:p>
            <a:pPr marL="312420" indent="-300355" algn="just">
              <a:lnSpc>
                <a:spcPct val="100000"/>
              </a:lnSpc>
              <a:spcBef>
                <a:spcPts val="1260"/>
              </a:spcBef>
              <a:buFont typeface="Arial"/>
              <a:buChar char="•"/>
              <a:tabLst>
                <a:tab pos="312420" algn="l"/>
                <a:tab pos="313055" algn="l"/>
              </a:tabLst>
            </a:pPr>
            <a:r>
              <a:rPr lang="en-US" sz="2800" dirty="0" smtClean="0">
                <a:cs typeface="Times New Roman"/>
              </a:rPr>
              <a:t>Each element in </a:t>
            </a:r>
            <a:r>
              <a:rPr sz="2800" dirty="0" smtClean="0">
                <a:cs typeface="Times New Roman"/>
              </a:rPr>
              <a:t>Dictionary </a:t>
            </a:r>
            <a:r>
              <a:rPr sz="2800" dirty="0">
                <a:cs typeface="Times New Roman"/>
              </a:rPr>
              <a:t>holds </a:t>
            </a:r>
            <a:r>
              <a:rPr sz="2800" b="1" spc="-5" dirty="0">
                <a:cs typeface="Times New Roman"/>
              </a:rPr>
              <a:t>key:value</a:t>
            </a:r>
            <a:r>
              <a:rPr sz="2800" b="1" spc="-40" dirty="0">
                <a:cs typeface="Times New Roman"/>
              </a:rPr>
              <a:t> </a:t>
            </a:r>
            <a:r>
              <a:rPr sz="2800" spc="-25" dirty="0">
                <a:cs typeface="Times New Roman"/>
              </a:rPr>
              <a:t>pair</a:t>
            </a:r>
            <a:r>
              <a:rPr sz="2800" spc="-25" dirty="0" smtClean="0">
                <a:cs typeface="Times New Roman"/>
              </a:rPr>
              <a:t>.</a:t>
            </a:r>
            <a:endParaRPr lang="en-US" sz="2800" spc="-25" dirty="0" smtClean="0">
              <a:cs typeface="Times New Roman"/>
            </a:endParaRPr>
          </a:p>
          <a:p>
            <a:pPr marL="312420" indent="-300355" algn="just">
              <a:lnSpc>
                <a:spcPct val="100000"/>
              </a:lnSpc>
              <a:spcBef>
                <a:spcPts val="1260"/>
              </a:spcBef>
              <a:buFont typeface="Arial"/>
              <a:buChar char="•"/>
              <a:tabLst>
                <a:tab pos="312420" algn="l"/>
                <a:tab pos="313055" algn="l"/>
              </a:tabLst>
            </a:pPr>
            <a:r>
              <a:rPr lang="en-US" sz="2800" dirty="0" smtClean="0">
                <a:cs typeface="Times New Roman"/>
              </a:rPr>
              <a:t>Each element in Dictionary must be enclosed with { }</a:t>
            </a:r>
            <a:endParaRPr sz="2800" dirty="0">
              <a:cs typeface="Times New Roman"/>
            </a:endParaRPr>
          </a:p>
          <a:p>
            <a:pPr marL="312420" indent="-300355" algn="just">
              <a:lnSpc>
                <a:spcPct val="100000"/>
              </a:lnSpc>
              <a:spcBef>
                <a:spcPts val="1270"/>
              </a:spcBef>
              <a:buFont typeface="Arial"/>
              <a:buChar char="•"/>
              <a:tabLst>
                <a:tab pos="312420" algn="l"/>
                <a:tab pos="313055" algn="l"/>
              </a:tabLst>
            </a:pPr>
            <a:r>
              <a:rPr sz="2800" dirty="0">
                <a:cs typeface="Times New Roman"/>
              </a:rPr>
              <a:t>Key value is provided in the </a:t>
            </a:r>
            <a:r>
              <a:rPr sz="2800" spc="-5" dirty="0">
                <a:cs typeface="Times New Roman"/>
              </a:rPr>
              <a:t>dictionary </a:t>
            </a:r>
            <a:r>
              <a:rPr sz="2800" dirty="0">
                <a:cs typeface="Times New Roman"/>
              </a:rPr>
              <a:t>to </a:t>
            </a:r>
            <a:r>
              <a:rPr sz="2800" spc="-10" dirty="0">
                <a:cs typeface="Times New Roman"/>
              </a:rPr>
              <a:t>make </a:t>
            </a:r>
            <a:r>
              <a:rPr sz="2800" dirty="0">
                <a:cs typeface="Times New Roman"/>
              </a:rPr>
              <a:t>it </a:t>
            </a:r>
            <a:r>
              <a:rPr sz="2800" spc="-10" dirty="0">
                <a:cs typeface="Times New Roman"/>
              </a:rPr>
              <a:t>more</a:t>
            </a:r>
            <a:r>
              <a:rPr sz="2800" spc="-40" dirty="0">
                <a:cs typeface="Times New Roman"/>
              </a:rPr>
              <a:t> </a:t>
            </a:r>
            <a:r>
              <a:rPr sz="2800" dirty="0">
                <a:cs typeface="Times New Roman"/>
              </a:rPr>
              <a:t>optimized.</a:t>
            </a:r>
          </a:p>
          <a:p>
            <a:pPr marL="312420" indent="-300355" algn="just">
              <a:lnSpc>
                <a:spcPct val="100000"/>
              </a:lnSpc>
              <a:spcBef>
                <a:spcPts val="1270"/>
              </a:spcBef>
              <a:buFont typeface="Arial"/>
              <a:buChar char="•"/>
              <a:tabLst>
                <a:tab pos="312420" algn="l"/>
                <a:tab pos="313055" algn="l"/>
              </a:tabLst>
            </a:pPr>
            <a:r>
              <a:rPr sz="2800" spc="-5" dirty="0">
                <a:cs typeface="Times New Roman"/>
              </a:rPr>
              <a:t>Each </a:t>
            </a:r>
            <a:r>
              <a:rPr sz="2800" dirty="0">
                <a:cs typeface="Times New Roman"/>
              </a:rPr>
              <a:t>key-value </a:t>
            </a:r>
            <a:r>
              <a:rPr sz="2800" spc="-5" dirty="0">
                <a:cs typeface="Times New Roman"/>
              </a:rPr>
              <a:t>pair </a:t>
            </a:r>
            <a:r>
              <a:rPr sz="2800" dirty="0">
                <a:cs typeface="Times New Roman"/>
              </a:rPr>
              <a:t>in a Dictionary is </a:t>
            </a:r>
            <a:r>
              <a:rPr sz="2800" spc="-5" dirty="0">
                <a:cs typeface="Times New Roman"/>
              </a:rPr>
              <a:t>separated </a:t>
            </a:r>
            <a:r>
              <a:rPr sz="2800" dirty="0">
                <a:cs typeface="Times New Roman"/>
              </a:rPr>
              <a:t>by a </a:t>
            </a:r>
            <a:r>
              <a:rPr sz="2800" spc="5" dirty="0">
                <a:cs typeface="Times New Roman"/>
              </a:rPr>
              <a:t>colon</a:t>
            </a:r>
            <a:r>
              <a:rPr sz="2800" spc="-80" dirty="0">
                <a:cs typeface="Times New Roman"/>
              </a:rPr>
              <a:t> </a:t>
            </a:r>
            <a:r>
              <a:rPr sz="2800" b="1" spc="-5" dirty="0" smtClean="0">
                <a:cs typeface="Times New Roman"/>
              </a:rPr>
              <a:t>:</a:t>
            </a:r>
            <a:endParaRPr sz="2800" dirty="0">
              <a:cs typeface="Times New Roman"/>
            </a:endParaRPr>
          </a:p>
          <a:p>
            <a:pPr marL="312420" indent="-300355" algn="just">
              <a:lnSpc>
                <a:spcPct val="100000"/>
              </a:lnSpc>
              <a:spcBef>
                <a:spcPts val="1275"/>
              </a:spcBef>
              <a:buFont typeface="Arial"/>
              <a:buChar char="•"/>
              <a:tabLst>
                <a:tab pos="312420" algn="l"/>
                <a:tab pos="313055" algn="l"/>
              </a:tabLst>
            </a:pPr>
            <a:r>
              <a:rPr sz="2800" dirty="0" smtClean="0">
                <a:cs typeface="Times New Roman"/>
              </a:rPr>
              <a:t>Key </a:t>
            </a:r>
            <a:r>
              <a:rPr sz="2800" dirty="0">
                <a:cs typeface="Times New Roman"/>
              </a:rPr>
              <a:t>– </a:t>
            </a:r>
            <a:r>
              <a:rPr sz="2800" spc="-5" dirty="0">
                <a:cs typeface="Times New Roman"/>
              </a:rPr>
              <a:t>must </a:t>
            </a:r>
            <a:r>
              <a:rPr sz="2800" dirty="0">
                <a:cs typeface="Times New Roman"/>
              </a:rPr>
              <a:t>be unique and </a:t>
            </a:r>
            <a:r>
              <a:rPr sz="2800" spc="-10" dirty="0">
                <a:cs typeface="Times New Roman"/>
              </a:rPr>
              <a:t>immutable</a:t>
            </a:r>
            <a:r>
              <a:rPr sz="2800" spc="10" dirty="0">
                <a:cs typeface="Times New Roman"/>
              </a:rPr>
              <a:t> </a:t>
            </a:r>
            <a:r>
              <a:rPr sz="2800" dirty="0">
                <a:cs typeface="Times New Roman"/>
              </a:rPr>
              <a:t>datatype.</a:t>
            </a:r>
          </a:p>
          <a:p>
            <a:pPr marL="312420" indent="-300355" algn="just">
              <a:lnSpc>
                <a:spcPct val="100000"/>
              </a:lnSpc>
              <a:spcBef>
                <a:spcPts val="1260"/>
              </a:spcBef>
              <a:buFont typeface="Arial"/>
              <a:buChar char="•"/>
              <a:tabLst>
                <a:tab pos="312420" algn="l"/>
                <a:tab pos="313055" algn="l"/>
              </a:tabLst>
            </a:pPr>
            <a:r>
              <a:rPr sz="2800" spc="-50" dirty="0">
                <a:cs typeface="Times New Roman"/>
              </a:rPr>
              <a:t>Value </a:t>
            </a:r>
            <a:r>
              <a:rPr sz="2800" dirty="0">
                <a:cs typeface="Times New Roman"/>
              </a:rPr>
              <a:t>– can be repeated </a:t>
            </a:r>
            <a:r>
              <a:rPr sz="2800" spc="-5" dirty="0">
                <a:cs typeface="Times New Roman"/>
              </a:rPr>
              <a:t>with </a:t>
            </a:r>
            <a:r>
              <a:rPr sz="2800" dirty="0">
                <a:cs typeface="Times New Roman"/>
              </a:rPr>
              <a:t>any</a:t>
            </a:r>
            <a:r>
              <a:rPr sz="2800" spc="5" dirty="0">
                <a:cs typeface="Times New Roman"/>
              </a:rPr>
              <a:t> </a:t>
            </a:r>
            <a:r>
              <a:rPr sz="2800" dirty="0" smtClean="0">
                <a:cs typeface="Times New Roman"/>
              </a:rPr>
              <a:t>data</a:t>
            </a:r>
            <a:r>
              <a:rPr lang="en-US" sz="2800" dirty="0" smtClean="0">
                <a:cs typeface="Times New Roman"/>
              </a:rPr>
              <a:t> </a:t>
            </a:r>
            <a:r>
              <a:rPr sz="2800" dirty="0" smtClean="0">
                <a:cs typeface="Times New Roman"/>
              </a:rPr>
              <a:t>type.</a:t>
            </a:r>
            <a:endParaRPr sz="2800" dirty="0">
              <a:cs typeface="Times New Roman"/>
            </a:endParaRPr>
          </a:p>
        </p:txBody>
      </p:sp>
      <p:sp>
        <p:nvSpPr>
          <p:cNvPr id="5" name="Rectangle 4"/>
          <p:cNvSpPr/>
          <p:nvPr/>
        </p:nvSpPr>
        <p:spPr>
          <a:xfrm>
            <a:off x="241300" y="5610225"/>
            <a:ext cx="274320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69900" y="1038225"/>
            <a:ext cx="9829800" cy="3816429"/>
          </a:xfrm>
          <a:prstGeom prst="rect">
            <a:avLst/>
          </a:prstGeom>
        </p:spPr>
        <p:txBody>
          <a:bodyPr wrap="square">
            <a:spAutoFit/>
          </a:bodyPr>
          <a:lstStyle/>
          <a:p>
            <a:pPr algn="ctr"/>
            <a:r>
              <a:rPr lang="en-US" sz="3200" dirty="0" smtClean="0">
                <a:solidFill>
                  <a:srgbClr val="C00000"/>
                </a:solidFill>
              </a:rPr>
              <a:t>There are following three ways to create a dictionary.</a:t>
            </a:r>
          </a:p>
          <a:p>
            <a:endParaRPr lang="en-US" dirty="0" smtClean="0"/>
          </a:p>
          <a:p>
            <a:r>
              <a:rPr lang="en-US" sz="2400" dirty="0" smtClean="0">
                <a:solidFill>
                  <a:srgbClr val="C00000"/>
                </a:solidFill>
              </a:rPr>
              <a:t>Using curly brackets: </a:t>
            </a:r>
            <a:r>
              <a:rPr lang="en-US" sz="2400" dirty="0" smtClean="0"/>
              <a:t>The dictionaries are created by enclosing the comma-separated Key: Value pairs inside the {} curly brackets. The colon ‘:‘ is used to separate the key and value in a pair.</a:t>
            </a:r>
          </a:p>
          <a:p>
            <a:endParaRPr lang="en-US" sz="2400" dirty="0" smtClean="0"/>
          </a:p>
          <a:p>
            <a:r>
              <a:rPr lang="en-US" sz="2400" dirty="0" smtClean="0">
                <a:solidFill>
                  <a:srgbClr val="C00000"/>
                </a:solidFill>
              </a:rPr>
              <a:t>Using </a:t>
            </a:r>
            <a:r>
              <a:rPr lang="en-US" sz="2400" dirty="0" err="1" smtClean="0">
                <a:solidFill>
                  <a:srgbClr val="C00000"/>
                </a:solidFill>
              </a:rPr>
              <a:t>dict</a:t>
            </a:r>
            <a:r>
              <a:rPr lang="en-US" sz="2400" dirty="0" smtClean="0">
                <a:solidFill>
                  <a:srgbClr val="C00000"/>
                </a:solidFill>
              </a:rPr>
              <a:t>() constructor:  </a:t>
            </a:r>
            <a:r>
              <a:rPr lang="en-US" sz="2400" dirty="0" smtClean="0"/>
              <a:t>Create a dictionary by passing the comma-separated key: value pairs inside the </a:t>
            </a:r>
            <a:r>
              <a:rPr lang="en-US" sz="2400" dirty="0" err="1" smtClean="0"/>
              <a:t>dict</a:t>
            </a:r>
            <a:r>
              <a:rPr lang="en-US" sz="2400" dirty="0" smtClean="0"/>
              <a:t>().</a:t>
            </a:r>
          </a:p>
          <a:p>
            <a:endParaRPr lang="en-US" sz="2400" dirty="0" smtClean="0"/>
          </a:p>
          <a:p>
            <a:r>
              <a:rPr lang="en-US" sz="2400" dirty="0" smtClean="0">
                <a:solidFill>
                  <a:srgbClr val="C00000"/>
                </a:solidFill>
              </a:rPr>
              <a:t>Using sequence having each item as a pair (key-value)</a:t>
            </a:r>
            <a:endParaRPr lang="en-US" sz="2400" dirty="0">
              <a:solidFill>
                <a:srgbClr val="C000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6700" y="581025"/>
            <a:ext cx="5715000" cy="1493358"/>
          </a:xfrm>
          <a:prstGeom prst="rect">
            <a:avLst/>
          </a:prstGeom>
        </p:spPr>
        <p:txBody>
          <a:bodyPr vert="horz" wrap="square" lIns="0" tIns="160655" rIns="0" bIns="0" rtlCol="0">
            <a:spAutoFit/>
          </a:bodyPr>
          <a:lstStyle/>
          <a:p>
            <a:pPr marL="12700">
              <a:lnSpc>
                <a:spcPct val="100000"/>
              </a:lnSpc>
              <a:spcBef>
                <a:spcPts val="1265"/>
              </a:spcBef>
            </a:pPr>
            <a:r>
              <a:rPr b="0" u="heavy" spc="-955" dirty="0">
                <a:solidFill>
                  <a:srgbClr val="0070BF"/>
                </a:solidFill>
                <a:uFill>
                  <a:solidFill>
                    <a:srgbClr val="0070BF"/>
                  </a:solidFill>
                </a:uFill>
                <a:latin typeface="Times New Roman"/>
                <a:cs typeface="Times New Roman"/>
              </a:rPr>
              <a:t> </a:t>
            </a:r>
            <a:r>
              <a:rPr u="heavy" dirty="0">
                <a:solidFill>
                  <a:srgbClr val="0070BF"/>
                </a:solidFill>
                <a:uFill>
                  <a:solidFill>
                    <a:srgbClr val="0070BF"/>
                  </a:solidFill>
                </a:uFill>
              </a:rPr>
              <a:t>Dictionary</a:t>
            </a:r>
            <a:r>
              <a:rPr dirty="0">
                <a:solidFill>
                  <a:srgbClr val="0070BF"/>
                </a:solidFill>
              </a:rPr>
              <a:t> </a:t>
            </a:r>
            <a:r>
              <a:rPr lang="en-US" dirty="0" smtClean="0">
                <a:solidFill>
                  <a:srgbClr val="0070BF"/>
                </a:solidFill>
              </a:rPr>
              <a:t>–</a:t>
            </a:r>
            <a:r>
              <a:rPr spc="-40" dirty="0" smtClean="0">
                <a:solidFill>
                  <a:srgbClr val="0070BF"/>
                </a:solidFill>
              </a:rPr>
              <a:t> </a:t>
            </a:r>
            <a:r>
              <a:rPr spc="-5" dirty="0" smtClean="0"/>
              <a:t>Create</a:t>
            </a:r>
            <a:r>
              <a:rPr lang="en-US" spc="-5" dirty="0" smtClean="0"/>
              <a:t/>
            </a:r>
            <a:br>
              <a:rPr lang="en-US" spc="-5" dirty="0" smtClean="0"/>
            </a:br>
            <a:r>
              <a:rPr sz="2400" b="0" dirty="0" smtClean="0">
                <a:solidFill>
                  <a:srgbClr val="008200"/>
                </a:solidFill>
                <a:latin typeface="Consolas"/>
                <a:cs typeface="Consolas"/>
              </a:rPr>
              <a:t>#Creating </a:t>
            </a:r>
            <a:r>
              <a:rPr sz="2400" b="0" dirty="0">
                <a:solidFill>
                  <a:srgbClr val="008200"/>
                </a:solidFill>
                <a:latin typeface="Consolas"/>
                <a:cs typeface="Consolas"/>
              </a:rPr>
              <a:t>an </a:t>
            </a:r>
            <a:r>
              <a:rPr sz="2400" b="0" dirty="0" smtClean="0">
                <a:solidFill>
                  <a:srgbClr val="008200"/>
                </a:solidFill>
                <a:latin typeface="Consolas"/>
                <a:cs typeface="Consolas"/>
              </a:rPr>
              <a:t>empty</a:t>
            </a:r>
            <a:r>
              <a:rPr lang="en-US" sz="2400" b="0" dirty="0" smtClean="0">
                <a:solidFill>
                  <a:srgbClr val="008200"/>
                </a:solidFill>
                <a:latin typeface="Consolas"/>
                <a:cs typeface="Consolas"/>
              </a:rPr>
              <a:t> dictionary</a:t>
            </a:r>
            <a:br>
              <a:rPr lang="en-US" sz="2400" b="0" dirty="0" smtClean="0">
                <a:solidFill>
                  <a:srgbClr val="008200"/>
                </a:solidFill>
                <a:latin typeface="Consolas"/>
                <a:cs typeface="Consolas"/>
              </a:rPr>
            </a:br>
            <a:r>
              <a:rPr sz="2400" b="0" spc="-85" dirty="0" smtClean="0">
                <a:solidFill>
                  <a:srgbClr val="008200"/>
                </a:solidFill>
                <a:latin typeface="Consolas"/>
                <a:cs typeface="Consolas"/>
              </a:rPr>
              <a:t> </a:t>
            </a:r>
            <a:r>
              <a:rPr lang="en-US" sz="2400" b="0" spc="-85" dirty="0" smtClean="0">
                <a:solidFill>
                  <a:srgbClr val="008200"/>
                </a:solidFill>
                <a:latin typeface="Consolas"/>
                <a:cs typeface="Consolas"/>
              </a:rPr>
              <a:t>d </a:t>
            </a:r>
            <a:r>
              <a:rPr sz="2400" dirty="0" smtClean="0">
                <a:solidFill>
                  <a:srgbClr val="006699"/>
                </a:solidFill>
                <a:latin typeface="Consolas"/>
                <a:cs typeface="Consolas"/>
              </a:rPr>
              <a:t>=</a:t>
            </a:r>
            <a:r>
              <a:rPr sz="2400" spc="10" dirty="0" smtClean="0">
                <a:solidFill>
                  <a:srgbClr val="006699"/>
                </a:solidFill>
                <a:latin typeface="Consolas"/>
                <a:cs typeface="Consolas"/>
              </a:rPr>
              <a:t> </a:t>
            </a:r>
            <a:r>
              <a:rPr sz="2400" b="0" dirty="0">
                <a:solidFill>
                  <a:srgbClr val="000000"/>
                </a:solidFill>
                <a:latin typeface="Consolas"/>
                <a:cs typeface="Consolas"/>
              </a:rPr>
              <a:t>{}</a:t>
            </a:r>
            <a:endParaRPr sz="2400" dirty="0">
              <a:latin typeface="Consolas"/>
              <a:cs typeface="Consolas"/>
            </a:endParaRPr>
          </a:p>
        </p:txBody>
      </p:sp>
      <p:sp>
        <p:nvSpPr>
          <p:cNvPr id="3" name="object 3"/>
          <p:cNvSpPr/>
          <p:nvPr/>
        </p:nvSpPr>
        <p:spPr>
          <a:xfrm>
            <a:off x="241300" y="6372225"/>
            <a:ext cx="2665455" cy="936555"/>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774700" y="2562225"/>
            <a:ext cx="9047969" cy="2923877"/>
          </a:xfrm>
          <a:prstGeom prst="rect">
            <a:avLst/>
          </a:prstGeom>
        </p:spPr>
        <p:txBody>
          <a:bodyPr vert="horz" wrap="square" lIns="0" tIns="12700" rIns="0" bIns="0" rtlCol="0">
            <a:spAutoFit/>
          </a:bodyPr>
          <a:lstStyle/>
          <a:p>
            <a:pPr marL="855344" marR="5080">
              <a:spcBef>
                <a:spcPts val="530"/>
              </a:spcBef>
            </a:pPr>
            <a:r>
              <a:rPr sz="2000" dirty="0">
                <a:solidFill>
                  <a:srgbClr val="008200"/>
                </a:solidFill>
                <a:latin typeface="Consolas"/>
                <a:ea typeface="+mj-ea"/>
                <a:cs typeface="Consolas"/>
              </a:rPr>
              <a:t># Creating a Dictionary with Integer Keys  </a:t>
            </a:r>
            <a:endParaRPr lang="en-US" sz="2000" dirty="0" smtClean="0">
              <a:solidFill>
                <a:srgbClr val="008200"/>
              </a:solidFill>
              <a:latin typeface="Consolas"/>
              <a:ea typeface="+mj-ea"/>
              <a:cs typeface="Consolas"/>
            </a:endParaRPr>
          </a:p>
          <a:p>
            <a:pPr marL="855344" marR="5080">
              <a:spcBef>
                <a:spcPts val="530"/>
              </a:spcBef>
            </a:pPr>
            <a:r>
              <a:rPr lang="en-US" sz="2000" dirty="0" smtClean="0">
                <a:solidFill>
                  <a:srgbClr val="008200"/>
                </a:solidFill>
                <a:latin typeface="Consolas"/>
                <a:ea typeface="+mj-ea"/>
                <a:cs typeface="Consolas"/>
              </a:rPr>
              <a:t>d</a:t>
            </a:r>
            <a:r>
              <a:rPr sz="2000" dirty="0" smtClean="0">
                <a:solidFill>
                  <a:srgbClr val="008200"/>
                </a:solidFill>
                <a:latin typeface="Consolas"/>
                <a:ea typeface="+mj-ea"/>
                <a:cs typeface="Consolas"/>
              </a:rPr>
              <a:t> </a:t>
            </a:r>
            <a:r>
              <a:rPr sz="2000" dirty="0">
                <a:solidFill>
                  <a:srgbClr val="008200"/>
                </a:solidFill>
                <a:latin typeface="Consolas"/>
                <a:ea typeface="+mj-ea"/>
                <a:cs typeface="Consolas"/>
              </a:rPr>
              <a:t>= {1: 'Zooming', 2: 'For', 3: 'Zooming’}</a:t>
            </a:r>
          </a:p>
          <a:p>
            <a:pPr marL="855344" marR="5080">
              <a:spcBef>
                <a:spcPts val="530"/>
              </a:spcBef>
            </a:pPr>
            <a:endParaRPr sz="2000" dirty="0">
              <a:solidFill>
                <a:srgbClr val="008200"/>
              </a:solidFill>
              <a:latin typeface="Consolas"/>
              <a:ea typeface="+mj-ea"/>
              <a:cs typeface="Consolas"/>
            </a:endParaRPr>
          </a:p>
          <a:p>
            <a:pPr marL="855344" marR="5080">
              <a:spcBef>
                <a:spcPts val="530"/>
              </a:spcBef>
              <a:tabLst>
                <a:tab pos="3071495" algn="l"/>
              </a:tabLst>
            </a:pPr>
            <a:r>
              <a:rPr sz="2000" dirty="0">
                <a:solidFill>
                  <a:srgbClr val="008200"/>
                </a:solidFill>
                <a:latin typeface="Consolas"/>
                <a:ea typeface="+mj-ea"/>
                <a:cs typeface="Consolas"/>
              </a:rPr>
              <a:t># Creating a Dictionary	with Mixed keys </a:t>
            </a:r>
            <a:endParaRPr lang="en-US" sz="2000" dirty="0" smtClean="0">
              <a:solidFill>
                <a:srgbClr val="008200"/>
              </a:solidFill>
              <a:latin typeface="Consolas"/>
              <a:ea typeface="+mj-ea"/>
              <a:cs typeface="Consolas"/>
            </a:endParaRPr>
          </a:p>
          <a:p>
            <a:pPr marL="855344" marR="5080">
              <a:spcBef>
                <a:spcPts val="530"/>
              </a:spcBef>
              <a:tabLst>
                <a:tab pos="3071495" algn="l"/>
              </a:tabLst>
            </a:pPr>
            <a:r>
              <a:rPr sz="2000" dirty="0" smtClean="0">
                <a:solidFill>
                  <a:srgbClr val="008200"/>
                </a:solidFill>
                <a:latin typeface="Consolas"/>
                <a:ea typeface="+mj-ea"/>
                <a:cs typeface="Consolas"/>
              </a:rPr>
              <a:t> </a:t>
            </a:r>
            <a:r>
              <a:rPr lang="en-US" sz="2000" dirty="0" smtClean="0">
                <a:solidFill>
                  <a:srgbClr val="008200"/>
                </a:solidFill>
                <a:latin typeface="Consolas"/>
                <a:ea typeface="+mj-ea"/>
                <a:cs typeface="Consolas"/>
              </a:rPr>
              <a:t>d</a:t>
            </a:r>
            <a:r>
              <a:rPr sz="2000" dirty="0" smtClean="0">
                <a:solidFill>
                  <a:srgbClr val="008200"/>
                </a:solidFill>
                <a:latin typeface="Consolas"/>
                <a:ea typeface="+mj-ea"/>
                <a:cs typeface="Consolas"/>
              </a:rPr>
              <a:t> </a:t>
            </a:r>
            <a:r>
              <a:rPr sz="2000" dirty="0">
                <a:solidFill>
                  <a:srgbClr val="008200"/>
                </a:solidFill>
                <a:latin typeface="Consolas"/>
                <a:ea typeface="+mj-ea"/>
                <a:cs typeface="Consolas"/>
              </a:rPr>
              <a:t>= {'Name': 'Zooming', 1: [1, 2, 3, 4]}</a:t>
            </a:r>
          </a:p>
          <a:p>
            <a:pPr marL="855344" marR="5080">
              <a:spcBef>
                <a:spcPts val="530"/>
              </a:spcBef>
            </a:pPr>
            <a:endParaRPr sz="2000" dirty="0">
              <a:solidFill>
                <a:srgbClr val="008200"/>
              </a:solidFill>
              <a:latin typeface="Consolas"/>
              <a:ea typeface="+mj-ea"/>
              <a:cs typeface="Consolas"/>
            </a:endParaRPr>
          </a:p>
          <a:p>
            <a:pPr marL="855344" marR="5080">
              <a:spcBef>
                <a:spcPts val="530"/>
              </a:spcBef>
            </a:pPr>
            <a:r>
              <a:rPr sz="2000" dirty="0" smtClean="0">
                <a:solidFill>
                  <a:srgbClr val="008200"/>
                </a:solidFill>
                <a:latin typeface="Consolas"/>
                <a:ea typeface="+mj-ea"/>
                <a:cs typeface="Consolas"/>
              </a:rPr>
              <a:t># </a:t>
            </a:r>
            <a:r>
              <a:rPr sz="2000" dirty="0">
                <a:solidFill>
                  <a:srgbClr val="008200"/>
                </a:solidFill>
                <a:latin typeface="Consolas"/>
                <a:ea typeface="+mj-ea"/>
                <a:cs typeface="Consolas"/>
              </a:rPr>
              <a:t>Creating a Dictionary with each item as a Pair </a:t>
            </a:r>
            <a:endParaRPr lang="en-US" sz="2000" dirty="0" smtClean="0">
              <a:solidFill>
                <a:srgbClr val="008200"/>
              </a:solidFill>
              <a:latin typeface="Consolas"/>
              <a:ea typeface="+mj-ea"/>
              <a:cs typeface="Consolas"/>
            </a:endParaRPr>
          </a:p>
          <a:p>
            <a:pPr marL="855344" marR="5080">
              <a:spcBef>
                <a:spcPts val="530"/>
              </a:spcBef>
            </a:pPr>
            <a:r>
              <a:rPr sz="2000" dirty="0" smtClean="0">
                <a:solidFill>
                  <a:srgbClr val="008200"/>
                </a:solidFill>
                <a:latin typeface="Consolas"/>
                <a:ea typeface="+mj-ea"/>
                <a:cs typeface="Consolas"/>
              </a:rPr>
              <a:t> </a:t>
            </a:r>
            <a:r>
              <a:rPr lang="en-US" sz="2000" dirty="0" smtClean="0">
                <a:solidFill>
                  <a:srgbClr val="008200"/>
                </a:solidFill>
                <a:latin typeface="Consolas"/>
                <a:ea typeface="+mj-ea"/>
                <a:cs typeface="Consolas"/>
              </a:rPr>
              <a:t>d</a:t>
            </a:r>
            <a:r>
              <a:rPr sz="2000" dirty="0" smtClean="0">
                <a:solidFill>
                  <a:srgbClr val="008200"/>
                </a:solidFill>
                <a:latin typeface="Consolas"/>
                <a:ea typeface="+mj-ea"/>
                <a:cs typeface="Consolas"/>
              </a:rPr>
              <a:t> </a:t>
            </a:r>
            <a:r>
              <a:rPr sz="2000" dirty="0">
                <a:solidFill>
                  <a:srgbClr val="008200"/>
                </a:solidFill>
                <a:latin typeface="Consolas"/>
                <a:ea typeface="+mj-ea"/>
                <a:cs typeface="Consolas"/>
              </a:rPr>
              <a:t>= dict([(1, 'Zooming'), (2, 'For')])</a:t>
            </a:r>
          </a:p>
        </p:txBody>
      </p:sp>
      <p:sp>
        <p:nvSpPr>
          <p:cNvPr id="5" name="Rectangle 4"/>
          <p:cNvSpPr/>
          <p:nvPr/>
        </p:nvSpPr>
        <p:spPr>
          <a:xfrm>
            <a:off x="165100" y="6448425"/>
            <a:ext cx="274320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flipV="1">
            <a:off x="2374900" y="2028825"/>
            <a:ext cx="1524000" cy="990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3670300" y="2257425"/>
            <a:ext cx="121920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822700" y="1800225"/>
            <a:ext cx="518860" cy="369332"/>
          </a:xfrm>
          <a:prstGeom prst="rect">
            <a:avLst/>
          </a:prstGeom>
          <a:noFill/>
        </p:spPr>
        <p:txBody>
          <a:bodyPr wrap="none" rtlCol="0">
            <a:spAutoFit/>
          </a:bodyPr>
          <a:lstStyle/>
          <a:p>
            <a:r>
              <a:rPr lang="en-US" dirty="0" smtClean="0"/>
              <a:t>Key</a:t>
            </a:r>
            <a:endParaRPr lang="en-US" dirty="0"/>
          </a:p>
        </p:txBody>
      </p:sp>
      <p:sp>
        <p:nvSpPr>
          <p:cNvPr id="11" name="TextBox 10"/>
          <p:cNvSpPr txBox="1"/>
          <p:nvPr/>
        </p:nvSpPr>
        <p:spPr>
          <a:xfrm>
            <a:off x="4737100" y="2028825"/>
            <a:ext cx="704039" cy="369332"/>
          </a:xfrm>
          <a:prstGeom prst="rect">
            <a:avLst/>
          </a:prstGeom>
          <a:noFill/>
        </p:spPr>
        <p:txBody>
          <a:bodyPr wrap="none" rtlCol="0">
            <a:spAutoFit/>
          </a:bodyPr>
          <a:lstStyle/>
          <a:p>
            <a:r>
              <a:rPr lang="en-US" dirty="0" smtClean="0"/>
              <a:t>Value</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1300" y="276225"/>
            <a:ext cx="10210800" cy="7109639"/>
          </a:xfrm>
          <a:prstGeom prst="rect">
            <a:avLst/>
          </a:prstGeom>
        </p:spPr>
        <p:txBody>
          <a:bodyPr wrap="square">
            <a:spAutoFit/>
          </a:bodyPr>
          <a:lstStyle/>
          <a:p>
            <a:r>
              <a:rPr lang="en-US" sz="2400" dirty="0" smtClean="0"/>
              <a:t># create a dictionary using {}</a:t>
            </a:r>
          </a:p>
          <a:p>
            <a:r>
              <a:rPr lang="en-US" sz="2400" dirty="0" smtClean="0"/>
              <a:t>person = {"name": "</a:t>
            </a:r>
            <a:r>
              <a:rPr lang="en-US" sz="2400" dirty="0" err="1" smtClean="0"/>
              <a:t>Jessa</a:t>
            </a:r>
            <a:r>
              <a:rPr lang="en-US" sz="2400" dirty="0" smtClean="0"/>
              <a:t>", "country": "USA", "telephone": 1178}</a:t>
            </a:r>
          </a:p>
          <a:p>
            <a:r>
              <a:rPr lang="en-US" sz="2400" dirty="0" smtClean="0"/>
              <a:t>print(person)</a:t>
            </a:r>
          </a:p>
          <a:p>
            <a:r>
              <a:rPr lang="en-US" sz="2400" dirty="0" smtClean="0"/>
              <a:t># output {'name': '</a:t>
            </a:r>
            <a:r>
              <a:rPr lang="en-US" sz="2400" dirty="0" err="1" smtClean="0"/>
              <a:t>Jessa</a:t>
            </a:r>
            <a:r>
              <a:rPr lang="en-US" sz="2400" dirty="0" smtClean="0"/>
              <a:t>', 'country': 'USA', 'telephone': 1178}</a:t>
            </a:r>
          </a:p>
          <a:p>
            <a:endParaRPr lang="en-US" sz="2400" dirty="0" smtClean="0"/>
          </a:p>
          <a:p>
            <a:r>
              <a:rPr lang="en-US" sz="2400" dirty="0" smtClean="0"/>
              <a:t># create a dictionary from sequence having each item as a pair</a:t>
            </a:r>
          </a:p>
          <a:p>
            <a:r>
              <a:rPr lang="en-US" sz="2400" dirty="0" smtClean="0"/>
              <a:t>person = </a:t>
            </a:r>
            <a:r>
              <a:rPr lang="en-US" sz="2400" dirty="0" err="1" smtClean="0"/>
              <a:t>dict</a:t>
            </a:r>
            <a:r>
              <a:rPr lang="en-US" sz="2400" dirty="0" smtClean="0"/>
              <a:t>([("name", "Mark"), ("country", "USA"), ("telephone", 1178)])</a:t>
            </a:r>
          </a:p>
          <a:p>
            <a:r>
              <a:rPr lang="en-US" sz="2400" dirty="0" smtClean="0"/>
              <a:t>print(person)</a:t>
            </a:r>
          </a:p>
          <a:p>
            <a:endParaRPr lang="en-US" sz="2400" dirty="0" smtClean="0"/>
          </a:p>
          <a:p>
            <a:r>
              <a:rPr lang="en-US" sz="2400" dirty="0" smtClean="0"/>
              <a:t># create dictionary with mixed keys </a:t>
            </a:r>
            <a:r>
              <a:rPr lang="en-US" sz="2400" dirty="0" err="1" smtClean="0"/>
              <a:t>keys</a:t>
            </a:r>
            <a:endParaRPr lang="en-US" sz="2400" dirty="0" smtClean="0"/>
          </a:p>
          <a:p>
            <a:r>
              <a:rPr lang="en-US" sz="2400" dirty="0" smtClean="0"/>
              <a:t># first key is string and second is an integer</a:t>
            </a:r>
          </a:p>
          <a:p>
            <a:r>
              <a:rPr lang="en-US" sz="2400" dirty="0" err="1" smtClean="0"/>
              <a:t>sample_dict</a:t>
            </a:r>
            <a:r>
              <a:rPr lang="en-US" sz="2400" dirty="0" smtClean="0"/>
              <a:t> = {"name": "</a:t>
            </a:r>
            <a:r>
              <a:rPr lang="en-US" sz="2400" dirty="0" err="1" smtClean="0"/>
              <a:t>Jessa</a:t>
            </a:r>
            <a:r>
              <a:rPr lang="en-US" sz="2400" dirty="0" smtClean="0"/>
              <a:t>", 10: "Mobile"}</a:t>
            </a:r>
          </a:p>
          <a:p>
            <a:r>
              <a:rPr lang="en-US" sz="2400" dirty="0" smtClean="0"/>
              <a:t>print(</a:t>
            </a:r>
            <a:r>
              <a:rPr lang="en-US" sz="2400" dirty="0" err="1" smtClean="0"/>
              <a:t>sample_dict</a:t>
            </a:r>
            <a:r>
              <a:rPr lang="en-US" sz="2400" dirty="0" smtClean="0"/>
              <a:t>)</a:t>
            </a:r>
          </a:p>
          <a:p>
            <a:r>
              <a:rPr lang="en-US" sz="2400" dirty="0" smtClean="0"/>
              <a:t># output {'name': '</a:t>
            </a:r>
            <a:r>
              <a:rPr lang="en-US" sz="2400" dirty="0" err="1" smtClean="0"/>
              <a:t>Jessa</a:t>
            </a:r>
            <a:r>
              <a:rPr lang="en-US" sz="2400" dirty="0" smtClean="0"/>
              <a:t>', 10: 'Mobile'}</a:t>
            </a:r>
          </a:p>
          <a:p>
            <a:endParaRPr lang="en-US" sz="2400" dirty="0" smtClean="0"/>
          </a:p>
          <a:p>
            <a:r>
              <a:rPr lang="en-US" sz="2400" dirty="0" smtClean="0"/>
              <a:t># create dictionary with value as a list</a:t>
            </a:r>
          </a:p>
          <a:p>
            <a:r>
              <a:rPr lang="en-US" sz="2400" dirty="0" smtClean="0"/>
              <a:t>person = {"name": "</a:t>
            </a:r>
            <a:r>
              <a:rPr lang="en-US" sz="2400" dirty="0" err="1" smtClean="0"/>
              <a:t>Jessa</a:t>
            </a:r>
            <a:r>
              <a:rPr lang="en-US" sz="2400" dirty="0" smtClean="0"/>
              <a:t>", "telephones": [1178, 2563, 4569]}</a:t>
            </a:r>
          </a:p>
          <a:p>
            <a:r>
              <a:rPr lang="en-US" sz="2400" dirty="0" smtClean="0"/>
              <a:t>print(person)</a:t>
            </a:r>
          </a:p>
          <a:p>
            <a:r>
              <a:rPr lang="en-US" sz="2400" dirty="0" smtClean="0"/>
              <a:t># output {'name': '</a:t>
            </a:r>
            <a:r>
              <a:rPr lang="en-US" sz="2400" dirty="0" err="1" smtClean="0"/>
              <a:t>Jessa</a:t>
            </a:r>
            <a:r>
              <a:rPr lang="en-US" sz="2400" dirty="0" smtClean="0"/>
              <a:t>', 'telephones': [1178, 2563, 4569]}</a:t>
            </a:r>
            <a:endParaRPr lang="en-US"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02639" y="1274985"/>
            <a:ext cx="6030595" cy="614680"/>
          </a:xfrm>
          <a:prstGeom prst="rect">
            <a:avLst/>
          </a:prstGeom>
        </p:spPr>
        <p:txBody>
          <a:bodyPr vert="horz" wrap="square" lIns="0" tIns="14605" rIns="0" bIns="0" rtlCol="0">
            <a:spAutoFit/>
          </a:bodyPr>
          <a:lstStyle/>
          <a:p>
            <a:pPr marL="12700">
              <a:lnSpc>
                <a:spcPct val="100000"/>
              </a:lnSpc>
              <a:spcBef>
                <a:spcPts val="115"/>
              </a:spcBef>
            </a:pPr>
            <a:r>
              <a:rPr b="0" u="heavy" spc="-955" dirty="0">
                <a:solidFill>
                  <a:srgbClr val="0070BF"/>
                </a:solidFill>
                <a:uFill>
                  <a:solidFill>
                    <a:srgbClr val="0070BF"/>
                  </a:solidFill>
                </a:uFill>
                <a:latin typeface="Times New Roman"/>
                <a:cs typeface="Times New Roman"/>
              </a:rPr>
              <a:t> </a:t>
            </a:r>
            <a:r>
              <a:rPr u="heavy" dirty="0">
                <a:solidFill>
                  <a:srgbClr val="0070BF"/>
                </a:solidFill>
                <a:uFill>
                  <a:solidFill>
                    <a:srgbClr val="0070BF"/>
                  </a:solidFill>
                </a:uFill>
              </a:rPr>
              <a:t>Dictionary</a:t>
            </a:r>
            <a:r>
              <a:rPr dirty="0">
                <a:solidFill>
                  <a:srgbClr val="0070BF"/>
                </a:solidFill>
              </a:rPr>
              <a:t> </a:t>
            </a:r>
            <a:r>
              <a:rPr spc="5" dirty="0">
                <a:solidFill>
                  <a:srgbClr val="0070BF"/>
                </a:solidFill>
              </a:rPr>
              <a:t>– </a:t>
            </a:r>
            <a:r>
              <a:rPr dirty="0"/>
              <a:t>Adding</a:t>
            </a:r>
            <a:r>
              <a:rPr spc="-280" dirty="0"/>
              <a:t> </a:t>
            </a:r>
            <a:r>
              <a:rPr dirty="0"/>
              <a:t>element</a:t>
            </a:r>
          </a:p>
        </p:txBody>
      </p:sp>
      <p:sp>
        <p:nvSpPr>
          <p:cNvPr id="3" name="object 3"/>
          <p:cNvSpPr/>
          <p:nvPr/>
        </p:nvSpPr>
        <p:spPr>
          <a:xfrm>
            <a:off x="265175" y="5631180"/>
            <a:ext cx="2665455" cy="936555"/>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3221210" y="2095001"/>
            <a:ext cx="3821429" cy="1094105"/>
          </a:xfrm>
          <a:prstGeom prst="rect">
            <a:avLst/>
          </a:prstGeom>
        </p:spPr>
        <p:txBody>
          <a:bodyPr vert="horz" wrap="square" lIns="0" tIns="22860" rIns="0" bIns="0" rtlCol="0">
            <a:spAutoFit/>
          </a:bodyPr>
          <a:lstStyle/>
          <a:p>
            <a:pPr marL="12700" marR="129539">
              <a:lnSpc>
                <a:spcPts val="2090"/>
              </a:lnSpc>
              <a:spcBef>
                <a:spcPts val="180"/>
              </a:spcBef>
            </a:pPr>
            <a:r>
              <a:rPr sz="1750" dirty="0">
                <a:solidFill>
                  <a:srgbClr val="008200"/>
                </a:solidFill>
                <a:latin typeface="Consolas"/>
                <a:cs typeface="Consolas"/>
              </a:rPr>
              <a:t># Creating an empty</a:t>
            </a:r>
            <a:r>
              <a:rPr sz="1750" spc="-85" dirty="0">
                <a:solidFill>
                  <a:srgbClr val="008200"/>
                </a:solidFill>
                <a:latin typeface="Consolas"/>
                <a:cs typeface="Consolas"/>
              </a:rPr>
              <a:t> </a:t>
            </a:r>
            <a:r>
              <a:rPr sz="1750" dirty="0">
                <a:solidFill>
                  <a:srgbClr val="008200"/>
                </a:solidFill>
                <a:latin typeface="Consolas"/>
                <a:cs typeface="Consolas"/>
              </a:rPr>
              <a:t>Dictionary  </a:t>
            </a:r>
            <a:r>
              <a:rPr sz="1750" spc="-5" dirty="0">
                <a:solidFill>
                  <a:srgbClr val="FF1393"/>
                </a:solidFill>
                <a:latin typeface="Consolas"/>
                <a:cs typeface="Consolas"/>
              </a:rPr>
              <a:t>Dict </a:t>
            </a:r>
            <a:r>
              <a:rPr sz="1750" b="1" dirty="0">
                <a:solidFill>
                  <a:srgbClr val="006699"/>
                </a:solidFill>
                <a:latin typeface="Consolas"/>
                <a:cs typeface="Consolas"/>
              </a:rPr>
              <a:t>=</a:t>
            </a:r>
            <a:r>
              <a:rPr sz="1750" b="1" spc="10" dirty="0">
                <a:solidFill>
                  <a:srgbClr val="006699"/>
                </a:solidFill>
                <a:latin typeface="Consolas"/>
                <a:cs typeface="Consolas"/>
              </a:rPr>
              <a:t> </a:t>
            </a:r>
            <a:r>
              <a:rPr sz="1750" dirty="0">
                <a:latin typeface="Consolas"/>
                <a:cs typeface="Consolas"/>
              </a:rPr>
              <a:t>{}</a:t>
            </a:r>
          </a:p>
          <a:p>
            <a:pPr>
              <a:lnSpc>
                <a:spcPct val="100000"/>
              </a:lnSpc>
            </a:pPr>
            <a:endParaRPr sz="1750" dirty="0">
              <a:latin typeface="Consolas"/>
              <a:cs typeface="Consolas"/>
            </a:endParaRPr>
          </a:p>
          <a:p>
            <a:pPr marL="12700">
              <a:lnSpc>
                <a:spcPct val="100000"/>
              </a:lnSpc>
              <a:spcBef>
                <a:spcPts val="5"/>
              </a:spcBef>
            </a:pPr>
            <a:r>
              <a:rPr sz="1750" dirty="0">
                <a:solidFill>
                  <a:srgbClr val="008200"/>
                </a:solidFill>
                <a:latin typeface="Consolas"/>
                <a:cs typeface="Consolas"/>
              </a:rPr>
              <a:t># Adding elements one at a</a:t>
            </a:r>
            <a:r>
              <a:rPr sz="1750" spc="-65" dirty="0">
                <a:solidFill>
                  <a:srgbClr val="008200"/>
                </a:solidFill>
                <a:latin typeface="Consolas"/>
                <a:cs typeface="Consolas"/>
              </a:rPr>
              <a:t> </a:t>
            </a:r>
            <a:r>
              <a:rPr sz="1750" dirty="0">
                <a:solidFill>
                  <a:srgbClr val="008200"/>
                </a:solidFill>
                <a:latin typeface="Consolas"/>
                <a:cs typeface="Consolas"/>
              </a:rPr>
              <a:t>time</a:t>
            </a:r>
            <a:endParaRPr sz="1750" dirty="0">
              <a:latin typeface="Consolas"/>
              <a:cs typeface="Consolas"/>
            </a:endParaRPr>
          </a:p>
        </p:txBody>
      </p:sp>
      <p:graphicFrame>
        <p:nvGraphicFramePr>
          <p:cNvPr id="5" name="object 5"/>
          <p:cNvGraphicFramePr>
            <a:graphicFrameLocks noGrp="1"/>
          </p:cNvGraphicFramePr>
          <p:nvPr/>
        </p:nvGraphicFramePr>
        <p:xfrm>
          <a:off x="3202160" y="3233258"/>
          <a:ext cx="2388235" cy="755947"/>
        </p:xfrm>
        <a:graphic>
          <a:graphicData uri="http://schemas.openxmlformats.org/drawingml/2006/table">
            <a:tbl>
              <a:tblPr firstRow="1" bandRow="1">
                <a:tableStyleId>{2D5ABB26-0587-4C30-8999-92F81FD0307C}</a:tableStyleId>
              </a:tblPr>
              <a:tblGrid>
                <a:gridCol w="949325"/>
                <a:gridCol w="244475"/>
                <a:gridCol w="1194435"/>
              </a:tblGrid>
              <a:tr h="244612">
                <a:tc>
                  <a:txBody>
                    <a:bodyPr/>
                    <a:lstStyle/>
                    <a:p>
                      <a:pPr marR="20955" algn="ctr">
                        <a:lnSpc>
                          <a:spcPts val="1650"/>
                        </a:lnSpc>
                      </a:pPr>
                      <a:r>
                        <a:rPr sz="1750" dirty="0">
                          <a:solidFill>
                            <a:srgbClr val="FF1393"/>
                          </a:solidFill>
                          <a:latin typeface="Consolas"/>
                          <a:cs typeface="Consolas"/>
                        </a:rPr>
                        <a:t>Dict</a:t>
                      </a:r>
                      <a:r>
                        <a:rPr sz="1750" dirty="0">
                          <a:latin typeface="Consolas"/>
                          <a:cs typeface="Consolas"/>
                        </a:rPr>
                        <a:t>[</a:t>
                      </a:r>
                      <a:r>
                        <a:rPr sz="1750" dirty="0">
                          <a:solidFill>
                            <a:srgbClr val="009900"/>
                          </a:solidFill>
                          <a:latin typeface="Consolas"/>
                          <a:cs typeface="Consolas"/>
                        </a:rPr>
                        <a:t>0</a:t>
                      </a:r>
                      <a:r>
                        <a:rPr sz="1750" dirty="0">
                          <a:latin typeface="Consolas"/>
                          <a:cs typeface="Consolas"/>
                        </a:rPr>
                        <a:t>]</a:t>
                      </a:r>
                      <a:endParaRPr sz="1750">
                        <a:latin typeface="Consolas"/>
                        <a:cs typeface="Consolas"/>
                      </a:endParaRPr>
                    </a:p>
                  </a:txBody>
                  <a:tcPr marL="0" marR="0" marT="0" marB="0"/>
                </a:tc>
                <a:tc>
                  <a:txBody>
                    <a:bodyPr/>
                    <a:lstStyle/>
                    <a:p>
                      <a:pPr marL="60325">
                        <a:lnSpc>
                          <a:spcPts val="1650"/>
                        </a:lnSpc>
                      </a:pPr>
                      <a:r>
                        <a:rPr sz="1750" b="1" dirty="0">
                          <a:solidFill>
                            <a:srgbClr val="006699"/>
                          </a:solidFill>
                          <a:latin typeface="Consolas"/>
                          <a:cs typeface="Consolas"/>
                        </a:rPr>
                        <a:t>=</a:t>
                      </a:r>
                      <a:endParaRPr sz="1750">
                        <a:latin typeface="Consolas"/>
                        <a:cs typeface="Consolas"/>
                      </a:endParaRPr>
                    </a:p>
                  </a:txBody>
                  <a:tcPr marL="0" marR="0" marT="0" marB="0"/>
                </a:tc>
                <a:tc>
                  <a:txBody>
                    <a:bodyPr/>
                    <a:lstStyle/>
                    <a:p>
                      <a:pPr marL="60960">
                        <a:lnSpc>
                          <a:spcPts val="1650"/>
                        </a:lnSpc>
                      </a:pPr>
                      <a:r>
                        <a:rPr sz="1750" dirty="0">
                          <a:solidFill>
                            <a:srgbClr val="0000FF"/>
                          </a:solidFill>
                          <a:latin typeface="Consolas"/>
                          <a:cs typeface="Consolas"/>
                        </a:rPr>
                        <a:t>'Zooming'</a:t>
                      </a:r>
                      <a:endParaRPr sz="1750">
                        <a:latin typeface="Consolas"/>
                        <a:cs typeface="Consolas"/>
                      </a:endParaRPr>
                    </a:p>
                  </a:txBody>
                  <a:tcPr marL="0" marR="0" marT="0" marB="0"/>
                </a:tc>
              </a:tr>
              <a:tr h="266722">
                <a:tc>
                  <a:txBody>
                    <a:bodyPr/>
                    <a:lstStyle/>
                    <a:p>
                      <a:pPr marR="20955" algn="ctr">
                        <a:lnSpc>
                          <a:spcPts val="1825"/>
                        </a:lnSpc>
                      </a:pPr>
                      <a:r>
                        <a:rPr sz="1750" dirty="0">
                          <a:solidFill>
                            <a:srgbClr val="FF1393"/>
                          </a:solidFill>
                          <a:latin typeface="Consolas"/>
                          <a:cs typeface="Consolas"/>
                        </a:rPr>
                        <a:t>Dict</a:t>
                      </a:r>
                      <a:r>
                        <a:rPr sz="1750" dirty="0">
                          <a:latin typeface="Consolas"/>
                          <a:cs typeface="Consolas"/>
                        </a:rPr>
                        <a:t>[</a:t>
                      </a:r>
                      <a:r>
                        <a:rPr sz="1750" dirty="0">
                          <a:solidFill>
                            <a:srgbClr val="009900"/>
                          </a:solidFill>
                          <a:latin typeface="Consolas"/>
                          <a:cs typeface="Consolas"/>
                        </a:rPr>
                        <a:t>2</a:t>
                      </a:r>
                      <a:r>
                        <a:rPr sz="1750" dirty="0">
                          <a:latin typeface="Consolas"/>
                          <a:cs typeface="Consolas"/>
                        </a:rPr>
                        <a:t>]</a:t>
                      </a:r>
                      <a:endParaRPr sz="1750">
                        <a:latin typeface="Consolas"/>
                        <a:cs typeface="Consolas"/>
                      </a:endParaRPr>
                    </a:p>
                  </a:txBody>
                  <a:tcPr marL="0" marR="0" marT="0" marB="0"/>
                </a:tc>
                <a:tc>
                  <a:txBody>
                    <a:bodyPr/>
                    <a:lstStyle/>
                    <a:p>
                      <a:pPr marL="60325">
                        <a:lnSpc>
                          <a:spcPts val="1825"/>
                        </a:lnSpc>
                      </a:pPr>
                      <a:r>
                        <a:rPr sz="1750" b="1" dirty="0">
                          <a:solidFill>
                            <a:srgbClr val="006699"/>
                          </a:solidFill>
                          <a:latin typeface="Consolas"/>
                          <a:cs typeface="Consolas"/>
                        </a:rPr>
                        <a:t>=</a:t>
                      </a:r>
                      <a:endParaRPr sz="1750">
                        <a:latin typeface="Consolas"/>
                        <a:cs typeface="Consolas"/>
                      </a:endParaRPr>
                    </a:p>
                  </a:txBody>
                  <a:tcPr marL="0" marR="0" marT="0" marB="0"/>
                </a:tc>
                <a:tc>
                  <a:txBody>
                    <a:bodyPr/>
                    <a:lstStyle/>
                    <a:p>
                      <a:pPr marL="60960">
                        <a:lnSpc>
                          <a:spcPts val="1825"/>
                        </a:lnSpc>
                      </a:pPr>
                      <a:r>
                        <a:rPr sz="1750" dirty="0">
                          <a:solidFill>
                            <a:srgbClr val="0000FF"/>
                          </a:solidFill>
                          <a:latin typeface="Consolas"/>
                          <a:cs typeface="Consolas"/>
                        </a:rPr>
                        <a:t>'For'</a:t>
                      </a:r>
                      <a:endParaRPr sz="1750">
                        <a:latin typeface="Consolas"/>
                        <a:cs typeface="Consolas"/>
                      </a:endParaRPr>
                    </a:p>
                  </a:txBody>
                  <a:tcPr marL="0" marR="0" marT="0" marB="0"/>
                </a:tc>
              </a:tr>
              <a:tr h="244613">
                <a:tc>
                  <a:txBody>
                    <a:bodyPr/>
                    <a:lstStyle/>
                    <a:p>
                      <a:pPr marR="20955" algn="ctr">
                        <a:lnSpc>
                          <a:spcPts val="1825"/>
                        </a:lnSpc>
                      </a:pPr>
                      <a:r>
                        <a:rPr sz="1750" dirty="0">
                          <a:solidFill>
                            <a:srgbClr val="FF1393"/>
                          </a:solidFill>
                          <a:latin typeface="Consolas"/>
                          <a:cs typeface="Consolas"/>
                        </a:rPr>
                        <a:t>Dict</a:t>
                      </a:r>
                      <a:r>
                        <a:rPr sz="1750" dirty="0">
                          <a:latin typeface="Consolas"/>
                          <a:cs typeface="Consolas"/>
                        </a:rPr>
                        <a:t>[</a:t>
                      </a:r>
                      <a:r>
                        <a:rPr sz="1750" dirty="0">
                          <a:solidFill>
                            <a:srgbClr val="009900"/>
                          </a:solidFill>
                          <a:latin typeface="Consolas"/>
                          <a:cs typeface="Consolas"/>
                        </a:rPr>
                        <a:t>3</a:t>
                      </a:r>
                      <a:r>
                        <a:rPr sz="1750" dirty="0">
                          <a:latin typeface="Consolas"/>
                          <a:cs typeface="Consolas"/>
                        </a:rPr>
                        <a:t>]</a:t>
                      </a:r>
                      <a:endParaRPr sz="1750">
                        <a:latin typeface="Consolas"/>
                        <a:cs typeface="Consolas"/>
                      </a:endParaRPr>
                    </a:p>
                  </a:txBody>
                  <a:tcPr marL="0" marR="0" marT="0" marB="0"/>
                </a:tc>
                <a:tc>
                  <a:txBody>
                    <a:bodyPr/>
                    <a:lstStyle/>
                    <a:p>
                      <a:pPr marL="60325">
                        <a:lnSpc>
                          <a:spcPts val="1825"/>
                        </a:lnSpc>
                      </a:pPr>
                      <a:r>
                        <a:rPr sz="1750" b="1" dirty="0">
                          <a:solidFill>
                            <a:srgbClr val="006699"/>
                          </a:solidFill>
                          <a:latin typeface="Consolas"/>
                          <a:cs typeface="Consolas"/>
                        </a:rPr>
                        <a:t>=</a:t>
                      </a:r>
                      <a:endParaRPr sz="1750">
                        <a:latin typeface="Consolas"/>
                        <a:cs typeface="Consolas"/>
                      </a:endParaRPr>
                    </a:p>
                  </a:txBody>
                  <a:tcPr marL="0" marR="0" marT="0" marB="0"/>
                </a:tc>
                <a:tc>
                  <a:txBody>
                    <a:bodyPr/>
                    <a:lstStyle/>
                    <a:p>
                      <a:pPr marL="60960">
                        <a:lnSpc>
                          <a:spcPts val="1825"/>
                        </a:lnSpc>
                      </a:pPr>
                      <a:r>
                        <a:rPr sz="1750" dirty="0">
                          <a:solidFill>
                            <a:srgbClr val="009900"/>
                          </a:solidFill>
                          <a:latin typeface="Consolas"/>
                          <a:cs typeface="Consolas"/>
                        </a:rPr>
                        <a:t>1</a:t>
                      </a:r>
                      <a:endParaRPr sz="1750">
                        <a:latin typeface="Consolas"/>
                        <a:cs typeface="Consolas"/>
                      </a:endParaRPr>
                    </a:p>
                  </a:txBody>
                  <a:tcPr marL="0" marR="0" marT="0" marB="0"/>
                </a:tc>
              </a:tr>
            </a:tbl>
          </a:graphicData>
        </a:graphic>
      </p:graphicFrame>
      <p:sp>
        <p:nvSpPr>
          <p:cNvPr id="6" name="object 6"/>
          <p:cNvSpPr txBox="1"/>
          <p:nvPr/>
        </p:nvSpPr>
        <p:spPr>
          <a:xfrm>
            <a:off x="3221210" y="4231603"/>
            <a:ext cx="2717800" cy="560705"/>
          </a:xfrm>
          <a:prstGeom prst="rect">
            <a:avLst/>
          </a:prstGeom>
        </p:spPr>
        <p:txBody>
          <a:bodyPr vert="horz" wrap="square" lIns="0" tIns="11430" rIns="0" bIns="0" rtlCol="0">
            <a:spAutoFit/>
          </a:bodyPr>
          <a:lstStyle/>
          <a:p>
            <a:pPr marL="12700" marR="5080">
              <a:lnSpc>
                <a:spcPct val="100600"/>
              </a:lnSpc>
              <a:spcBef>
                <a:spcPts val="90"/>
              </a:spcBef>
            </a:pPr>
            <a:r>
              <a:rPr sz="1750" dirty="0">
                <a:solidFill>
                  <a:srgbClr val="008200"/>
                </a:solidFill>
                <a:latin typeface="Consolas"/>
                <a:cs typeface="Consolas"/>
              </a:rPr>
              <a:t># Adding set of</a:t>
            </a:r>
            <a:r>
              <a:rPr sz="1750" spc="-85" dirty="0">
                <a:solidFill>
                  <a:srgbClr val="008200"/>
                </a:solidFill>
                <a:latin typeface="Consolas"/>
                <a:cs typeface="Consolas"/>
              </a:rPr>
              <a:t> </a:t>
            </a:r>
            <a:r>
              <a:rPr sz="1750" dirty="0">
                <a:solidFill>
                  <a:srgbClr val="008200"/>
                </a:solidFill>
                <a:latin typeface="Consolas"/>
                <a:cs typeface="Consolas"/>
              </a:rPr>
              <a:t>values   # </a:t>
            </a:r>
            <a:r>
              <a:rPr sz="1750" spc="-10" dirty="0">
                <a:solidFill>
                  <a:srgbClr val="008200"/>
                </a:solidFill>
                <a:latin typeface="Consolas"/>
                <a:cs typeface="Consolas"/>
              </a:rPr>
              <a:t>to </a:t>
            </a:r>
            <a:r>
              <a:rPr sz="1750" dirty="0">
                <a:solidFill>
                  <a:srgbClr val="008200"/>
                </a:solidFill>
                <a:latin typeface="Consolas"/>
                <a:cs typeface="Consolas"/>
              </a:rPr>
              <a:t>a single</a:t>
            </a:r>
            <a:r>
              <a:rPr sz="1750" spc="-15" dirty="0">
                <a:solidFill>
                  <a:srgbClr val="008200"/>
                </a:solidFill>
                <a:latin typeface="Consolas"/>
                <a:cs typeface="Consolas"/>
              </a:rPr>
              <a:t> </a:t>
            </a:r>
            <a:r>
              <a:rPr sz="1750" dirty="0">
                <a:solidFill>
                  <a:srgbClr val="008200"/>
                </a:solidFill>
                <a:latin typeface="Consolas"/>
                <a:cs typeface="Consolas"/>
              </a:rPr>
              <a:t>Key</a:t>
            </a:r>
            <a:endParaRPr sz="1750">
              <a:latin typeface="Consolas"/>
              <a:cs typeface="Consolas"/>
            </a:endParaRPr>
          </a:p>
        </p:txBody>
      </p:sp>
      <p:graphicFrame>
        <p:nvGraphicFramePr>
          <p:cNvPr id="7" name="object 7"/>
          <p:cNvGraphicFramePr>
            <a:graphicFrameLocks noGrp="1"/>
          </p:cNvGraphicFramePr>
          <p:nvPr/>
        </p:nvGraphicFramePr>
        <p:xfrm>
          <a:off x="3202160" y="4836524"/>
          <a:ext cx="6551295" cy="1825768"/>
        </p:xfrm>
        <a:graphic>
          <a:graphicData uri="http://schemas.openxmlformats.org/drawingml/2006/table">
            <a:tbl>
              <a:tblPr firstRow="1" bandRow="1">
                <a:tableStyleId>{2D5ABB26-0587-4C30-8999-92F81FD0307C}</a:tableStyleId>
              </a:tblPr>
              <a:tblGrid>
                <a:gridCol w="2418715"/>
                <a:gridCol w="734060"/>
                <a:gridCol w="3398520"/>
              </a:tblGrid>
              <a:tr h="778763">
                <a:tc>
                  <a:txBody>
                    <a:bodyPr/>
                    <a:lstStyle/>
                    <a:p>
                      <a:pPr marL="31750">
                        <a:lnSpc>
                          <a:spcPts val="1650"/>
                        </a:lnSpc>
                      </a:pPr>
                      <a:r>
                        <a:rPr sz="1750" dirty="0">
                          <a:solidFill>
                            <a:srgbClr val="FF1393"/>
                          </a:solidFill>
                          <a:latin typeface="Consolas"/>
                          <a:cs typeface="Consolas"/>
                        </a:rPr>
                        <a:t>Dict</a:t>
                      </a:r>
                      <a:r>
                        <a:rPr sz="1750" dirty="0">
                          <a:latin typeface="Consolas"/>
                          <a:cs typeface="Consolas"/>
                        </a:rPr>
                        <a:t>[</a:t>
                      </a:r>
                      <a:r>
                        <a:rPr sz="1750" dirty="0">
                          <a:solidFill>
                            <a:srgbClr val="0000FF"/>
                          </a:solidFill>
                          <a:latin typeface="Consolas"/>
                          <a:cs typeface="Consolas"/>
                        </a:rPr>
                        <a:t>'Value_set'</a:t>
                      </a:r>
                      <a:r>
                        <a:rPr sz="1750" dirty="0">
                          <a:latin typeface="Consolas"/>
                          <a:cs typeface="Consolas"/>
                        </a:rPr>
                        <a:t>]</a:t>
                      </a:r>
                      <a:r>
                        <a:rPr sz="1750" spc="-95" dirty="0">
                          <a:latin typeface="Consolas"/>
                          <a:cs typeface="Consolas"/>
                        </a:rPr>
                        <a:t> </a:t>
                      </a:r>
                      <a:r>
                        <a:rPr sz="1750" b="1" dirty="0">
                          <a:solidFill>
                            <a:srgbClr val="006699"/>
                          </a:solidFill>
                          <a:latin typeface="Consolas"/>
                          <a:cs typeface="Consolas"/>
                        </a:rPr>
                        <a:t>=</a:t>
                      </a:r>
                      <a:endParaRPr sz="1750" dirty="0">
                        <a:latin typeface="Consolas"/>
                        <a:cs typeface="Consolas"/>
                      </a:endParaRPr>
                    </a:p>
                    <a:p>
                      <a:pPr>
                        <a:lnSpc>
                          <a:spcPct val="100000"/>
                        </a:lnSpc>
                        <a:spcBef>
                          <a:spcPts val="40"/>
                        </a:spcBef>
                      </a:pPr>
                      <a:endParaRPr sz="1800" dirty="0">
                        <a:latin typeface="Times New Roman"/>
                        <a:cs typeface="Times New Roman"/>
                      </a:endParaRPr>
                    </a:p>
                    <a:p>
                      <a:pPr marL="31750">
                        <a:lnSpc>
                          <a:spcPct val="100000"/>
                        </a:lnSpc>
                      </a:pPr>
                      <a:r>
                        <a:rPr sz="1750" dirty="0">
                          <a:solidFill>
                            <a:srgbClr val="008200"/>
                          </a:solidFill>
                          <a:latin typeface="Consolas"/>
                          <a:cs typeface="Consolas"/>
                        </a:rPr>
                        <a:t># Updating</a:t>
                      </a:r>
                      <a:r>
                        <a:rPr sz="1750" spc="-90" dirty="0">
                          <a:solidFill>
                            <a:srgbClr val="008200"/>
                          </a:solidFill>
                          <a:latin typeface="Consolas"/>
                          <a:cs typeface="Consolas"/>
                        </a:rPr>
                        <a:t> </a:t>
                      </a:r>
                      <a:r>
                        <a:rPr sz="1750" dirty="0">
                          <a:solidFill>
                            <a:srgbClr val="008200"/>
                          </a:solidFill>
                          <a:latin typeface="Consolas"/>
                          <a:cs typeface="Consolas"/>
                        </a:rPr>
                        <a:t>existing</a:t>
                      </a:r>
                      <a:endParaRPr sz="1750" dirty="0">
                        <a:latin typeface="Consolas"/>
                        <a:cs typeface="Consolas"/>
                      </a:endParaRPr>
                    </a:p>
                  </a:txBody>
                  <a:tcPr marL="0" marR="0" marT="0" marB="0"/>
                </a:tc>
                <a:tc>
                  <a:txBody>
                    <a:bodyPr/>
                    <a:lstStyle/>
                    <a:p>
                      <a:pPr marL="60325">
                        <a:lnSpc>
                          <a:spcPts val="1650"/>
                        </a:lnSpc>
                      </a:pPr>
                      <a:r>
                        <a:rPr sz="1750" dirty="0">
                          <a:solidFill>
                            <a:srgbClr val="009900"/>
                          </a:solidFill>
                          <a:latin typeface="Consolas"/>
                          <a:cs typeface="Consolas"/>
                        </a:rPr>
                        <a:t>2</a:t>
                      </a:r>
                      <a:r>
                        <a:rPr sz="1750" dirty="0">
                          <a:latin typeface="Consolas"/>
                          <a:cs typeface="Consolas"/>
                        </a:rPr>
                        <a:t>,</a:t>
                      </a:r>
                      <a:r>
                        <a:rPr sz="1750" spc="-95" dirty="0">
                          <a:latin typeface="Consolas"/>
                          <a:cs typeface="Consolas"/>
                        </a:rPr>
                        <a:t> </a:t>
                      </a:r>
                      <a:r>
                        <a:rPr sz="1750" dirty="0">
                          <a:solidFill>
                            <a:srgbClr val="009900"/>
                          </a:solidFill>
                          <a:latin typeface="Consolas"/>
                          <a:cs typeface="Consolas"/>
                        </a:rPr>
                        <a:t>3</a:t>
                      </a:r>
                      <a:r>
                        <a:rPr sz="1750" dirty="0">
                          <a:latin typeface="Consolas"/>
                          <a:cs typeface="Consolas"/>
                        </a:rPr>
                        <a:t>,</a:t>
                      </a:r>
                      <a:endParaRPr sz="1750">
                        <a:latin typeface="Consolas"/>
                        <a:cs typeface="Consolas"/>
                      </a:endParaRPr>
                    </a:p>
                    <a:p>
                      <a:pPr>
                        <a:lnSpc>
                          <a:spcPct val="100000"/>
                        </a:lnSpc>
                        <a:spcBef>
                          <a:spcPts val="40"/>
                        </a:spcBef>
                      </a:pPr>
                      <a:endParaRPr sz="1800">
                        <a:latin typeface="Times New Roman"/>
                        <a:cs typeface="Times New Roman"/>
                      </a:endParaRPr>
                    </a:p>
                    <a:p>
                      <a:pPr marL="60325">
                        <a:lnSpc>
                          <a:spcPct val="100000"/>
                        </a:lnSpc>
                      </a:pPr>
                      <a:r>
                        <a:rPr sz="1750" dirty="0">
                          <a:solidFill>
                            <a:srgbClr val="008200"/>
                          </a:solidFill>
                          <a:latin typeface="Consolas"/>
                          <a:cs typeface="Consolas"/>
                        </a:rPr>
                        <a:t>Key's</a:t>
                      </a:r>
                      <a:endParaRPr sz="1750">
                        <a:latin typeface="Consolas"/>
                        <a:cs typeface="Consolas"/>
                      </a:endParaRPr>
                    </a:p>
                  </a:txBody>
                  <a:tcPr marL="0" marR="0" marT="0" marB="0"/>
                </a:tc>
                <a:tc>
                  <a:txBody>
                    <a:bodyPr/>
                    <a:lstStyle/>
                    <a:p>
                      <a:pPr marL="60325">
                        <a:lnSpc>
                          <a:spcPts val="1650"/>
                        </a:lnSpc>
                      </a:pPr>
                      <a:r>
                        <a:rPr sz="1750" dirty="0">
                          <a:solidFill>
                            <a:srgbClr val="009900"/>
                          </a:solidFill>
                          <a:latin typeface="Consolas"/>
                          <a:cs typeface="Consolas"/>
                        </a:rPr>
                        <a:t>4</a:t>
                      </a:r>
                      <a:endParaRPr sz="1750">
                        <a:latin typeface="Consolas"/>
                        <a:cs typeface="Consolas"/>
                      </a:endParaRPr>
                    </a:p>
                    <a:p>
                      <a:pPr>
                        <a:lnSpc>
                          <a:spcPct val="100000"/>
                        </a:lnSpc>
                        <a:spcBef>
                          <a:spcPts val="40"/>
                        </a:spcBef>
                      </a:pPr>
                      <a:endParaRPr sz="1800">
                        <a:latin typeface="Times New Roman"/>
                        <a:cs typeface="Times New Roman"/>
                      </a:endParaRPr>
                    </a:p>
                    <a:p>
                      <a:pPr marL="59690">
                        <a:lnSpc>
                          <a:spcPct val="100000"/>
                        </a:lnSpc>
                      </a:pPr>
                      <a:r>
                        <a:rPr sz="1750" dirty="0">
                          <a:solidFill>
                            <a:srgbClr val="008200"/>
                          </a:solidFill>
                          <a:latin typeface="Consolas"/>
                          <a:cs typeface="Consolas"/>
                        </a:rPr>
                        <a:t>Value</a:t>
                      </a:r>
                      <a:endParaRPr sz="1750">
                        <a:latin typeface="Consolas"/>
                        <a:cs typeface="Consolas"/>
                      </a:endParaRPr>
                    </a:p>
                  </a:txBody>
                  <a:tcPr marL="0" marR="0" marT="0" marB="0"/>
                </a:tc>
              </a:tr>
              <a:tr h="400789">
                <a:tc>
                  <a:txBody>
                    <a:bodyPr/>
                    <a:lstStyle/>
                    <a:p>
                      <a:pPr marL="31750">
                        <a:lnSpc>
                          <a:spcPts val="1820"/>
                        </a:lnSpc>
                      </a:pPr>
                      <a:r>
                        <a:rPr sz="1750" dirty="0">
                          <a:solidFill>
                            <a:srgbClr val="FF1393"/>
                          </a:solidFill>
                          <a:latin typeface="Consolas"/>
                          <a:cs typeface="Consolas"/>
                        </a:rPr>
                        <a:t>Dict</a:t>
                      </a:r>
                      <a:r>
                        <a:rPr sz="1750" dirty="0">
                          <a:latin typeface="Consolas"/>
                          <a:cs typeface="Consolas"/>
                        </a:rPr>
                        <a:t>[</a:t>
                      </a:r>
                      <a:r>
                        <a:rPr sz="1750" dirty="0">
                          <a:solidFill>
                            <a:srgbClr val="009900"/>
                          </a:solidFill>
                          <a:latin typeface="Consolas"/>
                          <a:cs typeface="Consolas"/>
                        </a:rPr>
                        <a:t>2</a:t>
                      </a:r>
                      <a:r>
                        <a:rPr sz="1750" dirty="0">
                          <a:latin typeface="Consolas"/>
                          <a:cs typeface="Consolas"/>
                        </a:rPr>
                        <a:t>] </a:t>
                      </a:r>
                      <a:r>
                        <a:rPr sz="1750" b="1" dirty="0">
                          <a:solidFill>
                            <a:srgbClr val="006699"/>
                          </a:solidFill>
                          <a:latin typeface="Consolas"/>
                          <a:cs typeface="Consolas"/>
                        </a:rPr>
                        <a:t>=</a:t>
                      </a:r>
                      <a:r>
                        <a:rPr sz="1750" b="1" spc="-70" dirty="0">
                          <a:solidFill>
                            <a:srgbClr val="006699"/>
                          </a:solidFill>
                          <a:latin typeface="Consolas"/>
                          <a:cs typeface="Consolas"/>
                        </a:rPr>
                        <a:t> </a:t>
                      </a:r>
                      <a:r>
                        <a:rPr sz="1750" dirty="0">
                          <a:solidFill>
                            <a:srgbClr val="0000FF"/>
                          </a:solidFill>
                          <a:latin typeface="Consolas"/>
                          <a:cs typeface="Consolas"/>
                        </a:rPr>
                        <a:t>'Welcome’</a:t>
                      </a:r>
                      <a:endParaRPr sz="1750">
                        <a:latin typeface="Consolas"/>
                        <a:cs typeface="Consolas"/>
                      </a:endParaRPr>
                    </a:p>
                  </a:txBody>
                  <a:tcPr marL="0" marR="0" marT="0" marB="0"/>
                </a:tc>
                <a:tc>
                  <a:txBody>
                    <a:bodyPr/>
                    <a:lstStyle/>
                    <a:p>
                      <a:pPr>
                        <a:lnSpc>
                          <a:spcPct val="100000"/>
                        </a:lnSpc>
                      </a:pPr>
                      <a:endParaRPr sz="1900">
                        <a:latin typeface="Times New Roman"/>
                        <a:cs typeface="Times New Roman"/>
                      </a:endParaRPr>
                    </a:p>
                  </a:txBody>
                  <a:tcPr marL="0" marR="0" marT="0" marB="0"/>
                </a:tc>
                <a:tc>
                  <a:txBody>
                    <a:bodyPr/>
                    <a:lstStyle/>
                    <a:p>
                      <a:pPr>
                        <a:lnSpc>
                          <a:spcPct val="100000"/>
                        </a:lnSpc>
                      </a:pPr>
                      <a:endParaRPr sz="1900">
                        <a:latin typeface="Times New Roman"/>
                        <a:cs typeface="Times New Roman"/>
                      </a:endParaRPr>
                    </a:p>
                  </a:txBody>
                  <a:tcPr marL="0" marR="0" marT="0" marB="0"/>
                </a:tc>
              </a:tr>
              <a:tr h="401604">
                <a:tc>
                  <a:txBody>
                    <a:bodyPr/>
                    <a:lstStyle/>
                    <a:p>
                      <a:pPr marL="31750">
                        <a:lnSpc>
                          <a:spcPct val="100000"/>
                        </a:lnSpc>
                        <a:spcBef>
                          <a:spcPts val="785"/>
                        </a:spcBef>
                      </a:pPr>
                      <a:r>
                        <a:rPr sz="1750" dirty="0">
                          <a:solidFill>
                            <a:srgbClr val="008200"/>
                          </a:solidFill>
                          <a:latin typeface="Consolas"/>
                          <a:cs typeface="Consolas"/>
                        </a:rPr>
                        <a:t># Adding Nested</a:t>
                      </a:r>
                      <a:r>
                        <a:rPr sz="1750" spc="-75" dirty="0">
                          <a:solidFill>
                            <a:srgbClr val="008200"/>
                          </a:solidFill>
                          <a:latin typeface="Consolas"/>
                          <a:cs typeface="Consolas"/>
                        </a:rPr>
                        <a:t> </a:t>
                      </a:r>
                      <a:r>
                        <a:rPr sz="1750" dirty="0">
                          <a:solidFill>
                            <a:srgbClr val="008200"/>
                          </a:solidFill>
                          <a:latin typeface="Consolas"/>
                          <a:cs typeface="Consolas"/>
                        </a:rPr>
                        <a:t>Key</a:t>
                      </a:r>
                      <a:endParaRPr sz="1750">
                        <a:latin typeface="Consolas"/>
                        <a:cs typeface="Consolas"/>
                      </a:endParaRPr>
                    </a:p>
                  </a:txBody>
                  <a:tcPr marL="0" marR="0" marT="99695" marB="0"/>
                </a:tc>
                <a:tc>
                  <a:txBody>
                    <a:bodyPr/>
                    <a:lstStyle/>
                    <a:p>
                      <a:pPr algn="ctr">
                        <a:lnSpc>
                          <a:spcPct val="100000"/>
                        </a:lnSpc>
                        <a:spcBef>
                          <a:spcPts val="785"/>
                        </a:spcBef>
                      </a:pPr>
                      <a:r>
                        <a:rPr sz="1750" dirty="0">
                          <a:solidFill>
                            <a:srgbClr val="008200"/>
                          </a:solidFill>
                          <a:latin typeface="Consolas"/>
                          <a:cs typeface="Consolas"/>
                        </a:rPr>
                        <a:t>value</a:t>
                      </a:r>
                      <a:endParaRPr sz="1750">
                        <a:latin typeface="Consolas"/>
                        <a:cs typeface="Consolas"/>
                      </a:endParaRPr>
                    </a:p>
                  </a:txBody>
                  <a:tcPr marL="0" marR="0" marT="99695" marB="0"/>
                </a:tc>
                <a:tc>
                  <a:txBody>
                    <a:bodyPr/>
                    <a:lstStyle/>
                    <a:p>
                      <a:pPr marL="59690">
                        <a:lnSpc>
                          <a:spcPct val="100000"/>
                        </a:lnSpc>
                        <a:spcBef>
                          <a:spcPts val="785"/>
                        </a:spcBef>
                      </a:pPr>
                      <a:r>
                        <a:rPr sz="1750" dirty="0">
                          <a:solidFill>
                            <a:srgbClr val="008200"/>
                          </a:solidFill>
                          <a:latin typeface="Consolas"/>
                          <a:cs typeface="Consolas"/>
                        </a:rPr>
                        <a:t>to</a:t>
                      </a:r>
                      <a:r>
                        <a:rPr sz="1750" spc="-5" dirty="0">
                          <a:solidFill>
                            <a:srgbClr val="008200"/>
                          </a:solidFill>
                          <a:latin typeface="Consolas"/>
                          <a:cs typeface="Consolas"/>
                        </a:rPr>
                        <a:t> Dictionary</a:t>
                      </a:r>
                      <a:endParaRPr sz="1750">
                        <a:latin typeface="Consolas"/>
                        <a:cs typeface="Consolas"/>
                      </a:endParaRPr>
                    </a:p>
                  </a:txBody>
                  <a:tcPr marL="0" marR="0" marT="99695" marB="0"/>
                </a:tc>
              </a:tr>
              <a:tr h="244612">
                <a:tc>
                  <a:txBody>
                    <a:bodyPr/>
                    <a:lstStyle/>
                    <a:p>
                      <a:pPr marL="31750">
                        <a:lnSpc>
                          <a:spcPts val="1825"/>
                        </a:lnSpc>
                      </a:pPr>
                      <a:r>
                        <a:rPr sz="1750" dirty="0">
                          <a:solidFill>
                            <a:srgbClr val="FF1393"/>
                          </a:solidFill>
                          <a:latin typeface="Consolas"/>
                          <a:cs typeface="Consolas"/>
                        </a:rPr>
                        <a:t>Dict</a:t>
                      </a:r>
                      <a:r>
                        <a:rPr sz="1750" dirty="0">
                          <a:latin typeface="Consolas"/>
                          <a:cs typeface="Consolas"/>
                        </a:rPr>
                        <a:t>[</a:t>
                      </a:r>
                      <a:r>
                        <a:rPr sz="1750" dirty="0">
                          <a:solidFill>
                            <a:srgbClr val="009900"/>
                          </a:solidFill>
                          <a:latin typeface="Consolas"/>
                          <a:cs typeface="Consolas"/>
                        </a:rPr>
                        <a:t>5</a:t>
                      </a:r>
                      <a:r>
                        <a:rPr sz="1750" dirty="0">
                          <a:latin typeface="Consolas"/>
                          <a:cs typeface="Consolas"/>
                        </a:rPr>
                        <a:t>] </a:t>
                      </a:r>
                      <a:r>
                        <a:rPr sz="1750" b="1" dirty="0">
                          <a:solidFill>
                            <a:srgbClr val="006699"/>
                          </a:solidFill>
                          <a:latin typeface="Consolas"/>
                          <a:cs typeface="Consolas"/>
                        </a:rPr>
                        <a:t>=</a:t>
                      </a:r>
                      <a:r>
                        <a:rPr sz="1750" b="1" spc="-65" dirty="0">
                          <a:solidFill>
                            <a:srgbClr val="006699"/>
                          </a:solidFill>
                          <a:latin typeface="Consolas"/>
                          <a:cs typeface="Consolas"/>
                        </a:rPr>
                        <a:t> </a:t>
                      </a:r>
                      <a:r>
                        <a:rPr sz="1750" dirty="0">
                          <a:latin typeface="Consolas"/>
                          <a:cs typeface="Consolas"/>
                        </a:rPr>
                        <a:t>{</a:t>
                      </a:r>
                      <a:r>
                        <a:rPr sz="1750" dirty="0">
                          <a:solidFill>
                            <a:srgbClr val="0000FF"/>
                          </a:solidFill>
                          <a:latin typeface="Consolas"/>
                          <a:cs typeface="Consolas"/>
                        </a:rPr>
                        <a:t>'Nested'</a:t>
                      </a:r>
                      <a:endParaRPr sz="1750">
                        <a:latin typeface="Consolas"/>
                        <a:cs typeface="Consolas"/>
                      </a:endParaRPr>
                    </a:p>
                  </a:txBody>
                  <a:tcPr marL="0" marR="0" marT="0" marB="0"/>
                </a:tc>
                <a:tc>
                  <a:txBody>
                    <a:bodyPr/>
                    <a:lstStyle/>
                    <a:p>
                      <a:pPr algn="ctr">
                        <a:lnSpc>
                          <a:spcPts val="1825"/>
                        </a:lnSpc>
                      </a:pPr>
                      <a:r>
                        <a:rPr sz="1750" dirty="0">
                          <a:latin typeface="Consolas"/>
                          <a:cs typeface="Consolas"/>
                        </a:rPr>
                        <a:t>:{</a:t>
                      </a:r>
                      <a:r>
                        <a:rPr sz="1750" dirty="0">
                          <a:solidFill>
                            <a:srgbClr val="0000FF"/>
                          </a:solidFill>
                          <a:latin typeface="Consolas"/>
                          <a:cs typeface="Consolas"/>
                        </a:rPr>
                        <a:t>'1'</a:t>
                      </a:r>
                      <a:endParaRPr sz="1750">
                        <a:latin typeface="Consolas"/>
                        <a:cs typeface="Consolas"/>
                      </a:endParaRPr>
                    </a:p>
                  </a:txBody>
                  <a:tcPr marL="0" marR="0" marT="0" marB="0"/>
                </a:tc>
                <a:tc>
                  <a:txBody>
                    <a:bodyPr/>
                    <a:lstStyle/>
                    <a:p>
                      <a:pPr marL="60325">
                        <a:lnSpc>
                          <a:spcPts val="1825"/>
                        </a:lnSpc>
                      </a:pPr>
                      <a:r>
                        <a:rPr sz="1750" dirty="0">
                          <a:latin typeface="Consolas"/>
                          <a:cs typeface="Consolas"/>
                        </a:rPr>
                        <a:t>: </a:t>
                      </a:r>
                      <a:r>
                        <a:rPr sz="1750" dirty="0">
                          <a:solidFill>
                            <a:srgbClr val="0000FF"/>
                          </a:solidFill>
                          <a:latin typeface="Consolas"/>
                          <a:cs typeface="Consolas"/>
                        </a:rPr>
                        <a:t>'Life'</a:t>
                      </a:r>
                      <a:r>
                        <a:rPr sz="1750" dirty="0">
                          <a:latin typeface="Consolas"/>
                          <a:cs typeface="Consolas"/>
                        </a:rPr>
                        <a:t>, </a:t>
                      </a:r>
                      <a:r>
                        <a:rPr sz="1750" dirty="0">
                          <a:solidFill>
                            <a:srgbClr val="0000FF"/>
                          </a:solidFill>
                          <a:latin typeface="Consolas"/>
                          <a:cs typeface="Consolas"/>
                        </a:rPr>
                        <a:t>'2' </a:t>
                      </a:r>
                      <a:r>
                        <a:rPr sz="1750" dirty="0">
                          <a:latin typeface="Consolas"/>
                          <a:cs typeface="Consolas"/>
                        </a:rPr>
                        <a:t>:</a:t>
                      </a:r>
                      <a:r>
                        <a:rPr sz="1750" spc="-60" dirty="0">
                          <a:latin typeface="Consolas"/>
                          <a:cs typeface="Consolas"/>
                        </a:rPr>
                        <a:t> </a:t>
                      </a:r>
                      <a:r>
                        <a:rPr sz="1750" dirty="0">
                          <a:solidFill>
                            <a:srgbClr val="0000FF"/>
                          </a:solidFill>
                          <a:latin typeface="Consolas"/>
                          <a:cs typeface="Consolas"/>
                        </a:rPr>
                        <a:t>'Zooming’</a:t>
                      </a:r>
                      <a:r>
                        <a:rPr sz="1750" dirty="0">
                          <a:latin typeface="Consolas"/>
                          <a:cs typeface="Consolas"/>
                        </a:rPr>
                        <a:t>}}</a:t>
                      </a:r>
                      <a:endParaRPr sz="1750">
                        <a:latin typeface="Consolas"/>
                        <a:cs typeface="Consolas"/>
                      </a:endParaRPr>
                    </a:p>
                  </a:txBody>
                  <a:tcPr marL="0" marR="0" marT="0" marB="0"/>
                </a:tc>
              </a:tr>
            </a:tbl>
          </a:graphicData>
        </a:graphic>
      </p:graphicFrame>
      <p:sp>
        <p:nvSpPr>
          <p:cNvPr id="8" name="Rectangle 7"/>
          <p:cNvSpPr/>
          <p:nvPr/>
        </p:nvSpPr>
        <p:spPr>
          <a:xfrm>
            <a:off x="317500" y="5610225"/>
            <a:ext cx="274320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02639" y="1274985"/>
            <a:ext cx="6516370" cy="614680"/>
          </a:xfrm>
          <a:prstGeom prst="rect">
            <a:avLst/>
          </a:prstGeom>
        </p:spPr>
        <p:txBody>
          <a:bodyPr vert="horz" wrap="square" lIns="0" tIns="14605" rIns="0" bIns="0" rtlCol="0">
            <a:spAutoFit/>
          </a:bodyPr>
          <a:lstStyle/>
          <a:p>
            <a:pPr marL="12700">
              <a:lnSpc>
                <a:spcPct val="100000"/>
              </a:lnSpc>
              <a:spcBef>
                <a:spcPts val="115"/>
              </a:spcBef>
            </a:pPr>
            <a:r>
              <a:rPr b="0" u="heavy" spc="-955" dirty="0">
                <a:solidFill>
                  <a:srgbClr val="0070BF"/>
                </a:solidFill>
                <a:uFill>
                  <a:solidFill>
                    <a:srgbClr val="0070BF"/>
                  </a:solidFill>
                </a:uFill>
                <a:latin typeface="Times New Roman"/>
                <a:cs typeface="Times New Roman"/>
              </a:rPr>
              <a:t> </a:t>
            </a:r>
            <a:r>
              <a:rPr u="heavy" dirty="0">
                <a:solidFill>
                  <a:srgbClr val="0070BF"/>
                </a:solidFill>
                <a:uFill>
                  <a:solidFill>
                    <a:srgbClr val="0070BF"/>
                  </a:solidFill>
                </a:uFill>
              </a:rPr>
              <a:t>Dictionary</a:t>
            </a:r>
            <a:r>
              <a:rPr dirty="0">
                <a:solidFill>
                  <a:srgbClr val="0070BF"/>
                </a:solidFill>
              </a:rPr>
              <a:t> </a:t>
            </a:r>
            <a:r>
              <a:rPr spc="5" dirty="0">
                <a:solidFill>
                  <a:srgbClr val="0070BF"/>
                </a:solidFill>
              </a:rPr>
              <a:t>– </a:t>
            </a:r>
            <a:r>
              <a:rPr dirty="0"/>
              <a:t>Accessing</a:t>
            </a:r>
            <a:r>
              <a:rPr spc="-285" dirty="0"/>
              <a:t> </a:t>
            </a:r>
            <a:r>
              <a:rPr dirty="0"/>
              <a:t>element</a:t>
            </a:r>
          </a:p>
        </p:txBody>
      </p:sp>
      <p:sp>
        <p:nvSpPr>
          <p:cNvPr id="3" name="object 3"/>
          <p:cNvSpPr/>
          <p:nvPr/>
        </p:nvSpPr>
        <p:spPr>
          <a:xfrm>
            <a:off x="265175" y="5631180"/>
            <a:ext cx="2665455" cy="936555"/>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3329420" y="2052304"/>
            <a:ext cx="6146800" cy="4078296"/>
          </a:xfrm>
          <a:prstGeom prst="rect">
            <a:avLst/>
          </a:prstGeom>
        </p:spPr>
        <p:txBody>
          <a:bodyPr vert="horz" wrap="square" lIns="0" tIns="12700" rIns="0" bIns="0" rtlCol="0">
            <a:spAutoFit/>
          </a:bodyPr>
          <a:lstStyle/>
          <a:p>
            <a:pPr marL="12700">
              <a:lnSpc>
                <a:spcPct val="100000"/>
              </a:lnSpc>
              <a:spcBef>
                <a:spcPts val="100"/>
              </a:spcBef>
            </a:pPr>
            <a:r>
              <a:rPr sz="1750" dirty="0">
                <a:solidFill>
                  <a:srgbClr val="008200"/>
                </a:solidFill>
                <a:latin typeface="Consolas"/>
                <a:cs typeface="Consolas"/>
              </a:rPr>
              <a:t># Creating a</a:t>
            </a:r>
            <a:r>
              <a:rPr sz="1750" spc="-10" dirty="0">
                <a:solidFill>
                  <a:srgbClr val="008200"/>
                </a:solidFill>
                <a:latin typeface="Consolas"/>
                <a:cs typeface="Consolas"/>
              </a:rPr>
              <a:t> </a:t>
            </a:r>
            <a:r>
              <a:rPr sz="1750" dirty="0">
                <a:solidFill>
                  <a:srgbClr val="008200"/>
                </a:solidFill>
                <a:latin typeface="Consolas"/>
                <a:cs typeface="Consolas"/>
              </a:rPr>
              <a:t>Dictionary</a:t>
            </a:r>
            <a:endParaRPr sz="1750" dirty="0">
              <a:latin typeface="Consolas"/>
              <a:cs typeface="Consolas"/>
            </a:endParaRPr>
          </a:p>
          <a:p>
            <a:pPr marL="12700">
              <a:lnSpc>
                <a:spcPct val="100000"/>
              </a:lnSpc>
            </a:pPr>
            <a:r>
              <a:rPr sz="1750" spc="-5" dirty="0">
                <a:solidFill>
                  <a:srgbClr val="FF1393"/>
                </a:solidFill>
                <a:latin typeface="Consolas"/>
                <a:cs typeface="Consolas"/>
              </a:rPr>
              <a:t>Dict </a:t>
            </a:r>
            <a:r>
              <a:rPr sz="1750" b="1" dirty="0">
                <a:solidFill>
                  <a:srgbClr val="006699"/>
                </a:solidFill>
                <a:latin typeface="Consolas"/>
                <a:cs typeface="Consolas"/>
              </a:rPr>
              <a:t>= </a:t>
            </a:r>
            <a:r>
              <a:rPr sz="1750" dirty="0">
                <a:latin typeface="Consolas"/>
                <a:cs typeface="Consolas"/>
              </a:rPr>
              <a:t>{</a:t>
            </a:r>
            <a:r>
              <a:rPr sz="1750" dirty="0">
                <a:solidFill>
                  <a:srgbClr val="009900"/>
                </a:solidFill>
                <a:latin typeface="Consolas"/>
                <a:cs typeface="Consolas"/>
              </a:rPr>
              <a:t>1</a:t>
            </a:r>
            <a:r>
              <a:rPr sz="1750" dirty="0">
                <a:latin typeface="Consolas"/>
                <a:cs typeface="Consolas"/>
              </a:rPr>
              <a:t>: </a:t>
            </a:r>
            <a:r>
              <a:rPr sz="1750" dirty="0">
                <a:solidFill>
                  <a:srgbClr val="0000FF"/>
                </a:solidFill>
                <a:latin typeface="Consolas"/>
                <a:cs typeface="Consolas"/>
              </a:rPr>
              <a:t>'Zooming'</a:t>
            </a:r>
            <a:r>
              <a:rPr sz="1750" dirty="0">
                <a:latin typeface="Consolas"/>
                <a:cs typeface="Consolas"/>
              </a:rPr>
              <a:t>, </a:t>
            </a:r>
            <a:r>
              <a:rPr sz="1750" dirty="0">
                <a:solidFill>
                  <a:srgbClr val="0000FF"/>
                </a:solidFill>
                <a:latin typeface="Consolas"/>
                <a:cs typeface="Consolas"/>
              </a:rPr>
              <a:t>'name'</a:t>
            </a:r>
            <a:r>
              <a:rPr sz="1750" dirty="0">
                <a:latin typeface="Consolas"/>
                <a:cs typeface="Consolas"/>
              </a:rPr>
              <a:t>: </a:t>
            </a:r>
            <a:r>
              <a:rPr sz="1750" spc="-5" dirty="0">
                <a:solidFill>
                  <a:srgbClr val="0000FF"/>
                </a:solidFill>
                <a:latin typeface="Consolas"/>
                <a:cs typeface="Consolas"/>
              </a:rPr>
              <a:t>'For'</a:t>
            </a:r>
            <a:r>
              <a:rPr sz="1750" spc="-5" dirty="0">
                <a:latin typeface="Consolas"/>
                <a:cs typeface="Consolas"/>
              </a:rPr>
              <a:t>, </a:t>
            </a:r>
            <a:r>
              <a:rPr sz="1750" spc="-5" dirty="0">
                <a:solidFill>
                  <a:srgbClr val="009900"/>
                </a:solidFill>
                <a:latin typeface="Consolas"/>
                <a:cs typeface="Consolas"/>
              </a:rPr>
              <a:t>3</a:t>
            </a:r>
            <a:r>
              <a:rPr sz="1750" spc="-5" dirty="0">
                <a:latin typeface="Consolas"/>
                <a:cs typeface="Consolas"/>
              </a:rPr>
              <a:t>:</a:t>
            </a:r>
            <a:r>
              <a:rPr sz="1750" dirty="0">
                <a:latin typeface="Consolas"/>
                <a:cs typeface="Consolas"/>
              </a:rPr>
              <a:t> </a:t>
            </a:r>
            <a:r>
              <a:rPr sz="1750" dirty="0">
                <a:solidFill>
                  <a:srgbClr val="0000FF"/>
                </a:solidFill>
                <a:latin typeface="Consolas"/>
                <a:cs typeface="Consolas"/>
              </a:rPr>
              <a:t>'Zooming'</a:t>
            </a:r>
            <a:r>
              <a:rPr sz="1750" dirty="0">
                <a:latin typeface="Consolas"/>
                <a:cs typeface="Consolas"/>
              </a:rPr>
              <a:t>}</a:t>
            </a:r>
          </a:p>
          <a:p>
            <a:pPr>
              <a:lnSpc>
                <a:spcPct val="100000"/>
              </a:lnSpc>
              <a:spcBef>
                <a:spcPts val="5"/>
              </a:spcBef>
            </a:pPr>
            <a:endParaRPr sz="1800" dirty="0">
              <a:latin typeface="Consolas"/>
              <a:cs typeface="Consolas"/>
            </a:endParaRPr>
          </a:p>
          <a:p>
            <a:pPr marL="12700" marR="1473835">
              <a:lnSpc>
                <a:spcPct val="100000"/>
              </a:lnSpc>
            </a:pPr>
            <a:r>
              <a:rPr sz="1750" dirty="0">
                <a:solidFill>
                  <a:srgbClr val="008200"/>
                </a:solidFill>
                <a:latin typeface="Consolas"/>
                <a:cs typeface="Consolas"/>
              </a:rPr>
              <a:t># accessing a element using </a:t>
            </a:r>
            <a:r>
              <a:rPr sz="1750" spc="5" dirty="0">
                <a:solidFill>
                  <a:srgbClr val="008200"/>
                </a:solidFill>
                <a:latin typeface="Consolas"/>
                <a:cs typeface="Consolas"/>
              </a:rPr>
              <a:t>key  </a:t>
            </a:r>
            <a:r>
              <a:rPr sz="1750" b="1" dirty="0">
                <a:solidFill>
                  <a:srgbClr val="006699"/>
                </a:solidFill>
                <a:latin typeface="Consolas"/>
                <a:cs typeface="Consolas"/>
              </a:rPr>
              <a:t>print</a:t>
            </a:r>
            <a:r>
              <a:rPr sz="1750" dirty="0">
                <a:latin typeface="Consolas"/>
                <a:cs typeface="Consolas"/>
              </a:rPr>
              <a:t>(</a:t>
            </a:r>
            <a:r>
              <a:rPr sz="1750" dirty="0">
                <a:solidFill>
                  <a:srgbClr val="0000FF"/>
                </a:solidFill>
                <a:latin typeface="Consolas"/>
                <a:cs typeface="Consolas"/>
              </a:rPr>
              <a:t>"Acessing a element using</a:t>
            </a:r>
            <a:r>
              <a:rPr sz="1750" spc="-80" dirty="0">
                <a:solidFill>
                  <a:srgbClr val="0000FF"/>
                </a:solidFill>
                <a:latin typeface="Consolas"/>
                <a:cs typeface="Consolas"/>
              </a:rPr>
              <a:t> </a:t>
            </a:r>
            <a:r>
              <a:rPr sz="1750" dirty="0">
                <a:solidFill>
                  <a:srgbClr val="0000FF"/>
                </a:solidFill>
                <a:latin typeface="Consolas"/>
                <a:cs typeface="Consolas"/>
              </a:rPr>
              <a:t>key:"</a:t>
            </a:r>
            <a:r>
              <a:rPr sz="1750" dirty="0">
                <a:latin typeface="Consolas"/>
                <a:cs typeface="Consolas"/>
              </a:rPr>
              <a:t>)  </a:t>
            </a:r>
            <a:r>
              <a:rPr sz="1750" dirty="0">
                <a:solidFill>
                  <a:srgbClr val="FF1393"/>
                </a:solidFill>
                <a:latin typeface="Consolas"/>
                <a:cs typeface="Consolas"/>
              </a:rPr>
              <a:t>print</a:t>
            </a:r>
            <a:r>
              <a:rPr sz="1750" dirty="0">
                <a:latin typeface="Consolas"/>
                <a:cs typeface="Consolas"/>
              </a:rPr>
              <a:t>(</a:t>
            </a:r>
            <a:r>
              <a:rPr sz="1750" dirty="0">
                <a:solidFill>
                  <a:srgbClr val="FF1393"/>
                </a:solidFill>
                <a:latin typeface="Consolas"/>
                <a:cs typeface="Consolas"/>
              </a:rPr>
              <a:t>Dict</a:t>
            </a:r>
            <a:r>
              <a:rPr sz="1750" dirty="0">
                <a:latin typeface="Consolas"/>
                <a:cs typeface="Consolas"/>
              </a:rPr>
              <a:t>[</a:t>
            </a:r>
            <a:r>
              <a:rPr sz="1750" dirty="0">
                <a:solidFill>
                  <a:srgbClr val="0000FF"/>
                </a:solidFill>
                <a:latin typeface="Consolas"/>
                <a:cs typeface="Consolas"/>
              </a:rPr>
              <a:t>'name'</a:t>
            </a:r>
            <a:r>
              <a:rPr sz="1750" dirty="0">
                <a:latin typeface="Consolas"/>
                <a:cs typeface="Consolas"/>
              </a:rPr>
              <a:t>])</a:t>
            </a:r>
          </a:p>
          <a:p>
            <a:pPr>
              <a:lnSpc>
                <a:spcPct val="100000"/>
              </a:lnSpc>
              <a:spcBef>
                <a:spcPts val="55"/>
              </a:spcBef>
            </a:pPr>
            <a:endParaRPr sz="1750" dirty="0">
              <a:latin typeface="Consolas"/>
              <a:cs typeface="Consolas"/>
            </a:endParaRPr>
          </a:p>
          <a:p>
            <a:pPr marL="12700" marR="1473835">
              <a:lnSpc>
                <a:spcPct val="100299"/>
              </a:lnSpc>
            </a:pPr>
            <a:r>
              <a:rPr sz="1750" dirty="0">
                <a:solidFill>
                  <a:srgbClr val="008200"/>
                </a:solidFill>
                <a:latin typeface="Consolas"/>
                <a:cs typeface="Consolas"/>
              </a:rPr>
              <a:t># accessing a element using </a:t>
            </a:r>
            <a:r>
              <a:rPr sz="1750" spc="5" dirty="0">
                <a:solidFill>
                  <a:srgbClr val="008200"/>
                </a:solidFill>
                <a:latin typeface="Consolas"/>
                <a:cs typeface="Consolas"/>
              </a:rPr>
              <a:t>key  </a:t>
            </a:r>
            <a:r>
              <a:rPr sz="1750" b="1" dirty="0">
                <a:solidFill>
                  <a:srgbClr val="006699"/>
                </a:solidFill>
                <a:latin typeface="Consolas"/>
                <a:cs typeface="Consolas"/>
              </a:rPr>
              <a:t>print</a:t>
            </a:r>
            <a:r>
              <a:rPr sz="1750" dirty="0">
                <a:latin typeface="Consolas"/>
                <a:cs typeface="Consolas"/>
              </a:rPr>
              <a:t>(</a:t>
            </a:r>
            <a:r>
              <a:rPr sz="1750" dirty="0">
                <a:solidFill>
                  <a:srgbClr val="0000FF"/>
                </a:solidFill>
                <a:latin typeface="Consolas"/>
                <a:cs typeface="Consolas"/>
              </a:rPr>
              <a:t>"Acessing a element using</a:t>
            </a:r>
            <a:r>
              <a:rPr sz="1750" spc="-80" dirty="0">
                <a:solidFill>
                  <a:srgbClr val="0000FF"/>
                </a:solidFill>
                <a:latin typeface="Consolas"/>
                <a:cs typeface="Consolas"/>
              </a:rPr>
              <a:t> </a:t>
            </a:r>
            <a:r>
              <a:rPr sz="1750" dirty="0">
                <a:solidFill>
                  <a:srgbClr val="0000FF"/>
                </a:solidFill>
                <a:latin typeface="Consolas"/>
                <a:cs typeface="Consolas"/>
              </a:rPr>
              <a:t>key:"</a:t>
            </a:r>
            <a:r>
              <a:rPr sz="1750" dirty="0">
                <a:latin typeface="Consolas"/>
                <a:cs typeface="Consolas"/>
              </a:rPr>
              <a:t>)  </a:t>
            </a:r>
            <a:r>
              <a:rPr sz="1750" b="1" dirty="0" smtClean="0">
                <a:solidFill>
                  <a:srgbClr val="006699"/>
                </a:solidFill>
                <a:latin typeface="Consolas"/>
                <a:cs typeface="Consolas"/>
              </a:rPr>
              <a:t>print</a:t>
            </a:r>
            <a:r>
              <a:rPr sz="1750" dirty="0" smtClean="0">
                <a:latin typeface="Consolas"/>
                <a:cs typeface="Consolas"/>
              </a:rPr>
              <a:t>(</a:t>
            </a:r>
            <a:r>
              <a:rPr sz="1750" dirty="0" err="1" smtClean="0">
                <a:solidFill>
                  <a:srgbClr val="FF1393"/>
                </a:solidFill>
                <a:latin typeface="Consolas"/>
                <a:cs typeface="Consolas"/>
              </a:rPr>
              <a:t>Dict</a:t>
            </a:r>
            <a:r>
              <a:rPr sz="1750" dirty="0" smtClean="0">
                <a:latin typeface="Consolas"/>
                <a:cs typeface="Consolas"/>
              </a:rPr>
              <a:t>[</a:t>
            </a:r>
            <a:r>
              <a:rPr lang="en-US" sz="1750" dirty="0" smtClean="0">
                <a:solidFill>
                  <a:srgbClr val="009900"/>
                </a:solidFill>
                <a:latin typeface="Consolas"/>
                <a:cs typeface="Consolas"/>
              </a:rPr>
              <a:t>5</a:t>
            </a:r>
            <a:r>
              <a:rPr sz="1750" dirty="0" smtClean="0">
                <a:latin typeface="Consolas"/>
                <a:cs typeface="Consolas"/>
              </a:rPr>
              <a:t>])</a:t>
            </a:r>
            <a:endParaRPr sz="1750" dirty="0">
              <a:latin typeface="Consolas"/>
              <a:cs typeface="Consolas"/>
            </a:endParaRPr>
          </a:p>
          <a:p>
            <a:pPr>
              <a:lnSpc>
                <a:spcPct val="100000"/>
              </a:lnSpc>
              <a:spcBef>
                <a:spcPts val="40"/>
              </a:spcBef>
            </a:pPr>
            <a:endParaRPr sz="1750" dirty="0">
              <a:latin typeface="Consolas"/>
              <a:cs typeface="Consolas"/>
            </a:endParaRPr>
          </a:p>
          <a:p>
            <a:pPr marL="12700" marR="2087245">
              <a:lnSpc>
                <a:spcPct val="100600"/>
              </a:lnSpc>
            </a:pPr>
            <a:r>
              <a:rPr sz="1750" dirty="0">
                <a:solidFill>
                  <a:srgbClr val="008200"/>
                </a:solidFill>
                <a:latin typeface="Consolas"/>
                <a:cs typeface="Consolas"/>
              </a:rPr>
              <a:t># accessing a element using</a:t>
            </a:r>
            <a:r>
              <a:rPr sz="1750" spc="-85" dirty="0">
                <a:solidFill>
                  <a:srgbClr val="008200"/>
                </a:solidFill>
                <a:latin typeface="Consolas"/>
                <a:cs typeface="Consolas"/>
              </a:rPr>
              <a:t> </a:t>
            </a:r>
            <a:r>
              <a:rPr sz="1750" dirty="0">
                <a:solidFill>
                  <a:srgbClr val="008200"/>
                </a:solidFill>
                <a:latin typeface="Consolas"/>
                <a:cs typeface="Consolas"/>
              </a:rPr>
              <a:t>get()   #</a:t>
            </a:r>
            <a:r>
              <a:rPr sz="1750" spc="-5" dirty="0">
                <a:solidFill>
                  <a:srgbClr val="008200"/>
                </a:solidFill>
                <a:latin typeface="Consolas"/>
                <a:cs typeface="Consolas"/>
              </a:rPr>
              <a:t> </a:t>
            </a:r>
            <a:r>
              <a:rPr sz="1750" dirty="0">
                <a:solidFill>
                  <a:srgbClr val="008200"/>
                </a:solidFill>
                <a:latin typeface="Consolas"/>
                <a:cs typeface="Consolas"/>
              </a:rPr>
              <a:t>method</a:t>
            </a:r>
            <a:endParaRPr sz="1750" dirty="0">
              <a:latin typeface="Consolas"/>
              <a:cs typeface="Consolas"/>
            </a:endParaRPr>
          </a:p>
          <a:p>
            <a:pPr marL="12700" marR="1473835">
              <a:lnSpc>
                <a:spcPct val="100000"/>
              </a:lnSpc>
            </a:pPr>
            <a:r>
              <a:rPr sz="1750" dirty="0">
                <a:solidFill>
                  <a:srgbClr val="FF1393"/>
                </a:solidFill>
                <a:latin typeface="Consolas"/>
                <a:cs typeface="Consolas"/>
              </a:rPr>
              <a:t>print</a:t>
            </a:r>
            <a:r>
              <a:rPr sz="1750" dirty="0">
                <a:latin typeface="Consolas"/>
                <a:cs typeface="Consolas"/>
              </a:rPr>
              <a:t>(</a:t>
            </a:r>
            <a:r>
              <a:rPr sz="1750" dirty="0">
                <a:solidFill>
                  <a:srgbClr val="0000FF"/>
                </a:solidFill>
                <a:latin typeface="Consolas"/>
                <a:cs typeface="Consolas"/>
              </a:rPr>
              <a:t>"Acessing a element using</a:t>
            </a:r>
            <a:r>
              <a:rPr sz="1750" spc="-80" dirty="0">
                <a:solidFill>
                  <a:srgbClr val="0000FF"/>
                </a:solidFill>
                <a:latin typeface="Consolas"/>
                <a:cs typeface="Consolas"/>
              </a:rPr>
              <a:t> </a:t>
            </a:r>
            <a:r>
              <a:rPr sz="1750" dirty="0">
                <a:solidFill>
                  <a:srgbClr val="0000FF"/>
                </a:solidFill>
                <a:latin typeface="Consolas"/>
                <a:cs typeface="Consolas"/>
              </a:rPr>
              <a:t>get:"</a:t>
            </a:r>
            <a:r>
              <a:rPr sz="1750" dirty="0">
                <a:latin typeface="Consolas"/>
                <a:cs typeface="Consolas"/>
              </a:rPr>
              <a:t>)  </a:t>
            </a:r>
            <a:r>
              <a:rPr sz="1750" dirty="0" smtClean="0">
                <a:solidFill>
                  <a:srgbClr val="FF1393"/>
                </a:solidFill>
                <a:latin typeface="Consolas"/>
                <a:cs typeface="Consolas"/>
              </a:rPr>
              <a:t>print</a:t>
            </a:r>
            <a:r>
              <a:rPr sz="1750" dirty="0" smtClean="0">
                <a:latin typeface="Consolas"/>
                <a:cs typeface="Consolas"/>
              </a:rPr>
              <a:t>(</a:t>
            </a:r>
            <a:r>
              <a:rPr sz="1750" dirty="0" err="1" smtClean="0">
                <a:solidFill>
                  <a:srgbClr val="FF1393"/>
                </a:solidFill>
                <a:latin typeface="Consolas"/>
                <a:cs typeface="Consolas"/>
              </a:rPr>
              <a:t>Dict</a:t>
            </a:r>
            <a:r>
              <a:rPr sz="1750" dirty="0" err="1" smtClean="0">
                <a:latin typeface="Consolas"/>
                <a:cs typeface="Consolas"/>
              </a:rPr>
              <a:t>.get</a:t>
            </a:r>
            <a:r>
              <a:rPr sz="1750" dirty="0" smtClean="0">
                <a:latin typeface="Consolas"/>
                <a:cs typeface="Consolas"/>
              </a:rPr>
              <a:t>(</a:t>
            </a:r>
            <a:r>
              <a:rPr lang="en-US" sz="1750" dirty="0" smtClean="0">
                <a:solidFill>
                  <a:srgbClr val="009900"/>
                </a:solidFill>
                <a:latin typeface="Consolas"/>
                <a:cs typeface="Consolas"/>
              </a:rPr>
              <a:t>5</a:t>
            </a:r>
            <a:r>
              <a:rPr sz="1750" dirty="0" smtClean="0">
                <a:latin typeface="Consolas"/>
                <a:cs typeface="Consolas"/>
              </a:rPr>
              <a:t>))</a:t>
            </a:r>
            <a:endParaRPr sz="1750" dirty="0">
              <a:latin typeface="Consolas"/>
              <a:cs typeface="Consolas"/>
            </a:endParaRPr>
          </a:p>
        </p:txBody>
      </p:sp>
      <p:sp>
        <p:nvSpPr>
          <p:cNvPr id="5" name="Rectangle 4"/>
          <p:cNvSpPr/>
          <p:nvPr/>
        </p:nvSpPr>
        <p:spPr>
          <a:xfrm>
            <a:off x="317500" y="5610225"/>
            <a:ext cx="274320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698500" y="809625"/>
          <a:ext cx="9296400" cy="6566582"/>
        </p:xfrm>
        <a:graphic>
          <a:graphicData uri="http://schemas.openxmlformats.org/drawingml/2006/table">
            <a:tbl>
              <a:tblPr/>
              <a:tblGrid>
                <a:gridCol w="4648200"/>
                <a:gridCol w="4648200"/>
              </a:tblGrid>
              <a:tr h="340141">
                <a:tc>
                  <a:txBody>
                    <a:bodyPr/>
                    <a:lstStyle/>
                    <a:p>
                      <a:pPr algn="l" fontAlgn="t"/>
                      <a:r>
                        <a:rPr lang="en-US" sz="1800" dirty="0" smtClean="0">
                          <a:solidFill>
                            <a:srgbClr val="C00000"/>
                          </a:solidFill>
                        </a:rPr>
                        <a:t>Methods</a:t>
                      </a:r>
                      <a:endParaRPr lang="en-US" sz="1800" dirty="0">
                        <a:solidFill>
                          <a:srgbClr val="C00000"/>
                        </a:solidFill>
                      </a:endParaRPr>
                    </a:p>
                  </a:txBody>
                  <a:tcPr marL="95434" marR="47717" marT="47717" marB="4771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dirty="0">
                          <a:solidFill>
                            <a:srgbClr val="C00000"/>
                          </a:solidFill>
                        </a:rPr>
                        <a:t>Description</a:t>
                      </a:r>
                    </a:p>
                  </a:txBody>
                  <a:tcPr marL="47717" marR="47717" marT="47717" marB="4771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592491">
                <a:tc>
                  <a:txBody>
                    <a:bodyPr/>
                    <a:lstStyle/>
                    <a:p>
                      <a:pPr algn="l" fontAlgn="t"/>
                      <a:r>
                        <a:rPr lang="en-US" sz="1800" smtClean="0">
                          <a:hlinkClick r:id="rId2"/>
                        </a:rPr>
                        <a:t>clear()</a:t>
                      </a:r>
                      <a:endParaRPr lang="en-US" sz="1800" dirty="0"/>
                    </a:p>
                  </a:txBody>
                  <a:tcPr marL="95434" marR="47717" marT="47717" marB="4771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800"/>
                        <a:t>Removes all the elements from the dictionary</a:t>
                      </a:r>
                    </a:p>
                  </a:txBody>
                  <a:tcPr marL="47717" marR="47717" marT="47717" marB="4771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r>
              <a:tr h="340141">
                <a:tc>
                  <a:txBody>
                    <a:bodyPr/>
                    <a:lstStyle/>
                    <a:p>
                      <a:pPr algn="l" fontAlgn="t"/>
                      <a:r>
                        <a:rPr lang="en-US" sz="1800" smtClean="0">
                          <a:hlinkClick r:id="rId3"/>
                        </a:rPr>
                        <a:t>copy()</a:t>
                      </a:r>
                      <a:endParaRPr lang="en-US" sz="1800" dirty="0"/>
                    </a:p>
                  </a:txBody>
                  <a:tcPr marL="95434" marR="47717" marT="47717" marB="4771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dirty="0"/>
                        <a:t>Returns a copy of the dictionary</a:t>
                      </a:r>
                    </a:p>
                  </a:txBody>
                  <a:tcPr marL="47717" marR="47717" marT="47717" marB="4771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592491">
                <a:tc>
                  <a:txBody>
                    <a:bodyPr/>
                    <a:lstStyle/>
                    <a:p>
                      <a:pPr algn="l" fontAlgn="t"/>
                      <a:r>
                        <a:rPr lang="en-US" sz="1800" smtClean="0">
                          <a:hlinkClick r:id="rId4"/>
                        </a:rPr>
                        <a:t>fromkeys()</a:t>
                      </a:r>
                      <a:endParaRPr lang="en-US" sz="1800" dirty="0"/>
                    </a:p>
                  </a:txBody>
                  <a:tcPr marL="95434" marR="47717" marT="47717" marB="4771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800" dirty="0"/>
                        <a:t>Returns a dictionary with the specified keys and value</a:t>
                      </a:r>
                    </a:p>
                  </a:txBody>
                  <a:tcPr marL="47717" marR="47717" marT="47717" marB="4771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r>
              <a:tr h="340141">
                <a:tc>
                  <a:txBody>
                    <a:bodyPr/>
                    <a:lstStyle/>
                    <a:p>
                      <a:pPr algn="l" fontAlgn="t"/>
                      <a:r>
                        <a:rPr lang="en-US" sz="1800" smtClean="0">
                          <a:hlinkClick r:id="rId5"/>
                        </a:rPr>
                        <a:t>get()</a:t>
                      </a:r>
                      <a:endParaRPr lang="en-US" sz="1800"/>
                    </a:p>
                  </a:txBody>
                  <a:tcPr marL="95434" marR="47717" marT="47717" marB="4771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dirty="0"/>
                        <a:t>Returns the value of the specified key</a:t>
                      </a:r>
                    </a:p>
                  </a:txBody>
                  <a:tcPr marL="47717" marR="47717" marT="47717" marB="4771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592491">
                <a:tc>
                  <a:txBody>
                    <a:bodyPr/>
                    <a:lstStyle/>
                    <a:p>
                      <a:pPr algn="l" fontAlgn="t"/>
                      <a:r>
                        <a:rPr lang="en-US" sz="1800" smtClean="0">
                          <a:hlinkClick r:id="rId6"/>
                        </a:rPr>
                        <a:t>items()</a:t>
                      </a:r>
                      <a:endParaRPr lang="en-US" sz="1800"/>
                    </a:p>
                  </a:txBody>
                  <a:tcPr marL="95434" marR="47717" marT="47717" marB="4771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800" dirty="0"/>
                        <a:t>Returns a list containing a </a:t>
                      </a:r>
                      <a:r>
                        <a:rPr lang="en-US" sz="1800" dirty="0" err="1"/>
                        <a:t>tuple</a:t>
                      </a:r>
                      <a:r>
                        <a:rPr lang="en-US" sz="1800" dirty="0"/>
                        <a:t> for each key value pair</a:t>
                      </a:r>
                    </a:p>
                  </a:txBody>
                  <a:tcPr marL="47717" marR="47717" marT="47717" marB="4771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r>
              <a:tr h="592491">
                <a:tc>
                  <a:txBody>
                    <a:bodyPr/>
                    <a:lstStyle/>
                    <a:p>
                      <a:pPr algn="l" fontAlgn="t"/>
                      <a:r>
                        <a:rPr lang="en-US" sz="1800" smtClean="0">
                          <a:hlinkClick r:id="rId7"/>
                        </a:rPr>
                        <a:t>keys()</a:t>
                      </a:r>
                      <a:endParaRPr lang="en-US" sz="1800"/>
                    </a:p>
                  </a:txBody>
                  <a:tcPr marL="95434" marR="47717" marT="47717" marB="4771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dirty="0"/>
                        <a:t>Returns a list containing the dictionary's keys</a:t>
                      </a:r>
                    </a:p>
                  </a:txBody>
                  <a:tcPr marL="47717" marR="47717" marT="47717" marB="4771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459477">
                <a:tc>
                  <a:txBody>
                    <a:bodyPr/>
                    <a:lstStyle/>
                    <a:p>
                      <a:pPr algn="l" fontAlgn="t"/>
                      <a:r>
                        <a:rPr lang="en-US" sz="1800" smtClean="0">
                          <a:hlinkClick r:id="rId8"/>
                        </a:rPr>
                        <a:t>pop()</a:t>
                      </a:r>
                      <a:endParaRPr lang="en-US" sz="1800"/>
                    </a:p>
                  </a:txBody>
                  <a:tcPr marL="95434" marR="47717" marT="47717" marB="4771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800" dirty="0"/>
                        <a:t>Removes the element with the specified key</a:t>
                      </a:r>
                    </a:p>
                  </a:txBody>
                  <a:tcPr marL="47717" marR="47717" marT="47717" marB="4771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r>
              <a:tr h="340141">
                <a:tc>
                  <a:txBody>
                    <a:bodyPr/>
                    <a:lstStyle/>
                    <a:p>
                      <a:pPr algn="l" fontAlgn="t"/>
                      <a:r>
                        <a:rPr lang="en-US" sz="1800" smtClean="0">
                          <a:hlinkClick r:id="rId9"/>
                        </a:rPr>
                        <a:t>popitem()</a:t>
                      </a:r>
                      <a:endParaRPr lang="en-US" sz="1800"/>
                    </a:p>
                  </a:txBody>
                  <a:tcPr marL="95434" marR="47717" marT="47717" marB="4771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dirty="0"/>
                        <a:t>Removes the last inserted key-value pair</a:t>
                      </a:r>
                    </a:p>
                  </a:txBody>
                  <a:tcPr marL="47717" marR="47717" marT="47717" marB="4771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844841">
                <a:tc>
                  <a:txBody>
                    <a:bodyPr/>
                    <a:lstStyle/>
                    <a:p>
                      <a:pPr algn="l" fontAlgn="t"/>
                      <a:r>
                        <a:rPr lang="en-US" sz="1800" smtClean="0">
                          <a:hlinkClick r:id="rId10"/>
                        </a:rPr>
                        <a:t>setdefault()</a:t>
                      </a:r>
                      <a:endParaRPr lang="en-US" sz="1800"/>
                    </a:p>
                  </a:txBody>
                  <a:tcPr marL="95434" marR="47717" marT="47717" marB="4771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800" dirty="0"/>
                        <a:t>Returns the value of the specified key. If the key does not exist: insert the key, with the specified value</a:t>
                      </a:r>
                    </a:p>
                  </a:txBody>
                  <a:tcPr marL="47717" marR="47717" marT="47717" marB="4771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r>
              <a:tr h="592491">
                <a:tc>
                  <a:txBody>
                    <a:bodyPr/>
                    <a:lstStyle/>
                    <a:p>
                      <a:pPr algn="l" fontAlgn="t"/>
                      <a:r>
                        <a:rPr lang="en-US" sz="1800" smtClean="0">
                          <a:hlinkClick r:id="rId11"/>
                        </a:rPr>
                        <a:t>update()</a:t>
                      </a:r>
                      <a:endParaRPr lang="en-US" sz="1800"/>
                    </a:p>
                  </a:txBody>
                  <a:tcPr marL="95434" marR="47717" marT="47717" marB="4771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dirty="0"/>
                        <a:t>Updates the dictionary with the specified key-value pairs</a:t>
                      </a:r>
                    </a:p>
                  </a:txBody>
                  <a:tcPr marL="47717" marR="47717" marT="47717" marB="4771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592491">
                <a:tc>
                  <a:txBody>
                    <a:bodyPr/>
                    <a:lstStyle/>
                    <a:p>
                      <a:pPr algn="l" fontAlgn="t"/>
                      <a:r>
                        <a:rPr lang="en-US" sz="1800" dirty="0" smtClean="0">
                          <a:hlinkClick r:id="rId12"/>
                        </a:rPr>
                        <a:t>values()</a:t>
                      </a:r>
                      <a:endParaRPr lang="en-US" sz="1800" dirty="0"/>
                    </a:p>
                  </a:txBody>
                  <a:tcPr marL="95434" marR="47717" marT="47717" marB="4771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1F1F1"/>
                    </a:solidFill>
                  </a:tcPr>
                </a:tc>
                <a:tc>
                  <a:txBody>
                    <a:bodyPr/>
                    <a:lstStyle/>
                    <a:p>
                      <a:pPr algn="l" fontAlgn="t"/>
                      <a:r>
                        <a:rPr lang="en-US" sz="1800" dirty="0"/>
                        <a:t>Returns a list of all the values in the dictionary</a:t>
                      </a:r>
                    </a:p>
                  </a:txBody>
                  <a:tcPr marL="47717" marR="47717" marT="47717" marB="4771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1F1F1"/>
                    </a:solidFill>
                  </a:tcPr>
                </a:tc>
              </a:tr>
            </a:tbl>
          </a:graphicData>
        </a:graphic>
      </p:graphicFrame>
      <p:sp>
        <p:nvSpPr>
          <p:cNvPr id="5" name="TextBox 4"/>
          <p:cNvSpPr txBox="1"/>
          <p:nvPr/>
        </p:nvSpPr>
        <p:spPr>
          <a:xfrm>
            <a:off x="0" y="0"/>
            <a:ext cx="10271466" cy="523220"/>
          </a:xfrm>
          <a:prstGeom prst="rect">
            <a:avLst/>
          </a:prstGeom>
          <a:noFill/>
        </p:spPr>
        <p:txBody>
          <a:bodyPr wrap="none" rtlCol="0">
            <a:spAutoFit/>
          </a:bodyPr>
          <a:lstStyle/>
          <a:p>
            <a:r>
              <a:rPr lang="en-US" sz="2800" dirty="0" smtClean="0">
                <a:solidFill>
                  <a:srgbClr val="C00000"/>
                </a:solidFill>
              </a:rPr>
              <a:t>Python has a set of built-in methods that you can use on dictionaries.</a:t>
            </a:r>
            <a:endParaRPr lang="en-US" sz="2800" dirty="0">
              <a:solidFill>
                <a:srgbClr val="C00000"/>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p:nvPr/>
        </p:nvSpPr>
        <p:spPr>
          <a:xfrm>
            <a:off x="317500" y="885825"/>
            <a:ext cx="10147300" cy="5909310"/>
          </a:xfrm>
          <a:prstGeom prst="rect">
            <a:avLst/>
          </a:prstGeom>
        </p:spPr>
        <p:txBody>
          <a:bodyPr wrap="square">
            <a:spAutoFit/>
          </a:bodyPr>
          <a:lstStyle/>
          <a:p>
            <a:pPr marL="12700">
              <a:lnSpc>
                <a:spcPct val="100000"/>
              </a:lnSpc>
            </a:pPr>
            <a:r>
              <a:rPr lang="en-US" sz="2000" spc="-5" dirty="0" smtClean="0">
                <a:solidFill>
                  <a:srgbClr val="FF1393"/>
                </a:solidFill>
                <a:latin typeface="Consolas"/>
                <a:cs typeface="Consolas"/>
              </a:rPr>
              <a:t>Dict </a:t>
            </a:r>
            <a:r>
              <a:rPr lang="en-US" sz="2000" b="1" dirty="0" smtClean="0">
                <a:solidFill>
                  <a:srgbClr val="006699"/>
                </a:solidFill>
                <a:latin typeface="Consolas"/>
                <a:cs typeface="Consolas"/>
              </a:rPr>
              <a:t>= </a:t>
            </a:r>
            <a:r>
              <a:rPr lang="en-US" sz="2000" dirty="0" smtClean="0">
                <a:latin typeface="Consolas"/>
                <a:cs typeface="Consolas"/>
              </a:rPr>
              <a:t>{</a:t>
            </a:r>
            <a:r>
              <a:rPr lang="en-US" sz="2000" dirty="0" smtClean="0">
                <a:solidFill>
                  <a:srgbClr val="009900"/>
                </a:solidFill>
                <a:latin typeface="Consolas"/>
                <a:cs typeface="Consolas"/>
              </a:rPr>
              <a:t>1</a:t>
            </a:r>
            <a:r>
              <a:rPr lang="en-US" sz="2000" dirty="0" smtClean="0">
                <a:latin typeface="Consolas"/>
                <a:cs typeface="Consolas"/>
              </a:rPr>
              <a:t>: </a:t>
            </a:r>
            <a:r>
              <a:rPr lang="en-US" sz="2000" dirty="0" smtClean="0">
                <a:solidFill>
                  <a:srgbClr val="0000FF"/>
                </a:solidFill>
                <a:latin typeface="Consolas"/>
                <a:cs typeface="Consolas"/>
              </a:rPr>
              <a:t>‘</a:t>
            </a:r>
            <a:r>
              <a:rPr lang="en-US" sz="2000" dirty="0" err="1" smtClean="0">
                <a:solidFill>
                  <a:srgbClr val="0000FF"/>
                </a:solidFill>
                <a:latin typeface="Consolas"/>
                <a:cs typeface="Consolas"/>
              </a:rPr>
              <a:t>Ramesh</a:t>
            </a:r>
            <a:r>
              <a:rPr lang="en-US" sz="2000" dirty="0" smtClean="0">
                <a:solidFill>
                  <a:srgbClr val="0000FF"/>
                </a:solidFill>
                <a:latin typeface="Consolas"/>
                <a:cs typeface="Consolas"/>
              </a:rPr>
              <a:t>’</a:t>
            </a:r>
            <a:r>
              <a:rPr lang="en-US" sz="2000" dirty="0" smtClean="0">
                <a:latin typeface="Consolas"/>
                <a:cs typeface="Consolas"/>
              </a:rPr>
              <a:t>, </a:t>
            </a:r>
            <a:r>
              <a:rPr lang="en-US" sz="2000" dirty="0" smtClean="0">
                <a:solidFill>
                  <a:srgbClr val="0000FF"/>
                </a:solidFill>
                <a:latin typeface="Consolas"/>
                <a:cs typeface="Consolas"/>
              </a:rPr>
              <a:t>2</a:t>
            </a:r>
            <a:r>
              <a:rPr lang="en-US" sz="2000" dirty="0" smtClean="0">
                <a:latin typeface="Consolas"/>
                <a:cs typeface="Consolas"/>
              </a:rPr>
              <a:t>: </a:t>
            </a:r>
            <a:r>
              <a:rPr lang="en-US" sz="2000" spc="-5" dirty="0" smtClean="0">
                <a:solidFill>
                  <a:srgbClr val="0000FF"/>
                </a:solidFill>
                <a:latin typeface="Consolas"/>
                <a:cs typeface="Consolas"/>
              </a:rPr>
              <a:t>‘</a:t>
            </a:r>
            <a:r>
              <a:rPr lang="en-US" sz="2000" spc="-5" dirty="0" err="1" smtClean="0">
                <a:solidFill>
                  <a:srgbClr val="0000FF"/>
                </a:solidFill>
                <a:latin typeface="Consolas"/>
                <a:cs typeface="Consolas"/>
              </a:rPr>
              <a:t>Geeta</a:t>
            </a:r>
            <a:r>
              <a:rPr lang="en-US" sz="2000" spc="-5" dirty="0" smtClean="0">
                <a:solidFill>
                  <a:srgbClr val="0000FF"/>
                </a:solidFill>
                <a:latin typeface="Consolas"/>
                <a:cs typeface="Consolas"/>
              </a:rPr>
              <a:t>'</a:t>
            </a:r>
            <a:r>
              <a:rPr lang="en-US" sz="2000" spc="-5" dirty="0" smtClean="0">
                <a:latin typeface="Consolas"/>
                <a:cs typeface="Consolas"/>
              </a:rPr>
              <a:t>, </a:t>
            </a:r>
            <a:r>
              <a:rPr lang="en-US" sz="2000" spc="-5" dirty="0" smtClean="0">
                <a:solidFill>
                  <a:srgbClr val="009900"/>
                </a:solidFill>
                <a:latin typeface="Consolas"/>
                <a:cs typeface="Consolas"/>
              </a:rPr>
              <a:t>3</a:t>
            </a:r>
            <a:r>
              <a:rPr lang="en-US" sz="2000" spc="-5" dirty="0" smtClean="0">
                <a:latin typeface="Consolas"/>
                <a:cs typeface="Consolas"/>
              </a:rPr>
              <a:t>:</a:t>
            </a:r>
            <a:r>
              <a:rPr lang="en-US" sz="2000" dirty="0" smtClean="0">
                <a:latin typeface="Consolas"/>
                <a:cs typeface="Consolas"/>
              </a:rPr>
              <a:t> </a:t>
            </a:r>
            <a:r>
              <a:rPr lang="en-US" sz="2000" dirty="0" smtClean="0">
                <a:solidFill>
                  <a:srgbClr val="0000FF"/>
                </a:solidFill>
                <a:latin typeface="Consolas"/>
                <a:cs typeface="Consolas"/>
              </a:rPr>
              <a:t>‘</a:t>
            </a:r>
            <a:r>
              <a:rPr lang="en-US" sz="2000" dirty="0" err="1" smtClean="0">
                <a:solidFill>
                  <a:srgbClr val="0000FF"/>
                </a:solidFill>
                <a:latin typeface="Consolas"/>
                <a:cs typeface="Consolas"/>
              </a:rPr>
              <a:t>Riku</a:t>
            </a:r>
            <a:r>
              <a:rPr lang="en-US" sz="2000" dirty="0" smtClean="0">
                <a:solidFill>
                  <a:srgbClr val="0000FF"/>
                </a:solidFill>
                <a:latin typeface="Consolas"/>
                <a:cs typeface="Consolas"/>
              </a:rPr>
              <a:t>'</a:t>
            </a:r>
            <a:r>
              <a:rPr lang="en-US" sz="2000" dirty="0" smtClean="0">
                <a:latin typeface="Consolas"/>
                <a:cs typeface="Consolas"/>
              </a:rPr>
              <a:t>}</a:t>
            </a:r>
          </a:p>
          <a:p>
            <a:pPr marL="12700">
              <a:lnSpc>
                <a:spcPct val="100000"/>
              </a:lnSpc>
            </a:pPr>
            <a:endParaRPr lang="en-US" sz="2000" dirty="0" smtClean="0">
              <a:latin typeface="Consolas"/>
              <a:cs typeface="Consolas"/>
            </a:endParaRPr>
          </a:p>
          <a:p>
            <a:pPr marL="12700">
              <a:lnSpc>
                <a:spcPct val="100000"/>
              </a:lnSpc>
            </a:pPr>
            <a:r>
              <a:rPr lang="en-US" sz="2000" dirty="0" smtClean="0">
                <a:latin typeface="Consolas"/>
                <a:cs typeface="Consolas"/>
              </a:rPr>
              <a:t>print(</a:t>
            </a:r>
            <a:r>
              <a:rPr lang="en-US" sz="2000" dirty="0" err="1" smtClean="0">
                <a:latin typeface="Consolas"/>
                <a:cs typeface="Consolas"/>
              </a:rPr>
              <a:t>Dict</a:t>
            </a:r>
            <a:r>
              <a:rPr lang="en-US" sz="2000" dirty="0" smtClean="0">
                <a:latin typeface="Consolas"/>
                <a:cs typeface="Consolas"/>
              </a:rPr>
              <a:t>)  #Output: {</a:t>
            </a:r>
            <a:r>
              <a:rPr lang="en-US" sz="2000" dirty="0" smtClean="0">
                <a:solidFill>
                  <a:srgbClr val="009900"/>
                </a:solidFill>
                <a:latin typeface="Consolas"/>
                <a:cs typeface="Consolas"/>
              </a:rPr>
              <a:t>1</a:t>
            </a:r>
            <a:r>
              <a:rPr lang="en-US" sz="2000" dirty="0" smtClean="0">
                <a:latin typeface="Consolas"/>
                <a:cs typeface="Consolas"/>
              </a:rPr>
              <a:t>:</a:t>
            </a:r>
            <a:r>
              <a:rPr lang="en-US" sz="2000" dirty="0" smtClean="0">
                <a:solidFill>
                  <a:srgbClr val="0000FF"/>
                </a:solidFill>
                <a:latin typeface="Consolas"/>
                <a:cs typeface="Consolas"/>
              </a:rPr>
              <a:t>‘Ramesh’</a:t>
            </a:r>
            <a:r>
              <a:rPr lang="en-US" sz="2000" dirty="0" smtClean="0">
                <a:latin typeface="Consolas"/>
                <a:cs typeface="Consolas"/>
              </a:rPr>
              <a:t>,</a:t>
            </a:r>
            <a:r>
              <a:rPr lang="en-US" sz="2000" dirty="0" smtClean="0">
                <a:solidFill>
                  <a:srgbClr val="0000FF"/>
                </a:solidFill>
                <a:latin typeface="Consolas"/>
                <a:cs typeface="Consolas"/>
              </a:rPr>
              <a:t>2</a:t>
            </a:r>
            <a:r>
              <a:rPr lang="en-US" sz="2000" dirty="0" smtClean="0">
                <a:latin typeface="Consolas"/>
                <a:cs typeface="Consolas"/>
              </a:rPr>
              <a:t>:</a:t>
            </a:r>
            <a:r>
              <a:rPr lang="en-US" sz="2000" spc="-5" dirty="0" smtClean="0">
                <a:solidFill>
                  <a:srgbClr val="0000FF"/>
                </a:solidFill>
                <a:latin typeface="Consolas"/>
                <a:cs typeface="Consolas"/>
              </a:rPr>
              <a:t>‘Geeta‘</a:t>
            </a:r>
            <a:r>
              <a:rPr lang="en-US" sz="2000" spc="-5" dirty="0" smtClean="0">
                <a:latin typeface="Consolas"/>
                <a:cs typeface="Consolas"/>
              </a:rPr>
              <a:t>,</a:t>
            </a:r>
            <a:r>
              <a:rPr lang="en-US" sz="2000" spc="-5" dirty="0" smtClean="0">
                <a:solidFill>
                  <a:srgbClr val="009900"/>
                </a:solidFill>
                <a:latin typeface="Consolas"/>
                <a:cs typeface="Consolas"/>
              </a:rPr>
              <a:t>3</a:t>
            </a:r>
            <a:r>
              <a:rPr lang="en-US" sz="2000" spc="-5" dirty="0" smtClean="0">
                <a:latin typeface="Consolas"/>
                <a:cs typeface="Consolas"/>
              </a:rPr>
              <a:t>:</a:t>
            </a:r>
            <a:r>
              <a:rPr lang="en-US" sz="2000" dirty="0" smtClean="0">
                <a:latin typeface="Consolas"/>
                <a:cs typeface="Consolas"/>
              </a:rPr>
              <a:t> </a:t>
            </a:r>
            <a:r>
              <a:rPr lang="en-US" sz="2000" dirty="0" smtClean="0">
                <a:solidFill>
                  <a:srgbClr val="0000FF"/>
                </a:solidFill>
                <a:latin typeface="Consolas"/>
                <a:cs typeface="Consolas"/>
              </a:rPr>
              <a:t>‘</a:t>
            </a:r>
            <a:r>
              <a:rPr lang="en-US" sz="2000" dirty="0" err="1" smtClean="0">
                <a:solidFill>
                  <a:srgbClr val="0000FF"/>
                </a:solidFill>
                <a:latin typeface="Consolas"/>
                <a:cs typeface="Consolas"/>
              </a:rPr>
              <a:t>Riku</a:t>
            </a:r>
            <a:r>
              <a:rPr lang="en-US" sz="2000" dirty="0" smtClean="0">
                <a:solidFill>
                  <a:srgbClr val="0000FF"/>
                </a:solidFill>
                <a:latin typeface="Consolas"/>
                <a:cs typeface="Consolas"/>
              </a:rPr>
              <a:t>'</a:t>
            </a:r>
            <a:r>
              <a:rPr lang="en-US" sz="2000" dirty="0" smtClean="0">
                <a:latin typeface="Consolas"/>
                <a:cs typeface="Consolas"/>
              </a:rPr>
              <a:t>}</a:t>
            </a:r>
          </a:p>
          <a:p>
            <a:pPr marL="12700">
              <a:lnSpc>
                <a:spcPct val="100000"/>
              </a:lnSpc>
            </a:pPr>
            <a:r>
              <a:rPr lang="en-US" sz="2000" dirty="0" err="1" smtClean="0">
                <a:latin typeface="Consolas"/>
                <a:cs typeface="Consolas"/>
              </a:rPr>
              <a:t>Dict.clear</a:t>
            </a:r>
            <a:r>
              <a:rPr lang="en-US" sz="2000" dirty="0" smtClean="0">
                <a:latin typeface="Consolas"/>
                <a:cs typeface="Consolas"/>
              </a:rPr>
              <a:t>()</a:t>
            </a:r>
          </a:p>
          <a:p>
            <a:pPr marL="12700">
              <a:lnSpc>
                <a:spcPct val="100000"/>
              </a:lnSpc>
            </a:pPr>
            <a:r>
              <a:rPr lang="en-US" sz="2000" dirty="0" smtClean="0">
                <a:latin typeface="Consolas"/>
                <a:cs typeface="Consolas"/>
              </a:rPr>
              <a:t>print(</a:t>
            </a:r>
            <a:r>
              <a:rPr lang="en-US" sz="2000" dirty="0" err="1" smtClean="0">
                <a:latin typeface="Consolas"/>
                <a:cs typeface="Consolas"/>
              </a:rPr>
              <a:t>Dict</a:t>
            </a:r>
            <a:r>
              <a:rPr lang="en-US" sz="2000" dirty="0" smtClean="0">
                <a:latin typeface="Consolas"/>
                <a:cs typeface="Consolas"/>
              </a:rPr>
              <a:t>)  #Output {}</a:t>
            </a:r>
          </a:p>
          <a:p>
            <a:pPr marL="12700">
              <a:lnSpc>
                <a:spcPct val="100000"/>
              </a:lnSpc>
            </a:pPr>
            <a:endParaRPr lang="en-US" sz="2000" dirty="0" smtClean="0">
              <a:latin typeface="Consolas"/>
              <a:cs typeface="Consolas"/>
            </a:endParaRPr>
          </a:p>
          <a:p>
            <a:pPr marL="12700">
              <a:lnSpc>
                <a:spcPct val="100000"/>
              </a:lnSpc>
            </a:pPr>
            <a:r>
              <a:rPr lang="en-US" sz="2000" spc="-5" dirty="0" smtClean="0">
                <a:solidFill>
                  <a:srgbClr val="FF1393"/>
                </a:solidFill>
                <a:latin typeface="Consolas"/>
                <a:cs typeface="Consolas"/>
              </a:rPr>
              <a:t>Dict </a:t>
            </a:r>
            <a:r>
              <a:rPr lang="en-US" sz="2000" b="1" dirty="0" smtClean="0">
                <a:solidFill>
                  <a:srgbClr val="006699"/>
                </a:solidFill>
                <a:latin typeface="Consolas"/>
                <a:cs typeface="Consolas"/>
              </a:rPr>
              <a:t>= </a:t>
            </a:r>
            <a:r>
              <a:rPr lang="en-US" sz="2000" dirty="0" smtClean="0">
                <a:latin typeface="Consolas"/>
                <a:cs typeface="Consolas"/>
              </a:rPr>
              <a:t>{</a:t>
            </a:r>
            <a:r>
              <a:rPr lang="en-US" sz="2000" dirty="0" smtClean="0">
                <a:solidFill>
                  <a:srgbClr val="009900"/>
                </a:solidFill>
                <a:latin typeface="Consolas"/>
                <a:cs typeface="Consolas"/>
              </a:rPr>
              <a:t>1</a:t>
            </a:r>
            <a:r>
              <a:rPr lang="en-US" sz="2000" dirty="0" smtClean="0">
                <a:latin typeface="Consolas"/>
                <a:cs typeface="Consolas"/>
              </a:rPr>
              <a:t>: </a:t>
            </a:r>
            <a:r>
              <a:rPr lang="en-US" sz="2000" dirty="0" smtClean="0">
                <a:solidFill>
                  <a:srgbClr val="0000FF"/>
                </a:solidFill>
                <a:latin typeface="Consolas"/>
                <a:cs typeface="Consolas"/>
              </a:rPr>
              <a:t>‘</a:t>
            </a:r>
            <a:r>
              <a:rPr lang="en-US" sz="2000" dirty="0" err="1" smtClean="0">
                <a:solidFill>
                  <a:srgbClr val="0000FF"/>
                </a:solidFill>
                <a:latin typeface="Consolas"/>
                <a:cs typeface="Consolas"/>
              </a:rPr>
              <a:t>Ramesh</a:t>
            </a:r>
            <a:r>
              <a:rPr lang="en-US" sz="2000" dirty="0" smtClean="0">
                <a:solidFill>
                  <a:srgbClr val="0000FF"/>
                </a:solidFill>
                <a:latin typeface="Consolas"/>
                <a:cs typeface="Consolas"/>
              </a:rPr>
              <a:t>’</a:t>
            </a:r>
            <a:r>
              <a:rPr lang="en-US" sz="2000" dirty="0" smtClean="0">
                <a:latin typeface="Consolas"/>
                <a:cs typeface="Consolas"/>
              </a:rPr>
              <a:t>, </a:t>
            </a:r>
            <a:r>
              <a:rPr lang="en-US" sz="2000" dirty="0" smtClean="0">
                <a:solidFill>
                  <a:srgbClr val="0000FF"/>
                </a:solidFill>
                <a:latin typeface="Consolas"/>
                <a:cs typeface="Consolas"/>
              </a:rPr>
              <a:t>2</a:t>
            </a:r>
            <a:r>
              <a:rPr lang="en-US" sz="2000" dirty="0" smtClean="0">
                <a:latin typeface="Consolas"/>
                <a:cs typeface="Consolas"/>
              </a:rPr>
              <a:t>: </a:t>
            </a:r>
            <a:r>
              <a:rPr lang="en-US" sz="2000" spc="-5" dirty="0" smtClean="0">
                <a:solidFill>
                  <a:srgbClr val="0000FF"/>
                </a:solidFill>
                <a:latin typeface="Consolas"/>
                <a:cs typeface="Consolas"/>
              </a:rPr>
              <a:t>‘</a:t>
            </a:r>
            <a:r>
              <a:rPr lang="en-US" sz="2000" spc="-5" dirty="0" err="1" smtClean="0">
                <a:solidFill>
                  <a:srgbClr val="0000FF"/>
                </a:solidFill>
                <a:latin typeface="Consolas"/>
                <a:cs typeface="Consolas"/>
              </a:rPr>
              <a:t>Geeta</a:t>
            </a:r>
            <a:r>
              <a:rPr lang="en-US" sz="2000" spc="-5" dirty="0" smtClean="0">
                <a:solidFill>
                  <a:srgbClr val="0000FF"/>
                </a:solidFill>
                <a:latin typeface="Consolas"/>
                <a:cs typeface="Consolas"/>
              </a:rPr>
              <a:t>'</a:t>
            </a:r>
            <a:r>
              <a:rPr lang="en-US" sz="2000" spc="-5" dirty="0" smtClean="0">
                <a:latin typeface="Consolas"/>
                <a:cs typeface="Consolas"/>
              </a:rPr>
              <a:t>, </a:t>
            </a:r>
            <a:r>
              <a:rPr lang="en-US" sz="2000" spc="-5" dirty="0" smtClean="0">
                <a:solidFill>
                  <a:srgbClr val="009900"/>
                </a:solidFill>
                <a:latin typeface="Consolas"/>
                <a:cs typeface="Consolas"/>
              </a:rPr>
              <a:t>3</a:t>
            </a:r>
            <a:r>
              <a:rPr lang="en-US" sz="2000" spc="-5" dirty="0" smtClean="0">
                <a:latin typeface="Consolas"/>
                <a:cs typeface="Consolas"/>
              </a:rPr>
              <a:t>:</a:t>
            </a:r>
            <a:r>
              <a:rPr lang="en-US" sz="2000" dirty="0" smtClean="0">
                <a:latin typeface="Consolas"/>
                <a:cs typeface="Consolas"/>
              </a:rPr>
              <a:t> </a:t>
            </a:r>
            <a:r>
              <a:rPr lang="en-US" sz="2000" dirty="0" smtClean="0">
                <a:solidFill>
                  <a:srgbClr val="0000FF"/>
                </a:solidFill>
                <a:latin typeface="Consolas"/>
                <a:cs typeface="Consolas"/>
              </a:rPr>
              <a:t>‘</a:t>
            </a:r>
            <a:r>
              <a:rPr lang="en-US" sz="2000" dirty="0" err="1" smtClean="0">
                <a:solidFill>
                  <a:srgbClr val="0000FF"/>
                </a:solidFill>
                <a:latin typeface="Consolas"/>
                <a:cs typeface="Consolas"/>
              </a:rPr>
              <a:t>Riku</a:t>
            </a:r>
            <a:r>
              <a:rPr lang="en-US" sz="2000" dirty="0" smtClean="0">
                <a:solidFill>
                  <a:srgbClr val="0000FF"/>
                </a:solidFill>
                <a:latin typeface="Consolas"/>
                <a:cs typeface="Consolas"/>
              </a:rPr>
              <a:t>'</a:t>
            </a:r>
            <a:r>
              <a:rPr lang="en-US" sz="2000" dirty="0" smtClean="0">
                <a:latin typeface="Consolas"/>
                <a:cs typeface="Consolas"/>
              </a:rPr>
              <a:t>}</a:t>
            </a:r>
          </a:p>
          <a:p>
            <a:pPr marL="12700">
              <a:lnSpc>
                <a:spcPct val="100000"/>
              </a:lnSpc>
            </a:pPr>
            <a:endParaRPr lang="en-US" sz="2000" dirty="0" smtClean="0">
              <a:latin typeface="Consolas"/>
              <a:cs typeface="Consolas"/>
            </a:endParaRPr>
          </a:p>
          <a:p>
            <a:pPr marL="12700">
              <a:lnSpc>
                <a:spcPct val="100000"/>
              </a:lnSpc>
            </a:pPr>
            <a:r>
              <a:rPr lang="en-US" sz="2000" dirty="0" smtClean="0">
                <a:latin typeface="Consolas"/>
                <a:cs typeface="Consolas"/>
              </a:rPr>
              <a:t>print(</a:t>
            </a:r>
            <a:r>
              <a:rPr lang="en-US" sz="2000" dirty="0" err="1" smtClean="0">
                <a:latin typeface="Consolas"/>
                <a:cs typeface="Consolas"/>
              </a:rPr>
              <a:t>Dict</a:t>
            </a:r>
            <a:r>
              <a:rPr lang="en-US" sz="2000" dirty="0" smtClean="0">
                <a:latin typeface="Consolas"/>
                <a:cs typeface="Consolas"/>
              </a:rPr>
              <a:t>) #Output: {</a:t>
            </a:r>
            <a:r>
              <a:rPr lang="en-US" sz="2000" dirty="0" smtClean="0">
                <a:solidFill>
                  <a:srgbClr val="009900"/>
                </a:solidFill>
                <a:latin typeface="Consolas"/>
                <a:cs typeface="Consolas"/>
              </a:rPr>
              <a:t>1</a:t>
            </a:r>
            <a:r>
              <a:rPr lang="en-US" sz="2000" dirty="0" smtClean="0">
                <a:latin typeface="Consolas"/>
                <a:cs typeface="Consolas"/>
              </a:rPr>
              <a:t>:</a:t>
            </a:r>
            <a:r>
              <a:rPr lang="en-US" sz="2000" dirty="0" smtClean="0">
                <a:solidFill>
                  <a:srgbClr val="0000FF"/>
                </a:solidFill>
                <a:latin typeface="Consolas"/>
                <a:cs typeface="Consolas"/>
              </a:rPr>
              <a:t>‘Ramesh’</a:t>
            </a:r>
            <a:r>
              <a:rPr lang="en-US" sz="2000" dirty="0" smtClean="0">
                <a:latin typeface="Consolas"/>
                <a:cs typeface="Consolas"/>
              </a:rPr>
              <a:t>,</a:t>
            </a:r>
            <a:r>
              <a:rPr lang="en-US" sz="2000" dirty="0" smtClean="0">
                <a:solidFill>
                  <a:srgbClr val="0000FF"/>
                </a:solidFill>
                <a:latin typeface="Consolas"/>
                <a:cs typeface="Consolas"/>
              </a:rPr>
              <a:t>2</a:t>
            </a:r>
            <a:r>
              <a:rPr lang="en-US" sz="2000" dirty="0" smtClean="0">
                <a:latin typeface="Consolas"/>
                <a:cs typeface="Consolas"/>
              </a:rPr>
              <a:t>:</a:t>
            </a:r>
            <a:r>
              <a:rPr lang="en-US" sz="2000" spc="-5" dirty="0" smtClean="0">
                <a:solidFill>
                  <a:srgbClr val="0000FF"/>
                </a:solidFill>
                <a:latin typeface="Consolas"/>
                <a:cs typeface="Consolas"/>
              </a:rPr>
              <a:t>‘Geeta‘</a:t>
            </a:r>
            <a:r>
              <a:rPr lang="en-US" sz="2000" spc="-5" dirty="0" smtClean="0">
                <a:latin typeface="Consolas"/>
                <a:cs typeface="Consolas"/>
              </a:rPr>
              <a:t>,</a:t>
            </a:r>
            <a:r>
              <a:rPr lang="en-US" sz="2000" spc="-5" dirty="0" smtClean="0">
                <a:solidFill>
                  <a:srgbClr val="009900"/>
                </a:solidFill>
                <a:latin typeface="Consolas"/>
                <a:cs typeface="Consolas"/>
              </a:rPr>
              <a:t>3</a:t>
            </a:r>
            <a:r>
              <a:rPr lang="en-US" sz="2000" spc="-5" dirty="0" smtClean="0">
                <a:latin typeface="Consolas"/>
                <a:cs typeface="Consolas"/>
              </a:rPr>
              <a:t>:</a:t>
            </a:r>
            <a:r>
              <a:rPr lang="en-US" sz="2000" dirty="0" smtClean="0">
                <a:latin typeface="Consolas"/>
                <a:cs typeface="Consolas"/>
              </a:rPr>
              <a:t> </a:t>
            </a:r>
            <a:r>
              <a:rPr lang="en-US" sz="2000" dirty="0" smtClean="0">
                <a:solidFill>
                  <a:srgbClr val="0000FF"/>
                </a:solidFill>
                <a:latin typeface="Consolas"/>
                <a:cs typeface="Consolas"/>
              </a:rPr>
              <a:t>‘</a:t>
            </a:r>
            <a:r>
              <a:rPr lang="en-US" sz="2000" dirty="0" err="1" smtClean="0">
                <a:solidFill>
                  <a:srgbClr val="0000FF"/>
                </a:solidFill>
                <a:latin typeface="Consolas"/>
                <a:cs typeface="Consolas"/>
              </a:rPr>
              <a:t>Riku</a:t>
            </a:r>
            <a:r>
              <a:rPr lang="en-US" sz="2000" dirty="0" smtClean="0">
                <a:solidFill>
                  <a:srgbClr val="0000FF"/>
                </a:solidFill>
                <a:latin typeface="Consolas"/>
                <a:cs typeface="Consolas"/>
              </a:rPr>
              <a:t>'</a:t>
            </a:r>
            <a:r>
              <a:rPr lang="en-US" sz="2000" dirty="0" smtClean="0">
                <a:latin typeface="Consolas"/>
                <a:cs typeface="Consolas"/>
              </a:rPr>
              <a:t>}</a:t>
            </a:r>
          </a:p>
          <a:p>
            <a:pPr marL="12700">
              <a:lnSpc>
                <a:spcPct val="100000"/>
              </a:lnSpc>
            </a:pPr>
            <a:r>
              <a:rPr lang="en-US" sz="2000" dirty="0" smtClean="0">
                <a:latin typeface="Consolas"/>
                <a:cs typeface="Consolas"/>
              </a:rPr>
              <a:t>n=Dict.pop(3)</a:t>
            </a:r>
          </a:p>
          <a:p>
            <a:pPr marL="12700">
              <a:lnSpc>
                <a:spcPct val="100000"/>
              </a:lnSpc>
            </a:pPr>
            <a:r>
              <a:rPr lang="en-US" sz="2000" dirty="0" smtClean="0">
                <a:latin typeface="Consolas"/>
                <a:cs typeface="Consolas"/>
              </a:rPr>
              <a:t>print(n) #Output: </a:t>
            </a:r>
            <a:r>
              <a:rPr lang="en-US" sz="2000" dirty="0" err="1" smtClean="0">
                <a:latin typeface="Consolas"/>
                <a:cs typeface="Consolas"/>
              </a:rPr>
              <a:t>Riku</a:t>
            </a:r>
            <a:endParaRPr lang="en-US" sz="2000" dirty="0" smtClean="0">
              <a:latin typeface="Consolas"/>
              <a:cs typeface="Consolas"/>
            </a:endParaRPr>
          </a:p>
          <a:p>
            <a:pPr marL="12700">
              <a:lnSpc>
                <a:spcPct val="100000"/>
              </a:lnSpc>
            </a:pPr>
            <a:r>
              <a:rPr lang="en-US" sz="2000" dirty="0" smtClean="0">
                <a:latin typeface="Consolas"/>
                <a:cs typeface="Consolas"/>
              </a:rPr>
              <a:t>print(</a:t>
            </a:r>
            <a:r>
              <a:rPr lang="en-US" sz="2000" dirty="0" err="1" smtClean="0">
                <a:latin typeface="Consolas"/>
                <a:cs typeface="Consolas"/>
              </a:rPr>
              <a:t>Dict</a:t>
            </a:r>
            <a:r>
              <a:rPr lang="en-US" sz="2000" dirty="0" smtClean="0">
                <a:latin typeface="Consolas"/>
                <a:cs typeface="Consolas"/>
              </a:rPr>
              <a:t>) #Output: {</a:t>
            </a:r>
            <a:r>
              <a:rPr lang="en-US" sz="2000" dirty="0" smtClean="0">
                <a:solidFill>
                  <a:srgbClr val="009900"/>
                </a:solidFill>
                <a:latin typeface="Consolas"/>
                <a:cs typeface="Consolas"/>
              </a:rPr>
              <a:t>1</a:t>
            </a:r>
            <a:r>
              <a:rPr lang="en-US" sz="2000" dirty="0" smtClean="0">
                <a:latin typeface="Consolas"/>
                <a:cs typeface="Consolas"/>
              </a:rPr>
              <a:t>:</a:t>
            </a:r>
            <a:r>
              <a:rPr lang="en-US" sz="2000" dirty="0" smtClean="0">
                <a:solidFill>
                  <a:srgbClr val="0000FF"/>
                </a:solidFill>
                <a:latin typeface="Consolas"/>
                <a:cs typeface="Consolas"/>
              </a:rPr>
              <a:t>‘Ramesh’</a:t>
            </a:r>
            <a:r>
              <a:rPr lang="en-US" sz="2000" dirty="0" smtClean="0">
                <a:latin typeface="Consolas"/>
                <a:cs typeface="Consolas"/>
              </a:rPr>
              <a:t>,</a:t>
            </a:r>
            <a:r>
              <a:rPr lang="en-US" sz="2000" dirty="0" smtClean="0">
                <a:solidFill>
                  <a:srgbClr val="0000FF"/>
                </a:solidFill>
                <a:latin typeface="Consolas"/>
                <a:cs typeface="Consolas"/>
              </a:rPr>
              <a:t>2</a:t>
            </a:r>
            <a:r>
              <a:rPr lang="en-US" sz="2000" dirty="0" smtClean="0">
                <a:latin typeface="Consolas"/>
                <a:cs typeface="Consolas"/>
              </a:rPr>
              <a:t>:</a:t>
            </a:r>
            <a:r>
              <a:rPr lang="en-US" sz="2000" spc="-5" dirty="0" smtClean="0">
                <a:solidFill>
                  <a:srgbClr val="0000FF"/>
                </a:solidFill>
                <a:latin typeface="Consolas"/>
                <a:cs typeface="Consolas"/>
              </a:rPr>
              <a:t>‘Geeta‘</a:t>
            </a:r>
            <a:r>
              <a:rPr lang="en-US" sz="2000" dirty="0" smtClean="0">
                <a:latin typeface="Consolas"/>
                <a:cs typeface="Consolas"/>
              </a:rPr>
              <a:t>}</a:t>
            </a:r>
          </a:p>
          <a:p>
            <a:pPr marL="12700">
              <a:lnSpc>
                <a:spcPct val="100000"/>
              </a:lnSpc>
            </a:pPr>
            <a:endParaRPr lang="en-US" sz="2000" dirty="0" smtClean="0">
              <a:latin typeface="Consolas"/>
              <a:cs typeface="Consolas"/>
            </a:endParaRPr>
          </a:p>
          <a:p>
            <a:pPr marL="12700">
              <a:lnSpc>
                <a:spcPct val="100000"/>
              </a:lnSpc>
            </a:pPr>
            <a:r>
              <a:rPr lang="en-US" sz="2000" spc="-5" dirty="0" smtClean="0">
                <a:solidFill>
                  <a:srgbClr val="FF1393"/>
                </a:solidFill>
                <a:latin typeface="Consolas"/>
                <a:cs typeface="Consolas"/>
              </a:rPr>
              <a:t>Dict </a:t>
            </a:r>
            <a:r>
              <a:rPr lang="en-US" sz="2000" b="1" dirty="0" smtClean="0">
                <a:solidFill>
                  <a:srgbClr val="006699"/>
                </a:solidFill>
                <a:latin typeface="Consolas"/>
                <a:cs typeface="Consolas"/>
              </a:rPr>
              <a:t>= </a:t>
            </a:r>
            <a:r>
              <a:rPr lang="en-US" sz="2000" dirty="0" smtClean="0">
                <a:latin typeface="Consolas"/>
                <a:cs typeface="Consolas"/>
              </a:rPr>
              <a:t>{</a:t>
            </a:r>
            <a:r>
              <a:rPr lang="en-US" sz="2000" dirty="0" smtClean="0">
                <a:solidFill>
                  <a:srgbClr val="009900"/>
                </a:solidFill>
                <a:latin typeface="Consolas"/>
                <a:cs typeface="Consolas"/>
              </a:rPr>
              <a:t>1</a:t>
            </a:r>
            <a:r>
              <a:rPr lang="en-US" sz="2000" dirty="0" smtClean="0">
                <a:latin typeface="Consolas"/>
                <a:cs typeface="Consolas"/>
              </a:rPr>
              <a:t>: </a:t>
            </a:r>
            <a:r>
              <a:rPr lang="en-US" sz="2000" dirty="0" smtClean="0">
                <a:solidFill>
                  <a:srgbClr val="0000FF"/>
                </a:solidFill>
                <a:latin typeface="Consolas"/>
                <a:cs typeface="Consolas"/>
              </a:rPr>
              <a:t>‘</a:t>
            </a:r>
            <a:r>
              <a:rPr lang="en-US" sz="2000" dirty="0" err="1" smtClean="0">
                <a:solidFill>
                  <a:srgbClr val="0000FF"/>
                </a:solidFill>
                <a:latin typeface="Consolas"/>
                <a:cs typeface="Consolas"/>
              </a:rPr>
              <a:t>Ramesh</a:t>
            </a:r>
            <a:r>
              <a:rPr lang="en-US" sz="2000" dirty="0" smtClean="0">
                <a:solidFill>
                  <a:srgbClr val="0000FF"/>
                </a:solidFill>
                <a:latin typeface="Consolas"/>
                <a:cs typeface="Consolas"/>
              </a:rPr>
              <a:t>’</a:t>
            </a:r>
            <a:r>
              <a:rPr lang="en-US" sz="2000" dirty="0" smtClean="0">
                <a:latin typeface="Consolas"/>
                <a:cs typeface="Consolas"/>
              </a:rPr>
              <a:t>, </a:t>
            </a:r>
            <a:r>
              <a:rPr lang="en-US" sz="2000" dirty="0" smtClean="0">
                <a:solidFill>
                  <a:srgbClr val="0000FF"/>
                </a:solidFill>
                <a:latin typeface="Consolas"/>
                <a:cs typeface="Consolas"/>
              </a:rPr>
              <a:t>2</a:t>
            </a:r>
            <a:r>
              <a:rPr lang="en-US" sz="2000" dirty="0" smtClean="0">
                <a:latin typeface="Consolas"/>
                <a:cs typeface="Consolas"/>
              </a:rPr>
              <a:t>: </a:t>
            </a:r>
            <a:r>
              <a:rPr lang="en-US" sz="2000" spc="-5" dirty="0" smtClean="0">
                <a:solidFill>
                  <a:srgbClr val="0000FF"/>
                </a:solidFill>
                <a:latin typeface="Consolas"/>
                <a:cs typeface="Consolas"/>
              </a:rPr>
              <a:t>‘</a:t>
            </a:r>
            <a:r>
              <a:rPr lang="en-US" sz="2000" spc="-5" dirty="0" err="1" smtClean="0">
                <a:solidFill>
                  <a:srgbClr val="0000FF"/>
                </a:solidFill>
                <a:latin typeface="Consolas"/>
                <a:cs typeface="Consolas"/>
              </a:rPr>
              <a:t>Geeta</a:t>
            </a:r>
            <a:r>
              <a:rPr lang="en-US" sz="2000" spc="-5" dirty="0" smtClean="0">
                <a:solidFill>
                  <a:srgbClr val="0000FF"/>
                </a:solidFill>
                <a:latin typeface="Consolas"/>
                <a:cs typeface="Consolas"/>
              </a:rPr>
              <a:t>'</a:t>
            </a:r>
            <a:r>
              <a:rPr lang="en-US" sz="2000" spc="-5" dirty="0" smtClean="0">
                <a:latin typeface="Consolas"/>
                <a:cs typeface="Consolas"/>
              </a:rPr>
              <a:t>, </a:t>
            </a:r>
            <a:r>
              <a:rPr lang="en-US" sz="2000" spc="-5" dirty="0" smtClean="0">
                <a:solidFill>
                  <a:srgbClr val="009900"/>
                </a:solidFill>
                <a:latin typeface="Consolas"/>
                <a:cs typeface="Consolas"/>
              </a:rPr>
              <a:t>3</a:t>
            </a:r>
            <a:r>
              <a:rPr lang="en-US" sz="2000" spc="-5" dirty="0" smtClean="0">
                <a:latin typeface="Consolas"/>
                <a:cs typeface="Consolas"/>
              </a:rPr>
              <a:t>:</a:t>
            </a:r>
            <a:r>
              <a:rPr lang="en-US" sz="2000" dirty="0" smtClean="0">
                <a:latin typeface="Consolas"/>
                <a:cs typeface="Consolas"/>
              </a:rPr>
              <a:t> </a:t>
            </a:r>
            <a:r>
              <a:rPr lang="en-US" sz="2000" dirty="0" smtClean="0">
                <a:solidFill>
                  <a:srgbClr val="0000FF"/>
                </a:solidFill>
                <a:latin typeface="Consolas"/>
                <a:cs typeface="Consolas"/>
              </a:rPr>
              <a:t>‘</a:t>
            </a:r>
            <a:r>
              <a:rPr lang="en-US" sz="2000" dirty="0" err="1" smtClean="0">
                <a:solidFill>
                  <a:srgbClr val="0000FF"/>
                </a:solidFill>
                <a:latin typeface="Consolas"/>
                <a:cs typeface="Consolas"/>
              </a:rPr>
              <a:t>Riku</a:t>
            </a:r>
            <a:r>
              <a:rPr lang="en-US" sz="2000" dirty="0" smtClean="0">
                <a:solidFill>
                  <a:srgbClr val="0000FF"/>
                </a:solidFill>
                <a:latin typeface="Consolas"/>
                <a:cs typeface="Consolas"/>
              </a:rPr>
              <a:t>'</a:t>
            </a:r>
            <a:r>
              <a:rPr lang="en-US" sz="2000" dirty="0" smtClean="0">
                <a:latin typeface="Consolas"/>
                <a:cs typeface="Consolas"/>
              </a:rPr>
              <a:t>}</a:t>
            </a:r>
          </a:p>
          <a:p>
            <a:pPr marL="12700">
              <a:lnSpc>
                <a:spcPct val="100000"/>
              </a:lnSpc>
            </a:pPr>
            <a:endParaRPr lang="en-US" sz="2000" dirty="0" smtClean="0">
              <a:latin typeface="Consolas"/>
              <a:cs typeface="Consolas"/>
            </a:endParaRPr>
          </a:p>
          <a:p>
            <a:pPr marL="12700">
              <a:lnSpc>
                <a:spcPct val="100000"/>
              </a:lnSpc>
            </a:pPr>
            <a:r>
              <a:rPr lang="en-US" sz="2000" dirty="0" smtClean="0">
                <a:latin typeface="Consolas"/>
                <a:cs typeface="Consolas"/>
              </a:rPr>
              <a:t>print(</a:t>
            </a:r>
            <a:r>
              <a:rPr lang="en-US" sz="2000" dirty="0" err="1" smtClean="0">
                <a:latin typeface="Consolas"/>
                <a:cs typeface="Consolas"/>
              </a:rPr>
              <a:t>Dict</a:t>
            </a:r>
            <a:r>
              <a:rPr lang="en-US" sz="2000" dirty="0" smtClean="0">
                <a:latin typeface="Consolas"/>
                <a:cs typeface="Consolas"/>
              </a:rPr>
              <a:t>) #Output: {</a:t>
            </a:r>
            <a:r>
              <a:rPr lang="en-US" sz="2000" dirty="0" smtClean="0">
                <a:solidFill>
                  <a:srgbClr val="009900"/>
                </a:solidFill>
                <a:latin typeface="Consolas"/>
                <a:cs typeface="Consolas"/>
              </a:rPr>
              <a:t>1</a:t>
            </a:r>
            <a:r>
              <a:rPr lang="en-US" sz="2000" dirty="0" smtClean="0">
                <a:latin typeface="Consolas"/>
                <a:cs typeface="Consolas"/>
              </a:rPr>
              <a:t>:</a:t>
            </a:r>
            <a:r>
              <a:rPr lang="en-US" sz="2000" dirty="0" smtClean="0">
                <a:solidFill>
                  <a:srgbClr val="0000FF"/>
                </a:solidFill>
                <a:latin typeface="Consolas"/>
                <a:cs typeface="Consolas"/>
              </a:rPr>
              <a:t>‘Ramesh’</a:t>
            </a:r>
            <a:r>
              <a:rPr lang="en-US" sz="2000" dirty="0" smtClean="0">
                <a:latin typeface="Consolas"/>
                <a:cs typeface="Consolas"/>
              </a:rPr>
              <a:t>,</a:t>
            </a:r>
            <a:r>
              <a:rPr lang="en-US" sz="2000" dirty="0" smtClean="0">
                <a:solidFill>
                  <a:srgbClr val="0000FF"/>
                </a:solidFill>
                <a:latin typeface="Consolas"/>
                <a:cs typeface="Consolas"/>
              </a:rPr>
              <a:t>2</a:t>
            </a:r>
            <a:r>
              <a:rPr lang="en-US" sz="2000" dirty="0" smtClean="0">
                <a:latin typeface="Consolas"/>
                <a:cs typeface="Consolas"/>
              </a:rPr>
              <a:t>:</a:t>
            </a:r>
            <a:r>
              <a:rPr lang="en-US" sz="2000" spc="-5" dirty="0" smtClean="0">
                <a:solidFill>
                  <a:srgbClr val="0000FF"/>
                </a:solidFill>
                <a:latin typeface="Consolas"/>
                <a:cs typeface="Consolas"/>
              </a:rPr>
              <a:t>‘Geeta‘</a:t>
            </a:r>
            <a:r>
              <a:rPr lang="en-US" sz="2000" spc="-5" dirty="0" smtClean="0">
                <a:latin typeface="Consolas"/>
                <a:cs typeface="Consolas"/>
              </a:rPr>
              <a:t>,</a:t>
            </a:r>
            <a:r>
              <a:rPr lang="en-US" sz="2000" spc="-5" dirty="0" smtClean="0">
                <a:solidFill>
                  <a:srgbClr val="009900"/>
                </a:solidFill>
                <a:latin typeface="Consolas"/>
                <a:cs typeface="Consolas"/>
              </a:rPr>
              <a:t>3</a:t>
            </a:r>
            <a:r>
              <a:rPr lang="en-US" sz="2000" spc="-5" dirty="0" smtClean="0">
                <a:latin typeface="Consolas"/>
                <a:cs typeface="Consolas"/>
              </a:rPr>
              <a:t>:</a:t>
            </a:r>
            <a:r>
              <a:rPr lang="en-US" sz="2000" dirty="0" smtClean="0">
                <a:latin typeface="Consolas"/>
                <a:cs typeface="Consolas"/>
              </a:rPr>
              <a:t> </a:t>
            </a:r>
            <a:r>
              <a:rPr lang="en-US" sz="2000" dirty="0" smtClean="0">
                <a:solidFill>
                  <a:srgbClr val="0000FF"/>
                </a:solidFill>
                <a:latin typeface="Consolas"/>
                <a:cs typeface="Consolas"/>
              </a:rPr>
              <a:t>‘</a:t>
            </a:r>
            <a:r>
              <a:rPr lang="en-US" sz="2000" dirty="0" err="1" smtClean="0">
                <a:solidFill>
                  <a:srgbClr val="0000FF"/>
                </a:solidFill>
                <a:latin typeface="Consolas"/>
                <a:cs typeface="Consolas"/>
              </a:rPr>
              <a:t>Riku</a:t>
            </a:r>
            <a:r>
              <a:rPr lang="en-US" sz="2000" dirty="0" smtClean="0">
                <a:solidFill>
                  <a:srgbClr val="0000FF"/>
                </a:solidFill>
                <a:latin typeface="Consolas"/>
                <a:cs typeface="Consolas"/>
              </a:rPr>
              <a:t>'</a:t>
            </a:r>
            <a:r>
              <a:rPr lang="en-US" sz="2000" dirty="0" smtClean="0">
                <a:latin typeface="Consolas"/>
                <a:cs typeface="Consolas"/>
              </a:rPr>
              <a:t>}</a:t>
            </a:r>
          </a:p>
          <a:p>
            <a:pPr marL="12700">
              <a:lnSpc>
                <a:spcPct val="100000"/>
              </a:lnSpc>
            </a:pPr>
            <a:r>
              <a:rPr lang="en-US" sz="2000" dirty="0" smtClean="0">
                <a:latin typeface="Consolas"/>
                <a:cs typeface="Consolas"/>
              </a:rPr>
              <a:t>k= </a:t>
            </a:r>
            <a:r>
              <a:rPr lang="en-US" sz="2000" dirty="0" err="1" smtClean="0">
                <a:latin typeface="Consolas"/>
                <a:cs typeface="Consolas"/>
              </a:rPr>
              <a:t>Dict.popitem</a:t>
            </a:r>
            <a:r>
              <a:rPr lang="en-US" sz="2000" dirty="0" smtClean="0">
                <a:latin typeface="Consolas"/>
                <a:cs typeface="Consolas"/>
              </a:rPr>
              <a:t>()</a:t>
            </a:r>
          </a:p>
          <a:p>
            <a:pPr marL="12700">
              <a:lnSpc>
                <a:spcPct val="100000"/>
              </a:lnSpc>
            </a:pPr>
            <a:r>
              <a:rPr lang="en-US" sz="2000" dirty="0" smtClean="0">
                <a:latin typeface="Consolas"/>
                <a:cs typeface="Consolas"/>
              </a:rPr>
              <a:t>Print(k) #Output: (</a:t>
            </a:r>
            <a:r>
              <a:rPr lang="en-US" sz="2000" dirty="0" smtClean="0">
                <a:solidFill>
                  <a:srgbClr val="009900"/>
                </a:solidFill>
                <a:latin typeface="Consolas"/>
                <a:cs typeface="Consolas"/>
              </a:rPr>
              <a:t>1</a:t>
            </a:r>
            <a:r>
              <a:rPr lang="en-US" sz="2000" dirty="0" smtClean="0">
                <a:latin typeface="Consolas"/>
                <a:cs typeface="Consolas"/>
              </a:rPr>
              <a:t>,</a:t>
            </a:r>
            <a:r>
              <a:rPr lang="en-US" sz="2000" dirty="0" smtClean="0">
                <a:solidFill>
                  <a:srgbClr val="0000FF"/>
                </a:solidFill>
                <a:latin typeface="Consolas"/>
                <a:cs typeface="Consolas"/>
              </a:rPr>
              <a:t>‘Ramesh’</a:t>
            </a:r>
            <a:r>
              <a:rPr lang="en-US" sz="2000" dirty="0" smtClean="0">
                <a:latin typeface="Consolas"/>
                <a:cs typeface="Consolas"/>
              </a:rPr>
              <a:t>)</a:t>
            </a:r>
          </a:p>
          <a:p>
            <a:pPr marL="12700">
              <a:lnSpc>
                <a:spcPct val="100000"/>
              </a:lnSpc>
            </a:pPr>
            <a:r>
              <a:rPr lang="en-US" dirty="0" smtClean="0">
                <a:latin typeface="Consolas"/>
                <a:cs typeface="Consolas"/>
              </a:rPr>
              <a:t>Print(</a:t>
            </a:r>
            <a:r>
              <a:rPr lang="en-US" dirty="0" err="1" smtClean="0">
                <a:latin typeface="Consolas"/>
                <a:cs typeface="Consolas"/>
              </a:rPr>
              <a:t>Dict</a:t>
            </a:r>
            <a:r>
              <a:rPr lang="en-US" dirty="0" smtClean="0">
                <a:latin typeface="Consolas"/>
                <a:cs typeface="Consolas"/>
              </a:rPr>
              <a:t>) #Output: {</a:t>
            </a:r>
            <a:r>
              <a:rPr lang="en-US" dirty="0" smtClean="0">
                <a:solidFill>
                  <a:srgbClr val="0000FF"/>
                </a:solidFill>
                <a:latin typeface="Consolas"/>
                <a:cs typeface="Consolas"/>
              </a:rPr>
              <a:t>2</a:t>
            </a:r>
            <a:r>
              <a:rPr lang="en-US" dirty="0" smtClean="0">
                <a:latin typeface="Consolas"/>
                <a:cs typeface="Consolas"/>
              </a:rPr>
              <a:t>:</a:t>
            </a:r>
            <a:r>
              <a:rPr lang="en-US" spc="-5" dirty="0" smtClean="0">
                <a:solidFill>
                  <a:srgbClr val="0000FF"/>
                </a:solidFill>
                <a:latin typeface="Consolas"/>
                <a:cs typeface="Consolas"/>
              </a:rPr>
              <a:t>‘Geeta‘</a:t>
            </a:r>
            <a:r>
              <a:rPr lang="en-US" spc="-5" dirty="0" smtClean="0">
                <a:latin typeface="Consolas"/>
                <a:cs typeface="Consolas"/>
              </a:rPr>
              <a:t>,</a:t>
            </a:r>
            <a:r>
              <a:rPr lang="en-US" spc="-5" dirty="0" smtClean="0">
                <a:solidFill>
                  <a:srgbClr val="009900"/>
                </a:solidFill>
                <a:latin typeface="Consolas"/>
                <a:cs typeface="Consolas"/>
              </a:rPr>
              <a:t>3</a:t>
            </a:r>
            <a:r>
              <a:rPr lang="en-US" spc="-5" dirty="0" smtClean="0">
                <a:latin typeface="Consolas"/>
                <a:cs typeface="Consolas"/>
              </a:rPr>
              <a:t>:</a:t>
            </a:r>
            <a:r>
              <a:rPr lang="en-US" dirty="0" smtClean="0">
                <a:latin typeface="Consolas"/>
                <a:cs typeface="Consolas"/>
              </a:rPr>
              <a:t> </a:t>
            </a:r>
            <a:r>
              <a:rPr lang="en-US" dirty="0" smtClean="0">
                <a:solidFill>
                  <a:srgbClr val="0000FF"/>
                </a:solidFill>
                <a:latin typeface="Consolas"/>
                <a:cs typeface="Consolas"/>
              </a:rPr>
              <a:t>‘</a:t>
            </a:r>
            <a:r>
              <a:rPr lang="en-US" dirty="0" err="1" smtClean="0">
                <a:solidFill>
                  <a:srgbClr val="0000FF"/>
                </a:solidFill>
                <a:latin typeface="Consolas"/>
                <a:cs typeface="Consolas"/>
              </a:rPr>
              <a:t>Riku</a:t>
            </a:r>
            <a:r>
              <a:rPr lang="en-US" dirty="0" smtClean="0">
                <a:solidFill>
                  <a:srgbClr val="0000FF"/>
                </a:solidFill>
                <a:latin typeface="Consolas"/>
                <a:cs typeface="Consolas"/>
              </a:rPr>
              <a:t>'</a:t>
            </a:r>
            <a:r>
              <a:rPr lang="en-US" dirty="0" smtClean="0">
                <a:latin typeface="Consolas"/>
                <a:cs typeface="Consolas"/>
              </a:rPr>
              <a:t>}</a:t>
            </a:r>
            <a:endParaRPr lang="en-US" dirty="0">
              <a:latin typeface="Consolas"/>
              <a:cs typeface="Consolas"/>
            </a:endParaRPr>
          </a:p>
        </p:txBody>
      </p:sp>
      <p:sp>
        <p:nvSpPr>
          <p:cNvPr id="5" name="TextBox 4"/>
          <p:cNvSpPr txBox="1"/>
          <p:nvPr/>
        </p:nvSpPr>
        <p:spPr>
          <a:xfrm>
            <a:off x="1993900" y="200025"/>
            <a:ext cx="6400800" cy="584775"/>
          </a:xfrm>
          <a:prstGeom prst="rect">
            <a:avLst/>
          </a:prstGeom>
          <a:noFill/>
        </p:spPr>
        <p:txBody>
          <a:bodyPr wrap="square" rtlCol="0">
            <a:spAutoFit/>
          </a:bodyPr>
          <a:lstStyle/>
          <a:p>
            <a:r>
              <a:rPr lang="en-US" sz="3200" dirty="0" smtClean="0">
                <a:solidFill>
                  <a:srgbClr val="00B050"/>
                </a:solidFill>
              </a:rPr>
              <a:t>Clear(),pop(),</a:t>
            </a:r>
            <a:r>
              <a:rPr lang="en-US" sz="3200" dirty="0" err="1" smtClean="0">
                <a:solidFill>
                  <a:srgbClr val="00B050"/>
                </a:solidFill>
              </a:rPr>
              <a:t>popitem</a:t>
            </a:r>
            <a:r>
              <a:rPr lang="en-US" sz="3200" dirty="0" smtClean="0">
                <a:solidFill>
                  <a:srgbClr val="00B050"/>
                </a:solidFill>
              </a:rPr>
              <a:t>() in Dictionary</a:t>
            </a:r>
            <a:endParaRPr lang="en-US" sz="3200" dirty="0">
              <a:solidFill>
                <a:srgbClr val="00B050"/>
              </a:solidFill>
            </a:endParaRPr>
          </a:p>
        </p:txBody>
      </p:sp>
      <p:cxnSp>
        <p:nvCxnSpPr>
          <p:cNvPr id="8" name="Straight Connector 7"/>
          <p:cNvCxnSpPr/>
          <p:nvPr/>
        </p:nvCxnSpPr>
        <p:spPr>
          <a:xfrm>
            <a:off x="6642100" y="1876425"/>
            <a:ext cx="99060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7327900" y="1876425"/>
            <a:ext cx="16002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8851900" y="2181225"/>
            <a:ext cx="616579" cy="369332"/>
          </a:xfrm>
          <a:prstGeom prst="rect">
            <a:avLst/>
          </a:prstGeom>
          <a:noFill/>
        </p:spPr>
        <p:txBody>
          <a:bodyPr wrap="none" rtlCol="0">
            <a:spAutoFit/>
          </a:bodyPr>
          <a:lstStyle/>
          <a:p>
            <a:r>
              <a:rPr lang="en-US" dirty="0" smtClean="0"/>
              <a:t>Item</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31900" y="276225"/>
            <a:ext cx="6625590" cy="614680"/>
          </a:xfrm>
          <a:prstGeom prst="rect">
            <a:avLst/>
          </a:prstGeom>
        </p:spPr>
        <p:txBody>
          <a:bodyPr vert="horz" wrap="square" lIns="0" tIns="14605" rIns="0" bIns="0" rtlCol="0">
            <a:spAutoFit/>
          </a:bodyPr>
          <a:lstStyle/>
          <a:p>
            <a:pPr marL="12700">
              <a:lnSpc>
                <a:spcPct val="100000"/>
              </a:lnSpc>
              <a:spcBef>
                <a:spcPts val="115"/>
              </a:spcBef>
            </a:pPr>
            <a:r>
              <a:rPr b="0" u="heavy" spc="-955" dirty="0">
                <a:solidFill>
                  <a:srgbClr val="0070BF"/>
                </a:solidFill>
                <a:uFill>
                  <a:solidFill>
                    <a:srgbClr val="0070BF"/>
                  </a:solidFill>
                </a:uFill>
                <a:latin typeface="Times New Roman"/>
                <a:cs typeface="Times New Roman"/>
              </a:rPr>
              <a:t> </a:t>
            </a:r>
            <a:r>
              <a:rPr u="heavy" dirty="0">
                <a:solidFill>
                  <a:srgbClr val="0070BF"/>
                </a:solidFill>
                <a:uFill>
                  <a:solidFill>
                    <a:srgbClr val="0070BF"/>
                  </a:solidFill>
                </a:uFill>
              </a:rPr>
              <a:t>Dictionary</a:t>
            </a:r>
            <a:r>
              <a:rPr dirty="0">
                <a:solidFill>
                  <a:srgbClr val="0070BF"/>
                </a:solidFill>
              </a:rPr>
              <a:t> </a:t>
            </a:r>
            <a:r>
              <a:rPr spc="5" dirty="0">
                <a:solidFill>
                  <a:srgbClr val="0070BF"/>
                </a:solidFill>
              </a:rPr>
              <a:t>– </a:t>
            </a:r>
            <a:r>
              <a:rPr dirty="0"/>
              <a:t>Removing</a:t>
            </a:r>
            <a:r>
              <a:rPr spc="-70" dirty="0"/>
              <a:t> </a:t>
            </a:r>
            <a:r>
              <a:rPr dirty="0"/>
              <a:t>element</a:t>
            </a:r>
          </a:p>
        </p:txBody>
      </p:sp>
      <p:sp>
        <p:nvSpPr>
          <p:cNvPr id="3" name="object 3"/>
          <p:cNvSpPr/>
          <p:nvPr/>
        </p:nvSpPr>
        <p:spPr>
          <a:xfrm>
            <a:off x="265175" y="5631180"/>
            <a:ext cx="2665455" cy="936555"/>
          </a:xfrm>
          <a:prstGeom prst="rect">
            <a:avLst/>
          </a:prstGeom>
          <a:solidFill>
            <a:schemeClr val="bg1"/>
          </a:solidFill>
        </p:spPr>
        <p:txBody>
          <a:bodyPr wrap="square" lIns="0" tIns="0" rIns="0" bIns="0" rtlCol="0"/>
          <a:lstStyle/>
          <a:p>
            <a:endParaRPr/>
          </a:p>
        </p:txBody>
      </p:sp>
      <p:sp>
        <p:nvSpPr>
          <p:cNvPr id="4" name="object 4"/>
          <p:cNvSpPr txBox="1"/>
          <p:nvPr/>
        </p:nvSpPr>
        <p:spPr>
          <a:xfrm>
            <a:off x="165100" y="1266825"/>
            <a:ext cx="10528300" cy="4511491"/>
          </a:xfrm>
          <a:prstGeom prst="rect">
            <a:avLst/>
          </a:prstGeom>
        </p:spPr>
        <p:txBody>
          <a:bodyPr vert="horz" wrap="square" lIns="0" tIns="12700" rIns="0" bIns="0" rtlCol="0">
            <a:spAutoFit/>
          </a:bodyPr>
          <a:lstStyle/>
          <a:p>
            <a:pPr marL="12700">
              <a:lnSpc>
                <a:spcPct val="100000"/>
              </a:lnSpc>
              <a:spcBef>
                <a:spcPts val="100"/>
              </a:spcBef>
            </a:pPr>
            <a:r>
              <a:rPr sz="2000" spc="-5" dirty="0">
                <a:solidFill>
                  <a:srgbClr val="FF1393"/>
                </a:solidFill>
                <a:latin typeface="Consolas"/>
                <a:cs typeface="Consolas"/>
              </a:rPr>
              <a:t>Dict </a:t>
            </a:r>
            <a:r>
              <a:rPr sz="2000" b="1" dirty="0">
                <a:solidFill>
                  <a:srgbClr val="006699"/>
                </a:solidFill>
                <a:latin typeface="Consolas"/>
                <a:cs typeface="Consolas"/>
              </a:rPr>
              <a:t>= </a:t>
            </a:r>
            <a:r>
              <a:rPr sz="2000" dirty="0">
                <a:latin typeface="Consolas"/>
                <a:cs typeface="Consolas"/>
              </a:rPr>
              <a:t>{ </a:t>
            </a:r>
            <a:r>
              <a:rPr sz="2000" dirty="0">
                <a:solidFill>
                  <a:srgbClr val="009900"/>
                </a:solidFill>
                <a:latin typeface="Consolas"/>
                <a:cs typeface="Consolas"/>
              </a:rPr>
              <a:t>5 </a:t>
            </a:r>
            <a:r>
              <a:rPr sz="2000" dirty="0">
                <a:latin typeface="Consolas"/>
                <a:cs typeface="Consolas"/>
              </a:rPr>
              <a:t>: </a:t>
            </a:r>
            <a:r>
              <a:rPr sz="2000" dirty="0">
                <a:solidFill>
                  <a:srgbClr val="0000FF"/>
                </a:solidFill>
                <a:latin typeface="Consolas"/>
                <a:cs typeface="Consolas"/>
              </a:rPr>
              <a:t>'Welcome'</a:t>
            </a:r>
            <a:r>
              <a:rPr sz="2000" dirty="0">
                <a:latin typeface="Consolas"/>
                <a:cs typeface="Consolas"/>
              </a:rPr>
              <a:t>, </a:t>
            </a:r>
            <a:r>
              <a:rPr sz="2000" dirty="0">
                <a:solidFill>
                  <a:srgbClr val="009900"/>
                </a:solidFill>
                <a:latin typeface="Consolas"/>
                <a:cs typeface="Consolas"/>
              </a:rPr>
              <a:t>6 </a:t>
            </a:r>
            <a:r>
              <a:rPr sz="2000" dirty="0">
                <a:latin typeface="Consolas"/>
                <a:cs typeface="Consolas"/>
              </a:rPr>
              <a:t>: </a:t>
            </a:r>
            <a:r>
              <a:rPr sz="2000" dirty="0">
                <a:solidFill>
                  <a:srgbClr val="0000FF"/>
                </a:solidFill>
                <a:latin typeface="Consolas"/>
                <a:cs typeface="Consolas"/>
              </a:rPr>
              <a:t>'To'</a:t>
            </a:r>
            <a:r>
              <a:rPr sz="2000" dirty="0">
                <a:latin typeface="Consolas"/>
                <a:cs typeface="Consolas"/>
              </a:rPr>
              <a:t>, </a:t>
            </a:r>
            <a:r>
              <a:rPr sz="2000" dirty="0">
                <a:solidFill>
                  <a:srgbClr val="009900"/>
                </a:solidFill>
                <a:latin typeface="Consolas"/>
                <a:cs typeface="Consolas"/>
              </a:rPr>
              <a:t>7 </a:t>
            </a:r>
            <a:r>
              <a:rPr sz="2000" dirty="0">
                <a:latin typeface="Consolas"/>
                <a:cs typeface="Consolas"/>
              </a:rPr>
              <a:t>:</a:t>
            </a:r>
            <a:r>
              <a:rPr sz="2000" spc="-15" dirty="0">
                <a:latin typeface="Consolas"/>
                <a:cs typeface="Consolas"/>
              </a:rPr>
              <a:t> </a:t>
            </a:r>
            <a:r>
              <a:rPr sz="2000" dirty="0" smtClean="0">
                <a:solidFill>
                  <a:srgbClr val="0000FF"/>
                </a:solidFill>
                <a:latin typeface="Consolas"/>
                <a:cs typeface="Consolas"/>
              </a:rPr>
              <a:t>'</a:t>
            </a:r>
            <a:r>
              <a:rPr lang="en-US" sz="2000" dirty="0" smtClean="0">
                <a:solidFill>
                  <a:srgbClr val="0000FF"/>
                </a:solidFill>
                <a:latin typeface="Consolas"/>
                <a:cs typeface="Consolas"/>
              </a:rPr>
              <a:t>Python</a:t>
            </a:r>
            <a:r>
              <a:rPr sz="2000" dirty="0" smtClean="0">
                <a:solidFill>
                  <a:srgbClr val="0000FF"/>
                </a:solidFill>
                <a:latin typeface="Consolas"/>
                <a:cs typeface="Consolas"/>
              </a:rPr>
              <a:t>’</a:t>
            </a:r>
            <a:r>
              <a:rPr sz="2000" dirty="0" smtClean="0">
                <a:latin typeface="Consolas"/>
                <a:cs typeface="Consolas"/>
              </a:rPr>
              <a:t>,</a:t>
            </a:r>
            <a:endParaRPr lang="en-US" sz="2000" dirty="0" smtClean="0">
              <a:latin typeface="Consolas"/>
              <a:cs typeface="Consolas"/>
            </a:endParaRPr>
          </a:p>
          <a:p>
            <a:pPr marL="12700">
              <a:lnSpc>
                <a:spcPct val="100000"/>
              </a:lnSpc>
              <a:spcBef>
                <a:spcPts val="100"/>
              </a:spcBef>
            </a:pPr>
            <a:r>
              <a:rPr lang="en-US" sz="2000" dirty="0" smtClean="0">
                <a:latin typeface="Consolas"/>
                <a:cs typeface="Consolas"/>
              </a:rPr>
              <a:t>        </a:t>
            </a:r>
            <a:r>
              <a:rPr sz="2000" dirty="0" smtClean="0">
                <a:solidFill>
                  <a:srgbClr val="0000FF"/>
                </a:solidFill>
                <a:latin typeface="Consolas"/>
                <a:cs typeface="Consolas"/>
              </a:rPr>
              <a:t>'A</a:t>
            </a:r>
            <a:r>
              <a:rPr sz="2000" dirty="0">
                <a:solidFill>
                  <a:srgbClr val="0000FF"/>
                </a:solidFill>
                <a:latin typeface="Consolas"/>
                <a:cs typeface="Consolas"/>
              </a:rPr>
              <a:t>' </a:t>
            </a:r>
            <a:r>
              <a:rPr sz="2000" dirty="0">
                <a:latin typeface="Consolas"/>
                <a:cs typeface="Consolas"/>
              </a:rPr>
              <a:t>: </a:t>
            </a:r>
            <a:r>
              <a:rPr sz="2000" spc="-10" dirty="0">
                <a:latin typeface="Consolas"/>
                <a:cs typeface="Consolas"/>
              </a:rPr>
              <a:t>{</a:t>
            </a:r>
            <a:r>
              <a:rPr sz="2000" spc="-10" dirty="0">
                <a:solidFill>
                  <a:srgbClr val="009900"/>
                </a:solidFill>
                <a:latin typeface="Consolas"/>
                <a:cs typeface="Consolas"/>
              </a:rPr>
              <a:t>1 </a:t>
            </a:r>
            <a:r>
              <a:rPr sz="2000" dirty="0">
                <a:latin typeface="Consolas"/>
                <a:cs typeface="Consolas"/>
              </a:rPr>
              <a:t>: </a:t>
            </a:r>
            <a:r>
              <a:rPr sz="2000" dirty="0" smtClean="0">
                <a:solidFill>
                  <a:srgbClr val="0000FF"/>
                </a:solidFill>
                <a:latin typeface="Consolas"/>
                <a:cs typeface="Consolas"/>
              </a:rPr>
              <a:t>'</a:t>
            </a:r>
            <a:r>
              <a:rPr lang="en-US" sz="2000" dirty="0" smtClean="0">
                <a:solidFill>
                  <a:srgbClr val="0000FF"/>
                </a:solidFill>
                <a:latin typeface="Consolas"/>
                <a:cs typeface="Consolas"/>
              </a:rPr>
              <a:t>Hello</a:t>
            </a:r>
            <a:r>
              <a:rPr sz="2000" dirty="0" smtClean="0">
                <a:solidFill>
                  <a:srgbClr val="0000FF"/>
                </a:solidFill>
                <a:latin typeface="Consolas"/>
                <a:cs typeface="Consolas"/>
              </a:rPr>
              <a:t>'</a:t>
            </a:r>
            <a:r>
              <a:rPr sz="2000" dirty="0" smtClean="0">
                <a:latin typeface="Consolas"/>
                <a:cs typeface="Consolas"/>
              </a:rPr>
              <a:t>, </a:t>
            </a:r>
            <a:r>
              <a:rPr sz="2000" dirty="0">
                <a:solidFill>
                  <a:srgbClr val="009900"/>
                </a:solidFill>
                <a:latin typeface="Consolas"/>
                <a:cs typeface="Consolas"/>
              </a:rPr>
              <a:t>2 </a:t>
            </a:r>
            <a:r>
              <a:rPr sz="2000" dirty="0">
                <a:latin typeface="Consolas"/>
                <a:cs typeface="Consolas"/>
              </a:rPr>
              <a:t>: </a:t>
            </a:r>
            <a:r>
              <a:rPr sz="2000" dirty="0" smtClean="0">
                <a:solidFill>
                  <a:srgbClr val="0000FF"/>
                </a:solidFill>
                <a:latin typeface="Consolas"/>
                <a:cs typeface="Consolas"/>
              </a:rPr>
              <a:t>'</a:t>
            </a:r>
            <a:r>
              <a:rPr lang="en-US" sz="2000" dirty="0" err="1" smtClean="0">
                <a:solidFill>
                  <a:srgbClr val="0000FF"/>
                </a:solidFill>
                <a:latin typeface="Consolas"/>
                <a:cs typeface="Consolas"/>
              </a:rPr>
              <a:t>Ramesh</a:t>
            </a:r>
            <a:r>
              <a:rPr sz="2000" dirty="0" smtClean="0">
                <a:solidFill>
                  <a:srgbClr val="0000FF"/>
                </a:solidFill>
                <a:latin typeface="Consolas"/>
                <a:cs typeface="Consolas"/>
              </a:rPr>
              <a:t>'</a:t>
            </a:r>
            <a:r>
              <a:rPr sz="2000" dirty="0" smtClean="0">
                <a:latin typeface="Consolas"/>
                <a:cs typeface="Consolas"/>
              </a:rPr>
              <a:t>, </a:t>
            </a:r>
            <a:r>
              <a:rPr sz="2000" dirty="0">
                <a:solidFill>
                  <a:srgbClr val="009900"/>
                </a:solidFill>
                <a:latin typeface="Consolas"/>
                <a:cs typeface="Consolas"/>
              </a:rPr>
              <a:t>3 </a:t>
            </a:r>
            <a:r>
              <a:rPr sz="2000" dirty="0">
                <a:latin typeface="Consolas"/>
                <a:cs typeface="Consolas"/>
              </a:rPr>
              <a:t>:</a:t>
            </a:r>
            <a:r>
              <a:rPr sz="2000" spc="-35" dirty="0">
                <a:latin typeface="Consolas"/>
                <a:cs typeface="Consolas"/>
              </a:rPr>
              <a:t> </a:t>
            </a:r>
            <a:r>
              <a:rPr sz="2000" dirty="0" smtClean="0">
                <a:solidFill>
                  <a:srgbClr val="0000FF"/>
                </a:solidFill>
                <a:latin typeface="Consolas"/>
                <a:cs typeface="Consolas"/>
              </a:rPr>
              <a:t>'</a:t>
            </a:r>
            <a:r>
              <a:rPr lang="en-US" sz="2000" dirty="0" err="1" smtClean="0">
                <a:solidFill>
                  <a:srgbClr val="0000FF"/>
                </a:solidFill>
                <a:latin typeface="Consolas"/>
                <a:cs typeface="Consolas"/>
              </a:rPr>
              <a:t>Piku</a:t>
            </a:r>
            <a:r>
              <a:rPr sz="2000" dirty="0" smtClean="0">
                <a:solidFill>
                  <a:srgbClr val="0000FF"/>
                </a:solidFill>
                <a:latin typeface="Consolas"/>
                <a:cs typeface="Consolas"/>
              </a:rPr>
              <a:t>'</a:t>
            </a:r>
            <a:r>
              <a:rPr sz="2000" dirty="0" smtClean="0">
                <a:latin typeface="Consolas"/>
                <a:cs typeface="Consolas"/>
              </a:rPr>
              <a:t>},</a:t>
            </a:r>
            <a:endParaRPr lang="en-US" sz="2000" dirty="0" smtClean="0">
              <a:latin typeface="Consolas"/>
              <a:cs typeface="Consolas"/>
            </a:endParaRPr>
          </a:p>
          <a:p>
            <a:pPr marL="990600">
              <a:lnSpc>
                <a:spcPct val="100000"/>
              </a:lnSpc>
            </a:pPr>
            <a:r>
              <a:rPr lang="en-US" sz="2000" dirty="0" smtClean="0">
                <a:solidFill>
                  <a:srgbClr val="0000FF"/>
                </a:solidFill>
                <a:latin typeface="Consolas"/>
                <a:cs typeface="Consolas"/>
              </a:rPr>
              <a:t> </a:t>
            </a:r>
            <a:r>
              <a:rPr sz="2000" dirty="0" smtClean="0">
                <a:solidFill>
                  <a:srgbClr val="0000FF"/>
                </a:solidFill>
                <a:latin typeface="Consolas"/>
                <a:cs typeface="Consolas"/>
              </a:rPr>
              <a:t>'B</a:t>
            </a:r>
            <a:r>
              <a:rPr sz="2000" dirty="0">
                <a:solidFill>
                  <a:srgbClr val="0000FF"/>
                </a:solidFill>
                <a:latin typeface="Consolas"/>
                <a:cs typeface="Consolas"/>
              </a:rPr>
              <a:t>' </a:t>
            </a:r>
            <a:r>
              <a:rPr sz="2000" dirty="0">
                <a:latin typeface="Consolas"/>
                <a:cs typeface="Consolas"/>
              </a:rPr>
              <a:t>: </a:t>
            </a:r>
            <a:r>
              <a:rPr sz="2000" spc="-10" dirty="0">
                <a:latin typeface="Consolas"/>
                <a:cs typeface="Consolas"/>
              </a:rPr>
              <a:t>{</a:t>
            </a:r>
            <a:r>
              <a:rPr sz="2000" spc="-10" dirty="0">
                <a:solidFill>
                  <a:srgbClr val="009900"/>
                </a:solidFill>
                <a:latin typeface="Consolas"/>
                <a:cs typeface="Consolas"/>
              </a:rPr>
              <a:t>1 </a:t>
            </a:r>
            <a:r>
              <a:rPr sz="2000" dirty="0">
                <a:latin typeface="Consolas"/>
                <a:cs typeface="Consolas"/>
              </a:rPr>
              <a:t>: </a:t>
            </a:r>
            <a:r>
              <a:rPr sz="2000" dirty="0" smtClean="0">
                <a:solidFill>
                  <a:srgbClr val="0000FF"/>
                </a:solidFill>
                <a:latin typeface="Consolas"/>
                <a:cs typeface="Consolas"/>
              </a:rPr>
              <a:t>'G</a:t>
            </a:r>
            <a:r>
              <a:rPr lang="en-US" sz="2000" dirty="0" smtClean="0">
                <a:solidFill>
                  <a:srgbClr val="0000FF"/>
                </a:solidFill>
                <a:latin typeface="Consolas"/>
                <a:cs typeface="Consolas"/>
              </a:rPr>
              <a:t>ood</a:t>
            </a:r>
            <a:r>
              <a:rPr sz="2000" dirty="0" smtClean="0">
                <a:solidFill>
                  <a:srgbClr val="0000FF"/>
                </a:solidFill>
                <a:latin typeface="Consolas"/>
                <a:cs typeface="Consolas"/>
              </a:rPr>
              <a:t>'</a:t>
            </a:r>
            <a:r>
              <a:rPr sz="2000" dirty="0" smtClean="0">
                <a:latin typeface="Consolas"/>
                <a:cs typeface="Consolas"/>
              </a:rPr>
              <a:t>, </a:t>
            </a:r>
            <a:r>
              <a:rPr sz="2000" dirty="0">
                <a:solidFill>
                  <a:srgbClr val="009900"/>
                </a:solidFill>
                <a:latin typeface="Consolas"/>
                <a:cs typeface="Consolas"/>
              </a:rPr>
              <a:t>2 </a:t>
            </a:r>
            <a:r>
              <a:rPr sz="2000" dirty="0">
                <a:latin typeface="Consolas"/>
                <a:cs typeface="Consolas"/>
              </a:rPr>
              <a:t>:</a:t>
            </a:r>
            <a:r>
              <a:rPr sz="2000" spc="5" dirty="0">
                <a:latin typeface="Consolas"/>
                <a:cs typeface="Consolas"/>
              </a:rPr>
              <a:t> </a:t>
            </a:r>
            <a:r>
              <a:rPr sz="2000" dirty="0">
                <a:solidFill>
                  <a:srgbClr val="0000FF"/>
                </a:solidFill>
                <a:latin typeface="Consolas"/>
                <a:cs typeface="Consolas"/>
              </a:rPr>
              <a:t>'Life</a:t>
            </a:r>
            <a:r>
              <a:rPr sz="2000" dirty="0" smtClean="0">
                <a:solidFill>
                  <a:srgbClr val="0000FF"/>
                </a:solidFill>
                <a:latin typeface="Consolas"/>
                <a:cs typeface="Consolas"/>
              </a:rPr>
              <a:t>'</a:t>
            </a:r>
            <a:r>
              <a:rPr sz="2000" dirty="0" smtClean="0">
                <a:latin typeface="Consolas"/>
                <a:cs typeface="Consolas"/>
              </a:rPr>
              <a:t>}}</a:t>
            </a:r>
            <a:endParaRPr lang="en-US" sz="2000" dirty="0" smtClean="0">
              <a:latin typeface="Consolas"/>
              <a:cs typeface="Consolas"/>
            </a:endParaRPr>
          </a:p>
          <a:p>
            <a:pPr marL="990600">
              <a:lnSpc>
                <a:spcPct val="100000"/>
              </a:lnSpc>
            </a:pPr>
            <a:endParaRPr sz="1750" dirty="0">
              <a:latin typeface="Consolas"/>
              <a:cs typeface="Consolas"/>
            </a:endParaRPr>
          </a:p>
          <a:p>
            <a:pPr marL="12700" marR="2820035">
              <a:lnSpc>
                <a:spcPct val="100000"/>
              </a:lnSpc>
              <a:spcBef>
                <a:spcPts val="10"/>
              </a:spcBef>
            </a:pPr>
            <a:r>
              <a:rPr sz="1750" dirty="0" smtClean="0">
                <a:latin typeface="Consolas"/>
                <a:cs typeface="Consolas"/>
              </a:rPr>
              <a:t> </a:t>
            </a:r>
            <a:r>
              <a:rPr lang="en-US" sz="1750" spc="-5" dirty="0" smtClean="0">
                <a:solidFill>
                  <a:srgbClr val="FF1393"/>
                </a:solidFill>
                <a:latin typeface="Consolas"/>
                <a:cs typeface="Consolas"/>
              </a:rPr>
              <a:t>print</a:t>
            </a:r>
            <a:r>
              <a:rPr sz="1750" spc="-5" dirty="0" smtClean="0">
                <a:latin typeface="Consolas"/>
                <a:cs typeface="Consolas"/>
              </a:rPr>
              <a:t>(</a:t>
            </a:r>
            <a:r>
              <a:rPr sz="1750" spc="-5" dirty="0" err="1" smtClean="0">
                <a:solidFill>
                  <a:srgbClr val="FF1393"/>
                </a:solidFill>
                <a:latin typeface="Consolas"/>
                <a:cs typeface="Consolas"/>
              </a:rPr>
              <a:t>Dict</a:t>
            </a:r>
            <a:r>
              <a:rPr sz="1750" spc="-5" dirty="0">
                <a:latin typeface="Consolas"/>
                <a:cs typeface="Consolas"/>
              </a:rPr>
              <a:t>)</a:t>
            </a:r>
            <a:endParaRPr sz="1750" dirty="0">
              <a:latin typeface="Consolas"/>
              <a:cs typeface="Consolas"/>
            </a:endParaRPr>
          </a:p>
          <a:p>
            <a:pPr>
              <a:lnSpc>
                <a:spcPct val="100000"/>
              </a:lnSpc>
              <a:spcBef>
                <a:spcPts val="5"/>
              </a:spcBef>
            </a:pPr>
            <a:r>
              <a:rPr lang="en-US" dirty="0" smtClean="0">
                <a:latin typeface="Consolas"/>
                <a:cs typeface="Consolas"/>
              </a:rPr>
              <a:t>#Output{'A': {1: 'Hello', 2: '</a:t>
            </a:r>
            <a:r>
              <a:rPr lang="en-US" dirty="0" err="1" smtClean="0">
                <a:latin typeface="Consolas"/>
                <a:cs typeface="Consolas"/>
              </a:rPr>
              <a:t>Ramesh</a:t>
            </a:r>
            <a:r>
              <a:rPr lang="en-US" dirty="0" smtClean="0">
                <a:latin typeface="Consolas"/>
                <a:cs typeface="Consolas"/>
              </a:rPr>
              <a:t>', 3: '</a:t>
            </a:r>
            <a:r>
              <a:rPr lang="en-US" dirty="0" err="1" smtClean="0">
                <a:latin typeface="Consolas"/>
                <a:cs typeface="Consolas"/>
              </a:rPr>
              <a:t>Piku</a:t>
            </a:r>
            <a:r>
              <a:rPr lang="en-US" dirty="0" smtClean="0">
                <a:latin typeface="Consolas"/>
                <a:cs typeface="Consolas"/>
              </a:rPr>
              <a:t>'}, 'B': {1: 'Good', 2: 'Life'}, 5: 'Welcome', 6: 'To', 7: 'Python'}</a:t>
            </a:r>
          </a:p>
          <a:p>
            <a:pPr>
              <a:lnSpc>
                <a:spcPct val="100000"/>
              </a:lnSpc>
              <a:spcBef>
                <a:spcPts val="5"/>
              </a:spcBef>
            </a:pPr>
            <a:endParaRPr sz="1800" dirty="0">
              <a:latin typeface="Consolas"/>
              <a:cs typeface="Consolas"/>
            </a:endParaRPr>
          </a:p>
          <a:p>
            <a:pPr marL="12700">
              <a:lnSpc>
                <a:spcPct val="100000"/>
              </a:lnSpc>
            </a:pPr>
            <a:r>
              <a:rPr sz="1750" dirty="0">
                <a:solidFill>
                  <a:srgbClr val="008200"/>
                </a:solidFill>
                <a:latin typeface="Consolas"/>
                <a:cs typeface="Consolas"/>
              </a:rPr>
              <a:t># Deleting a Key</a:t>
            </a:r>
            <a:r>
              <a:rPr sz="1750" spc="-10" dirty="0">
                <a:solidFill>
                  <a:srgbClr val="008200"/>
                </a:solidFill>
                <a:latin typeface="Consolas"/>
                <a:cs typeface="Consolas"/>
              </a:rPr>
              <a:t> </a:t>
            </a:r>
            <a:r>
              <a:rPr sz="1750" dirty="0">
                <a:solidFill>
                  <a:srgbClr val="008200"/>
                </a:solidFill>
                <a:latin typeface="Consolas"/>
                <a:cs typeface="Consolas"/>
              </a:rPr>
              <a:t>value</a:t>
            </a:r>
            <a:endParaRPr sz="1750" dirty="0">
              <a:latin typeface="Consolas"/>
              <a:cs typeface="Consolas"/>
            </a:endParaRPr>
          </a:p>
          <a:p>
            <a:pPr marL="12700">
              <a:lnSpc>
                <a:spcPct val="100000"/>
              </a:lnSpc>
            </a:pPr>
            <a:r>
              <a:rPr sz="1750" b="1" dirty="0">
                <a:solidFill>
                  <a:srgbClr val="006699"/>
                </a:solidFill>
                <a:latin typeface="Consolas"/>
                <a:cs typeface="Consolas"/>
              </a:rPr>
              <a:t>del</a:t>
            </a:r>
            <a:r>
              <a:rPr sz="1750" b="1" spc="-10" dirty="0">
                <a:solidFill>
                  <a:srgbClr val="006699"/>
                </a:solidFill>
                <a:latin typeface="Consolas"/>
                <a:cs typeface="Consolas"/>
              </a:rPr>
              <a:t> </a:t>
            </a:r>
            <a:r>
              <a:rPr sz="1750" dirty="0">
                <a:solidFill>
                  <a:srgbClr val="FF1393"/>
                </a:solidFill>
                <a:latin typeface="Consolas"/>
                <a:cs typeface="Consolas"/>
              </a:rPr>
              <a:t>Dict</a:t>
            </a:r>
            <a:r>
              <a:rPr sz="1750" dirty="0">
                <a:latin typeface="Consolas"/>
                <a:cs typeface="Consolas"/>
              </a:rPr>
              <a:t>[</a:t>
            </a:r>
            <a:r>
              <a:rPr sz="1750" dirty="0">
                <a:solidFill>
                  <a:srgbClr val="009900"/>
                </a:solidFill>
                <a:latin typeface="Consolas"/>
                <a:cs typeface="Consolas"/>
              </a:rPr>
              <a:t>6</a:t>
            </a:r>
            <a:r>
              <a:rPr sz="1750" dirty="0">
                <a:latin typeface="Consolas"/>
                <a:cs typeface="Consolas"/>
              </a:rPr>
              <a:t>]</a:t>
            </a:r>
          </a:p>
          <a:p>
            <a:pPr>
              <a:lnSpc>
                <a:spcPct val="100000"/>
              </a:lnSpc>
            </a:pPr>
            <a:r>
              <a:rPr lang="en-US" sz="1800" dirty="0" smtClean="0">
                <a:latin typeface="Consolas"/>
                <a:cs typeface="Consolas"/>
              </a:rPr>
              <a:t>Print(</a:t>
            </a:r>
            <a:r>
              <a:rPr lang="en-US" sz="1800" dirty="0" err="1" smtClean="0">
                <a:latin typeface="Consolas"/>
                <a:cs typeface="Consolas"/>
              </a:rPr>
              <a:t>Dict</a:t>
            </a:r>
            <a:r>
              <a:rPr lang="en-US" sz="1800" dirty="0" smtClean="0">
                <a:latin typeface="Consolas"/>
                <a:cs typeface="Consolas"/>
              </a:rPr>
              <a:t>)</a:t>
            </a:r>
          </a:p>
          <a:p>
            <a:pPr>
              <a:lnSpc>
                <a:spcPct val="100000"/>
              </a:lnSpc>
            </a:pPr>
            <a:r>
              <a:rPr lang="en-US" dirty="0" smtClean="0">
                <a:latin typeface="Consolas"/>
                <a:cs typeface="Consolas"/>
              </a:rPr>
              <a:t>#Output:{'B': {1: 'Good', 2: 'Life'}, 'A': {1: 'Hello', 2: '</a:t>
            </a:r>
            <a:r>
              <a:rPr lang="en-US" dirty="0" err="1" smtClean="0">
                <a:latin typeface="Consolas"/>
                <a:cs typeface="Consolas"/>
              </a:rPr>
              <a:t>Ramesh</a:t>
            </a:r>
            <a:r>
              <a:rPr lang="en-US" dirty="0" smtClean="0">
                <a:latin typeface="Consolas"/>
                <a:cs typeface="Consolas"/>
              </a:rPr>
              <a:t>', 3: '</a:t>
            </a:r>
            <a:r>
              <a:rPr lang="en-US" dirty="0" err="1" smtClean="0">
                <a:latin typeface="Consolas"/>
                <a:cs typeface="Consolas"/>
              </a:rPr>
              <a:t>Piku</a:t>
            </a:r>
            <a:r>
              <a:rPr lang="en-US" dirty="0" smtClean="0">
                <a:latin typeface="Consolas"/>
                <a:cs typeface="Consolas"/>
              </a:rPr>
              <a:t>'}, 5: 'Welcome', 7: 'Python'}</a:t>
            </a:r>
            <a:endParaRPr sz="1750" dirty="0">
              <a:latin typeface="Consolas"/>
              <a:cs typeface="Consolas"/>
            </a:endParaRPr>
          </a:p>
          <a:p>
            <a:pPr marL="12700">
              <a:lnSpc>
                <a:spcPct val="100000"/>
              </a:lnSpc>
            </a:pPr>
            <a:r>
              <a:rPr sz="1750" b="1" dirty="0">
                <a:solidFill>
                  <a:srgbClr val="006699"/>
                </a:solidFill>
                <a:latin typeface="Consolas"/>
                <a:cs typeface="Consolas"/>
              </a:rPr>
              <a:t>del</a:t>
            </a:r>
            <a:r>
              <a:rPr sz="1750" b="1" spc="-10" dirty="0">
                <a:solidFill>
                  <a:srgbClr val="006699"/>
                </a:solidFill>
                <a:latin typeface="Consolas"/>
                <a:cs typeface="Consolas"/>
              </a:rPr>
              <a:t> </a:t>
            </a:r>
            <a:r>
              <a:rPr sz="1750" spc="-5" dirty="0">
                <a:solidFill>
                  <a:srgbClr val="FF1393"/>
                </a:solidFill>
                <a:latin typeface="Consolas"/>
                <a:cs typeface="Consolas"/>
              </a:rPr>
              <a:t>Dict</a:t>
            </a:r>
            <a:r>
              <a:rPr sz="1750" spc="-5" dirty="0">
                <a:latin typeface="Consolas"/>
                <a:cs typeface="Consolas"/>
              </a:rPr>
              <a:t>[</a:t>
            </a:r>
            <a:r>
              <a:rPr sz="1750" spc="-5" dirty="0">
                <a:solidFill>
                  <a:srgbClr val="0000FF"/>
                </a:solidFill>
                <a:latin typeface="Consolas"/>
                <a:cs typeface="Consolas"/>
              </a:rPr>
              <a:t>'A'</a:t>
            </a:r>
            <a:r>
              <a:rPr sz="1750" spc="-5" dirty="0">
                <a:latin typeface="Consolas"/>
                <a:cs typeface="Consolas"/>
              </a:rPr>
              <a:t>][</a:t>
            </a:r>
            <a:r>
              <a:rPr sz="1750" spc="-5" dirty="0">
                <a:solidFill>
                  <a:srgbClr val="009900"/>
                </a:solidFill>
                <a:latin typeface="Consolas"/>
                <a:cs typeface="Consolas"/>
              </a:rPr>
              <a:t>2</a:t>
            </a:r>
            <a:r>
              <a:rPr sz="1750" spc="-5" dirty="0">
                <a:latin typeface="Consolas"/>
                <a:cs typeface="Consolas"/>
              </a:rPr>
              <a:t>]</a:t>
            </a:r>
            <a:endParaRPr sz="1750" dirty="0">
              <a:latin typeface="Consolas"/>
              <a:cs typeface="Consolas"/>
            </a:endParaRPr>
          </a:p>
          <a:p>
            <a:pPr>
              <a:lnSpc>
                <a:spcPct val="100000"/>
              </a:lnSpc>
              <a:spcBef>
                <a:spcPts val="20"/>
              </a:spcBef>
            </a:pPr>
            <a:endParaRPr sz="1850" dirty="0">
              <a:latin typeface="Consolas"/>
              <a:cs typeface="Consolas"/>
            </a:endParaRPr>
          </a:p>
          <a:p>
            <a:pPr marL="12700" marR="2943225">
              <a:lnSpc>
                <a:spcPts val="2090"/>
              </a:lnSpc>
            </a:pPr>
            <a:endParaRPr sz="1750" dirty="0">
              <a:latin typeface="Consolas"/>
              <a:cs typeface="Consolas"/>
            </a:endParaRPr>
          </a:p>
        </p:txBody>
      </p:sp>
      <p:sp>
        <p:nvSpPr>
          <p:cNvPr id="5" name="Rectangle 4"/>
          <p:cNvSpPr/>
          <p:nvPr/>
        </p:nvSpPr>
        <p:spPr>
          <a:xfrm>
            <a:off x="0" y="6648450"/>
            <a:ext cx="274320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241300" y="5305425"/>
            <a:ext cx="10134600" cy="369332"/>
          </a:xfrm>
          <a:prstGeom prst="rect">
            <a:avLst/>
          </a:prstGeom>
        </p:spPr>
        <p:txBody>
          <a:bodyPr wrap="square">
            <a:spAutoFit/>
          </a:bodyPr>
          <a:lstStyle/>
          <a:p>
            <a:r>
              <a:rPr lang="en-US" dirty="0" smtClean="0"/>
              <a:t>#Output:  {'A': {1: 'Hello', 3: '</a:t>
            </a:r>
            <a:r>
              <a:rPr lang="en-US" dirty="0" err="1" smtClean="0"/>
              <a:t>Piku</a:t>
            </a:r>
            <a:r>
              <a:rPr lang="en-US" dirty="0" smtClean="0"/>
              <a:t>'}, 'B': {1: 'Good', 2: 'Life'}, 5: 'Welcome', 6: 'To', 7: 'Python'}</a:t>
            </a: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2298700" y="428625"/>
            <a:ext cx="6039217" cy="584775"/>
          </a:xfrm>
          <a:prstGeom prst="rect">
            <a:avLst/>
          </a:prstGeom>
          <a:noFill/>
        </p:spPr>
        <p:txBody>
          <a:bodyPr wrap="none" rtlCol="0">
            <a:spAutoFit/>
          </a:bodyPr>
          <a:lstStyle/>
          <a:p>
            <a:r>
              <a:rPr lang="en-US" sz="3200" dirty="0" smtClean="0">
                <a:solidFill>
                  <a:srgbClr val="C00000"/>
                </a:solidFill>
              </a:rPr>
              <a:t>get(), values(), items() in Dictionary</a:t>
            </a:r>
            <a:endParaRPr lang="en-US" sz="3200" dirty="0">
              <a:solidFill>
                <a:srgbClr val="C00000"/>
              </a:solidFill>
            </a:endParaRPr>
          </a:p>
        </p:txBody>
      </p:sp>
      <p:sp>
        <p:nvSpPr>
          <p:cNvPr id="6" name="Rectangle 5"/>
          <p:cNvSpPr/>
          <p:nvPr/>
        </p:nvSpPr>
        <p:spPr>
          <a:xfrm>
            <a:off x="393700" y="1038226"/>
            <a:ext cx="3657600" cy="2739211"/>
          </a:xfrm>
          <a:prstGeom prst="rect">
            <a:avLst/>
          </a:prstGeom>
        </p:spPr>
        <p:txBody>
          <a:bodyPr wrap="square">
            <a:spAutoFit/>
          </a:bodyPr>
          <a:lstStyle/>
          <a:p>
            <a:r>
              <a:rPr lang="en-US" sz="2800" dirty="0" smtClean="0">
                <a:solidFill>
                  <a:srgbClr val="00B050"/>
                </a:solidFill>
              </a:rPr>
              <a:t>car</a:t>
            </a:r>
            <a:r>
              <a:rPr lang="en-US" sz="2800" dirty="0" smtClean="0"/>
              <a:t> = {</a:t>
            </a:r>
            <a:br>
              <a:rPr lang="en-US" sz="2800" dirty="0" smtClean="0"/>
            </a:br>
            <a:r>
              <a:rPr lang="en-US" sz="2800" dirty="0" smtClean="0"/>
              <a:t>  "brand": "Ford",</a:t>
            </a:r>
            <a:br>
              <a:rPr lang="en-US" sz="2800" dirty="0" smtClean="0"/>
            </a:br>
            <a:r>
              <a:rPr lang="en-US" sz="2800" dirty="0" smtClean="0"/>
              <a:t>  "model": "Mustang",</a:t>
            </a:r>
            <a:br>
              <a:rPr lang="en-US" sz="2800" dirty="0" smtClean="0"/>
            </a:br>
            <a:r>
              <a:rPr lang="en-US" sz="2800" dirty="0" smtClean="0"/>
              <a:t>  "year": 1964</a:t>
            </a:r>
            <a:br>
              <a:rPr lang="en-US" sz="2800" dirty="0" smtClean="0"/>
            </a:br>
            <a:r>
              <a:rPr lang="en-US" sz="2800" dirty="0" smtClean="0"/>
              <a:t>}</a:t>
            </a:r>
          </a:p>
          <a:p>
            <a:endParaRPr lang="en-US" sz="3200" dirty="0"/>
          </a:p>
        </p:txBody>
      </p:sp>
      <p:sp>
        <p:nvSpPr>
          <p:cNvPr id="7" name="Rectangle 6"/>
          <p:cNvSpPr/>
          <p:nvPr/>
        </p:nvSpPr>
        <p:spPr>
          <a:xfrm>
            <a:off x="698500" y="3777198"/>
            <a:ext cx="2545249" cy="3785652"/>
          </a:xfrm>
          <a:prstGeom prst="rect">
            <a:avLst/>
          </a:prstGeom>
        </p:spPr>
        <p:txBody>
          <a:bodyPr wrap="square">
            <a:spAutoFit/>
          </a:bodyPr>
          <a:lstStyle/>
          <a:p>
            <a:r>
              <a:rPr lang="en-US" sz="2400" dirty="0" smtClean="0"/>
              <a:t>x = </a:t>
            </a:r>
            <a:r>
              <a:rPr lang="en-US" sz="2400" dirty="0" err="1" smtClean="0"/>
              <a:t>car.get</a:t>
            </a:r>
            <a:r>
              <a:rPr lang="en-US" sz="2400" dirty="0" smtClean="0"/>
              <a:t>(“year")</a:t>
            </a:r>
          </a:p>
          <a:p>
            <a:r>
              <a:rPr lang="en-US" sz="2400" dirty="0" smtClean="0"/>
              <a:t>Output: 1964</a:t>
            </a:r>
          </a:p>
          <a:p>
            <a:endParaRPr lang="en-US" sz="2400" dirty="0" smtClean="0"/>
          </a:p>
          <a:p>
            <a:r>
              <a:rPr lang="en-US" sz="2400" dirty="0" smtClean="0"/>
              <a:t>x= </a:t>
            </a:r>
            <a:r>
              <a:rPr lang="en-US" sz="2400" dirty="0" err="1" smtClean="0"/>
              <a:t>car.get</a:t>
            </a:r>
            <a:r>
              <a:rPr lang="en-US" sz="2400" dirty="0" smtClean="0"/>
              <a:t>(“brand”)</a:t>
            </a:r>
          </a:p>
          <a:p>
            <a:r>
              <a:rPr lang="en-US" sz="2400" dirty="0" smtClean="0"/>
              <a:t>Output: ’Ford’</a:t>
            </a:r>
          </a:p>
          <a:p>
            <a:endParaRPr lang="en-US" sz="2400" dirty="0" smtClean="0"/>
          </a:p>
          <a:p>
            <a:r>
              <a:rPr lang="en-US" sz="2400" dirty="0" smtClean="0"/>
              <a:t>p=</a:t>
            </a:r>
            <a:r>
              <a:rPr lang="en-US" sz="2400" dirty="0" err="1" smtClean="0"/>
              <a:t>car.get</a:t>
            </a:r>
            <a:r>
              <a:rPr lang="en-US" sz="2400" dirty="0" smtClean="0"/>
              <a:t>(“price”)</a:t>
            </a:r>
          </a:p>
          <a:p>
            <a:r>
              <a:rPr lang="en-US" sz="2400" dirty="0" err="1" smtClean="0"/>
              <a:t>Output:none</a:t>
            </a:r>
            <a:endParaRPr lang="en-US" sz="2400" dirty="0" smtClean="0"/>
          </a:p>
          <a:p>
            <a:endParaRPr lang="en-US" sz="2400" dirty="0" smtClean="0"/>
          </a:p>
          <a:p>
            <a:endParaRPr lang="en-US" sz="2400" dirty="0"/>
          </a:p>
        </p:txBody>
      </p:sp>
      <p:sp>
        <p:nvSpPr>
          <p:cNvPr id="9" name="Rectangle 8"/>
          <p:cNvSpPr/>
          <p:nvPr/>
        </p:nvSpPr>
        <p:spPr>
          <a:xfrm>
            <a:off x="4203700" y="2257425"/>
            <a:ext cx="6248400" cy="3416320"/>
          </a:xfrm>
          <a:prstGeom prst="rect">
            <a:avLst/>
          </a:prstGeom>
        </p:spPr>
        <p:txBody>
          <a:bodyPr wrap="square">
            <a:spAutoFit/>
          </a:bodyPr>
          <a:lstStyle/>
          <a:p>
            <a:r>
              <a:rPr lang="en-US" sz="2400" dirty="0" smtClean="0"/>
              <a:t>car.values()</a:t>
            </a:r>
          </a:p>
          <a:p>
            <a:r>
              <a:rPr lang="en-US" sz="2400" dirty="0" smtClean="0"/>
              <a:t>Output:  ([1964, 'Mustang', 'Ford'])</a:t>
            </a:r>
          </a:p>
          <a:p>
            <a:endParaRPr lang="en-US" sz="2400" dirty="0" smtClean="0"/>
          </a:p>
          <a:p>
            <a:r>
              <a:rPr lang="en-US" sz="2400" dirty="0" smtClean="0"/>
              <a:t>car.items() </a:t>
            </a:r>
          </a:p>
          <a:p>
            <a:r>
              <a:rPr lang="en-US" sz="2400" dirty="0" smtClean="0"/>
              <a:t>Output: [('brand', 'Ford'), ('model', 'Mustang'), ('year', 1964)]</a:t>
            </a:r>
          </a:p>
          <a:p>
            <a:endParaRPr lang="en-US" sz="2400" dirty="0" smtClean="0"/>
          </a:p>
          <a:p>
            <a:r>
              <a:rPr lang="en-US" sz="2400" dirty="0" err="1" smtClean="0"/>
              <a:t>car.keys</a:t>
            </a:r>
            <a:r>
              <a:rPr lang="en-US" sz="2400" dirty="0" smtClean="0"/>
              <a:t>()</a:t>
            </a:r>
          </a:p>
          <a:p>
            <a:r>
              <a:rPr lang="en-US" sz="2400" dirty="0" smtClean="0"/>
              <a:t>Output:  (['model', 'year', 'brand'])</a:t>
            </a:r>
            <a:endParaRPr lang="en-US"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441700" y="200025"/>
            <a:ext cx="1660839" cy="584775"/>
          </a:xfrm>
          <a:prstGeom prst="rect">
            <a:avLst/>
          </a:prstGeom>
          <a:noFill/>
        </p:spPr>
        <p:txBody>
          <a:bodyPr wrap="none" rtlCol="0">
            <a:spAutoFit/>
          </a:bodyPr>
          <a:lstStyle/>
          <a:p>
            <a:r>
              <a:rPr lang="en-US" sz="3200" dirty="0" smtClean="0">
                <a:solidFill>
                  <a:srgbClr val="FF0000"/>
                </a:solidFill>
              </a:rPr>
              <a:t>Update()</a:t>
            </a:r>
            <a:endParaRPr lang="en-US" sz="3200" dirty="0">
              <a:solidFill>
                <a:srgbClr val="FF0000"/>
              </a:solidFill>
            </a:endParaRPr>
          </a:p>
        </p:txBody>
      </p:sp>
      <p:sp>
        <p:nvSpPr>
          <p:cNvPr id="5" name="Rectangle 4"/>
          <p:cNvSpPr/>
          <p:nvPr/>
        </p:nvSpPr>
        <p:spPr>
          <a:xfrm>
            <a:off x="241300" y="962025"/>
            <a:ext cx="9982200" cy="830997"/>
          </a:xfrm>
          <a:prstGeom prst="rect">
            <a:avLst/>
          </a:prstGeom>
        </p:spPr>
        <p:txBody>
          <a:bodyPr wrap="square">
            <a:spAutoFit/>
          </a:bodyPr>
          <a:lstStyle/>
          <a:p>
            <a:pPr algn="just"/>
            <a:r>
              <a:rPr lang="en-US" sz="2400" dirty="0" smtClean="0"/>
              <a:t>The update() method updates the dictionary with the elements from the another dictionary  or from an iterable of key/value pairs.</a:t>
            </a:r>
            <a:endParaRPr lang="en-US" sz="2400" dirty="0"/>
          </a:p>
        </p:txBody>
      </p:sp>
      <p:sp>
        <p:nvSpPr>
          <p:cNvPr id="6" name="Rectangle 5"/>
          <p:cNvSpPr/>
          <p:nvPr/>
        </p:nvSpPr>
        <p:spPr>
          <a:xfrm>
            <a:off x="622300" y="1952625"/>
            <a:ext cx="7315200" cy="954107"/>
          </a:xfrm>
          <a:prstGeom prst="rect">
            <a:avLst/>
          </a:prstGeom>
        </p:spPr>
        <p:txBody>
          <a:bodyPr wrap="square">
            <a:spAutoFit/>
          </a:bodyPr>
          <a:lstStyle/>
          <a:p>
            <a:r>
              <a:rPr lang="en-US" sz="2800" dirty="0" smtClean="0"/>
              <a:t>d1={1:"one", 2:"Two", 3:"Three"}</a:t>
            </a:r>
          </a:p>
          <a:p>
            <a:r>
              <a:rPr lang="en-US" sz="2800" dirty="0" smtClean="0"/>
              <a:t>d2={4:"Four",5:"Five",6:"Six"}</a:t>
            </a:r>
            <a:endParaRPr lang="en-US" sz="2800" dirty="0"/>
          </a:p>
        </p:txBody>
      </p:sp>
      <p:sp>
        <p:nvSpPr>
          <p:cNvPr id="7" name="Rectangle 6"/>
          <p:cNvSpPr/>
          <p:nvPr/>
        </p:nvSpPr>
        <p:spPr>
          <a:xfrm>
            <a:off x="469900" y="3171825"/>
            <a:ext cx="8915400" cy="4154984"/>
          </a:xfrm>
          <a:prstGeom prst="rect">
            <a:avLst/>
          </a:prstGeom>
        </p:spPr>
        <p:txBody>
          <a:bodyPr wrap="square">
            <a:spAutoFit/>
          </a:bodyPr>
          <a:lstStyle/>
          <a:p>
            <a:r>
              <a:rPr lang="en-US" sz="2400" dirty="0" smtClean="0"/>
              <a:t>d1+d2 # syntax error</a:t>
            </a:r>
          </a:p>
          <a:p>
            <a:endParaRPr lang="en-US" sz="2400" dirty="0" smtClean="0"/>
          </a:p>
          <a:p>
            <a:r>
              <a:rPr lang="en-US" sz="2400" dirty="0" smtClean="0"/>
              <a:t>d1.update(d2)</a:t>
            </a:r>
          </a:p>
          <a:p>
            <a:r>
              <a:rPr lang="en-US" sz="2400" dirty="0" smtClean="0"/>
              <a:t>print(d1)</a:t>
            </a:r>
          </a:p>
          <a:p>
            <a:r>
              <a:rPr lang="en-US" sz="2400" dirty="0" smtClean="0"/>
              <a:t>Output:{1: 'one', 2: 'Two', 3: 'Three', 4: 'Four', 5: 'Five', 6: 'Six'}</a:t>
            </a:r>
          </a:p>
          <a:p>
            <a:r>
              <a:rPr lang="en-US" sz="2400" dirty="0" smtClean="0"/>
              <a:t>d2.update({7:”Seven”,8:”Eight”})</a:t>
            </a:r>
          </a:p>
          <a:p>
            <a:r>
              <a:rPr lang="en-US" sz="2400" dirty="0" smtClean="0"/>
              <a:t>Print(d2)</a:t>
            </a:r>
          </a:p>
          <a:p>
            <a:r>
              <a:rPr lang="en-US" sz="2400" dirty="0" smtClean="0"/>
              <a:t>Output:{8: 'Eight', 4: 'Four', 5: 'Five', 6: 'Six', 7: 'Seven'}</a:t>
            </a:r>
          </a:p>
          <a:p>
            <a:r>
              <a:rPr lang="en-US" sz="2400" dirty="0" smtClean="0"/>
              <a:t>d1.update({1:1})</a:t>
            </a:r>
          </a:p>
          <a:p>
            <a:endParaRPr lang="en-US" sz="2400" dirty="0" smtClean="0"/>
          </a:p>
          <a:p>
            <a:endParaRPr lang="en-US" sz="2400" dirty="0"/>
          </a:p>
        </p:txBody>
      </p:sp>
      <p:sp>
        <p:nvSpPr>
          <p:cNvPr id="8" name="Rectangle 7"/>
          <p:cNvSpPr/>
          <p:nvPr/>
        </p:nvSpPr>
        <p:spPr>
          <a:xfrm>
            <a:off x="469900" y="6600825"/>
            <a:ext cx="8153400" cy="461665"/>
          </a:xfrm>
          <a:prstGeom prst="rect">
            <a:avLst/>
          </a:prstGeom>
        </p:spPr>
        <p:txBody>
          <a:bodyPr wrap="square">
            <a:spAutoFit/>
          </a:bodyPr>
          <a:lstStyle/>
          <a:p>
            <a:r>
              <a:rPr lang="en-US" sz="2400" dirty="0" smtClean="0"/>
              <a:t>Output:{1: 1 , 2: 'Two', 3: 'Three', 4: 'Four', 5: 'Five', 6: 'Six'}</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98500" y="428625"/>
            <a:ext cx="2293898" cy="400110"/>
          </a:xfrm>
          <a:prstGeom prst="rect">
            <a:avLst/>
          </a:prstGeom>
        </p:spPr>
        <p:txBody>
          <a:bodyPr wrap="none">
            <a:spAutoFit/>
          </a:bodyPr>
          <a:lstStyle/>
          <a:p>
            <a:r>
              <a:rPr lang="en-US" sz="2000" dirty="0" err="1" smtClean="0"/>
              <a:t>fromkeys</a:t>
            </a:r>
            <a:r>
              <a:rPr lang="en-US" sz="2000" dirty="0" smtClean="0">
                <a:solidFill>
                  <a:srgbClr val="FF0000"/>
                </a:solidFill>
              </a:rPr>
              <a:t>()</a:t>
            </a:r>
            <a:r>
              <a:rPr lang="en-US" sz="2000" dirty="0" smtClean="0"/>
              <a:t> function:</a:t>
            </a:r>
            <a:endParaRPr lang="en-US" sz="2000" dirty="0"/>
          </a:p>
        </p:txBody>
      </p:sp>
      <p:sp>
        <p:nvSpPr>
          <p:cNvPr id="5" name="Rectangle 4"/>
          <p:cNvSpPr/>
          <p:nvPr/>
        </p:nvSpPr>
        <p:spPr>
          <a:xfrm>
            <a:off x="774700" y="1038225"/>
            <a:ext cx="9296400" cy="707886"/>
          </a:xfrm>
          <a:prstGeom prst="rect">
            <a:avLst/>
          </a:prstGeom>
        </p:spPr>
        <p:txBody>
          <a:bodyPr wrap="square">
            <a:spAutoFit/>
          </a:bodyPr>
          <a:lstStyle/>
          <a:p>
            <a:r>
              <a:rPr lang="en-US" sz="2000" dirty="0" err="1" smtClean="0"/>
              <a:t>fromkeys</a:t>
            </a:r>
            <a:r>
              <a:rPr lang="en-US" sz="2000" dirty="0" smtClean="0"/>
              <a:t>() function is used to create a new dictionary from a sequence containing all the keys and a common value, which will be assigned to all the keys.</a:t>
            </a:r>
            <a:endParaRPr lang="en-US" sz="2000" dirty="0"/>
          </a:p>
        </p:txBody>
      </p:sp>
      <p:sp>
        <p:nvSpPr>
          <p:cNvPr id="7" name="Rectangle 6"/>
          <p:cNvSpPr/>
          <p:nvPr/>
        </p:nvSpPr>
        <p:spPr>
          <a:xfrm>
            <a:off x="850900" y="1724025"/>
            <a:ext cx="5346700" cy="1938992"/>
          </a:xfrm>
          <a:prstGeom prst="rect">
            <a:avLst/>
          </a:prstGeom>
        </p:spPr>
        <p:txBody>
          <a:bodyPr>
            <a:spAutoFit/>
          </a:bodyPr>
          <a:lstStyle/>
          <a:p>
            <a:r>
              <a:rPr lang="en-US" sz="2000" dirty="0" smtClean="0"/>
              <a:t>#For example:</a:t>
            </a:r>
          </a:p>
          <a:p>
            <a:endParaRPr lang="en-US" sz="2000" dirty="0" smtClean="0"/>
          </a:p>
          <a:p>
            <a:r>
              <a:rPr lang="en-US" sz="2000" dirty="0" smtClean="0"/>
              <a:t>x = ('list', 'set', 'dictionary')</a:t>
            </a:r>
          </a:p>
          <a:p>
            <a:r>
              <a:rPr lang="en-US" sz="2000" dirty="0" smtClean="0"/>
              <a:t>y = 'mutable'</a:t>
            </a:r>
          </a:p>
          <a:p>
            <a:r>
              <a:rPr lang="en-US" sz="2000" dirty="0" err="1" smtClean="0"/>
              <a:t>my_dict</a:t>
            </a:r>
            <a:r>
              <a:rPr lang="en-US" sz="2000" dirty="0" smtClean="0"/>
              <a:t> = </a:t>
            </a:r>
            <a:r>
              <a:rPr lang="en-US" sz="2000" dirty="0" err="1" smtClean="0"/>
              <a:t>dict.fromkeys</a:t>
            </a:r>
            <a:r>
              <a:rPr lang="en-US" sz="2000" dirty="0" smtClean="0"/>
              <a:t>(x, y)</a:t>
            </a:r>
          </a:p>
          <a:p>
            <a:r>
              <a:rPr lang="en-US" sz="2000" dirty="0" smtClean="0"/>
              <a:t>print(</a:t>
            </a:r>
            <a:r>
              <a:rPr lang="en-US" sz="2000" dirty="0" err="1" smtClean="0"/>
              <a:t>my_dict</a:t>
            </a:r>
            <a:r>
              <a:rPr lang="en-US" sz="2000" dirty="0" smtClean="0"/>
              <a:t>)</a:t>
            </a:r>
            <a:endParaRPr lang="en-US" sz="2000" dirty="0"/>
          </a:p>
        </p:txBody>
      </p:sp>
      <p:sp>
        <p:nvSpPr>
          <p:cNvPr id="8" name="Rectangle 7"/>
          <p:cNvSpPr/>
          <p:nvPr/>
        </p:nvSpPr>
        <p:spPr>
          <a:xfrm>
            <a:off x="927100" y="3705225"/>
            <a:ext cx="2340705" cy="400110"/>
          </a:xfrm>
          <a:prstGeom prst="rect">
            <a:avLst/>
          </a:prstGeom>
        </p:spPr>
        <p:txBody>
          <a:bodyPr wrap="none">
            <a:spAutoFit/>
          </a:bodyPr>
          <a:lstStyle/>
          <a:p>
            <a:r>
              <a:rPr lang="en-US" sz="2000" dirty="0" err="1" smtClean="0">
                <a:solidFill>
                  <a:srgbClr val="FF0000"/>
                </a:solidFill>
              </a:rPr>
              <a:t>setdefault</a:t>
            </a:r>
            <a:r>
              <a:rPr lang="en-US" sz="2000" dirty="0" smtClean="0">
                <a:solidFill>
                  <a:srgbClr val="FF0000"/>
                </a:solidFill>
              </a:rPr>
              <a:t>() </a:t>
            </a:r>
            <a:r>
              <a:rPr lang="en-US" sz="2000" dirty="0" smtClean="0"/>
              <a:t>method:</a:t>
            </a:r>
            <a:endParaRPr lang="en-US" sz="2000" dirty="0"/>
          </a:p>
        </p:txBody>
      </p:sp>
      <p:sp>
        <p:nvSpPr>
          <p:cNvPr id="9" name="Rectangle 8"/>
          <p:cNvSpPr/>
          <p:nvPr/>
        </p:nvSpPr>
        <p:spPr>
          <a:xfrm>
            <a:off x="1917700" y="4314825"/>
            <a:ext cx="8001000" cy="1015663"/>
          </a:xfrm>
          <a:prstGeom prst="rect">
            <a:avLst/>
          </a:prstGeom>
        </p:spPr>
        <p:txBody>
          <a:bodyPr wrap="square">
            <a:spAutoFit/>
          </a:bodyPr>
          <a:lstStyle/>
          <a:p>
            <a:r>
              <a:rPr lang="en-US" sz="2000" dirty="0" smtClean="0"/>
              <a:t>It inserts a new </a:t>
            </a:r>
            <a:r>
              <a:rPr lang="en-US" sz="2000" dirty="0" err="1" smtClean="0"/>
              <a:t>key:value</a:t>
            </a:r>
            <a:r>
              <a:rPr lang="en-US" sz="2000" dirty="0" smtClean="0"/>
              <a:t> pair only if the key doesn't already exist. If the key already exists, it returns the current value of the key. The syntax to use this method is:</a:t>
            </a:r>
            <a:endParaRPr lang="en-US" sz="2000" dirty="0"/>
          </a:p>
        </p:txBody>
      </p:sp>
      <p:sp>
        <p:nvSpPr>
          <p:cNvPr id="10" name="Rectangle 9"/>
          <p:cNvSpPr/>
          <p:nvPr/>
        </p:nvSpPr>
        <p:spPr>
          <a:xfrm>
            <a:off x="1993900" y="5381625"/>
            <a:ext cx="5346700" cy="1631216"/>
          </a:xfrm>
          <a:prstGeom prst="rect">
            <a:avLst/>
          </a:prstGeom>
        </p:spPr>
        <p:txBody>
          <a:bodyPr>
            <a:spAutoFit/>
          </a:bodyPr>
          <a:lstStyle/>
          <a:p>
            <a:r>
              <a:rPr lang="en-US" sz="2000" dirty="0" smtClean="0"/>
              <a:t>For example:</a:t>
            </a:r>
          </a:p>
          <a:p>
            <a:endParaRPr lang="en-US" sz="2000" dirty="0" smtClean="0"/>
          </a:p>
          <a:p>
            <a:r>
              <a:rPr lang="en-US" sz="2000" dirty="0" smtClean="0"/>
              <a:t>d = {1 : 'a' , 2 : 'b'}</a:t>
            </a:r>
          </a:p>
          <a:p>
            <a:r>
              <a:rPr lang="en-US" sz="2000" dirty="0" err="1" smtClean="0"/>
              <a:t>d.setdefault</a:t>
            </a:r>
            <a:r>
              <a:rPr lang="en-US" sz="2000" dirty="0" smtClean="0"/>
              <a:t>(3,'c')</a:t>
            </a:r>
          </a:p>
          <a:p>
            <a:r>
              <a:rPr lang="en-US" sz="2000" dirty="0" smtClean="0"/>
              <a:t>print(d)</a:t>
            </a:r>
            <a:endParaRPr lang="en-US" sz="2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3700" y="352425"/>
            <a:ext cx="10299700" cy="523220"/>
          </a:xfrm>
          <a:prstGeom prst="rect">
            <a:avLst/>
          </a:prstGeom>
        </p:spPr>
        <p:txBody>
          <a:bodyPr wrap="square">
            <a:spAutoFit/>
          </a:bodyPr>
          <a:lstStyle/>
          <a:p>
            <a:r>
              <a:rPr lang="en-US" sz="2800" b="1" dirty="0" smtClean="0">
                <a:solidFill>
                  <a:srgbClr val="FF0000"/>
                </a:solidFill>
              </a:rPr>
              <a:t>Merging dictionaries using ** method ( Python 3.5 onwards)</a:t>
            </a:r>
            <a:endParaRPr lang="en-US" sz="2800" b="1" dirty="0">
              <a:solidFill>
                <a:srgbClr val="FF0000"/>
              </a:solidFill>
            </a:endParaRPr>
          </a:p>
        </p:txBody>
      </p:sp>
      <p:sp>
        <p:nvSpPr>
          <p:cNvPr id="5" name="Rectangle 4"/>
          <p:cNvSpPr/>
          <p:nvPr/>
        </p:nvSpPr>
        <p:spPr>
          <a:xfrm>
            <a:off x="469900" y="1266825"/>
            <a:ext cx="4294317" cy="461665"/>
          </a:xfrm>
          <a:prstGeom prst="rect">
            <a:avLst/>
          </a:prstGeom>
        </p:spPr>
        <p:txBody>
          <a:bodyPr wrap="none">
            <a:spAutoFit/>
          </a:bodyPr>
          <a:lstStyle/>
          <a:p>
            <a:r>
              <a:rPr lang="en-US" sz="2400" dirty="0" smtClean="0"/>
              <a:t>The ** is called </a:t>
            </a:r>
            <a:r>
              <a:rPr lang="en-US" sz="2400" dirty="0" err="1" smtClean="0"/>
              <a:t>Kwargs</a:t>
            </a:r>
            <a:r>
              <a:rPr lang="en-US" sz="2400" dirty="0" smtClean="0"/>
              <a:t> in Python</a:t>
            </a:r>
            <a:endParaRPr lang="en-US" sz="2400" dirty="0"/>
          </a:p>
        </p:txBody>
      </p:sp>
      <p:sp>
        <p:nvSpPr>
          <p:cNvPr id="6" name="Rectangle 5"/>
          <p:cNvSpPr/>
          <p:nvPr/>
        </p:nvSpPr>
        <p:spPr>
          <a:xfrm>
            <a:off x="393700" y="1952625"/>
            <a:ext cx="9525000" cy="4154984"/>
          </a:xfrm>
          <a:prstGeom prst="rect">
            <a:avLst/>
          </a:prstGeom>
        </p:spPr>
        <p:txBody>
          <a:bodyPr wrap="square">
            <a:spAutoFit/>
          </a:bodyPr>
          <a:lstStyle/>
          <a:p>
            <a:r>
              <a:rPr lang="en-US" sz="2400" dirty="0" smtClean="0"/>
              <a:t>d1={1:"one", 2:"Two", 3:"Three"}</a:t>
            </a:r>
          </a:p>
          <a:p>
            <a:r>
              <a:rPr lang="en-US" sz="2400" dirty="0" smtClean="0"/>
              <a:t>d2={4:"Four",5:"Five",6:"Six"}</a:t>
            </a:r>
          </a:p>
          <a:p>
            <a:endParaRPr lang="en-US" sz="2400" dirty="0" smtClean="0"/>
          </a:p>
          <a:p>
            <a:r>
              <a:rPr lang="en-US" sz="2400" dirty="0" smtClean="0"/>
              <a:t>d3={**d1,**d2}</a:t>
            </a:r>
          </a:p>
          <a:p>
            <a:r>
              <a:rPr lang="en-US" sz="2400" dirty="0" smtClean="0"/>
              <a:t>print(d3)</a:t>
            </a:r>
          </a:p>
          <a:p>
            <a:r>
              <a:rPr lang="en-US" sz="2400" dirty="0" smtClean="0"/>
              <a:t>{1: 'one', 2: 'Two', 3: 'Three', 4: 'Four', 5: 'Five', 6: 'Six'}</a:t>
            </a:r>
          </a:p>
          <a:p>
            <a:r>
              <a:rPr lang="en-US" sz="2400" dirty="0" smtClean="0"/>
              <a:t>print(d1)</a:t>
            </a:r>
          </a:p>
          <a:p>
            <a:r>
              <a:rPr lang="en-US" sz="2400" dirty="0" smtClean="0"/>
              <a:t>{1: 'one', 2: 'Two', 3: 'Three'}</a:t>
            </a:r>
          </a:p>
          <a:p>
            <a:r>
              <a:rPr lang="en-US" sz="2400" dirty="0" smtClean="0"/>
              <a:t>print(d2)</a:t>
            </a:r>
          </a:p>
          <a:p>
            <a:endParaRPr lang="en-US" sz="2400" dirty="0" smtClean="0"/>
          </a:p>
          <a:p>
            <a:endParaRPr lang="en-US" sz="2400" dirty="0"/>
          </a:p>
        </p:txBody>
      </p:sp>
      <p:sp>
        <p:nvSpPr>
          <p:cNvPr id="8" name="Rectangle 7"/>
          <p:cNvSpPr/>
          <p:nvPr/>
        </p:nvSpPr>
        <p:spPr>
          <a:xfrm>
            <a:off x="546100" y="5305425"/>
            <a:ext cx="3405869" cy="461665"/>
          </a:xfrm>
          <a:prstGeom prst="rect">
            <a:avLst/>
          </a:prstGeom>
        </p:spPr>
        <p:txBody>
          <a:bodyPr wrap="none">
            <a:spAutoFit/>
          </a:bodyPr>
          <a:lstStyle/>
          <a:p>
            <a:r>
              <a:rPr lang="en-US" sz="2400" dirty="0" smtClean="0"/>
              <a:t>{4: 'Four', 5: 'Five', 6: 'Six'}</a:t>
            </a:r>
            <a:endParaRPr lang="en-US" sz="2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5100" y="428625"/>
            <a:ext cx="10210800" cy="6494085"/>
          </a:xfrm>
          <a:prstGeom prst="rect">
            <a:avLst/>
          </a:prstGeom>
        </p:spPr>
        <p:txBody>
          <a:bodyPr wrap="square">
            <a:spAutoFit/>
          </a:bodyPr>
          <a:lstStyle/>
          <a:p>
            <a:r>
              <a:rPr lang="en-US" sz="2800" dirty="0" smtClean="0"/>
              <a:t>#Program to create a dictionary which stores names of the employee  and their salary</a:t>
            </a:r>
          </a:p>
          <a:p>
            <a:pPr>
              <a:lnSpc>
                <a:spcPct val="150000"/>
              </a:lnSpc>
            </a:pPr>
            <a:endParaRPr lang="en-US" sz="2400" dirty="0" smtClean="0">
              <a:solidFill>
                <a:schemeClr val="bg2"/>
              </a:solidFill>
            </a:endParaRPr>
          </a:p>
          <a:p>
            <a:pPr>
              <a:lnSpc>
                <a:spcPct val="150000"/>
              </a:lnSpc>
            </a:pPr>
            <a:r>
              <a:rPr lang="en-US" sz="2400" dirty="0" smtClean="0"/>
              <a:t>num = </a:t>
            </a:r>
            <a:r>
              <a:rPr lang="en-US" sz="2400" dirty="0" err="1" smtClean="0"/>
              <a:t>int</a:t>
            </a:r>
            <a:r>
              <a:rPr lang="en-US" sz="2400" dirty="0" smtClean="0"/>
              <a:t>(input("Enter the number of employees : "))</a:t>
            </a:r>
          </a:p>
          <a:p>
            <a:pPr>
              <a:lnSpc>
                <a:spcPct val="150000"/>
              </a:lnSpc>
            </a:pPr>
            <a:r>
              <a:rPr lang="en-US" sz="2400" dirty="0" smtClean="0"/>
              <a:t>count=1</a:t>
            </a:r>
          </a:p>
          <a:p>
            <a:pPr>
              <a:lnSpc>
                <a:spcPct val="150000"/>
              </a:lnSpc>
            </a:pPr>
            <a:r>
              <a:rPr lang="en-US" sz="2400" dirty="0" smtClean="0"/>
              <a:t>employee = {} #create an empty dictionary</a:t>
            </a:r>
          </a:p>
          <a:p>
            <a:pPr>
              <a:lnSpc>
                <a:spcPct val="150000"/>
              </a:lnSpc>
            </a:pPr>
            <a:r>
              <a:rPr lang="en-US" sz="2400" dirty="0" smtClean="0"/>
              <a:t>while count &lt;= num:</a:t>
            </a:r>
          </a:p>
          <a:p>
            <a:pPr>
              <a:lnSpc>
                <a:spcPct val="150000"/>
              </a:lnSpc>
            </a:pPr>
            <a:r>
              <a:rPr lang="en-US" sz="2400" dirty="0" smtClean="0"/>
              <a:t> 	name = input("Enter the name of the Employee: ")</a:t>
            </a:r>
          </a:p>
          <a:p>
            <a:pPr>
              <a:lnSpc>
                <a:spcPct val="150000"/>
              </a:lnSpc>
            </a:pPr>
            <a:r>
              <a:rPr lang="en-US" sz="2400" dirty="0" smtClean="0"/>
              <a:t> 	salary = </a:t>
            </a:r>
            <a:r>
              <a:rPr lang="en-US" sz="2400" dirty="0" err="1" smtClean="0"/>
              <a:t>int</a:t>
            </a:r>
            <a:r>
              <a:rPr lang="en-US" sz="2400" dirty="0" smtClean="0"/>
              <a:t>(input("Enter the salary: "))</a:t>
            </a:r>
          </a:p>
          <a:p>
            <a:pPr>
              <a:lnSpc>
                <a:spcPct val="150000"/>
              </a:lnSpc>
            </a:pPr>
            <a:r>
              <a:rPr lang="en-US" sz="2400" dirty="0" smtClean="0"/>
              <a:t>	 employee[name] = salary</a:t>
            </a:r>
          </a:p>
          <a:p>
            <a:pPr>
              <a:lnSpc>
                <a:spcPct val="150000"/>
              </a:lnSpc>
            </a:pPr>
            <a:r>
              <a:rPr lang="en-US" sz="2400" dirty="0" smtClean="0"/>
              <a:t>              count=count+1</a:t>
            </a:r>
          </a:p>
          <a:p>
            <a:pPr>
              <a:lnSpc>
                <a:spcPct val="150000"/>
              </a:lnSpc>
            </a:pPr>
            <a:r>
              <a:rPr lang="en-US" sz="2400" dirty="0" smtClean="0"/>
              <a:t>print(employee) </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22500" y="276225"/>
            <a:ext cx="6005298" cy="646331"/>
          </a:xfrm>
          <a:prstGeom prst="rect">
            <a:avLst/>
          </a:prstGeom>
          <a:noFill/>
        </p:spPr>
        <p:txBody>
          <a:bodyPr wrap="none" rtlCol="0">
            <a:spAutoFit/>
          </a:bodyPr>
          <a:lstStyle/>
          <a:p>
            <a:r>
              <a:rPr lang="en-US" sz="3600" dirty="0" smtClean="0">
                <a:solidFill>
                  <a:srgbClr val="FF0000"/>
                </a:solidFill>
              </a:rPr>
              <a:t>Converting Lists into Dictionary</a:t>
            </a:r>
            <a:endParaRPr lang="en-US" sz="3600" dirty="0">
              <a:solidFill>
                <a:srgbClr val="FF0000"/>
              </a:solidFill>
            </a:endParaRPr>
          </a:p>
        </p:txBody>
      </p:sp>
      <p:sp>
        <p:nvSpPr>
          <p:cNvPr id="1025" name="Rectangle 1"/>
          <p:cNvSpPr>
            <a:spLocks noChangeArrowheads="1"/>
          </p:cNvSpPr>
          <p:nvPr/>
        </p:nvSpPr>
        <p:spPr bwMode="auto">
          <a:xfrm>
            <a:off x="165100" y="885825"/>
            <a:ext cx="3975100" cy="2862322"/>
          </a:xfrm>
          <a:prstGeom prst="rect">
            <a:avLst/>
          </a:prstGeom>
          <a:solidFill>
            <a:schemeClr val="bg1"/>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sz="2400" b="0" i="0" u="none" strike="noStrike" cap="none" normalizeH="0" baseline="0" dirty="0" smtClean="0">
                <a:ln>
                  <a:noFill/>
                </a:ln>
                <a:solidFill>
                  <a:srgbClr val="333333"/>
                </a:solidFill>
                <a:effectLst/>
                <a:cs typeface="Consolas" pitchFamily="49" charset="0"/>
              </a:rPr>
              <a:t>keys = ['Ten', 'Twenty', 'Thirty'] values = [10, 20, 30]</a:t>
            </a:r>
            <a:r>
              <a:rPr kumimoji="0" lang="en-US" sz="2400" b="0" i="0" u="none" strike="noStrike" cap="none" normalizeH="0" baseline="0" dirty="0" smtClean="0">
                <a:ln>
                  <a:noFill/>
                </a:ln>
                <a:solidFill>
                  <a:schemeClr val="tx1"/>
                </a:solidFill>
                <a:effectLst/>
                <a:cs typeface="Arial" pitchFamily="34" charset="0"/>
              </a:rPr>
              <a:t> </a:t>
            </a:r>
          </a:p>
          <a:p>
            <a:pPr marL="0" marR="0" lvl="0" indent="0" algn="l" defTabSz="914400" rtl="0" eaLnBrk="1" fontAlgn="base" latinLnBrk="0" hangingPunct="1">
              <a:lnSpc>
                <a:spcPct val="150000"/>
              </a:lnSpc>
              <a:spcBef>
                <a:spcPct val="0"/>
              </a:spcBef>
              <a:spcAft>
                <a:spcPct val="0"/>
              </a:spcAft>
              <a:buClrTx/>
              <a:buSzTx/>
              <a:buFontTx/>
              <a:buNone/>
              <a:tabLst/>
            </a:pPr>
            <a:r>
              <a:rPr lang="en-US" sz="2400" dirty="0" smtClean="0">
                <a:cs typeface="Arial" pitchFamily="34" charset="0"/>
              </a:rPr>
              <a:t>z= zip( keys, values)</a:t>
            </a:r>
          </a:p>
          <a:p>
            <a:pPr marL="0" marR="0" lvl="0" indent="0" algn="l" defTabSz="914400" rtl="0" eaLnBrk="1" fontAlgn="base" latinLnBrk="0" hangingPunct="1">
              <a:lnSpc>
                <a:spcPct val="150000"/>
              </a:lnSpc>
              <a:spcBef>
                <a:spcPct val="0"/>
              </a:spcBef>
              <a:spcAft>
                <a:spcPct val="0"/>
              </a:spcAft>
              <a:buClrTx/>
              <a:buSzTx/>
              <a:buFontTx/>
              <a:buNone/>
              <a:tabLst/>
            </a:pPr>
            <a:r>
              <a:rPr lang="en-US" sz="2400" dirty="0" smtClean="0">
                <a:cs typeface="Arial" pitchFamily="34" charset="0"/>
              </a:rPr>
              <a:t>d=dict(z)</a:t>
            </a:r>
          </a:p>
          <a:p>
            <a:pPr marL="0" marR="0" lvl="0" indent="0" algn="l" defTabSz="914400" rtl="0" eaLnBrk="1" fontAlgn="base" latinLnBrk="0" hangingPunct="1">
              <a:lnSpc>
                <a:spcPct val="150000"/>
              </a:lnSpc>
              <a:spcBef>
                <a:spcPct val="0"/>
              </a:spcBef>
              <a:spcAft>
                <a:spcPct val="0"/>
              </a:spcAft>
              <a:buClrTx/>
              <a:buSzTx/>
              <a:buFontTx/>
              <a:buNone/>
              <a:tabLst/>
            </a:pPr>
            <a:r>
              <a:rPr lang="en-US" sz="2400" dirty="0" smtClean="0">
                <a:cs typeface="Arial" pitchFamily="34" charset="0"/>
              </a:rPr>
              <a:t>p</a:t>
            </a:r>
            <a:r>
              <a:rPr kumimoji="0" lang="en-US" sz="2400" b="0" i="0" u="none" strike="noStrike" cap="none" normalizeH="0" baseline="0" dirty="0" smtClean="0">
                <a:ln>
                  <a:noFill/>
                </a:ln>
                <a:solidFill>
                  <a:schemeClr val="tx1"/>
                </a:solidFill>
                <a:effectLst/>
                <a:cs typeface="Arial" pitchFamily="34" charset="0"/>
              </a:rPr>
              <a:t>rint(d)</a:t>
            </a:r>
          </a:p>
        </p:txBody>
      </p:sp>
      <p:sp>
        <p:nvSpPr>
          <p:cNvPr id="1026" name="Rectangle 2"/>
          <p:cNvSpPr>
            <a:spLocks noChangeArrowheads="1"/>
          </p:cNvSpPr>
          <p:nvPr/>
        </p:nvSpPr>
        <p:spPr bwMode="auto">
          <a:xfrm>
            <a:off x="546100" y="3857625"/>
            <a:ext cx="9220200" cy="461665"/>
          </a:xfrm>
          <a:prstGeom prst="rect">
            <a:avLst/>
          </a:prstGeom>
          <a:solidFill>
            <a:schemeClr val="bg1"/>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2400" dirty="0" smtClean="0">
                <a:solidFill>
                  <a:srgbClr val="333333"/>
                </a:solidFill>
                <a:latin typeface="Consolas" pitchFamily="49" charset="0"/>
                <a:cs typeface="Consolas" pitchFamily="49" charset="0"/>
              </a:rPr>
              <a:t>Output: </a:t>
            </a:r>
            <a:r>
              <a:rPr kumimoji="0" lang="en-US" sz="2400" b="0" i="0" u="none" strike="noStrike" cap="none" normalizeH="0" baseline="0" dirty="0" smtClean="0">
                <a:ln>
                  <a:noFill/>
                </a:ln>
                <a:solidFill>
                  <a:srgbClr val="333333"/>
                </a:solidFill>
                <a:effectLst/>
                <a:latin typeface="Consolas" pitchFamily="49" charset="0"/>
                <a:cs typeface="Consolas" pitchFamily="49" charset="0"/>
              </a:rPr>
              <a:t>{'Ten': 10, 'Twenty': 20, 'Thirty': 30}</a:t>
            </a:r>
            <a:r>
              <a:rPr kumimoji="0" lang="en-US" sz="2400" b="0" i="0" u="none" strike="noStrike" cap="none" normalizeH="0" baseline="0" dirty="0" smtClean="0">
                <a:ln>
                  <a:noFill/>
                </a:ln>
                <a:solidFill>
                  <a:schemeClr val="tx1"/>
                </a:solidFill>
                <a:effectLst/>
                <a:latin typeface="Arial" pitchFamily="34" charset="0"/>
                <a:cs typeface="Arial" pitchFamily="34" charset="0"/>
              </a:rPr>
              <a:t> </a:t>
            </a:r>
          </a:p>
        </p:txBody>
      </p:sp>
      <p:sp>
        <p:nvSpPr>
          <p:cNvPr id="1027" name="Rectangle 3"/>
          <p:cNvSpPr>
            <a:spLocks noChangeArrowheads="1"/>
          </p:cNvSpPr>
          <p:nvPr/>
        </p:nvSpPr>
        <p:spPr bwMode="auto">
          <a:xfrm>
            <a:off x="0" y="5305425"/>
            <a:ext cx="10375900" cy="954107"/>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rgbClr val="222222"/>
                </a:solidFill>
                <a:effectLst/>
                <a:cs typeface="Arial" pitchFamily="34" charset="0"/>
              </a:rPr>
              <a:t>Python’s zip() function creates an </a:t>
            </a:r>
            <a:r>
              <a:rPr kumimoji="0" lang="en-US" sz="2800" b="0" i="0" u="none" strike="noStrike" cap="none" normalizeH="0" baseline="0" dirty="0" err="1" smtClean="0">
                <a:ln>
                  <a:noFill/>
                </a:ln>
                <a:solidFill>
                  <a:srgbClr val="222222"/>
                </a:solidFill>
                <a:effectLst/>
                <a:cs typeface="Arial" pitchFamily="34" charset="0"/>
              </a:rPr>
              <a:t>iterator</a:t>
            </a:r>
            <a:r>
              <a:rPr kumimoji="0" lang="en-US" sz="2800" b="0" i="0" u="none" strike="noStrike" cap="none" normalizeH="0" baseline="0" dirty="0" smtClean="0">
                <a:ln>
                  <a:noFill/>
                </a:ln>
                <a:solidFill>
                  <a:srgbClr val="222222"/>
                </a:solidFill>
                <a:effectLst/>
                <a:cs typeface="Arial" pitchFamily="34" charset="0"/>
              </a:rPr>
              <a:t> that will aggregate elements from two or more </a:t>
            </a:r>
            <a:r>
              <a:rPr kumimoji="0" lang="en-US" sz="2800" b="0" i="0" u="none" strike="noStrike" cap="none" normalizeH="0" baseline="0" dirty="0" err="1" smtClean="0">
                <a:ln>
                  <a:noFill/>
                </a:ln>
                <a:solidFill>
                  <a:srgbClr val="222222"/>
                </a:solidFill>
                <a:effectLst/>
                <a:cs typeface="Arial" pitchFamily="34" charset="0"/>
              </a:rPr>
              <a:t>iterables</a:t>
            </a:r>
            <a:r>
              <a:rPr kumimoji="0" lang="en-US" sz="2800" b="0" i="0" u="none" strike="noStrike" cap="none" normalizeH="0" baseline="0" dirty="0" smtClean="0">
                <a:ln>
                  <a:noFill/>
                </a:ln>
                <a:solidFill>
                  <a:srgbClr val="222222"/>
                </a:solidFill>
                <a:effectLst/>
                <a:cs typeface="Arial" pitchFamily="34" charset="0"/>
              </a:rPr>
              <a:t>.</a:t>
            </a:r>
            <a:r>
              <a:rPr kumimoji="0" lang="en-US" sz="2800" b="0" i="0" u="none" strike="noStrike" cap="none" normalizeH="0" baseline="0" dirty="0" smtClean="0">
                <a:ln>
                  <a:noFill/>
                </a:ln>
                <a:solidFill>
                  <a:schemeClr val="tx1"/>
                </a:solidFill>
                <a:effectLst/>
                <a:cs typeface="Arial" pitchFamily="34" charset="0"/>
              </a:rPr>
              <a:t>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060700" y="428625"/>
            <a:ext cx="3928511" cy="523220"/>
          </a:xfrm>
          <a:prstGeom prst="rect">
            <a:avLst/>
          </a:prstGeom>
        </p:spPr>
        <p:txBody>
          <a:bodyPr wrap="none">
            <a:spAutoFit/>
          </a:bodyPr>
          <a:lstStyle/>
          <a:p>
            <a:pPr lvl="0" fontAlgn="base">
              <a:spcBef>
                <a:spcPct val="0"/>
              </a:spcBef>
              <a:spcAft>
                <a:spcPct val="0"/>
              </a:spcAft>
            </a:pPr>
            <a:r>
              <a:rPr lang="en-US" sz="2800" dirty="0" smtClean="0">
                <a:solidFill>
                  <a:srgbClr val="FF0000"/>
                </a:solidFill>
                <a:cs typeface="Open Sans" pitchFamily="34" charset="0"/>
              </a:rPr>
              <a:t>Rename key  in dictionary</a:t>
            </a:r>
          </a:p>
        </p:txBody>
      </p:sp>
      <p:sp>
        <p:nvSpPr>
          <p:cNvPr id="7" name="TextBox 6"/>
          <p:cNvSpPr txBox="1"/>
          <p:nvPr/>
        </p:nvSpPr>
        <p:spPr>
          <a:xfrm>
            <a:off x="1003300" y="1266825"/>
            <a:ext cx="3886200" cy="2677656"/>
          </a:xfrm>
          <a:prstGeom prst="rect">
            <a:avLst/>
          </a:prstGeom>
          <a:noFill/>
          <a:ln>
            <a:solidFill>
              <a:srgbClr val="C00000"/>
            </a:solidFill>
          </a:ln>
        </p:spPr>
        <p:txBody>
          <a:bodyPr wrap="square" rtlCol="0">
            <a:spAutoFit/>
          </a:bodyPr>
          <a:lstStyle/>
          <a:p>
            <a:r>
              <a:rPr lang="en-US" sz="2800" dirty="0" smtClean="0"/>
              <a:t>d= {</a:t>
            </a:r>
          </a:p>
          <a:p>
            <a:r>
              <a:rPr lang="en-US" sz="2800" dirty="0" smtClean="0"/>
              <a:t>  “name” : “Kelly”,</a:t>
            </a:r>
          </a:p>
          <a:p>
            <a:r>
              <a:rPr lang="en-US" sz="2800" dirty="0" smtClean="0"/>
              <a:t>  “age” : 25,</a:t>
            </a:r>
          </a:p>
          <a:p>
            <a:r>
              <a:rPr lang="en-US" sz="2800" dirty="0" smtClean="0"/>
              <a:t>  “salary”: 8000,</a:t>
            </a:r>
          </a:p>
          <a:p>
            <a:r>
              <a:rPr lang="en-US" sz="2800" dirty="0" smtClean="0"/>
              <a:t>  “city”: ”New York”</a:t>
            </a:r>
          </a:p>
          <a:p>
            <a:r>
              <a:rPr lang="en-US" sz="2800" dirty="0" smtClean="0"/>
              <a:t>}</a:t>
            </a:r>
            <a:endParaRPr lang="en-US" sz="2800" dirty="0"/>
          </a:p>
        </p:txBody>
      </p:sp>
      <p:sp>
        <p:nvSpPr>
          <p:cNvPr id="8" name="TextBox 7"/>
          <p:cNvSpPr txBox="1"/>
          <p:nvPr/>
        </p:nvSpPr>
        <p:spPr>
          <a:xfrm>
            <a:off x="5803900" y="1190625"/>
            <a:ext cx="3886200" cy="2677656"/>
          </a:xfrm>
          <a:prstGeom prst="rect">
            <a:avLst/>
          </a:prstGeom>
          <a:noFill/>
          <a:ln>
            <a:solidFill>
              <a:srgbClr val="00B050"/>
            </a:solidFill>
          </a:ln>
        </p:spPr>
        <p:txBody>
          <a:bodyPr wrap="square" rtlCol="0">
            <a:spAutoFit/>
          </a:bodyPr>
          <a:lstStyle/>
          <a:p>
            <a:r>
              <a:rPr lang="en-US" sz="2800" dirty="0" smtClean="0"/>
              <a:t>d= {</a:t>
            </a:r>
          </a:p>
          <a:p>
            <a:r>
              <a:rPr lang="en-US" sz="2800" dirty="0" smtClean="0"/>
              <a:t>  “name” : “Kelly”,</a:t>
            </a:r>
          </a:p>
          <a:p>
            <a:r>
              <a:rPr lang="en-US" sz="2800" dirty="0" smtClean="0"/>
              <a:t>  “age” : 25,</a:t>
            </a:r>
          </a:p>
          <a:p>
            <a:r>
              <a:rPr lang="en-US" sz="2800" dirty="0" smtClean="0"/>
              <a:t>  “salary”: 8000,</a:t>
            </a:r>
          </a:p>
          <a:p>
            <a:r>
              <a:rPr lang="en-US" sz="2800" dirty="0" smtClean="0"/>
              <a:t>  “location”: ”New York”</a:t>
            </a:r>
          </a:p>
          <a:p>
            <a:r>
              <a:rPr lang="en-US" sz="2800" dirty="0" smtClean="0"/>
              <a:t>}</a:t>
            </a:r>
            <a:endParaRPr lang="en-US" sz="2800" dirty="0"/>
          </a:p>
        </p:txBody>
      </p:sp>
      <p:cxnSp>
        <p:nvCxnSpPr>
          <p:cNvPr id="10" name="Straight Arrow Connector 9"/>
          <p:cNvCxnSpPr/>
          <p:nvPr/>
        </p:nvCxnSpPr>
        <p:spPr>
          <a:xfrm>
            <a:off x="4889500" y="2333625"/>
            <a:ext cx="9906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698500" y="4848225"/>
            <a:ext cx="6096000" cy="954107"/>
          </a:xfrm>
          <a:prstGeom prst="rect">
            <a:avLst/>
          </a:prstGeom>
          <a:solidFill>
            <a:schemeClr val="bg1"/>
          </a:solidFill>
        </p:spPr>
        <p:txBody>
          <a:bodyPr wrap="square">
            <a:spAutoFit/>
          </a:bodyPr>
          <a:lstStyle/>
          <a:p>
            <a:r>
              <a:rPr lang="en-US" sz="2800" dirty="0" smtClean="0"/>
              <a:t>d['location'] = d.pop('city')</a:t>
            </a:r>
          </a:p>
          <a:p>
            <a:r>
              <a:rPr lang="en-US" sz="2800" dirty="0" smtClean="0"/>
              <a:t>print(d)</a:t>
            </a:r>
            <a:endParaRPr lang="en-US" sz="2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74900" y="200025"/>
            <a:ext cx="5882893" cy="584775"/>
          </a:xfrm>
          <a:prstGeom prst="rect">
            <a:avLst/>
          </a:prstGeom>
          <a:noFill/>
        </p:spPr>
        <p:txBody>
          <a:bodyPr wrap="none" rtlCol="0">
            <a:spAutoFit/>
          </a:bodyPr>
          <a:lstStyle/>
          <a:p>
            <a:r>
              <a:rPr lang="en-US" sz="3200" dirty="0" smtClean="0">
                <a:solidFill>
                  <a:srgbClr val="FF0000"/>
                </a:solidFill>
              </a:rPr>
              <a:t>Converting a string into Dictionary</a:t>
            </a:r>
            <a:endParaRPr lang="en-US" sz="3200" dirty="0">
              <a:solidFill>
                <a:srgbClr val="FF0000"/>
              </a:solidFill>
            </a:endParaRPr>
          </a:p>
        </p:txBody>
      </p:sp>
      <p:sp>
        <p:nvSpPr>
          <p:cNvPr id="5" name="TextBox 4"/>
          <p:cNvSpPr txBox="1"/>
          <p:nvPr/>
        </p:nvSpPr>
        <p:spPr>
          <a:xfrm>
            <a:off x="1155700" y="1876425"/>
            <a:ext cx="6781800" cy="3539430"/>
          </a:xfrm>
          <a:prstGeom prst="rect">
            <a:avLst/>
          </a:prstGeom>
          <a:noFill/>
        </p:spPr>
        <p:txBody>
          <a:bodyPr wrap="square" rtlCol="0">
            <a:spAutoFit/>
          </a:bodyPr>
          <a:lstStyle/>
          <a:p>
            <a:r>
              <a:rPr lang="en-US" sz="2800" dirty="0" err="1" smtClean="0"/>
              <a:t>str</a:t>
            </a:r>
            <a:r>
              <a:rPr lang="en-US" sz="2800" dirty="0" smtClean="0"/>
              <a:t> ="a=23, b=32, c=56, d=23"</a:t>
            </a:r>
          </a:p>
          <a:p>
            <a:r>
              <a:rPr lang="en-US" sz="2800" dirty="0" smtClean="0"/>
              <a:t>z=[]</a:t>
            </a:r>
          </a:p>
          <a:p>
            <a:r>
              <a:rPr lang="en-US" sz="2800" dirty="0" smtClean="0"/>
              <a:t>for   x  in  </a:t>
            </a:r>
            <a:r>
              <a:rPr lang="en-US" sz="2800" dirty="0" err="1" smtClean="0"/>
              <a:t>str.split</a:t>
            </a:r>
            <a:r>
              <a:rPr lang="en-US" sz="2800" dirty="0" smtClean="0"/>
              <a:t>(‘, '):</a:t>
            </a:r>
          </a:p>
          <a:p>
            <a:r>
              <a:rPr lang="en-US" sz="2800" dirty="0" smtClean="0"/>
              <a:t>        y=</a:t>
            </a:r>
            <a:r>
              <a:rPr lang="en-US" sz="2800" dirty="0" err="1" smtClean="0"/>
              <a:t>x.split</a:t>
            </a:r>
            <a:r>
              <a:rPr lang="en-US" sz="2800" dirty="0" smtClean="0"/>
              <a:t>('=')</a:t>
            </a:r>
          </a:p>
          <a:p>
            <a:r>
              <a:rPr lang="en-US" sz="2800" dirty="0" smtClean="0"/>
              <a:t>        </a:t>
            </a:r>
            <a:r>
              <a:rPr lang="en-US" sz="2800" dirty="0" err="1" smtClean="0"/>
              <a:t>z.append</a:t>
            </a:r>
            <a:r>
              <a:rPr lang="en-US" sz="2800" dirty="0" smtClean="0"/>
              <a:t>(y)</a:t>
            </a:r>
          </a:p>
          <a:p>
            <a:r>
              <a:rPr lang="en-US" sz="2800" dirty="0" smtClean="0"/>
              <a:t>d=dict(z)</a:t>
            </a:r>
          </a:p>
          <a:p>
            <a:r>
              <a:rPr lang="en-US" sz="2800" dirty="0" smtClean="0"/>
              <a:t>print(d)</a:t>
            </a:r>
          </a:p>
          <a:p>
            <a:r>
              <a:rPr lang="en-US" sz="2800" dirty="0" smtClean="0"/>
              <a:t>Output:  {'a': '23', 'b': '32', 'c': '56', 'd': '23'}</a:t>
            </a:r>
            <a:endParaRPr lang="en-US" sz="2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1"/>
          <p:cNvSpPr>
            <a:spLocks noChangeArrowheads="1"/>
          </p:cNvSpPr>
          <p:nvPr/>
        </p:nvSpPr>
        <p:spPr bwMode="auto">
          <a:xfrm>
            <a:off x="622300" y="2105025"/>
            <a:ext cx="4584700" cy="937374"/>
          </a:xfrm>
          <a:prstGeom prst="rect">
            <a:avLst/>
          </a:prstGeom>
          <a:solidFill>
            <a:schemeClr val="bg1"/>
          </a:solidFill>
          <a:ln w="9525">
            <a:solidFill>
              <a:schemeClr val="bg1"/>
            </a:solidFill>
            <a:miter lim="800000"/>
            <a:headEnd/>
            <a:tailEnd/>
          </a:ln>
          <a:effectLst/>
        </p:spPr>
        <p:txBody>
          <a:bodyPr vert="horz" wrap="square" lIns="0" tIns="98394" rIns="0" bIns="98394"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323232"/>
                </a:solidFill>
                <a:effectLst/>
                <a:latin typeface="Courier New" pitchFamily="49" charset="0"/>
                <a:cs typeface="Courier New" pitchFamily="49" charset="0"/>
              </a:rPr>
              <a:t>keys = ['a', 'b', 'c']</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323232"/>
                </a:solidFill>
                <a:effectLst/>
                <a:latin typeface="Courier New" pitchFamily="49" charset="0"/>
                <a:cs typeface="Courier New" pitchFamily="49" charset="0"/>
              </a:rPr>
              <a:t>values = [1, 2, 3]</a:t>
            </a:r>
            <a:r>
              <a:rPr kumimoji="0" lang="en-US" sz="2400" b="0" i="0" u="none" strike="noStrike" cap="none" normalizeH="0" baseline="0" dirty="0" smtClean="0">
                <a:ln>
                  <a:noFill/>
                </a:ln>
                <a:solidFill>
                  <a:schemeClr val="tx1"/>
                </a:solidFill>
                <a:effectLst/>
                <a:latin typeface="Arial" pitchFamily="34" charset="0"/>
                <a:cs typeface="Arial" pitchFamily="34" charset="0"/>
              </a:rPr>
              <a:t> </a:t>
            </a:r>
          </a:p>
        </p:txBody>
      </p:sp>
      <p:sp>
        <p:nvSpPr>
          <p:cNvPr id="5" name="Rectangle 4"/>
          <p:cNvSpPr/>
          <p:nvPr/>
        </p:nvSpPr>
        <p:spPr>
          <a:xfrm>
            <a:off x="2298700" y="200025"/>
            <a:ext cx="5182188" cy="646331"/>
          </a:xfrm>
          <a:prstGeom prst="rect">
            <a:avLst/>
          </a:prstGeom>
        </p:spPr>
        <p:txBody>
          <a:bodyPr wrap="none">
            <a:spAutoFit/>
          </a:bodyPr>
          <a:lstStyle/>
          <a:p>
            <a:r>
              <a:rPr lang="en-US" sz="3600" dirty="0" smtClean="0">
                <a:solidFill>
                  <a:srgbClr val="FF0000"/>
                </a:solidFill>
              </a:rPr>
              <a:t>Dictionary Comprehension</a:t>
            </a:r>
            <a:endParaRPr lang="en-US" sz="3600" dirty="0">
              <a:solidFill>
                <a:srgbClr val="FF0000"/>
              </a:solidFill>
            </a:endParaRPr>
          </a:p>
        </p:txBody>
      </p:sp>
      <p:sp>
        <p:nvSpPr>
          <p:cNvPr id="56322" name="Rectangle 2"/>
          <p:cNvSpPr>
            <a:spLocks noChangeArrowheads="1"/>
          </p:cNvSpPr>
          <p:nvPr/>
        </p:nvSpPr>
        <p:spPr bwMode="auto">
          <a:xfrm>
            <a:off x="317500" y="3063359"/>
            <a:ext cx="9982200" cy="1676037"/>
          </a:xfrm>
          <a:prstGeom prst="rect">
            <a:avLst/>
          </a:prstGeom>
          <a:solidFill>
            <a:schemeClr val="bg1"/>
          </a:solidFill>
          <a:ln w="9525">
            <a:solidFill>
              <a:schemeClr val="bg1"/>
            </a:solidFill>
            <a:miter lim="800000"/>
            <a:headEnd/>
            <a:tailEnd/>
          </a:ln>
          <a:effectLst/>
        </p:spPr>
        <p:txBody>
          <a:bodyPr vert="horz" wrap="square" lIns="0" tIns="98394" rIns="0" bIns="98394"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323232"/>
                </a:solidFill>
                <a:effectLst/>
                <a:latin typeface="Courier New" pitchFamily="49" charset="0"/>
                <a:cs typeface="Courier New" pitchFamily="49" charset="0"/>
              </a:rPr>
              <a:t>  </a:t>
            </a:r>
            <a:r>
              <a:rPr kumimoji="0" lang="en-US" sz="2400" b="0" i="0" u="none" strike="noStrike" cap="none" normalizeH="0" baseline="0" dirty="0" smtClean="0">
                <a:ln>
                  <a:noFill/>
                </a:ln>
                <a:solidFill>
                  <a:srgbClr val="323232"/>
                </a:solidFill>
                <a:effectLst/>
                <a:latin typeface="Courier New" pitchFamily="49" charset="0"/>
                <a:cs typeface="Courier New" pitchFamily="49" charset="0"/>
              </a:rPr>
              <a:t>D = { k:v for (</a:t>
            </a:r>
            <a:r>
              <a:rPr kumimoji="0" lang="en-US" sz="2400" b="0" i="0" u="none" strike="noStrike" cap="none" normalizeH="0" baseline="0" dirty="0" err="1" smtClean="0">
                <a:ln>
                  <a:noFill/>
                </a:ln>
                <a:solidFill>
                  <a:srgbClr val="323232"/>
                </a:solidFill>
                <a:effectLst/>
                <a:latin typeface="Courier New" pitchFamily="49" charset="0"/>
                <a:cs typeface="Courier New" pitchFamily="49" charset="0"/>
              </a:rPr>
              <a:t>k,v</a:t>
            </a:r>
            <a:r>
              <a:rPr kumimoji="0" lang="en-US" sz="2400" b="0" i="0" u="none" strike="noStrike" cap="none" normalizeH="0" baseline="0" dirty="0" smtClean="0">
                <a:ln>
                  <a:noFill/>
                </a:ln>
                <a:solidFill>
                  <a:srgbClr val="323232"/>
                </a:solidFill>
                <a:effectLst/>
                <a:latin typeface="Courier New" pitchFamily="49" charset="0"/>
                <a:cs typeface="Courier New" pitchFamily="49" charset="0"/>
              </a:rPr>
              <a:t>) in zip(keys, values)}</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323232"/>
                </a:solidFill>
                <a:effectLst/>
                <a:latin typeface="Courier New" pitchFamily="49" charset="0"/>
                <a:cs typeface="Courier New" pitchFamily="49" charset="0"/>
              </a:rPr>
              <a:t> print(D)</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rgbClr val="323232"/>
              </a:solidFill>
              <a:effectLst/>
              <a:latin typeface="Courier New" pitchFamily="49" charset="0"/>
              <a:cs typeface="Courier New"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r>
              <a:rPr lang="en-US" sz="2400" dirty="0" smtClean="0">
                <a:solidFill>
                  <a:srgbClr val="323232"/>
                </a:solidFill>
                <a:latin typeface="Courier New" pitchFamily="49" charset="0"/>
                <a:cs typeface="Courier New" pitchFamily="49" charset="0"/>
              </a:rPr>
              <a:t> Output </a:t>
            </a:r>
            <a:r>
              <a:rPr kumimoji="0" lang="en-US" sz="2400" b="0" i="0" u="none" strike="noStrike" cap="none" normalizeH="0" baseline="0" dirty="0" smtClean="0">
                <a:ln>
                  <a:noFill/>
                </a:ln>
                <a:solidFill>
                  <a:srgbClr val="323232"/>
                </a:solidFill>
                <a:effectLst/>
                <a:latin typeface="Courier New" pitchFamily="49" charset="0"/>
                <a:cs typeface="Courier New" pitchFamily="49" charset="0"/>
              </a:rPr>
              <a:t>{'a': 1, 'b': 2, 'c': 3}</a:t>
            </a:r>
            <a:r>
              <a:rPr kumimoji="0" lang="en-US" sz="2400" b="0" i="0" u="none" strike="noStrike" cap="none" normalizeH="0" baseline="0" dirty="0" smtClean="0">
                <a:ln>
                  <a:noFill/>
                </a:ln>
                <a:solidFill>
                  <a:schemeClr val="tx1"/>
                </a:solidFill>
                <a:effectLst/>
                <a:latin typeface="Arial" pitchFamily="34" charset="0"/>
                <a:cs typeface="Arial" pitchFamily="34" charset="0"/>
              </a:rPr>
              <a:t>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Rectangle 4"/>
          <p:cNvSpPr/>
          <p:nvPr/>
        </p:nvSpPr>
        <p:spPr>
          <a:xfrm>
            <a:off x="317500" y="1266825"/>
            <a:ext cx="10210800" cy="3046988"/>
          </a:xfrm>
          <a:prstGeom prst="rect">
            <a:avLst/>
          </a:prstGeom>
        </p:spPr>
        <p:txBody>
          <a:bodyPr wrap="square">
            <a:spAutoFit/>
          </a:bodyPr>
          <a:lstStyle/>
          <a:p>
            <a:pPr lvl="0" fontAlgn="base">
              <a:spcBef>
                <a:spcPct val="0"/>
              </a:spcBef>
              <a:spcAft>
                <a:spcPct val="0"/>
              </a:spcAft>
            </a:pPr>
            <a:r>
              <a:rPr lang="en-US" sz="2400" dirty="0" smtClean="0">
                <a:solidFill>
                  <a:srgbClr val="467790"/>
                </a:solidFill>
                <a:cs typeface="Arial" pitchFamily="34" charset="0"/>
              </a:rPr>
              <a:t># Temperatures in </a:t>
            </a:r>
            <a:r>
              <a:rPr lang="en-US" sz="2400" dirty="0" err="1" smtClean="0">
                <a:solidFill>
                  <a:srgbClr val="467790"/>
                </a:solidFill>
                <a:cs typeface="Arial" pitchFamily="34" charset="0"/>
              </a:rPr>
              <a:t>Celcius</a:t>
            </a:r>
            <a:endParaRPr lang="en-US" sz="2400" dirty="0" smtClean="0">
              <a:cs typeface="Arial" pitchFamily="34" charset="0"/>
            </a:endParaRPr>
          </a:p>
          <a:p>
            <a:pPr lvl="0" eaLnBrk="0" fontAlgn="base" hangingPunct="0">
              <a:spcBef>
                <a:spcPct val="0"/>
              </a:spcBef>
              <a:spcAft>
                <a:spcPct val="0"/>
              </a:spcAft>
            </a:pPr>
            <a:r>
              <a:rPr lang="en-US" sz="2400" dirty="0" err="1" smtClean="0">
                <a:solidFill>
                  <a:srgbClr val="2A2A2A"/>
                </a:solidFill>
                <a:cs typeface="Arial" pitchFamily="34" charset="0"/>
              </a:rPr>
              <a:t>celcius</a:t>
            </a:r>
            <a:r>
              <a:rPr lang="en-US" sz="2400" dirty="0" smtClean="0">
                <a:solidFill>
                  <a:srgbClr val="2A2A2A"/>
                </a:solidFill>
                <a:cs typeface="Arial" pitchFamily="34" charset="0"/>
              </a:rPr>
              <a:t> </a:t>
            </a:r>
            <a:r>
              <a:rPr lang="en-US" sz="2400" b="1" dirty="0" smtClean="0">
                <a:solidFill>
                  <a:srgbClr val="651FFF"/>
                </a:solidFill>
                <a:cs typeface="Arial" pitchFamily="34" charset="0"/>
              </a:rPr>
              <a:t>=</a:t>
            </a:r>
            <a:r>
              <a:rPr lang="en-US" sz="2400" dirty="0" smtClean="0">
                <a:solidFill>
                  <a:srgbClr val="000000"/>
                </a:solidFill>
                <a:cs typeface="Arial" pitchFamily="34" charset="0"/>
              </a:rPr>
              <a:t> </a:t>
            </a:r>
            <a:r>
              <a:rPr lang="en-US" sz="2400" dirty="0" smtClean="0">
                <a:solidFill>
                  <a:srgbClr val="2A2A2A"/>
                </a:solidFill>
                <a:cs typeface="Arial" pitchFamily="34" charset="0"/>
              </a:rPr>
              <a:t>{</a:t>
            </a:r>
            <a:r>
              <a:rPr lang="en-US" sz="2400" dirty="0" smtClean="0">
                <a:solidFill>
                  <a:srgbClr val="3D5AFE"/>
                </a:solidFill>
                <a:cs typeface="Arial" pitchFamily="34" charset="0"/>
              </a:rPr>
              <a:t>"Mumbai“ </a:t>
            </a:r>
            <a:r>
              <a:rPr lang="en-US" sz="2400" dirty="0" smtClean="0">
                <a:solidFill>
                  <a:srgbClr val="2A2A2A"/>
                </a:solidFill>
                <a:cs typeface="Arial" pitchFamily="34" charset="0"/>
              </a:rPr>
              <a:t>: </a:t>
            </a:r>
            <a:r>
              <a:rPr lang="en-US" sz="2400" dirty="0" smtClean="0">
                <a:solidFill>
                  <a:srgbClr val="BF00B8"/>
                </a:solidFill>
                <a:cs typeface="Arial" pitchFamily="34" charset="0"/>
              </a:rPr>
              <a:t>36.5</a:t>
            </a:r>
            <a:r>
              <a:rPr lang="en-US" sz="2400" dirty="0" smtClean="0">
                <a:solidFill>
                  <a:srgbClr val="2A2A2A"/>
                </a:solidFill>
                <a:cs typeface="Arial" pitchFamily="34" charset="0"/>
              </a:rPr>
              <a:t>, </a:t>
            </a:r>
            <a:r>
              <a:rPr lang="en-US" sz="2400" dirty="0" smtClean="0">
                <a:solidFill>
                  <a:srgbClr val="3D5AFE"/>
                </a:solidFill>
                <a:cs typeface="Arial" pitchFamily="34" charset="0"/>
              </a:rPr>
              <a:t>"Delhi“ </a:t>
            </a:r>
            <a:r>
              <a:rPr lang="en-US" sz="2400" dirty="0" smtClean="0">
                <a:solidFill>
                  <a:srgbClr val="2A2A2A"/>
                </a:solidFill>
                <a:cs typeface="Arial" pitchFamily="34" charset="0"/>
              </a:rPr>
              <a:t>: </a:t>
            </a:r>
            <a:r>
              <a:rPr lang="en-US" sz="2400" dirty="0" smtClean="0">
                <a:solidFill>
                  <a:srgbClr val="BF00B8"/>
                </a:solidFill>
                <a:cs typeface="Arial" pitchFamily="34" charset="0"/>
              </a:rPr>
              <a:t>27.6</a:t>
            </a:r>
            <a:r>
              <a:rPr lang="en-US" sz="2400" dirty="0" smtClean="0">
                <a:solidFill>
                  <a:srgbClr val="2A2A2A"/>
                </a:solidFill>
                <a:cs typeface="Arial" pitchFamily="34" charset="0"/>
              </a:rPr>
              <a:t>, </a:t>
            </a:r>
            <a:r>
              <a:rPr lang="en-US" sz="2400" dirty="0" smtClean="0">
                <a:solidFill>
                  <a:srgbClr val="3D5AFE"/>
                </a:solidFill>
                <a:cs typeface="Arial" pitchFamily="34" charset="0"/>
              </a:rPr>
              <a:t>"Bangalore“ </a:t>
            </a:r>
            <a:r>
              <a:rPr lang="en-US" sz="2400" dirty="0" smtClean="0">
                <a:solidFill>
                  <a:srgbClr val="2A2A2A"/>
                </a:solidFill>
                <a:cs typeface="Arial" pitchFamily="34" charset="0"/>
              </a:rPr>
              <a:t>: </a:t>
            </a:r>
            <a:r>
              <a:rPr lang="en-US" sz="2400" dirty="0" smtClean="0">
                <a:solidFill>
                  <a:srgbClr val="BF00B8"/>
                </a:solidFill>
                <a:cs typeface="Arial" pitchFamily="34" charset="0"/>
              </a:rPr>
              <a:t>32.1</a:t>
            </a:r>
            <a:r>
              <a:rPr lang="en-US" sz="2400" dirty="0" smtClean="0">
                <a:solidFill>
                  <a:srgbClr val="2A2A2A"/>
                </a:solidFill>
                <a:cs typeface="Arial" pitchFamily="34" charset="0"/>
              </a:rPr>
              <a:t>, </a:t>
            </a:r>
            <a:r>
              <a:rPr lang="en-US" sz="2400" dirty="0" smtClean="0">
                <a:solidFill>
                  <a:srgbClr val="3D5AFE"/>
                </a:solidFill>
                <a:cs typeface="Arial" pitchFamily="34" charset="0"/>
              </a:rPr>
              <a:t>"Sholapur“ </a:t>
            </a:r>
            <a:r>
              <a:rPr lang="en-US" sz="2400" dirty="0" smtClean="0">
                <a:solidFill>
                  <a:srgbClr val="2A2A2A"/>
                </a:solidFill>
                <a:cs typeface="Arial" pitchFamily="34" charset="0"/>
              </a:rPr>
              <a:t>: </a:t>
            </a:r>
            <a:r>
              <a:rPr lang="en-US" sz="2400" dirty="0" smtClean="0">
                <a:solidFill>
                  <a:srgbClr val="BF00B8"/>
                </a:solidFill>
                <a:cs typeface="Arial" pitchFamily="34" charset="0"/>
              </a:rPr>
              <a:t>40.4</a:t>
            </a:r>
            <a:r>
              <a:rPr lang="en-US" sz="2400" dirty="0" smtClean="0">
                <a:solidFill>
                  <a:srgbClr val="2A2A2A"/>
                </a:solidFill>
                <a:cs typeface="Arial" pitchFamily="34" charset="0"/>
              </a:rPr>
              <a:t>}</a:t>
            </a:r>
            <a:endParaRPr lang="en-US" sz="2400" dirty="0" smtClean="0">
              <a:cs typeface="Arial" pitchFamily="34" charset="0"/>
            </a:endParaRPr>
          </a:p>
          <a:p>
            <a:pPr lvl="0" eaLnBrk="0" fontAlgn="base" hangingPunct="0">
              <a:spcBef>
                <a:spcPct val="0"/>
              </a:spcBef>
              <a:spcAft>
                <a:spcPct val="0"/>
              </a:spcAft>
            </a:pPr>
            <a:r>
              <a:rPr lang="en-US" sz="2400" dirty="0" smtClean="0">
                <a:solidFill>
                  <a:srgbClr val="000000"/>
                </a:solidFill>
                <a:cs typeface="Arial" pitchFamily="34" charset="0"/>
              </a:rPr>
              <a:t> </a:t>
            </a:r>
            <a:endParaRPr lang="en-US" sz="2400" dirty="0" smtClean="0">
              <a:cs typeface="Arial" pitchFamily="34" charset="0"/>
            </a:endParaRPr>
          </a:p>
          <a:p>
            <a:pPr lvl="0" eaLnBrk="0" fontAlgn="base" hangingPunct="0">
              <a:spcBef>
                <a:spcPct val="0"/>
              </a:spcBef>
              <a:spcAft>
                <a:spcPct val="0"/>
              </a:spcAft>
            </a:pPr>
            <a:r>
              <a:rPr lang="en-US" sz="2400" dirty="0" smtClean="0">
                <a:solidFill>
                  <a:srgbClr val="467790"/>
                </a:solidFill>
                <a:cs typeface="Arial" pitchFamily="34" charset="0"/>
              </a:rPr>
              <a:t># Temperature in Fahrenheit</a:t>
            </a:r>
            <a:endParaRPr lang="en-US" sz="2400" dirty="0" smtClean="0">
              <a:cs typeface="Arial" pitchFamily="34" charset="0"/>
            </a:endParaRPr>
          </a:p>
          <a:p>
            <a:pPr lvl="0" eaLnBrk="0" fontAlgn="base" hangingPunct="0">
              <a:spcBef>
                <a:spcPct val="0"/>
              </a:spcBef>
              <a:spcAft>
                <a:spcPct val="0"/>
              </a:spcAft>
            </a:pPr>
            <a:r>
              <a:rPr lang="en-US" sz="2400" dirty="0" err="1" smtClean="0">
                <a:solidFill>
                  <a:srgbClr val="2A2A2A"/>
                </a:solidFill>
                <a:cs typeface="Arial" pitchFamily="34" charset="0"/>
              </a:rPr>
              <a:t>fahrenheit</a:t>
            </a:r>
            <a:r>
              <a:rPr lang="en-US" sz="2400" dirty="0" smtClean="0">
                <a:solidFill>
                  <a:srgbClr val="2A2A2A"/>
                </a:solidFill>
                <a:cs typeface="Arial" pitchFamily="34" charset="0"/>
              </a:rPr>
              <a:t> </a:t>
            </a:r>
            <a:r>
              <a:rPr lang="en-US" sz="2400" b="1" dirty="0" smtClean="0">
                <a:solidFill>
                  <a:srgbClr val="651FFF"/>
                </a:solidFill>
                <a:cs typeface="Arial" pitchFamily="34" charset="0"/>
              </a:rPr>
              <a:t>=</a:t>
            </a:r>
            <a:r>
              <a:rPr lang="en-US" sz="2400" dirty="0" smtClean="0">
                <a:solidFill>
                  <a:srgbClr val="000000"/>
                </a:solidFill>
                <a:cs typeface="Arial" pitchFamily="34" charset="0"/>
              </a:rPr>
              <a:t> </a:t>
            </a:r>
            <a:r>
              <a:rPr lang="en-US" sz="2400" dirty="0" smtClean="0">
                <a:solidFill>
                  <a:srgbClr val="2A2A2A"/>
                </a:solidFill>
                <a:cs typeface="Arial" pitchFamily="34" charset="0"/>
              </a:rPr>
              <a:t>{key: value</a:t>
            </a:r>
            <a:r>
              <a:rPr lang="en-US" sz="2400" b="1" dirty="0" smtClean="0">
                <a:solidFill>
                  <a:srgbClr val="651FFF"/>
                </a:solidFill>
                <a:cs typeface="Arial" pitchFamily="34" charset="0"/>
              </a:rPr>
              <a:t>*</a:t>
            </a:r>
            <a:r>
              <a:rPr lang="en-US" sz="2400" dirty="0" smtClean="0">
                <a:solidFill>
                  <a:srgbClr val="2A2A2A"/>
                </a:solidFill>
                <a:cs typeface="Arial" pitchFamily="34" charset="0"/>
              </a:rPr>
              <a:t>(</a:t>
            </a:r>
            <a:r>
              <a:rPr lang="en-US" sz="2400" dirty="0" smtClean="0">
                <a:solidFill>
                  <a:srgbClr val="BF00B8"/>
                </a:solidFill>
                <a:cs typeface="Arial" pitchFamily="34" charset="0"/>
              </a:rPr>
              <a:t>9</a:t>
            </a:r>
            <a:r>
              <a:rPr lang="en-US" sz="2400" b="1" dirty="0" smtClean="0">
                <a:solidFill>
                  <a:srgbClr val="651FFF"/>
                </a:solidFill>
                <a:cs typeface="Arial" pitchFamily="34" charset="0"/>
              </a:rPr>
              <a:t>/</a:t>
            </a:r>
            <a:r>
              <a:rPr lang="en-US" sz="2400" dirty="0" smtClean="0">
                <a:solidFill>
                  <a:srgbClr val="BF00B8"/>
                </a:solidFill>
                <a:cs typeface="Arial" pitchFamily="34" charset="0"/>
              </a:rPr>
              <a:t>5</a:t>
            </a:r>
            <a:r>
              <a:rPr lang="en-US" sz="2400" dirty="0" smtClean="0">
                <a:solidFill>
                  <a:srgbClr val="2A2A2A"/>
                </a:solidFill>
                <a:cs typeface="Arial" pitchFamily="34" charset="0"/>
              </a:rPr>
              <a:t>) </a:t>
            </a:r>
            <a:r>
              <a:rPr lang="en-US" sz="2400" b="1" dirty="0" smtClean="0">
                <a:solidFill>
                  <a:srgbClr val="651FFF"/>
                </a:solidFill>
                <a:cs typeface="Arial" pitchFamily="34" charset="0"/>
              </a:rPr>
              <a:t>+</a:t>
            </a:r>
            <a:r>
              <a:rPr lang="en-US" sz="2400" dirty="0" smtClean="0">
                <a:solidFill>
                  <a:srgbClr val="000000"/>
                </a:solidFill>
                <a:cs typeface="Arial" pitchFamily="34" charset="0"/>
              </a:rPr>
              <a:t> </a:t>
            </a:r>
            <a:r>
              <a:rPr lang="en-US" sz="2400" dirty="0" smtClean="0">
                <a:solidFill>
                  <a:srgbClr val="BF00B8"/>
                </a:solidFill>
                <a:cs typeface="Arial" pitchFamily="34" charset="0"/>
              </a:rPr>
              <a:t>32</a:t>
            </a:r>
            <a:r>
              <a:rPr lang="en-US" sz="2400" dirty="0" smtClean="0">
                <a:solidFill>
                  <a:srgbClr val="000000"/>
                </a:solidFill>
                <a:cs typeface="Arial" pitchFamily="34" charset="0"/>
              </a:rPr>
              <a:t> </a:t>
            </a:r>
            <a:r>
              <a:rPr lang="en-US" sz="2400" b="1" dirty="0" smtClean="0">
                <a:solidFill>
                  <a:srgbClr val="651FFF"/>
                </a:solidFill>
                <a:cs typeface="Arial" pitchFamily="34" charset="0"/>
              </a:rPr>
              <a:t>for</a:t>
            </a:r>
            <a:r>
              <a:rPr lang="en-US" sz="2400" dirty="0" smtClean="0">
                <a:solidFill>
                  <a:srgbClr val="000000"/>
                </a:solidFill>
                <a:cs typeface="Arial" pitchFamily="34" charset="0"/>
              </a:rPr>
              <a:t> </a:t>
            </a:r>
            <a:r>
              <a:rPr lang="en-US" sz="2400" dirty="0" smtClean="0">
                <a:solidFill>
                  <a:srgbClr val="2A2A2A"/>
                </a:solidFill>
                <a:cs typeface="Arial" pitchFamily="34" charset="0"/>
              </a:rPr>
              <a:t>key, value </a:t>
            </a:r>
            <a:r>
              <a:rPr lang="en-US" sz="2400" b="1" dirty="0" smtClean="0">
                <a:solidFill>
                  <a:srgbClr val="651FFF"/>
                </a:solidFill>
                <a:cs typeface="Arial" pitchFamily="34" charset="0"/>
              </a:rPr>
              <a:t>in</a:t>
            </a:r>
            <a:r>
              <a:rPr lang="en-US" sz="2400" dirty="0" smtClean="0">
                <a:solidFill>
                  <a:srgbClr val="000000"/>
                </a:solidFill>
                <a:cs typeface="Arial" pitchFamily="34" charset="0"/>
              </a:rPr>
              <a:t> </a:t>
            </a:r>
            <a:r>
              <a:rPr lang="en-US" sz="2400" dirty="0" err="1" smtClean="0">
                <a:solidFill>
                  <a:srgbClr val="2A2A2A"/>
                </a:solidFill>
                <a:cs typeface="Arial" pitchFamily="34" charset="0"/>
              </a:rPr>
              <a:t>celcius.items</a:t>
            </a:r>
            <a:r>
              <a:rPr lang="en-US" sz="2400" dirty="0" smtClean="0">
                <a:solidFill>
                  <a:srgbClr val="2A2A2A"/>
                </a:solidFill>
                <a:cs typeface="Arial" pitchFamily="34" charset="0"/>
              </a:rPr>
              <a:t>()}</a:t>
            </a:r>
            <a:endParaRPr lang="en-US" sz="2400" dirty="0" smtClean="0">
              <a:cs typeface="Arial" pitchFamily="34" charset="0"/>
            </a:endParaRPr>
          </a:p>
          <a:p>
            <a:pPr lvl="0" eaLnBrk="0" fontAlgn="base" hangingPunct="0">
              <a:spcBef>
                <a:spcPct val="0"/>
              </a:spcBef>
              <a:spcAft>
                <a:spcPct val="0"/>
              </a:spcAft>
            </a:pPr>
            <a:r>
              <a:rPr lang="en-US" sz="2400" dirty="0" smtClean="0">
                <a:solidFill>
                  <a:srgbClr val="000000"/>
                </a:solidFill>
                <a:cs typeface="Arial" pitchFamily="34" charset="0"/>
              </a:rPr>
              <a:t> </a:t>
            </a:r>
            <a:endParaRPr lang="en-US" sz="2400" dirty="0" smtClean="0">
              <a:cs typeface="Arial" pitchFamily="34" charset="0"/>
            </a:endParaRPr>
          </a:p>
          <a:p>
            <a:pPr lvl="0" eaLnBrk="0" fontAlgn="base" hangingPunct="0">
              <a:spcBef>
                <a:spcPct val="0"/>
              </a:spcBef>
              <a:spcAft>
                <a:spcPct val="0"/>
              </a:spcAft>
            </a:pPr>
            <a:r>
              <a:rPr lang="en-US" sz="2400" dirty="0" smtClean="0">
                <a:solidFill>
                  <a:srgbClr val="467790"/>
                </a:solidFill>
                <a:cs typeface="Arial" pitchFamily="34" charset="0"/>
              </a:rPr>
              <a:t># Printing the temperatures</a:t>
            </a:r>
            <a:endParaRPr lang="en-US" sz="2400" dirty="0" smtClean="0">
              <a:cs typeface="Arial" pitchFamily="34" charset="0"/>
            </a:endParaRPr>
          </a:p>
          <a:p>
            <a:pPr lvl="0" eaLnBrk="0" fontAlgn="base" hangingPunct="0">
              <a:spcBef>
                <a:spcPct val="0"/>
              </a:spcBef>
              <a:spcAft>
                <a:spcPct val="0"/>
              </a:spcAft>
            </a:pPr>
            <a:r>
              <a:rPr lang="en-US" sz="2400" dirty="0" smtClean="0">
                <a:solidFill>
                  <a:srgbClr val="FF1493"/>
                </a:solidFill>
                <a:cs typeface="Arial" pitchFamily="34" charset="0"/>
              </a:rPr>
              <a:t>print</a:t>
            </a:r>
            <a:r>
              <a:rPr lang="en-US" sz="2400" dirty="0" smtClean="0">
                <a:solidFill>
                  <a:srgbClr val="2A2A2A"/>
                </a:solidFill>
                <a:cs typeface="Arial" pitchFamily="34" charset="0"/>
              </a:rPr>
              <a:t>(</a:t>
            </a:r>
            <a:r>
              <a:rPr lang="en-US" sz="2400" dirty="0" err="1" smtClean="0">
                <a:solidFill>
                  <a:srgbClr val="2A2A2A"/>
                </a:solidFill>
                <a:cs typeface="Arial" pitchFamily="34" charset="0"/>
              </a:rPr>
              <a:t>fahrenheit</a:t>
            </a:r>
            <a:r>
              <a:rPr lang="en-US" sz="2400" dirty="0" smtClean="0">
                <a:solidFill>
                  <a:srgbClr val="2A2A2A"/>
                </a:solidFill>
                <a:cs typeface="Arial" pitchFamily="34" charset="0"/>
              </a:rPr>
              <a:t>)</a:t>
            </a:r>
            <a:endParaRPr lang="en-US" sz="2400" dirty="0" smtClean="0">
              <a:cs typeface="Arial" pitchFamily="34" charset="0"/>
            </a:endParaRPr>
          </a:p>
        </p:txBody>
      </p:sp>
      <p:sp>
        <p:nvSpPr>
          <p:cNvPr id="6" name="Rectangle 5"/>
          <p:cNvSpPr/>
          <p:nvPr/>
        </p:nvSpPr>
        <p:spPr>
          <a:xfrm>
            <a:off x="241300" y="5305425"/>
            <a:ext cx="10287000" cy="461665"/>
          </a:xfrm>
          <a:prstGeom prst="rect">
            <a:avLst/>
          </a:prstGeom>
        </p:spPr>
        <p:txBody>
          <a:bodyPr wrap="square">
            <a:spAutoFit/>
          </a:bodyPr>
          <a:lstStyle/>
          <a:p>
            <a:r>
              <a:rPr lang="en-US" sz="2400" dirty="0" smtClean="0"/>
              <a:t>Output:   {'Mumbai‘ : 97.7, 'Delhi‘ : 81.68, 'Bangalore‘ : 89.78, ‘Sholapur‘ : 104.72}</a:t>
            </a:r>
            <a:endParaRPr lang="en-US" sz="2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Rectangle 4"/>
          <p:cNvSpPr/>
          <p:nvPr/>
        </p:nvSpPr>
        <p:spPr>
          <a:xfrm>
            <a:off x="317500" y="352425"/>
            <a:ext cx="9677400" cy="5693866"/>
          </a:xfrm>
          <a:prstGeom prst="rect">
            <a:avLst/>
          </a:prstGeom>
        </p:spPr>
        <p:txBody>
          <a:bodyPr wrap="square">
            <a:spAutoFit/>
          </a:bodyPr>
          <a:lstStyle/>
          <a:p>
            <a:pPr lvl="0" fontAlgn="base">
              <a:spcBef>
                <a:spcPct val="0"/>
              </a:spcBef>
              <a:spcAft>
                <a:spcPct val="0"/>
              </a:spcAft>
            </a:pPr>
            <a:r>
              <a:rPr lang="en-US" sz="2800" dirty="0" smtClean="0">
                <a:solidFill>
                  <a:srgbClr val="467790"/>
                </a:solidFill>
                <a:cs typeface="Arial" pitchFamily="34" charset="0"/>
              </a:rPr>
              <a:t># Temperatures</a:t>
            </a:r>
            <a:endParaRPr lang="en-US" sz="2800" dirty="0" smtClean="0">
              <a:cs typeface="Arial" pitchFamily="34" charset="0"/>
            </a:endParaRPr>
          </a:p>
          <a:p>
            <a:pPr lvl="0" eaLnBrk="0" fontAlgn="base" hangingPunct="0">
              <a:spcBef>
                <a:spcPct val="0"/>
              </a:spcBef>
              <a:spcAft>
                <a:spcPct val="0"/>
              </a:spcAft>
            </a:pPr>
            <a:r>
              <a:rPr lang="en-US" sz="2800" dirty="0" smtClean="0">
                <a:solidFill>
                  <a:srgbClr val="2A2A2A"/>
                </a:solidFill>
                <a:cs typeface="Arial" pitchFamily="34" charset="0"/>
              </a:rPr>
              <a:t>temp </a:t>
            </a:r>
            <a:r>
              <a:rPr lang="en-US" sz="2800" b="1" dirty="0" smtClean="0">
                <a:solidFill>
                  <a:srgbClr val="651FFF"/>
                </a:solidFill>
                <a:cs typeface="Arial" pitchFamily="34" charset="0"/>
              </a:rPr>
              <a:t>=</a:t>
            </a:r>
            <a:r>
              <a:rPr lang="en-US" sz="2800" dirty="0" smtClean="0">
                <a:solidFill>
                  <a:srgbClr val="000000"/>
                </a:solidFill>
                <a:cs typeface="Arial" pitchFamily="34" charset="0"/>
              </a:rPr>
              <a:t> </a:t>
            </a:r>
            <a:r>
              <a:rPr lang="en-US" sz="2800" dirty="0" smtClean="0">
                <a:solidFill>
                  <a:srgbClr val="2A2A2A"/>
                </a:solidFill>
                <a:cs typeface="Arial" pitchFamily="34" charset="0"/>
              </a:rPr>
              <a:t>{</a:t>
            </a:r>
            <a:r>
              <a:rPr lang="en-US" sz="2800" dirty="0" smtClean="0">
                <a:solidFill>
                  <a:srgbClr val="3D5AFE"/>
                </a:solidFill>
                <a:cs typeface="Arial" pitchFamily="34" charset="0"/>
              </a:rPr>
              <a:t>"Mumbai"</a:t>
            </a:r>
            <a:r>
              <a:rPr lang="en-US" sz="2800" dirty="0" smtClean="0">
                <a:solidFill>
                  <a:srgbClr val="2A2A2A"/>
                </a:solidFill>
                <a:cs typeface="Arial" pitchFamily="34" charset="0"/>
              </a:rPr>
              <a:t>:</a:t>
            </a:r>
            <a:r>
              <a:rPr lang="en-US" sz="2800" dirty="0" smtClean="0">
                <a:solidFill>
                  <a:srgbClr val="BF00B8"/>
                </a:solidFill>
                <a:cs typeface="Arial" pitchFamily="34" charset="0"/>
              </a:rPr>
              <a:t>36.5</a:t>
            </a:r>
            <a:r>
              <a:rPr lang="en-US" sz="2800" dirty="0" smtClean="0">
                <a:solidFill>
                  <a:srgbClr val="2A2A2A"/>
                </a:solidFill>
                <a:cs typeface="Arial" pitchFamily="34" charset="0"/>
              </a:rPr>
              <a:t>, </a:t>
            </a:r>
            <a:r>
              <a:rPr lang="en-US" sz="2800" dirty="0" smtClean="0">
                <a:solidFill>
                  <a:srgbClr val="3D5AFE"/>
                </a:solidFill>
                <a:cs typeface="Arial" pitchFamily="34" charset="0"/>
              </a:rPr>
              <a:t>"Delhi"</a:t>
            </a:r>
            <a:r>
              <a:rPr lang="en-US" sz="2800" dirty="0" smtClean="0">
                <a:solidFill>
                  <a:srgbClr val="2A2A2A"/>
                </a:solidFill>
                <a:cs typeface="Arial" pitchFamily="34" charset="0"/>
              </a:rPr>
              <a:t>:</a:t>
            </a:r>
            <a:r>
              <a:rPr lang="en-US" sz="2800" dirty="0" smtClean="0">
                <a:solidFill>
                  <a:srgbClr val="BF00B8"/>
                </a:solidFill>
                <a:cs typeface="Arial" pitchFamily="34" charset="0"/>
              </a:rPr>
              <a:t>27.6</a:t>
            </a:r>
            <a:r>
              <a:rPr lang="en-US" sz="2800" dirty="0" smtClean="0">
                <a:solidFill>
                  <a:srgbClr val="2A2A2A"/>
                </a:solidFill>
                <a:cs typeface="Arial" pitchFamily="34" charset="0"/>
              </a:rPr>
              <a:t>, </a:t>
            </a:r>
            <a:r>
              <a:rPr lang="en-US" sz="2800" dirty="0" smtClean="0">
                <a:solidFill>
                  <a:srgbClr val="3D5AFE"/>
                </a:solidFill>
                <a:cs typeface="Arial" pitchFamily="34" charset="0"/>
              </a:rPr>
              <a:t>"Bangalore"</a:t>
            </a:r>
            <a:r>
              <a:rPr lang="en-US" sz="2800" dirty="0" smtClean="0">
                <a:solidFill>
                  <a:srgbClr val="2A2A2A"/>
                </a:solidFill>
                <a:cs typeface="Arial" pitchFamily="34" charset="0"/>
              </a:rPr>
              <a:t>:</a:t>
            </a:r>
            <a:r>
              <a:rPr lang="en-US" sz="2800" dirty="0" smtClean="0">
                <a:solidFill>
                  <a:srgbClr val="BF00B8"/>
                </a:solidFill>
                <a:cs typeface="Arial" pitchFamily="34" charset="0"/>
              </a:rPr>
              <a:t>32.1</a:t>
            </a:r>
            <a:r>
              <a:rPr lang="en-US" sz="2800" dirty="0" smtClean="0">
                <a:solidFill>
                  <a:srgbClr val="2A2A2A"/>
                </a:solidFill>
                <a:cs typeface="Arial" pitchFamily="34" charset="0"/>
              </a:rPr>
              <a:t>, </a:t>
            </a:r>
            <a:r>
              <a:rPr lang="en-US" sz="2800" dirty="0" smtClean="0">
                <a:solidFill>
                  <a:srgbClr val="3D5AFE"/>
                </a:solidFill>
                <a:cs typeface="Arial" pitchFamily="34" charset="0"/>
              </a:rPr>
              <a:t>"</a:t>
            </a:r>
            <a:r>
              <a:rPr lang="en-US" sz="2800" dirty="0" err="1" smtClean="0">
                <a:solidFill>
                  <a:srgbClr val="3D5AFE"/>
                </a:solidFill>
                <a:cs typeface="Arial" pitchFamily="34" charset="0"/>
              </a:rPr>
              <a:t>Dholakpur</a:t>
            </a:r>
            <a:r>
              <a:rPr lang="en-US" sz="2800" dirty="0" smtClean="0">
                <a:solidFill>
                  <a:srgbClr val="3D5AFE"/>
                </a:solidFill>
                <a:cs typeface="Arial" pitchFamily="34" charset="0"/>
              </a:rPr>
              <a:t>"</a:t>
            </a:r>
            <a:r>
              <a:rPr lang="en-US" sz="2800" dirty="0" smtClean="0">
                <a:solidFill>
                  <a:srgbClr val="2A2A2A"/>
                </a:solidFill>
                <a:cs typeface="Arial" pitchFamily="34" charset="0"/>
              </a:rPr>
              <a:t>:</a:t>
            </a:r>
            <a:r>
              <a:rPr lang="en-US" sz="2800" dirty="0" smtClean="0">
                <a:solidFill>
                  <a:srgbClr val="BF00B8"/>
                </a:solidFill>
                <a:cs typeface="Arial" pitchFamily="34" charset="0"/>
              </a:rPr>
              <a:t>40.4</a:t>
            </a:r>
            <a:r>
              <a:rPr lang="en-US" sz="2800" dirty="0" smtClean="0">
                <a:solidFill>
                  <a:srgbClr val="2A2A2A"/>
                </a:solidFill>
                <a:cs typeface="Arial" pitchFamily="34" charset="0"/>
              </a:rPr>
              <a:t>}</a:t>
            </a:r>
            <a:endParaRPr lang="en-US" sz="2800" dirty="0" smtClean="0">
              <a:cs typeface="Arial" pitchFamily="34" charset="0"/>
            </a:endParaRPr>
          </a:p>
          <a:p>
            <a:pPr lvl="0" eaLnBrk="0" fontAlgn="base" hangingPunct="0">
              <a:spcBef>
                <a:spcPct val="0"/>
              </a:spcBef>
              <a:spcAft>
                <a:spcPct val="0"/>
              </a:spcAft>
            </a:pPr>
            <a:r>
              <a:rPr lang="en-US" sz="2800" dirty="0" smtClean="0">
                <a:solidFill>
                  <a:srgbClr val="000000"/>
                </a:solidFill>
                <a:cs typeface="Arial" pitchFamily="34" charset="0"/>
              </a:rPr>
              <a:t> </a:t>
            </a:r>
            <a:endParaRPr lang="en-US" sz="2800" dirty="0" smtClean="0">
              <a:cs typeface="Arial" pitchFamily="34" charset="0"/>
            </a:endParaRPr>
          </a:p>
          <a:p>
            <a:pPr lvl="0" eaLnBrk="0" fontAlgn="base" hangingPunct="0">
              <a:spcBef>
                <a:spcPct val="0"/>
              </a:spcBef>
              <a:spcAft>
                <a:spcPct val="0"/>
              </a:spcAft>
            </a:pPr>
            <a:r>
              <a:rPr lang="en-US" sz="2800" dirty="0" smtClean="0">
                <a:solidFill>
                  <a:srgbClr val="467790"/>
                </a:solidFill>
                <a:cs typeface="Arial" pitchFamily="34" charset="0"/>
              </a:rPr>
              <a:t># Places with high temperature</a:t>
            </a:r>
            <a:endParaRPr lang="en-US" sz="2800" dirty="0" smtClean="0">
              <a:cs typeface="Arial" pitchFamily="34" charset="0"/>
            </a:endParaRPr>
          </a:p>
          <a:p>
            <a:pPr lvl="0" eaLnBrk="0" fontAlgn="base" hangingPunct="0">
              <a:spcBef>
                <a:spcPct val="0"/>
              </a:spcBef>
              <a:spcAft>
                <a:spcPct val="0"/>
              </a:spcAft>
            </a:pPr>
            <a:r>
              <a:rPr lang="en-US" sz="2800" dirty="0" smtClean="0">
                <a:solidFill>
                  <a:srgbClr val="2A2A2A"/>
                </a:solidFill>
                <a:cs typeface="Arial" pitchFamily="34" charset="0"/>
              </a:rPr>
              <a:t>hot </a:t>
            </a:r>
            <a:r>
              <a:rPr lang="en-US" sz="2800" b="1" dirty="0" smtClean="0">
                <a:solidFill>
                  <a:srgbClr val="651FFF"/>
                </a:solidFill>
                <a:cs typeface="Arial" pitchFamily="34" charset="0"/>
              </a:rPr>
              <a:t>=</a:t>
            </a:r>
            <a:r>
              <a:rPr lang="en-US" sz="2800" dirty="0" smtClean="0">
                <a:solidFill>
                  <a:srgbClr val="000000"/>
                </a:solidFill>
                <a:cs typeface="Arial" pitchFamily="34" charset="0"/>
              </a:rPr>
              <a:t> </a:t>
            </a:r>
            <a:r>
              <a:rPr lang="en-US" sz="2800" dirty="0" smtClean="0">
                <a:solidFill>
                  <a:srgbClr val="2A2A2A"/>
                </a:solidFill>
                <a:cs typeface="Arial" pitchFamily="34" charset="0"/>
              </a:rPr>
              <a:t>{key: value </a:t>
            </a:r>
            <a:r>
              <a:rPr lang="en-US" sz="2800" b="1" dirty="0" smtClean="0">
                <a:solidFill>
                  <a:srgbClr val="651FFF"/>
                </a:solidFill>
                <a:cs typeface="Arial" pitchFamily="34" charset="0"/>
              </a:rPr>
              <a:t>for</a:t>
            </a:r>
            <a:r>
              <a:rPr lang="en-US" sz="2800" dirty="0" smtClean="0">
                <a:solidFill>
                  <a:srgbClr val="000000"/>
                </a:solidFill>
                <a:cs typeface="Arial" pitchFamily="34" charset="0"/>
              </a:rPr>
              <a:t> </a:t>
            </a:r>
            <a:r>
              <a:rPr lang="en-US" sz="2800" dirty="0" smtClean="0">
                <a:solidFill>
                  <a:srgbClr val="2A2A2A"/>
                </a:solidFill>
                <a:cs typeface="Arial" pitchFamily="34" charset="0"/>
              </a:rPr>
              <a:t>key, value </a:t>
            </a:r>
            <a:r>
              <a:rPr lang="en-US" sz="2800" b="1" dirty="0" smtClean="0">
                <a:solidFill>
                  <a:srgbClr val="651FFF"/>
                </a:solidFill>
                <a:cs typeface="Arial" pitchFamily="34" charset="0"/>
              </a:rPr>
              <a:t>in</a:t>
            </a:r>
            <a:r>
              <a:rPr lang="en-US" sz="2800" dirty="0" smtClean="0">
                <a:solidFill>
                  <a:srgbClr val="000000"/>
                </a:solidFill>
                <a:cs typeface="Arial" pitchFamily="34" charset="0"/>
              </a:rPr>
              <a:t> </a:t>
            </a:r>
            <a:r>
              <a:rPr lang="en-US" sz="2800" dirty="0" err="1" smtClean="0">
                <a:solidFill>
                  <a:srgbClr val="2A2A2A"/>
                </a:solidFill>
                <a:cs typeface="Arial" pitchFamily="34" charset="0"/>
              </a:rPr>
              <a:t>temp.items</a:t>
            </a:r>
            <a:r>
              <a:rPr lang="en-US" sz="2800" dirty="0" smtClean="0">
                <a:solidFill>
                  <a:srgbClr val="2A2A2A"/>
                </a:solidFill>
                <a:cs typeface="Arial" pitchFamily="34" charset="0"/>
              </a:rPr>
              <a:t>() </a:t>
            </a:r>
            <a:r>
              <a:rPr lang="en-US" sz="2800" b="1" dirty="0" smtClean="0">
                <a:solidFill>
                  <a:srgbClr val="651FFF"/>
                </a:solidFill>
                <a:cs typeface="Arial" pitchFamily="34" charset="0"/>
              </a:rPr>
              <a:t>if</a:t>
            </a:r>
            <a:r>
              <a:rPr lang="en-US" sz="2800" dirty="0" smtClean="0">
                <a:solidFill>
                  <a:srgbClr val="000000"/>
                </a:solidFill>
                <a:cs typeface="Arial" pitchFamily="34" charset="0"/>
              </a:rPr>
              <a:t> </a:t>
            </a:r>
            <a:r>
              <a:rPr lang="en-US" sz="2800" dirty="0" smtClean="0">
                <a:solidFill>
                  <a:srgbClr val="2A2A2A"/>
                </a:solidFill>
                <a:cs typeface="Arial" pitchFamily="34" charset="0"/>
              </a:rPr>
              <a:t>value &gt;</a:t>
            </a:r>
            <a:r>
              <a:rPr lang="en-US" sz="2800" b="1" dirty="0" smtClean="0">
                <a:solidFill>
                  <a:srgbClr val="651FFF"/>
                </a:solidFill>
                <a:cs typeface="Arial" pitchFamily="34" charset="0"/>
              </a:rPr>
              <a:t>=</a:t>
            </a:r>
            <a:r>
              <a:rPr lang="en-US" sz="2800" dirty="0" smtClean="0">
                <a:solidFill>
                  <a:srgbClr val="000000"/>
                </a:solidFill>
                <a:cs typeface="Arial" pitchFamily="34" charset="0"/>
              </a:rPr>
              <a:t> </a:t>
            </a:r>
            <a:r>
              <a:rPr lang="en-US" sz="2800" dirty="0" smtClean="0">
                <a:solidFill>
                  <a:srgbClr val="BF00B8"/>
                </a:solidFill>
                <a:cs typeface="Arial" pitchFamily="34" charset="0"/>
              </a:rPr>
              <a:t>35</a:t>
            </a:r>
            <a:r>
              <a:rPr lang="en-US" sz="2800" dirty="0" smtClean="0">
                <a:solidFill>
                  <a:srgbClr val="2A2A2A"/>
                </a:solidFill>
                <a:cs typeface="Arial" pitchFamily="34" charset="0"/>
              </a:rPr>
              <a:t>}</a:t>
            </a:r>
            <a:endParaRPr lang="en-US" sz="2800" dirty="0" smtClean="0">
              <a:cs typeface="Arial" pitchFamily="34" charset="0"/>
            </a:endParaRPr>
          </a:p>
          <a:p>
            <a:pPr lvl="0" eaLnBrk="0" fontAlgn="base" hangingPunct="0">
              <a:spcBef>
                <a:spcPct val="0"/>
              </a:spcBef>
              <a:spcAft>
                <a:spcPct val="0"/>
              </a:spcAft>
            </a:pPr>
            <a:r>
              <a:rPr lang="en-US" sz="2800" dirty="0" smtClean="0">
                <a:solidFill>
                  <a:srgbClr val="000000"/>
                </a:solidFill>
                <a:cs typeface="Arial" pitchFamily="34" charset="0"/>
              </a:rPr>
              <a:t> </a:t>
            </a:r>
            <a:endParaRPr lang="en-US" sz="2800" dirty="0" smtClean="0">
              <a:cs typeface="Arial" pitchFamily="34" charset="0"/>
            </a:endParaRPr>
          </a:p>
          <a:p>
            <a:pPr lvl="0" eaLnBrk="0" fontAlgn="base" hangingPunct="0">
              <a:spcBef>
                <a:spcPct val="0"/>
              </a:spcBef>
              <a:spcAft>
                <a:spcPct val="0"/>
              </a:spcAft>
            </a:pPr>
            <a:r>
              <a:rPr lang="en-US" sz="2800" dirty="0" smtClean="0">
                <a:solidFill>
                  <a:srgbClr val="467790"/>
                </a:solidFill>
                <a:cs typeface="Arial" pitchFamily="34" charset="0"/>
              </a:rPr>
              <a:t># Places with low temperatures</a:t>
            </a:r>
            <a:endParaRPr lang="en-US" sz="2800" dirty="0" smtClean="0">
              <a:cs typeface="Arial" pitchFamily="34" charset="0"/>
            </a:endParaRPr>
          </a:p>
          <a:p>
            <a:pPr lvl="0" eaLnBrk="0" fontAlgn="base" hangingPunct="0">
              <a:spcBef>
                <a:spcPct val="0"/>
              </a:spcBef>
              <a:spcAft>
                <a:spcPct val="0"/>
              </a:spcAft>
            </a:pPr>
            <a:r>
              <a:rPr lang="en-US" sz="2800" dirty="0" smtClean="0">
                <a:solidFill>
                  <a:srgbClr val="2A2A2A"/>
                </a:solidFill>
                <a:cs typeface="Arial" pitchFamily="34" charset="0"/>
              </a:rPr>
              <a:t>cold </a:t>
            </a:r>
            <a:r>
              <a:rPr lang="en-US" sz="2800" b="1" dirty="0" smtClean="0">
                <a:solidFill>
                  <a:srgbClr val="651FFF"/>
                </a:solidFill>
                <a:cs typeface="Arial" pitchFamily="34" charset="0"/>
              </a:rPr>
              <a:t>=</a:t>
            </a:r>
            <a:r>
              <a:rPr lang="en-US" sz="2800" dirty="0" smtClean="0">
                <a:solidFill>
                  <a:srgbClr val="000000"/>
                </a:solidFill>
                <a:cs typeface="Arial" pitchFamily="34" charset="0"/>
              </a:rPr>
              <a:t> </a:t>
            </a:r>
            <a:r>
              <a:rPr lang="en-US" sz="2800" dirty="0" smtClean="0">
                <a:solidFill>
                  <a:srgbClr val="2A2A2A"/>
                </a:solidFill>
                <a:cs typeface="Arial" pitchFamily="34" charset="0"/>
              </a:rPr>
              <a:t>{key: value </a:t>
            </a:r>
            <a:r>
              <a:rPr lang="en-US" sz="2800" b="1" dirty="0" smtClean="0">
                <a:solidFill>
                  <a:srgbClr val="651FFF"/>
                </a:solidFill>
                <a:cs typeface="Arial" pitchFamily="34" charset="0"/>
              </a:rPr>
              <a:t>for</a:t>
            </a:r>
            <a:r>
              <a:rPr lang="en-US" sz="2800" dirty="0" smtClean="0">
                <a:solidFill>
                  <a:srgbClr val="000000"/>
                </a:solidFill>
                <a:cs typeface="Arial" pitchFamily="34" charset="0"/>
              </a:rPr>
              <a:t> </a:t>
            </a:r>
            <a:r>
              <a:rPr lang="en-US" sz="2800" dirty="0" smtClean="0">
                <a:solidFill>
                  <a:srgbClr val="2A2A2A"/>
                </a:solidFill>
                <a:cs typeface="Arial" pitchFamily="34" charset="0"/>
              </a:rPr>
              <a:t>key, value </a:t>
            </a:r>
            <a:r>
              <a:rPr lang="en-US" sz="2800" b="1" dirty="0" smtClean="0">
                <a:solidFill>
                  <a:srgbClr val="651FFF"/>
                </a:solidFill>
                <a:cs typeface="Arial" pitchFamily="34" charset="0"/>
              </a:rPr>
              <a:t>in</a:t>
            </a:r>
            <a:r>
              <a:rPr lang="en-US" sz="2800" dirty="0" smtClean="0">
                <a:solidFill>
                  <a:srgbClr val="000000"/>
                </a:solidFill>
                <a:cs typeface="Arial" pitchFamily="34" charset="0"/>
              </a:rPr>
              <a:t> </a:t>
            </a:r>
            <a:r>
              <a:rPr lang="en-US" sz="2800" dirty="0" err="1" smtClean="0">
                <a:solidFill>
                  <a:srgbClr val="2A2A2A"/>
                </a:solidFill>
                <a:cs typeface="Arial" pitchFamily="34" charset="0"/>
              </a:rPr>
              <a:t>temp.items</a:t>
            </a:r>
            <a:r>
              <a:rPr lang="en-US" sz="2800" dirty="0" smtClean="0">
                <a:solidFill>
                  <a:srgbClr val="2A2A2A"/>
                </a:solidFill>
                <a:cs typeface="Arial" pitchFamily="34" charset="0"/>
              </a:rPr>
              <a:t>() </a:t>
            </a:r>
            <a:r>
              <a:rPr lang="en-US" sz="2800" b="1" dirty="0" smtClean="0">
                <a:solidFill>
                  <a:srgbClr val="651FFF"/>
                </a:solidFill>
                <a:cs typeface="Arial" pitchFamily="34" charset="0"/>
              </a:rPr>
              <a:t>if</a:t>
            </a:r>
            <a:r>
              <a:rPr lang="en-US" sz="2800" dirty="0" smtClean="0">
                <a:solidFill>
                  <a:srgbClr val="000000"/>
                </a:solidFill>
                <a:cs typeface="Arial" pitchFamily="34" charset="0"/>
              </a:rPr>
              <a:t> </a:t>
            </a:r>
            <a:r>
              <a:rPr lang="en-US" sz="2800" dirty="0" smtClean="0">
                <a:solidFill>
                  <a:srgbClr val="2A2A2A"/>
                </a:solidFill>
                <a:cs typeface="Arial" pitchFamily="34" charset="0"/>
              </a:rPr>
              <a:t>value &lt; </a:t>
            </a:r>
            <a:r>
              <a:rPr lang="en-US" sz="2800" dirty="0" smtClean="0">
                <a:solidFill>
                  <a:srgbClr val="BF00B8"/>
                </a:solidFill>
                <a:cs typeface="Arial" pitchFamily="34" charset="0"/>
              </a:rPr>
              <a:t>35</a:t>
            </a:r>
            <a:r>
              <a:rPr lang="en-US" sz="2800" dirty="0" smtClean="0">
                <a:solidFill>
                  <a:srgbClr val="2A2A2A"/>
                </a:solidFill>
                <a:cs typeface="Arial" pitchFamily="34" charset="0"/>
              </a:rPr>
              <a:t>}</a:t>
            </a:r>
            <a:endParaRPr lang="en-US" sz="2800" dirty="0" smtClean="0">
              <a:cs typeface="Arial" pitchFamily="34" charset="0"/>
            </a:endParaRPr>
          </a:p>
          <a:p>
            <a:pPr lvl="0" eaLnBrk="0" fontAlgn="base" hangingPunct="0">
              <a:spcBef>
                <a:spcPct val="0"/>
              </a:spcBef>
              <a:spcAft>
                <a:spcPct val="0"/>
              </a:spcAft>
            </a:pPr>
            <a:r>
              <a:rPr lang="en-US" sz="2800" dirty="0" smtClean="0">
                <a:solidFill>
                  <a:srgbClr val="000000"/>
                </a:solidFill>
                <a:cs typeface="Arial" pitchFamily="34" charset="0"/>
              </a:rPr>
              <a:t> </a:t>
            </a:r>
            <a:endParaRPr lang="en-US" sz="2800" dirty="0" smtClean="0">
              <a:cs typeface="Arial" pitchFamily="34" charset="0"/>
            </a:endParaRPr>
          </a:p>
          <a:p>
            <a:pPr lvl="0" eaLnBrk="0" fontAlgn="base" hangingPunct="0">
              <a:spcBef>
                <a:spcPct val="0"/>
              </a:spcBef>
              <a:spcAft>
                <a:spcPct val="0"/>
              </a:spcAft>
            </a:pPr>
            <a:r>
              <a:rPr lang="en-US" sz="2800" dirty="0" smtClean="0">
                <a:solidFill>
                  <a:srgbClr val="467790"/>
                </a:solidFill>
                <a:cs typeface="Arial" pitchFamily="34" charset="0"/>
              </a:rPr>
              <a:t># Printing the dictionaries</a:t>
            </a:r>
            <a:endParaRPr lang="en-US" sz="2800" dirty="0" smtClean="0">
              <a:cs typeface="Arial" pitchFamily="34" charset="0"/>
            </a:endParaRPr>
          </a:p>
          <a:p>
            <a:pPr lvl="0" eaLnBrk="0" fontAlgn="base" hangingPunct="0">
              <a:spcBef>
                <a:spcPct val="0"/>
              </a:spcBef>
              <a:spcAft>
                <a:spcPct val="0"/>
              </a:spcAft>
            </a:pPr>
            <a:r>
              <a:rPr lang="en-US" sz="2800" dirty="0" smtClean="0">
                <a:solidFill>
                  <a:srgbClr val="FF1493"/>
                </a:solidFill>
                <a:cs typeface="Arial" pitchFamily="34" charset="0"/>
              </a:rPr>
              <a:t>print</a:t>
            </a:r>
            <a:r>
              <a:rPr lang="en-US" sz="2800" dirty="0" smtClean="0">
                <a:solidFill>
                  <a:srgbClr val="2A2A2A"/>
                </a:solidFill>
                <a:cs typeface="Arial" pitchFamily="34" charset="0"/>
              </a:rPr>
              <a:t>(</a:t>
            </a:r>
            <a:r>
              <a:rPr lang="en-US" sz="2800" dirty="0" smtClean="0">
                <a:solidFill>
                  <a:srgbClr val="3D5AFE"/>
                </a:solidFill>
                <a:cs typeface="Arial" pitchFamily="34" charset="0"/>
              </a:rPr>
              <a:t>"Hot places ="</a:t>
            </a:r>
            <a:r>
              <a:rPr lang="en-US" sz="2800" dirty="0" smtClean="0">
                <a:solidFill>
                  <a:srgbClr val="2A2A2A"/>
                </a:solidFill>
                <a:cs typeface="Arial" pitchFamily="34" charset="0"/>
              </a:rPr>
              <a:t>, hot)</a:t>
            </a:r>
            <a:endParaRPr lang="en-US" sz="2800" dirty="0" smtClean="0">
              <a:cs typeface="Arial" pitchFamily="34" charset="0"/>
            </a:endParaRPr>
          </a:p>
          <a:p>
            <a:pPr lvl="0" eaLnBrk="0" fontAlgn="base" hangingPunct="0">
              <a:spcBef>
                <a:spcPct val="0"/>
              </a:spcBef>
              <a:spcAft>
                <a:spcPct val="0"/>
              </a:spcAft>
            </a:pPr>
            <a:r>
              <a:rPr lang="en-US" sz="2800" dirty="0" smtClean="0">
                <a:solidFill>
                  <a:srgbClr val="FF1493"/>
                </a:solidFill>
                <a:cs typeface="Arial" pitchFamily="34" charset="0"/>
              </a:rPr>
              <a:t>print</a:t>
            </a:r>
            <a:r>
              <a:rPr lang="en-US" sz="2800" dirty="0" smtClean="0">
                <a:solidFill>
                  <a:srgbClr val="2A2A2A"/>
                </a:solidFill>
                <a:cs typeface="Arial" pitchFamily="34" charset="0"/>
              </a:rPr>
              <a:t>(</a:t>
            </a:r>
            <a:r>
              <a:rPr lang="en-US" sz="2800" dirty="0" smtClean="0">
                <a:solidFill>
                  <a:srgbClr val="3D5AFE"/>
                </a:solidFill>
                <a:cs typeface="Arial" pitchFamily="34" charset="0"/>
              </a:rPr>
              <a:t>"Cold places ="</a:t>
            </a:r>
            <a:r>
              <a:rPr lang="en-US" sz="2800" dirty="0" smtClean="0">
                <a:solidFill>
                  <a:srgbClr val="2A2A2A"/>
                </a:solidFill>
                <a:cs typeface="Arial" pitchFamily="34" charset="0"/>
              </a:rPr>
              <a:t>, cold)</a:t>
            </a:r>
            <a:endParaRPr lang="en-US" sz="2800" dirty="0" smtClean="0">
              <a:cs typeface="Arial" pitchFamily="34" charset="0"/>
            </a:endParaRPr>
          </a:p>
        </p:txBody>
      </p:sp>
      <p:sp>
        <p:nvSpPr>
          <p:cNvPr id="7" name="Rectangle 6"/>
          <p:cNvSpPr/>
          <p:nvPr/>
        </p:nvSpPr>
        <p:spPr>
          <a:xfrm>
            <a:off x="2679700" y="6677025"/>
            <a:ext cx="7543800" cy="707886"/>
          </a:xfrm>
          <a:prstGeom prst="rect">
            <a:avLst/>
          </a:prstGeom>
        </p:spPr>
        <p:txBody>
          <a:bodyPr wrap="square">
            <a:spAutoFit/>
          </a:bodyPr>
          <a:lstStyle/>
          <a:p>
            <a:pPr lvl="0" fontAlgn="base">
              <a:spcBef>
                <a:spcPct val="0"/>
              </a:spcBef>
              <a:spcAft>
                <a:spcPct val="0"/>
              </a:spcAft>
            </a:pPr>
            <a:r>
              <a:rPr lang="en-US" sz="2000" dirty="0" smtClean="0">
                <a:solidFill>
                  <a:srgbClr val="2A2A2A"/>
                </a:solidFill>
                <a:latin typeface="var(--font-family--code)"/>
                <a:cs typeface="Arial" pitchFamily="34" charset="0"/>
              </a:rPr>
              <a:t>Hot places = {'Mumbai': 36.5, '</a:t>
            </a:r>
            <a:r>
              <a:rPr lang="en-US" sz="2000" dirty="0" err="1" smtClean="0">
                <a:solidFill>
                  <a:srgbClr val="2A2A2A"/>
                </a:solidFill>
                <a:latin typeface="var(--font-family--code)"/>
                <a:cs typeface="Arial" pitchFamily="34" charset="0"/>
              </a:rPr>
              <a:t>Dholakpur</a:t>
            </a:r>
            <a:r>
              <a:rPr lang="en-US" sz="2000" dirty="0" smtClean="0">
                <a:solidFill>
                  <a:srgbClr val="2A2A2A"/>
                </a:solidFill>
                <a:latin typeface="var(--font-family--code)"/>
                <a:cs typeface="Arial" pitchFamily="34" charset="0"/>
              </a:rPr>
              <a:t>': 40.4}</a:t>
            </a:r>
            <a:endParaRPr lang="en-US" sz="2000" dirty="0" smtClean="0">
              <a:latin typeface="Arial" pitchFamily="34" charset="0"/>
              <a:cs typeface="Arial" pitchFamily="34" charset="0"/>
            </a:endParaRPr>
          </a:p>
          <a:p>
            <a:pPr lvl="0" eaLnBrk="0" fontAlgn="base" hangingPunct="0">
              <a:spcBef>
                <a:spcPct val="0"/>
              </a:spcBef>
              <a:spcAft>
                <a:spcPct val="0"/>
              </a:spcAft>
            </a:pPr>
            <a:r>
              <a:rPr lang="en-US" sz="2000" dirty="0" smtClean="0">
                <a:solidFill>
                  <a:srgbClr val="2A2A2A"/>
                </a:solidFill>
                <a:latin typeface="var(--font-family--code)"/>
                <a:cs typeface="Arial" pitchFamily="34" charset="0"/>
              </a:rPr>
              <a:t>Cold places = {'Delhi': 27.6, 'Bangalore': 32.1}</a:t>
            </a:r>
            <a:endParaRPr lang="en-US" sz="2000" dirty="0" smtClean="0">
              <a:latin typeface="Arial" pitchFamily="34" charset="0"/>
              <a:cs typeface="Arial" pitchFamily="34" charset="0"/>
            </a:endParaRPr>
          </a:p>
        </p:txBody>
      </p:sp>
      <p:sp>
        <p:nvSpPr>
          <p:cNvPr id="8" name="TextBox 7"/>
          <p:cNvSpPr txBox="1"/>
          <p:nvPr/>
        </p:nvSpPr>
        <p:spPr>
          <a:xfrm>
            <a:off x="927100" y="6753225"/>
            <a:ext cx="1492716" cy="584775"/>
          </a:xfrm>
          <a:prstGeom prst="rect">
            <a:avLst/>
          </a:prstGeom>
          <a:noFill/>
        </p:spPr>
        <p:txBody>
          <a:bodyPr wrap="none" rtlCol="0">
            <a:spAutoFit/>
          </a:bodyPr>
          <a:lstStyle/>
          <a:p>
            <a:r>
              <a:rPr lang="en-US" sz="3200" dirty="0" smtClean="0">
                <a:solidFill>
                  <a:srgbClr val="FF0000"/>
                </a:solidFill>
              </a:rPr>
              <a:t>Output:</a:t>
            </a:r>
            <a:endParaRPr lang="en-US" sz="3200" dirty="0">
              <a:solidFill>
                <a:srgbClr val="FF000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6522</TotalTime>
  <Words>4871</Words>
  <Application>Microsoft Office PowerPoint</Application>
  <PresentationFormat>Custom</PresentationFormat>
  <Paragraphs>745</Paragraphs>
  <Slides>63</Slides>
  <Notes>0</Notes>
  <HiddenSlides>0</HiddenSlides>
  <MMClips>0</MMClips>
  <ScaleCrop>false</ScaleCrop>
  <HeadingPairs>
    <vt:vector size="4" baseType="variant">
      <vt:variant>
        <vt:lpstr>Theme</vt:lpstr>
      </vt:variant>
      <vt:variant>
        <vt:i4>1</vt:i4>
      </vt:variant>
      <vt:variant>
        <vt:lpstr>Slide Titles</vt:lpstr>
      </vt:variant>
      <vt:variant>
        <vt:i4>63</vt:i4>
      </vt:variant>
    </vt:vector>
  </HeadingPairs>
  <TitlesOfParts>
    <vt:vector size="64" baseType="lpstr">
      <vt:lpstr>Office Theme</vt:lpstr>
      <vt:lpstr>Slide 1</vt:lpstr>
      <vt:lpstr>Slide 2</vt:lpstr>
      <vt:lpstr> List - Create list</vt:lpstr>
      <vt:lpstr>Slide 4</vt:lpstr>
      <vt:lpstr> Access list element</vt:lpstr>
      <vt:lpstr>Slide 6</vt:lpstr>
      <vt:lpstr>Slide 7</vt:lpstr>
      <vt:lpstr> List Method – append()</vt:lpstr>
      <vt:lpstr> List Method – insert()</vt:lpstr>
      <vt:lpstr> List Method – extend()</vt:lpstr>
      <vt:lpstr> List Method – sum(), count(), len(), min(), max()</vt:lpstr>
      <vt:lpstr> List Method – sort(), reverse()</vt:lpstr>
      <vt:lpstr> List Method – pop(), del(), remove()</vt:lpstr>
      <vt:lpstr> List Method – clear(), copy(), index()</vt:lpstr>
      <vt:lpstr>Slide 15</vt:lpstr>
      <vt:lpstr>Slide 16</vt:lpstr>
      <vt:lpstr>Slide 17</vt:lpstr>
      <vt:lpstr>Slide 18</vt:lpstr>
      <vt:lpstr>Slide 19</vt:lpstr>
      <vt:lpstr>Slide 20</vt:lpstr>
      <vt:lpstr>Slide 21</vt:lpstr>
      <vt:lpstr>Slide 22</vt:lpstr>
      <vt:lpstr>Slide 23</vt:lpstr>
      <vt:lpstr> Tuples</vt:lpstr>
      <vt:lpstr> Tuples - Create</vt:lpstr>
      <vt:lpstr> Tuples - Concatenation</vt:lpstr>
      <vt:lpstr> Tuples - Slicing</vt:lpstr>
      <vt:lpstr>Slide 28</vt:lpstr>
      <vt:lpstr>Slide 29</vt:lpstr>
      <vt:lpstr> Tuples - Deleting</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 Dictionary</vt:lpstr>
      <vt:lpstr>Slide 45</vt:lpstr>
      <vt:lpstr> Dictionary – Create #Creating an empty dictionary  d = {}</vt:lpstr>
      <vt:lpstr>Slide 47</vt:lpstr>
      <vt:lpstr> Dictionary – Adding element</vt:lpstr>
      <vt:lpstr> Dictionary – Accessing element</vt:lpstr>
      <vt:lpstr>Slide 50</vt:lpstr>
      <vt:lpstr>Slide 51</vt:lpstr>
      <vt:lpstr> Dictionary – Removing element</vt:lpstr>
      <vt:lpstr>Slide 53</vt:lpstr>
      <vt:lpstr>Slide 54</vt:lpstr>
      <vt:lpstr>Slide 55</vt:lpstr>
      <vt:lpstr>Slide 56</vt:lpstr>
      <vt:lpstr>Slide 57</vt:lpstr>
      <vt:lpstr>Slide 58</vt:lpstr>
      <vt:lpstr>Slide 59</vt:lpstr>
      <vt:lpstr>Slide 60</vt:lpstr>
      <vt:lpstr>Slide 61</vt:lpstr>
      <vt:lpstr>Slide 62</vt:lpstr>
      <vt:lpstr>Slide 63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PowerPoint - PYTHON.pptx</dc:title>
  <dc:creator>Arjun</dc:creator>
  <cp:lastModifiedBy>Dell</cp:lastModifiedBy>
  <cp:revision>230</cp:revision>
  <dcterms:created xsi:type="dcterms:W3CDTF">2021-02-01T09:26:32Z</dcterms:created>
  <dcterms:modified xsi:type="dcterms:W3CDTF">2026-08-31T04:20:22Z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2019-10-07T00:00:00Z</vt:filetime>
  </property>
  <property fmtid="{D5CDD505-2E9C-101B-9397-08002B2CF9AE}" pid="3" name="LastSaved">
    <vt:filetime>2021-02-01T00:00:00Z</vt:filetime>
  </property>
</Properties>
</file>