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75" r:id="rId5"/>
    <p:sldId id="259" r:id="rId6"/>
    <p:sldId id="276" r:id="rId7"/>
    <p:sldId id="277" r:id="rId8"/>
    <p:sldId id="260" r:id="rId9"/>
    <p:sldId id="261" r:id="rId10"/>
    <p:sldId id="262" r:id="rId11"/>
    <p:sldId id="263" r:id="rId12"/>
    <p:sldId id="264" r:id="rId13"/>
    <p:sldId id="265" r:id="rId14"/>
    <p:sldId id="266" r:id="rId15"/>
    <p:sldId id="267" r:id="rId16"/>
    <p:sldId id="281" r:id="rId17"/>
    <p:sldId id="268" r:id="rId18"/>
    <p:sldId id="269" r:id="rId19"/>
    <p:sldId id="270" r:id="rId20"/>
    <p:sldId id="286" r:id="rId21"/>
    <p:sldId id="287" r:id="rId22"/>
    <p:sldId id="271" r:id="rId23"/>
    <p:sldId id="272" r:id="rId24"/>
    <p:sldId id="273" r:id="rId25"/>
    <p:sldId id="274" r:id="rId26"/>
    <p:sldId id="282" r:id="rId27"/>
    <p:sldId id="288" r:id="rId28"/>
    <p:sldId id="278" r:id="rId29"/>
    <p:sldId id="283" r:id="rId30"/>
    <p:sldId id="284" r:id="rId31"/>
    <p:sldId id="279" r:id="rId32"/>
    <p:sldId id="285" r:id="rId33"/>
    <p:sldId id="289" r:id="rId34"/>
    <p:sldId id="291" r:id="rId35"/>
    <p:sldId id="292" r:id="rId36"/>
    <p:sldId id="280" r:id="rId37"/>
    <p:sldId id="290" r:id="rId38"/>
  </p:sldIdLst>
  <p:sldSz cx="9144000" cy="6858000" type="screen4x3"/>
  <p:notesSz cx="9144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9" d="100"/>
          <a:sy n="69" d="100"/>
        </p:scale>
        <p:origin x="1416" y="7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685800" y="2125980"/>
            <a:ext cx="7772400" cy="1440180"/>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371600" y="3840480"/>
            <a:ext cx="64008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8/17/2026</a:t>
            </a:fld>
            <a:endParaRPr lang="en-US"/>
          </a:p>
        </p:txBody>
      </p:sp>
      <p:sp>
        <p:nvSpPr>
          <p:cNvPr id="6" name="Holder 6"/>
          <p:cNvSpPr>
            <a:spLocks noGrp="1"/>
          </p:cNvSpPr>
          <p:nvPr>
            <p:ph type="sldNum" sz="quarter" idx="7"/>
          </p:nvPr>
        </p:nvSpPr>
        <p:spPr/>
        <p:txBody>
          <a:bodyPr lIns="0" tIns="0" rIns="0" bIns="0"/>
          <a:lstStyle>
            <a:lvl1pPr>
              <a:defRPr sz="1200" b="0" i="0">
                <a:solidFill>
                  <a:srgbClr val="888888"/>
                </a:solidFill>
                <a:latin typeface="Calibri"/>
                <a:cs typeface="Calibri"/>
              </a:defRPr>
            </a:lvl1pPr>
          </a:lstStyle>
          <a:p>
            <a:pPr marL="38100">
              <a:lnSpc>
                <a:spcPts val="1240"/>
              </a:lnSpc>
            </a:pPr>
            <a:fld id="{81D60167-4931-47E6-BA6A-407CBD079E47}" type="slidenum">
              <a:rPr dirty="0"/>
              <a:pPr marL="38100">
                <a:lnSpc>
                  <a:spcPts val="1240"/>
                </a:lnSpc>
              </a:pPr>
              <a:t>‹#›</a:t>
            </a:fld>
            <a:endParaRPr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0" i="0">
                <a:solidFill>
                  <a:schemeClr val="tx1"/>
                </a:solidFill>
                <a:latin typeface="Calibri"/>
                <a:cs typeface="Calibri"/>
              </a:defRPr>
            </a:lvl1pPr>
          </a:lstStyle>
          <a:p>
            <a:endParaRPr/>
          </a:p>
        </p:txBody>
      </p:sp>
      <p:sp>
        <p:nvSpPr>
          <p:cNvPr id="3" name="Holder 3"/>
          <p:cNvSpPr>
            <a:spLocks noGrp="1"/>
          </p:cNvSpPr>
          <p:nvPr>
            <p:ph type="body" idx="1"/>
          </p:nvPr>
        </p:nvSpPr>
        <p:spPr/>
        <p:txBody>
          <a:bodyPr lIns="0" tIns="0" rIns="0" bIns="0"/>
          <a:lstStyle>
            <a:lvl1pPr>
              <a:defRPr sz="3200" b="0" i="0">
                <a:solidFill>
                  <a:schemeClr val="tx1"/>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8/17/2026</a:t>
            </a:fld>
            <a:endParaRPr lang="en-US"/>
          </a:p>
        </p:txBody>
      </p:sp>
      <p:sp>
        <p:nvSpPr>
          <p:cNvPr id="6" name="Holder 6"/>
          <p:cNvSpPr>
            <a:spLocks noGrp="1"/>
          </p:cNvSpPr>
          <p:nvPr>
            <p:ph type="sldNum" sz="quarter" idx="7"/>
          </p:nvPr>
        </p:nvSpPr>
        <p:spPr/>
        <p:txBody>
          <a:bodyPr lIns="0" tIns="0" rIns="0" bIns="0"/>
          <a:lstStyle>
            <a:lvl1pPr>
              <a:defRPr sz="1200" b="0" i="0">
                <a:solidFill>
                  <a:srgbClr val="888888"/>
                </a:solidFill>
                <a:latin typeface="Calibri"/>
                <a:cs typeface="Calibri"/>
              </a:defRPr>
            </a:lvl1pPr>
          </a:lstStyle>
          <a:p>
            <a:pPr marL="38100">
              <a:lnSpc>
                <a:spcPts val="1240"/>
              </a:lnSpc>
            </a:pPr>
            <a:fld id="{81D60167-4931-47E6-BA6A-407CBD079E47}" type="slidenum">
              <a:rPr dirty="0"/>
              <a:pPr marL="38100">
                <a:lnSpc>
                  <a:spcPts val="1240"/>
                </a:lnSpc>
              </a:pPr>
              <a:t>‹#›</a:t>
            </a:fld>
            <a:endParaRPr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0" i="0">
                <a:solidFill>
                  <a:schemeClr val="tx1"/>
                </a:solidFill>
                <a:latin typeface="Calibri"/>
                <a:cs typeface="Calibri"/>
              </a:defRPr>
            </a:lvl1pPr>
          </a:lstStyle>
          <a:p>
            <a:endParaRPr/>
          </a:p>
        </p:txBody>
      </p:sp>
      <p:sp>
        <p:nvSpPr>
          <p:cNvPr id="3" name="Holder 3"/>
          <p:cNvSpPr>
            <a:spLocks noGrp="1"/>
          </p:cNvSpPr>
          <p:nvPr>
            <p:ph sz="half" idx="2"/>
          </p:nvPr>
        </p:nvSpPr>
        <p:spPr>
          <a:xfrm>
            <a:off x="457200" y="1577340"/>
            <a:ext cx="397764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577340"/>
            <a:ext cx="397764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8/17/2026</a:t>
            </a:fld>
            <a:endParaRPr lang="en-US"/>
          </a:p>
        </p:txBody>
      </p:sp>
      <p:sp>
        <p:nvSpPr>
          <p:cNvPr id="7" name="Holder 7"/>
          <p:cNvSpPr>
            <a:spLocks noGrp="1"/>
          </p:cNvSpPr>
          <p:nvPr>
            <p:ph type="sldNum" sz="quarter" idx="7"/>
          </p:nvPr>
        </p:nvSpPr>
        <p:spPr/>
        <p:txBody>
          <a:bodyPr lIns="0" tIns="0" rIns="0" bIns="0"/>
          <a:lstStyle>
            <a:lvl1pPr>
              <a:defRPr sz="1200" b="0" i="0">
                <a:solidFill>
                  <a:srgbClr val="888888"/>
                </a:solidFill>
                <a:latin typeface="Calibri"/>
                <a:cs typeface="Calibri"/>
              </a:defRPr>
            </a:lvl1pPr>
          </a:lstStyle>
          <a:p>
            <a:pPr marL="38100">
              <a:lnSpc>
                <a:spcPts val="1240"/>
              </a:lnSpc>
            </a:pPr>
            <a:fld id="{81D60167-4931-47E6-BA6A-407CBD079E47}" type="slidenum">
              <a:rPr dirty="0"/>
              <a:pPr marL="38100">
                <a:lnSpc>
                  <a:spcPts val="1240"/>
                </a:lnSpc>
              </a:pPr>
              <a:t>‹#›</a:t>
            </a:fld>
            <a:endParaRPr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0" i="0">
                <a:solidFill>
                  <a:schemeClr val="tx1"/>
                </a:solidFill>
                <a:latin typeface="Calibri"/>
                <a:cs typeface="Calibri"/>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8/17/2026</a:t>
            </a:fld>
            <a:endParaRPr lang="en-US"/>
          </a:p>
        </p:txBody>
      </p:sp>
      <p:sp>
        <p:nvSpPr>
          <p:cNvPr id="5" name="Holder 5"/>
          <p:cNvSpPr>
            <a:spLocks noGrp="1"/>
          </p:cNvSpPr>
          <p:nvPr>
            <p:ph type="sldNum" sz="quarter" idx="7"/>
          </p:nvPr>
        </p:nvSpPr>
        <p:spPr/>
        <p:txBody>
          <a:bodyPr lIns="0" tIns="0" rIns="0" bIns="0"/>
          <a:lstStyle>
            <a:lvl1pPr>
              <a:defRPr sz="1200" b="0" i="0">
                <a:solidFill>
                  <a:srgbClr val="888888"/>
                </a:solidFill>
                <a:latin typeface="Calibri"/>
                <a:cs typeface="Calibri"/>
              </a:defRPr>
            </a:lvl1pPr>
          </a:lstStyle>
          <a:p>
            <a:pPr marL="38100">
              <a:lnSpc>
                <a:spcPts val="1240"/>
              </a:lnSpc>
            </a:pPr>
            <a:fld id="{81D60167-4931-47E6-BA6A-407CBD079E47}" type="slidenum">
              <a:rPr dirty="0"/>
              <a:pPr marL="38100">
                <a:lnSpc>
                  <a:spcPts val="1240"/>
                </a:lnSpc>
              </a:pPr>
              <a:t>‹#›</a:t>
            </a:fld>
            <a:endParaRPr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8/17/2026</a:t>
            </a:fld>
            <a:endParaRPr lang="en-US"/>
          </a:p>
        </p:txBody>
      </p:sp>
      <p:sp>
        <p:nvSpPr>
          <p:cNvPr id="4" name="Holder 4"/>
          <p:cNvSpPr>
            <a:spLocks noGrp="1"/>
          </p:cNvSpPr>
          <p:nvPr>
            <p:ph type="sldNum" sz="quarter" idx="7"/>
          </p:nvPr>
        </p:nvSpPr>
        <p:spPr/>
        <p:txBody>
          <a:bodyPr lIns="0" tIns="0" rIns="0" bIns="0"/>
          <a:lstStyle>
            <a:lvl1pPr>
              <a:defRPr sz="1200" b="0" i="0">
                <a:solidFill>
                  <a:srgbClr val="888888"/>
                </a:solidFill>
                <a:latin typeface="Calibri"/>
                <a:cs typeface="Calibri"/>
              </a:defRPr>
            </a:lvl1pPr>
          </a:lstStyle>
          <a:p>
            <a:pPr marL="38100">
              <a:lnSpc>
                <a:spcPts val="1240"/>
              </a:lnSpc>
            </a:pPr>
            <a:fld id="{81D60167-4931-47E6-BA6A-407CBD079E47}" type="slidenum">
              <a:rPr dirty="0"/>
              <a:pPr marL="38100">
                <a:lnSpc>
                  <a:spcPts val="1240"/>
                </a:lnSpc>
              </a:pPr>
              <a:t>‹#›</a:t>
            </a:fld>
            <a:endParaRPr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535940" y="293963"/>
            <a:ext cx="6804025" cy="1921510"/>
          </a:xfrm>
          <a:prstGeom prst="rect">
            <a:avLst/>
          </a:prstGeom>
        </p:spPr>
        <p:txBody>
          <a:bodyPr wrap="square" lIns="0" tIns="0" rIns="0" bIns="0">
            <a:spAutoFit/>
          </a:bodyPr>
          <a:lstStyle>
            <a:lvl1pPr>
              <a:defRPr sz="3600" b="0" i="0">
                <a:solidFill>
                  <a:schemeClr val="tx1"/>
                </a:solidFill>
                <a:latin typeface="Calibri"/>
                <a:cs typeface="Calibri"/>
              </a:defRPr>
            </a:lvl1pPr>
          </a:lstStyle>
          <a:p>
            <a:endParaRPr/>
          </a:p>
        </p:txBody>
      </p:sp>
      <p:sp>
        <p:nvSpPr>
          <p:cNvPr id="3" name="Holder 3"/>
          <p:cNvSpPr>
            <a:spLocks noGrp="1"/>
          </p:cNvSpPr>
          <p:nvPr>
            <p:ph type="body" idx="1"/>
          </p:nvPr>
        </p:nvSpPr>
        <p:spPr>
          <a:xfrm>
            <a:off x="535940" y="1385062"/>
            <a:ext cx="8149590" cy="3050540"/>
          </a:xfrm>
          <a:prstGeom prst="rect">
            <a:avLst/>
          </a:prstGeom>
        </p:spPr>
        <p:txBody>
          <a:bodyPr wrap="square" lIns="0" tIns="0" rIns="0" bIns="0">
            <a:spAutoFit/>
          </a:bodyPr>
          <a:lstStyle>
            <a:lvl1pPr>
              <a:defRPr sz="3200" b="0" i="0">
                <a:solidFill>
                  <a:schemeClr val="tx1"/>
                </a:solidFill>
                <a:latin typeface="Calibri"/>
                <a:cs typeface="Calibri"/>
              </a:defRPr>
            </a:lvl1pPr>
          </a:lstStyle>
          <a:p>
            <a:endParaRPr/>
          </a:p>
        </p:txBody>
      </p:sp>
      <p:sp>
        <p:nvSpPr>
          <p:cNvPr id="4" name="Holder 4"/>
          <p:cNvSpPr>
            <a:spLocks noGrp="1"/>
          </p:cNvSpPr>
          <p:nvPr>
            <p:ph type="ftr" sz="quarter" idx="5"/>
          </p:nvPr>
        </p:nvSpPr>
        <p:spPr>
          <a:xfrm>
            <a:off x="3108960" y="6377940"/>
            <a:ext cx="292608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457200" y="6377940"/>
            <a:ext cx="210312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pPr/>
              <a:t>8/17/2026</a:t>
            </a:fld>
            <a:endParaRPr lang="en-US"/>
          </a:p>
        </p:txBody>
      </p:sp>
      <p:sp>
        <p:nvSpPr>
          <p:cNvPr id="6" name="Holder 6"/>
          <p:cNvSpPr>
            <a:spLocks noGrp="1"/>
          </p:cNvSpPr>
          <p:nvPr>
            <p:ph type="sldNum" sz="quarter" idx="7"/>
          </p:nvPr>
        </p:nvSpPr>
        <p:spPr>
          <a:xfrm>
            <a:off x="8401557" y="6464909"/>
            <a:ext cx="231775" cy="177800"/>
          </a:xfrm>
          <a:prstGeom prst="rect">
            <a:avLst/>
          </a:prstGeom>
        </p:spPr>
        <p:txBody>
          <a:bodyPr wrap="square" lIns="0" tIns="0" rIns="0" bIns="0">
            <a:spAutoFit/>
          </a:bodyPr>
          <a:lstStyle>
            <a:lvl1pPr>
              <a:defRPr sz="1200" b="0" i="0">
                <a:solidFill>
                  <a:srgbClr val="888888"/>
                </a:solidFill>
                <a:latin typeface="Calibri"/>
                <a:cs typeface="Calibri"/>
              </a:defRPr>
            </a:lvl1pPr>
          </a:lstStyle>
          <a:p>
            <a:pPr marL="38100">
              <a:lnSpc>
                <a:spcPts val="1240"/>
              </a:lnSpc>
            </a:pPr>
            <a:fld id="{81D60167-4931-47E6-BA6A-407CBD079E47}" type="slidenum">
              <a:rPr dirty="0"/>
              <a:pPr marL="38100">
                <a:lnSpc>
                  <a:spcPts val="1240"/>
                </a:lnSpc>
              </a:pPr>
              <a:t>‹#›</a:t>
            </a:fld>
            <a:endParaRPr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hyperlink" Target="https://www.programiz.com/python-programming/tuple" TargetMode="External"/><Relationship Id="rId2" Type="http://schemas.openxmlformats.org/officeDocument/2006/relationships/hyperlink" Target="https://www.programiz.com/python-programming/list" TargetMode="External"/><Relationship Id="rId1" Type="http://schemas.openxmlformats.org/officeDocument/2006/relationships/slideLayout" Target="../slideLayouts/slideLayout2.xml"/><Relationship Id="rId4" Type="http://schemas.openxmlformats.org/officeDocument/2006/relationships/hyperlink" Target="https://www.programiz.com/python-programming/string" TargetMode="External"/></Relationships>
</file>

<file path=ppt/slides/_rels/slide24.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24000" y="2743200"/>
            <a:ext cx="6437630" cy="2440305"/>
          </a:xfrm>
          <a:prstGeom prst="rect">
            <a:avLst/>
          </a:prstGeom>
        </p:spPr>
        <p:txBody>
          <a:bodyPr vert="horz" wrap="square" lIns="0" tIns="146685" rIns="0" bIns="0" rtlCol="0">
            <a:spAutoFit/>
          </a:bodyPr>
          <a:lstStyle/>
          <a:p>
            <a:pPr marL="12700">
              <a:lnSpc>
                <a:spcPct val="100000"/>
              </a:lnSpc>
              <a:spcBef>
                <a:spcPts val="1155"/>
              </a:spcBef>
            </a:pPr>
            <a:r>
              <a:rPr sz="4400" b="1" spc="-10" dirty="0">
                <a:solidFill>
                  <a:srgbClr val="6F2F9F"/>
                </a:solidFill>
                <a:latin typeface="Calibri"/>
                <a:cs typeface="Calibri"/>
              </a:rPr>
              <a:t>CONDITIONAL</a:t>
            </a:r>
            <a:r>
              <a:rPr sz="4400" b="1" spc="-50" dirty="0">
                <a:solidFill>
                  <a:srgbClr val="6F2F9F"/>
                </a:solidFill>
                <a:latin typeface="Calibri"/>
                <a:cs typeface="Calibri"/>
              </a:rPr>
              <a:t> </a:t>
            </a:r>
            <a:r>
              <a:rPr sz="4400" b="1" spc="-80" dirty="0">
                <a:solidFill>
                  <a:srgbClr val="6F2F9F"/>
                </a:solidFill>
                <a:latin typeface="Calibri"/>
                <a:cs typeface="Calibri"/>
              </a:rPr>
              <a:t>STATEMENTS</a:t>
            </a:r>
            <a:endParaRPr sz="4400" dirty="0">
              <a:latin typeface="Calibri"/>
              <a:cs typeface="Calibri"/>
            </a:endParaRPr>
          </a:p>
          <a:p>
            <a:pPr marL="600710" marR="462280" indent="2182495">
              <a:lnSpc>
                <a:spcPct val="120000"/>
              </a:lnSpc>
              <a:spcBef>
                <a:spcPts val="5"/>
              </a:spcBef>
            </a:pPr>
            <a:r>
              <a:rPr sz="4400" b="1" dirty="0">
                <a:solidFill>
                  <a:srgbClr val="6F2F9F"/>
                </a:solidFill>
                <a:latin typeface="Calibri"/>
                <a:cs typeface="Calibri"/>
              </a:rPr>
              <a:t>and  </a:t>
            </a:r>
            <a:r>
              <a:rPr sz="4400" b="1" spc="-15" dirty="0">
                <a:solidFill>
                  <a:srgbClr val="6F2F9F"/>
                </a:solidFill>
                <a:latin typeface="Calibri"/>
                <a:cs typeface="Calibri"/>
              </a:rPr>
              <a:t>CONTROL</a:t>
            </a:r>
            <a:r>
              <a:rPr sz="4400" b="1" spc="-80" dirty="0">
                <a:solidFill>
                  <a:srgbClr val="6F2F9F"/>
                </a:solidFill>
                <a:latin typeface="Calibri"/>
                <a:cs typeface="Calibri"/>
              </a:rPr>
              <a:t> STATEMENTS</a:t>
            </a:r>
            <a:endParaRPr sz="4400" dirty="0">
              <a:latin typeface="Calibri"/>
              <a:cs typeface="Calibri"/>
            </a:endParaRPr>
          </a:p>
        </p:txBody>
      </p:sp>
      <p:sp>
        <p:nvSpPr>
          <p:cNvPr id="7" name="object 7"/>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pPr marL="38100">
                <a:lnSpc>
                  <a:spcPts val="1240"/>
                </a:lnSpc>
              </a:pPr>
              <a:t>1</a:t>
            </a:fld>
            <a:endParaRPr dirty="0"/>
          </a:p>
        </p:txBody>
      </p:sp>
      <p:sp>
        <p:nvSpPr>
          <p:cNvPr id="8" name="object 4"/>
          <p:cNvSpPr/>
          <p:nvPr/>
        </p:nvSpPr>
        <p:spPr>
          <a:xfrm>
            <a:off x="3048000" y="533400"/>
            <a:ext cx="2438400" cy="1990344"/>
          </a:xfrm>
          <a:prstGeom prst="rect">
            <a:avLst/>
          </a:prstGeom>
          <a:blipFill>
            <a:blip r:embed="rId2" cstate="print"/>
            <a:stretch>
              <a:fillRect/>
            </a:stretch>
          </a:blipFill>
        </p:spPr>
        <p:txBody>
          <a:bodyPr wrap="square" lIns="0" tIns="0" rIns="0" bIns="0" rtlCol="0"/>
          <a:lstStyle/>
          <a:p>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67004" y="235407"/>
            <a:ext cx="7655559" cy="514350"/>
          </a:xfrm>
          <a:prstGeom prst="rect">
            <a:avLst/>
          </a:prstGeom>
        </p:spPr>
        <p:txBody>
          <a:bodyPr vert="horz" wrap="square" lIns="0" tIns="13335" rIns="0" bIns="0" rtlCol="0">
            <a:spAutoFit/>
          </a:bodyPr>
          <a:lstStyle/>
          <a:p>
            <a:pPr marL="12700">
              <a:lnSpc>
                <a:spcPct val="100000"/>
              </a:lnSpc>
              <a:spcBef>
                <a:spcPts val="105"/>
              </a:spcBef>
            </a:pPr>
            <a:r>
              <a:rPr sz="3200" spc="-5" dirty="0">
                <a:solidFill>
                  <a:srgbClr val="FF0000"/>
                </a:solidFill>
              </a:rPr>
              <a:t>CONDITIONAL </a:t>
            </a:r>
            <a:r>
              <a:rPr sz="3200" spc="-60" dirty="0">
                <a:solidFill>
                  <a:srgbClr val="FF0000"/>
                </a:solidFill>
              </a:rPr>
              <a:t>STATEMENTS </a:t>
            </a:r>
            <a:r>
              <a:rPr sz="3200" spc="-5" dirty="0">
                <a:solidFill>
                  <a:srgbClr val="FF0000"/>
                </a:solidFill>
              </a:rPr>
              <a:t>(Decision</a:t>
            </a:r>
            <a:r>
              <a:rPr sz="3200" spc="90" dirty="0">
                <a:solidFill>
                  <a:srgbClr val="FF0000"/>
                </a:solidFill>
              </a:rPr>
              <a:t> </a:t>
            </a:r>
            <a:r>
              <a:rPr sz="3200" dirty="0">
                <a:solidFill>
                  <a:srgbClr val="FF0000"/>
                </a:solidFill>
              </a:rPr>
              <a:t>Making)</a:t>
            </a:r>
            <a:endParaRPr sz="3200"/>
          </a:p>
        </p:txBody>
      </p:sp>
      <p:grpSp>
        <p:nvGrpSpPr>
          <p:cNvPr id="3" name="object 3"/>
          <p:cNvGrpSpPr/>
          <p:nvPr/>
        </p:nvGrpSpPr>
        <p:grpSpPr>
          <a:xfrm>
            <a:off x="2578607" y="4636008"/>
            <a:ext cx="5360035" cy="1931035"/>
            <a:chOff x="2578607" y="4636008"/>
            <a:chExt cx="5360035" cy="1931035"/>
          </a:xfrm>
        </p:grpSpPr>
        <p:sp>
          <p:nvSpPr>
            <p:cNvPr id="4" name="object 4"/>
            <p:cNvSpPr/>
            <p:nvPr/>
          </p:nvSpPr>
          <p:spPr>
            <a:xfrm>
              <a:off x="2591561" y="4648962"/>
              <a:ext cx="5334000" cy="1905000"/>
            </a:xfrm>
            <a:custGeom>
              <a:avLst/>
              <a:gdLst/>
              <a:ahLst/>
              <a:cxnLst/>
              <a:rect l="l" t="t" r="r" b="b"/>
              <a:pathLst>
                <a:path w="5334000" h="1905000">
                  <a:moveTo>
                    <a:pt x="5016499" y="0"/>
                  </a:moveTo>
                  <a:lnTo>
                    <a:pt x="317500" y="0"/>
                  </a:lnTo>
                  <a:lnTo>
                    <a:pt x="270573" y="3441"/>
                  </a:lnTo>
                  <a:lnTo>
                    <a:pt x="225788" y="13439"/>
                  </a:lnTo>
                  <a:lnTo>
                    <a:pt x="183634" y="29503"/>
                  </a:lnTo>
                  <a:lnTo>
                    <a:pt x="144601" y="51141"/>
                  </a:lnTo>
                  <a:lnTo>
                    <a:pt x="109181" y="77865"/>
                  </a:lnTo>
                  <a:lnTo>
                    <a:pt x="77865" y="109181"/>
                  </a:lnTo>
                  <a:lnTo>
                    <a:pt x="51141" y="144601"/>
                  </a:lnTo>
                  <a:lnTo>
                    <a:pt x="29503" y="183634"/>
                  </a:lnTo>
                  <a:lnTo>
                    <a:pt x="13439" y="225788"/>
                  </a:lnTo>
                  <a:lnTo>
                    <a:pt x="3441" y="270573"/>
                  </a:lnTo>
                  <a:lnTo>
                    <a:pt x="0" y="317500"/>
                  </a:lnTo>
                  <a:lnTo>
                    <a:pt x="0" y="1587487"/>
                  </a:lnTo>
                  <a:lnTo>
                    <a:pt x="3441" y="1634407"/>
                  </a:lnTo>
                  <a:lnTo>
                    <a:pt x="13439" y="1679190"/>
                  </a:lnTo>
                  <a:lnTo>
                    <a:pt x="29503" y="1721344"/>
                  </a:lnTo>
                  <a:lnTo>
                    <a:pt x="51141" y="1760378"/>
                  </a:lnTo>
                  <a:lnTo>
                    <a:pt x="77865" y="1795800"/>
                  </a:lnTo>
                  <a:lnTo>
                    <a:pt x="109181" y="1827120"/>
                  </a:lnTo>
                  <a:lnTo>
                    <a:pt x="144601" y="1853847"/>
                  </a:lnTo>
                  <a:lnTo>
                    <a:pt x="183634" y="1875490"/>
                  </a:lnTo>
                  <a:lnTo>
                    <a:pt x="225788" y="1891557"/>
                  </a:lnTo>
                  <a:lnTo>
                    <a:pt x="270573" y="1901557"/>
                  </a:lnTo>
                  <a:lnTo>
                    <a:pt x="317500" y="1905000"/>
                  </a:lnTo>
                  <a:lnTo>
                    <a:pt x="5016499" y="1905000"/>
                  </a:lnTo>
                  <a:lnTo>
                    <a:pt x="5063426" y="1901557"/>
                  </a:lnTo>
                  <a:lnTo>
                    <a:pt x="5108211" y="1891557"/>
                  </a:lnTo>
                  <a:lnTo>
                    <a:pt x="5150365" y="1875490"/>
                  </a:lnTo>
                  <a:lnTo>
                    <a:pt x="5189398" y="1853847"/>
                  </a:lnTo>
                  <a:lnTo>
                    <a:pt x="5224818" y="1827120"/>
                  </a:lnTo>
                  <a:lnTo>
                    <a:pt x="5256134" y="1795800"/>
                  </a:lnTo>
                  <a:lnTo>
                    <a:pt x="5282858" y="1760378"/>
                  </a:lnTo>
                  <a:lnTo>
                    <a:pt x="5304496" y="1721344"/>
                  </a:lnTo>
                  <a:lnTo>
                    <a:pt x="5320560" y="1679190"/>
                  </a:lnTo>
                  <a:lnTo>
                    <a:pt x="5330558" y="1634407"/>
                  </a:lnTo>
                  <a:lnTo>
                    <a:pt x="5333999" y="1587487"/>
                  </a:lnTo>
                  <a:lnTo>
                    <a:pt x="5333999" y="317500"/>
                  </a:lnTo>
                  <a:lnTo>
                    <a:pt x="5330558" y="270573"/>
                  </a:lnTo>
                  <a:lnTo>
                    <a:pt x="5320560" y="225788"/>
                  </a:lnTo>
                  <a:lnTo>
                    <a:pt x="5304496" y="183634"/>
                  </a:lnTo>
                  <a:lnTo>
                    <a:pt x="5282858" y="144601"/>
                  </a:lnTo>
                  <a:lnTo>
                    <a:pt x="5256134" y="109181"/>
                  </a:lnTo>
                  <a:lnTo>
                    <a:pt x="5224818" y="77865"/>
                  </a:lnTo>
                  <a:lnTo>
                    <a:pt x="5189398" y="51141"/>
                  </a:lnTo>
                  <a:lnTo>
                    <a:pt x="5150365" y="29503"/>
                  </a:lnTo>
                  <a:lnTo>
                    <a:pt x="5108211" y="13439"/>
                  </a:lnTo>
                  <a:lnTo>
                    <a:pt x="5063426" y="3441"/>
                  </a:lnTo>
                  <a:lnTo>
                    <a:pt x="5016499" y="0"/>
                  </a:lnTo>
                  <a:close/>
                </a:path>
              </a:pathLst>
            </a:custGeom>
            <a:solidFill>
              <a:srgbClr val="77923B"/>
            </a:solidFill>
          </p:spPr>
          <p:txBody>
            <a:bodyPr wrap="square" lIns="0" tIns="0" rIns="0" bIns="0" rtlCol="0"/>
            <a:lstStyle/>
            <a:p>
              <a:endParaRPr/>
            </a:p>
          </p:txBody>
        </p:sp>
        <p:sp>
          <p:nvSpPr>
            <p:cNvPr id="5" name="object 5"/>
            <p:cNvSpPr/>
            <p:nvPr/>
          </p:nvSpPr>
          <p:spPr>
            <a:xfrm>
              <a:off x="2591561" y="4648962"/>
              <a:ext cx="5334000" cy="1905000"/>
            </a:xfrm>
            <a:custGeom>
              <a:avLst/>
              <a:gdLst/>
              <a:ahLst/>
              <a:cxnLst/>
              <a:rect l="l" t="t" r="r" b="b"/>
              <a:pathLst>
                <a:path w="5334000" h="1905000">
                  <a:moveTo>
                    <a:pt x="0" y="317500"/>
                  </a:moveTo>
                  <a:lnTo>
                    <a:pt x="3441" y="270573"/>
                  </a:lnTo>
                  <a:lnTo>
                    <a:pt x="13439" y="225788"/>
                  </a:lnTo>
                  <a:lnTo>
                    <a:pt x="29503" y="183634"/>
                  </a:lnTo>
                  <a:lnTo>
                    <a:pt x="51141" y="144601"/>
                  </a:lnTo>
                  <a:lnTo>
                    <a:pt x="77865" y="109181"/>
                  </a:lnTo>
                  <a:lnTo>
                    <a:pt x="109181" y="77865"/>
                  </a:lnTo>
                  <a:lnTo>
                    <a:pt x="144601" y="51141"/>
                  </a:lnTo>
                  <a:lnTo>
                    <a:pt x="183634" y="29503"/>
                  </a:lnTo>
                  <a:lnTo>
                    <a:pt x="225788" y="13439"/>
                  </a:lnTo>
                  <a:lnTo>
                    <a:pt x="270573" y="3441"/>
                  </a:lnTo>
                  <a:lnTo>
                    <a:pt x="317500" y="0"/>
                  </a:lnTo>
                  <a:lnTo>
                    <a:pt x="5016499" y="0"/>
                  </a:lnTo>
                  <a:lnTo>
                    <a:pt x="5063426" y="3441"/>
                  </a:lnTo>
                  <a:lnTo>
                    <a:pt x="5108211" y="13439"/>
                  </a:lnTo>
                  <a:lnTo>
                    <a:pt x="5150365" y="29503"/>
                  </a:lnTo>
                  <a:lnTo>
                    <a:pt x="5189398" y="51141"/>
                  </a:lnTo>
                  <a:lnTo>
                    <a:pt x="5224818" y="77865"/>
                  </a:lnTo>
                  <a:lnTo>
                    <a:pt x="5256134" y="109181"/>
                  </a:lnTo>
                  <a:lnTo>
                    <a:pt x="5282858" y="144601"/>
                  </a:lnTo>
                  <a:lnTo>
                    <a:pt x="5304496" y="183634"/>
                  </a:lnTo>
                  <a:lnTo>
                    <a:pt x="5320560" y="225788"/>
                  </a:lnTo>
                  <a:lnTo>
                    <a:pt x="5330558" y="270573"/>
                  </a:lnTo>
                  <a:lnTo>
                    <a:pt x="5333999" y="317500"/>
                  </a:lnTo>
                  <a:lnTo>
                    <a:pt x="5333999" y="1587487"/>
                  </a:lnTo>
                  <a:lnTo>
                    <a:pt x="5330558" y="1634407"/>
                  </a:lnTo>
                  <a:lnTo>
                    <a:pt x="5320560" y="1679190"/>
                  </a:lnTo>
                  <a:lnTo>
                    <a:pt x="5304496" y="1721344"/>
                  </a:lnTo>
                  <a:lnTo>
                    <a:pt x="5282858" y="1760378"/>
                  </a:lnTo>
                  <a:lnTo>
                    <a:pt x="5256134" y="1795800"/>
                  </a:lnTo>
                  <a:lnTo>
                    <a:pt x="5224818" y="1827120"/>
                  </a:lnTo>
                  <a:lnTo>
                    <a:pt x="5189398" y="1853847"/>
                  </a:lnTo>
                  <a:lnTo>
                    <a:pt x="5150365" y="1875490"/>
                  </a:lnTo>
                  <a:lnTo>
                    <a:pt x="5108211" y="1891557"/>
                  </a:lnTo>
                  <a:lnTo>
                    <a:pt x="5063426" y="1901557"/>
                  </a:lnTo>
                  <a:lnTo>
                    <a:pt x="5016499" y="1905000"/>
                  </a:lnTo>
                  <a:lnTo>
                    <a:pt x="317500" y="1905000"/>
                  </a:lnTo>
                  <a:lnTo>
                    <a:pt x="270573" y="1901557"/>
                  </a:lnTo>
                  <a:lnTo>
                    <a:pt x="225788" y="1891557"/>
                  </a:lnTo>
                  <a:lnTo>
                    <a:pt x="183634" y="1875490"/>
                  </a:lnTo>
                  <a:lnTo>
                    <a:pt x="144601" y="1853847"/>
                  </a:lnTo>
                  <a:lnTo>
                    <a:pt x="109181" y="1827120"/>
                  </a:lnTo>
                  <a:lnTo>
                    <a:pt x="77865" y="1795800"/>
                  </a:lnTo>
                  <a:lnTo>
                    <a:pt x="51141" y="1760378"/>
                  </a:lnTo>
                  <a:lnTo>
                    <a:pt x="29503" y="1721344"/>
                  </a:lnTo>
                  <a:lnTo>
                    <a:pt x="13439" y="1679190"/>
                  </a:lnTo>
                  <a:lnTo>
                    <a:pt x="3441" y="1634407"/>
                  </a:lnTo>
                  <a:lnTo>
                    <a:pt x="0" y="1587487"/>
                  </a:lnTo>
                  <a:lnTo>
                    <a:pt x="0" y="317500"/>
                  </a:lnTo>
                  <a:close/>
                </a:path>
              </a:pathLst>
            </a:custGeom>
            <a:ln w="25908">
              <a:solidFill>
                <a:srgbClr val="385D89"/>
              </a:solidFill>
            </a:ln>
          </p:spPr>
          <p:txBody>
            <a:bodyPr wrap="square" lIns="0" tIns="0" rIns="0" bIns="0" rtlCol="0"/>
            <a:lstStyle/>
            <a:p>
              <a:endParaRPr/>
            </a:p>
          </p:txBody>
        </p:sp>
      </p:grpSp>
      <p:sp>
        <p:nvSpPr>
          <p:cNvPr id="6" name="object 6"/>
          <p:cNvSpPr txBox="1"/>
          <p:nvPr/>
        </p:nvSpPr>
        <p:spPr>
          <a:xfrm>
            <a:off x="383540" y="821182"/>
            <a:ext cx="8225155" cy="5623560"/>
          </a:xfrm>
          <a:prstGeom prst="rect">
            <a:avLst/>
          </a:prstGeom>
        </p:spPr>
        <p:txBody>
          <a:bodyPr vert="horz" wrap="square" lIns="0" tIns="13335" rIns="0" bIns="0" rtlCol="0">
            <a:spAutoFit/>
          </a:bodyPr>
          <a:lstStyle/>
          <a:p>
            <a:pPr marL="355600" marR="5080" indent="-342900" algn="just">
              <a:lnSpc>
                <a:spcPct val="100000"/>
              </a:lnSpc>
              <a:spcBef>
                <a:spcPts val="105"/>
              </a:spcBef>
              <a:buSzPct val="96875"/>
              <a:buFont typeface="Wingdings"/>
              <a:buChar char=""/>
              <a:tabLst>
                <a:tab pos="376555" algn="l"/>
              </a:tabLst>
            </a:pPr>
            <a:r>
              <a:rPr sz="3200" spc="-5" dirty="0">
                <a:latin typeface="Calibri"/>
                <a:cs typeface="Calibri"/>
              </a:rPr>
              <a:t>The basic decision </a:t>
            </a:r>
            <a:r>
              <a:rPr sz="3200" spc="-15" dirty="0">
                <a:latin typeface="Calibri"/>
                <a:cs typeface="Calibri"/>
              </a:rPr>
              <a:t>statements </a:t>
            </a:r>
            <a:r>
              <a:rPr sz="3200" dirty="0">
                <a:latin typeface="Calibri"/>
                <a:cs typeface="Calibri"/>
              </a:rPr>
              <a:t>in </a:t>
            </a:r>
            <a:r>
              <a:rPr sz="3200" spc="-10" dirty="0">
                <a:latin typeface="Calibri"/>
                <a:cs typeface="Calibri"/>
              </a:rPr>
              <a:t>computer </a:t>
            </a:r>
            <a:r>
              <a:rPr sz="3200" spc="-5" dirty="0">
                <a:latin typeface="Calibri"/>
                <a:cs typeface="Calibri"/>
              </a:rPr>
              <a:t>is  selection</a:t>
            </a:r>
            <a:r>
              <a:rPr sz="3200" spc="-10" dirty="0">
                <a:latin typeface="Calibri"/>
                <a:cs typeface="Calibri"/>
              </a:rPr>
              <a:t> structure.</a:t>
            </a:r>
            <a:endParaRPr sz="3200">
              <a:latin typeface="Calibri"/>
              <a:cs typeface="Calibri"/>
            </a:endParaRPr>
          </a:p>
          <a:p>
            <a:pPr marL="355600" marR="5080" indent="-342900" algn="just">
              <a:lnSpc>
                <a:spcPct val="100000"/>
              </a:lnSpc>
              <a:spcBef>
                <a:spcPts val="770"/>
              </a:spcBef>
              <a:buSzPct val="96875"/>
              <a:buFont typeface="Wingdings"/>
              <a:buChar char=""/>
              <a:tabLst>
                <a:tab pos="376555" algn="l"/>
              </a:tabLst>
            </a:pPr>
            <a:r>
              <a:rPr sz="3200" spc="-5" dirty="0">
                <a:latin typeface="Calibri"/>
                <a:cs typeface="Calibri"/>
              </a:rPr>
              <a:t>The decision is described </a:t>
            </a:r>
            <a:r>
              <a:rPr sz="3200" spc="-25" dirty="0">
                <a:latin typeface="Calibri"/>
                <a:cs typeface="Calibri"/>
              </a:rPr>
              <a:t>to </a:t>
            </a:r>
            <a:r>
              <a:rPr sz="3200" spc="-10" dirty="0">
                <a:latin typeface="Calibri"/>
                <a:cs typeface="Calibri"/>
              </a:rPr>
              <a:t>computer </a:t>
            </a:r>
            <a:r>
              <a:rPr sz="3200" dirty="0">
                <a:latin typeface="Calibri"/>
                <a:cs typeface="Calibri"/>
              </a:rPr>
              <a:t>as a  </a:t>
            </a:r>
            <a:r>
              <a:rPr sz="3200" spc="-5" dirty="0">
                <a:latin typeface="Calibri"/>
                <a:cs typeface="Calibri"/>
              </a:rPr>
              <a:t>conditional </a:t>
            </a:r>
            <a:r>
              <a:rPr sz="3200" spc="-20" dirty="0">
                <a:latin typeface="Calibri"/>
                <a:cs typeface="Calibri"/>
              </a:rPr>
              <a:t>statement </a:t>
            </a:r>
            <a:r>
              <a:rPr sz="3200" spc="-5" dirty="0">
                <a:latin typeface="Calibri"/>
                <a:cs typeface="Calibri"/>
              </a:rPr>
              <a:t>that </a:t>
            </a:r>
            <a:r>
              <a:rPr sz="3200" spc="-10" dirty="0">
                <a:latin typeface="Calibri"/>
                <a:cs typeface="Calibri"/>
              </a:rPr>
              <a:t>can </a:t>
            </a:r>
            <a:r>
              <a:rPr sz="3200" dirty="0">
                <a:latin typeface="Calibri"/>
                <a:cs typeface="Calibri"/>
              </a:rPr>
              <a:t>be </a:t>
            </a:r>
            <a:r>
              <a:rPr sz="3200" spc="-15" dirty="0">
                <a:latin typeface="Calibri"/>
                <a:cs typeface="Calibri"/>
              </a:rPr>
              <a:t>answered  </a:t>
            </a:r>
            <a:r>
              <a:rPr sz="3200" spc="-55" dirty="0">
                <a:latin typeface="Calibri"/>
                <a:cs typeface="Calibri"/>
              </a:rPr>
              <a:t>True </a:t>
            </a:r>
            <a:r>
              <a:rPr sz="3200" dirty="0">
                <a:latin typeface="Calibri"/>
                <a:cs typeface="Calibri"/>
              </a:rPr>
              <a:t>or</a:t>
            </a:r>
            <a:r>
              <a:rPr sz="3200" spc="35" dirty="0">
                <a:latin typeface="Calibri"/>
                <a:cs typeface="Calibri"/>
              </a:rPr>
              <a:t> </a:t>
            </a:r>
            <a:r>
              <a:rPr sz="3200" spc="-15" dirty="0">
                <a:latin typeface="Calibri"/>
                <a:cs typeface="Calibri"/>
              </a:rPr>
              <a:t>False.</a:t>
            </a:r>
            <a:endParaRPr sz="3200">
              <a:latin typeface="Calibri"/>
              <a:cs typeface="Calibri"/>
            </a:endParaRPr>
          </a:p>
          <a:p>
            <a:pPr marL="355600" marR="5080" indent="-342900" algn="just">
              <a:lnSpc>
                <a:spcPct val="100000"/>
              </a:lnSpc>
              <a:spcBef>
                <a:spcPts val="770"/>
              </a:spcBef>
            </a:pPr>
            <a:r>
              <a:rPr sz="3200" spc="5" dirty="0">
                <a:latin typeface="Calibri"/>
                <a:cs typeface="Calibri"/>
              </a:rPr>
              <a:t>Python </a:t>
            </a:r>
            <a:r>
              <a:rPr sz="3200" dirty="0">
                <a:latin typeface="Calibri"/>
                <a:cs typeface="Calibri"/>
              </a:rPr>
              <a:t>language </a:t>
            </a:r>
            <a:r>
              <a:rPr sz="3200" spc="-15" dirty="0">
                <a:latin typeface="Calibri"/>
                <a:cs typeface="Calibri"/>
              </a:rPr>
              <a:t>provide</a:t>
            </a:r>
            <a:r>
              <a:rPr sz="3200" spc="690" dirty="0">
                <a:latin typeface="Calibri"/>
                <a:cs typeface="Calibri"/>
              </a:rPr>
              <a:t> </a:t>
            </a:r>
            <a:r>
              <a:rPr sz="3200" dirty="0">
                <a:latin typeface="Calibri"/>
                <a:cs typeface="Calibri"/>
              </a:rPr>
              <a:t>the </a:t>
            </a:r>
            <a:r>
              <a:rPr sz="3200" spc="-10" dirty="0">
                <a:latin typeface="Calibri"/>
                <a:cs typeface="Calibri"/>
              </a:rPr>
              <a:t>following  </a:t>
            </a:r>
            <a:r>
              <a:rPr sz="3200" spc="-5" dirty="0">
                <a:latin typeface="Calibri"/>
                <a:cs typeface="Calibri"/>
              </a:rPr>
              <a:t>conditional (Decision making)</a:t>
            </a:r>
            <a:r>
              <a:rPr sz="3200" spc="65" dirty="0">
                <a:latin typeface="Calibri"/>
                <a:cs typeface="Calibri"/>
              </a:rPr>
              <a:t> </a:t>
            </a:r>
            <a:r>
              <a:rPr sz="3200" spc="-20" dirty="0">
                <a:latin typeface="Calibri"/>
                <a:cs typeface="Calibri"/>
              </a:rPr>
              <a:t>statements.</a:t>
            </a:r>
            <a:endParaRPr sz="3200">
              <a:latin typeface="Calibri"/>
              <a:cs typeface="Calibri"/>
            </a:endParaRPr>
          </a:p>
          <a:p>
            <a:pPr marL="2674620" lvl="1" indent="-283845">
              <a:lnSpc>
                <a:spcPct val="100000"/>
              </a:lnSpc>
              <a:spcBef>
                <a:spcPts val="2210"/>
              </a:spcBef>
              <a:buSzPct val="96428"/>
              <a:buFont typeface="Wingdings"/>
              <a:buChar char=""/>
              <a:tabLst>
                <a:tab pos="2675255" algn="l"/>
              </a:tabLst>
            </a:pPr>
            <a:r>
              <a:rPr sz="2800" b="1" spc="-5" dirty="0">
                <a:solidFill>
                  <a:srgbClr val="FFFFFF"/>
                </a:solidFill>
                <a:latin typeface="Calibri"/>
                <a:cs typeface="Calibri"/>
              </a:rPr>
              <a:t>if </a:t>
            </a:r>
            <a:r>
              <a:rPr sz="2800" b="1" spc="-20" dirty="0">
                <a:solidFill>
                  <a:srgbClr val="FFFFFF"/>
                </a:solidFill>
                <a:latin typeface="Calibri"/>
                <a:cs typeface="Calibri"/>
              </a:rPr>
              <a:t>statement</a:t>
            </a:r>
            <a:endParaRPr sz="2800">
              <a:latin typeface="Calibri"/>
              <a:cs typeface="Calibri"/>
            </a:endParaRPr>
          </a:p>
          <a:p>
            <a:pPr marL="2674620" lvl="1" indent="-283845">
              <a:lnSpc>
                <a:spcPct val="100000"/>
              </a:lnSpc>
              <a:spcBef>
                <a:spcPts val="5"/>
              </a:spcBef>
              <a:buSzPct val="96428"/>
              <a:buFont typeface="Wingdings"/>
              <a:buChar char=""/>
              <a:tabLst>
                <a:tab pos="2675255" algn="l"/>
              </a:tabLst>
            </a:pPr>
            <a:r>
              <a:rPr sz="2800" b="1" spc="-25" dirty="0">
                <a:solidFill>
                  <a:srgbClr val="FFFFFF"/>
                </a:solidFill>
                <a:latin typeface="Calibri"/>
                <a:cs typeface="Calibri"/>
              </a:rPr>
              <a:t>if...else</a:t>
            </a:r>
            <a:r>
              <a:rPr sz="2800" b="1" spc="40" dirty="0">
                <a:solidFill>
                  <a:srgbClr val="FFFFFF"/>
                </a:solidFill>
                <a:latin typeface="Calibri"/>
                <a:cs typeface="Calibri"/>
              </a:rPr>
              <a:t> </a:t>
            </a:r>
            <a:r>
              <a:rPr sz="2800" b="1" spc="-25" dirty="0">
                <a:solidFill>
                  <a:srgbClr val="FFFFFF"/>
                </a:solidFill>
                <a:latin typeface="Calibri"/>
                <a:cs typeface="Calibri"/>
              </a:rPr>
              <a:t>statement</a:t>
            </a:r>
            <a:endParaRPr sz="2800">
              <a:latin typeface="Calibri"/>
              <a:cs typeface="Calibri"/>
            </a:endParaRPr>
          </a:p>
          <a:p>
            <a:pPr marL="2674620" lvl="1" indent="-283845">
              <a:lnSpc>
                <a:spcPct val="100000"/>
              </a:lnSpc>
              <a:buSzPct val="96428"/>
              <a:buFont typeface="Wingdings"/>
              <a:buChar char=""/>
              <a:tabLst>
                <a:tab pos="2675255" algn="l"/>
              </a:tabLst>
            </a:pPr>
            <a:r>
              <a:rPr sz="2800" b="1" spc="-25" dirty="0">
                <a:solidFill>
                  <a:srgbClr val="FFFFFF"/>
                </a:solidFill>
                <a:latin typeface="Calibri"/>
                <a:cs typeface="Calibri"/>
              </a:rPr>
              <a:t>if...elif...else</a:t>
            </a:r>
            <a:r>
              <a:rPr sz="2800" b="1" spc="50" dirty="0">
                <a:solidFill>
                  <a:srgbClr val="FFFFFF"/>
                </a:solidFill>
                <a:latin typeface="Calibri"/>
                <a:cs typeface="Calibri"/>
              </a:rPr>
              <a:t> </a:t>
            </a:r>
            <a:r>
              <a:rPr sz="2800" b="1" spc="-15" dirty="0">
                <a:solidFill>
                  <a:srgbClr val="FFFFFF"/>
                </a:solidFill>
                <a:latin typeface="Calibri"/>
                <a:cs typeface="Calibri"/>
              </a:rPr>
              <a:t>staement</a:t>
            </a:r>
            <a:endParaRPr sz="2800">
              <a:latin typeface="Calibri"/>
              <a:cs typeface="Calibri"/>
            </a:endParaRPr>
          </a:p>
          <a:p>
            <a:pPr marL="2674620" lvl="1" indent="-283845">
              <a:lnSpc>
                <a:spcPct val="100000"/>
              </a:lnSpc>
              <a:buSzPct val="96428"/>
              <a:buFont typeface="Wingdings"/>
              <a:buChar char=""/>
              <a:tabLst>
                <a:tab pos="2675255" algn="l"/>
              </a:tabLst>
            </a:pPr>
            <a:r>
              <a:rPr sz="2800" b="1" spc="-20" dirty="0">
                <a:solidFill>
                  <a:srgbClr val="FFFFFF"/>
                </a:solidFill>
                <a:latin typeface="Calibri"/>
                <a:cs typeface="Calibri"/>
              </a:rPr>
              <a:t>Nested </a:t>
            </a:r>
            <a:r>
              <a:rPr sz="2800" b="1" spc="-30" dirty="0">
                <a:solidFill>
                  <a:srgbClr val="FFFFFF"/>
                </a:solidFill>
                <a:latin typeface="Calibri"/>
                <a:cs typeface="Calibri"/>
              </a:rPr>
              <a:t>if..else</a:t>
            </a:r>
            <a:r>
              <a:rPr sz="2800" b="1" spc="85" dirty="0">
                <a:solidFill>
                  <a:srgbClr val="FFFFFF"/>
                </a:solidFill>
                <a:latin typeface="Calibri"/>
                <a:cs typeface="Calibri"/>
              </a:rPr>
              <a:t> </a:t>
            </a:r>
            <a:r>
              <a:rPr sz="2800" b="1" spc="-25" dirty="0">
                <a:solidFill>
                  <a:srgbClr val="FFFFFF"/>
                </a:solidFill>
                <a:latin typeface="Calibri"/>
                <a:cs typeface="Calibri"/>
              </a:rPr>
              <a:t>statement</a:t>
            </a:r>
            <a:endParaRPr sz="2800">
              <a:latin typeface="Calibri"/>
              <a:cs typeface="Calibri"/>
            </a:endParaRPr>
          </a:p>
        </p:txBody>
      </p:sp>
      <p:sp>
        <p:nvSpPr>
          <p:cNvPr id="7" name="object 7"/>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pPr marL="38100">
                <a:lnSpc>
                  <a:spcPts val="1240"/>
                </a:lnSpc>
              </a:pPr>
              <a:t>2</a:t>
            </a:fld>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383540" y="138215"/>
            <a:ext cx="8454390" cy="3245485"/>
          </a:xfrm>
          <a:prstGeom prst="rect">
            <a:avLst/>
          </a:prstGeom>
        </p:spPr>
        <p:txBody>
          <a:bodyPr vert="horz" wrap="square" lIns="0" tIns="110489" rIns="0" bIns="0" rtlCol="0">
            <a:spAutoFit/>
          </a:bodyPr>
          <a:lstStyle/>
          <a:p>
            <a:pPr marL="12700" algn="just">
              <a:lnSpc>
                <a:spcPct val="100000"/>
              </a:lnSpc>
              <a:spcBef>
                <a:spcPts val="869"/>
              </a:spcBef>
            </a:pPr>
            <a:r>
              <a:rPr sz="3200" spc="-5" dirty="0">
                <a:solidFill>
                  <a:srgbClr val="FF0000"/>
                </a:solidFill>
                <a:latin typeface="Calibri"/>
                <a:cs typeface="Calibri"/>
              </a:rPr>
              <a:t>The </a:t>
            </a:r>
            <a:r>
              <a:rPr sz="3200" dirty="0">
                <a:solidFill>
                  <a:srgbClr val="FF0000"/>
                </a:solidFill>
                <a:latin typeface="Calibri"/>
                <a:cs typeface="Calibri"/>
              </a:rPr>
              <a:t>if</a:t>
            </a:r>
            <a:r>
              <a:rPr sz="3200" spc="-15" dirty="0">
                <a:solidFill>
                  <a:srgbClr val="FF0000"/>
                </a:solidFill>
                <a:latin typeface="Calibri"/>
                <a:cs typeface="Calibri"/>
              </a:rPr>
              <a:t> </a:t>
            </a:r>
            <a:r>
              <a:rPr sz="3200" spc="-20" dirty="0">
                <a:solidFill>
                  <a:srgbClr val="FF0000"/>
                </a:solidFill>
                <a:latin typeface="Calibri"/>
                <a:cs typeface="Calibri"/>
              </a:rPr>
              <a:t>statement</a:t>
            </a:r>
            <a:endParaRPr sz="3200">
              <a:latin typeface="Calibri"/>
              <a:cs typeface="Calibri"/>
            </a:endParaRPr>
          </a:p>
          <a:p>
            <a:pPr marL="355600" marR="5080" indent="-342900" algn="just">
              <a:lnSpc>
                <a:spcPct val="100000"/>
              </a:lnSpc>
              <a:spcBef>
                <a:spcPts val="770"/>
              </a:spcBef>
              <a:buSzPct val="96875"/>
              <a:buFont typeface="Wingdings"/>
              <a:buChar char=""/>
              <a:tabLst>
                <a:tab pos="376555" algn="l"/>
              </a:tabLst>
            </a:pPr>
            <a:r>
              <a:rPr sz="3200" spc="-5" dirty="0">
                <a:latin typeface="Calibri"/>
                <a:cs typeface="Calibri"/>
              </a:rPr>
              <a:t>The </a:t>
            </a:r>
            <a:r>
              <a:rPr sz="3200" b="1" dirty="0">
                <a:latin typeface="Calibri"/>
                <a:cs typeface="Calibri"/>
              </a:rPr>
              <a:t>if </a:t>
            </a:r>
            <a:r>
              <a:rPr sz="3200" spc="-20" dirty="0">
                <a:latin typeface="Calibri"/>
                <a:cs typeface="Calibri"/>
              </a:rPr>
              <a:t>statement </a:t>
            </a:r>
            <a:r>
              <a:rPr sz="3200" dirty="0">
                <a:latin typeface="Calibri"/>
                <a:cs typeface="Calibri"/>
              </a:rPr>
              <a:t>is a </a:t>
            </a:r>
            <a:r>
              <a:rPr sz="3200" spc="-5" dirty="0">
                <a:latin typeface="Calibri"/>
                <a:cs typeface="Calibri"/>
              </a:rPr>
              <a:t>decision </a:t>
            </a:r>
            <a:r>
              <a:rPr sz="3200" dirty="0">
                <a:latin typeface="Calibri"/>
                <a:cs typeface="Calibri"/>
              </a:rPr>
              <a:t>making </a:t>
            </a:r>
            <a:r>
              <a:rPr sz="3200" spc="-20" dirty="0">
                <a:latin typeface="Calibri"/>
                <a:cs typeface="Calibri"/>
              </a:rPr>
              <a:t>statement.  </a:t>
            </a:r>
            <a:r>
              <a:rPr sz="3200" spc="-5" dirty="0">
                <a:latin typeface="Calibri"/>
                <a:cs typeface="Calibri"/>
              </a:rPr>
              <a:t>It is used </a:t>
            </a:r>
            <a:r>
              <a:rPr sz="3200" spc="-25" dirty="0">
                <a:latin typeface="Calibri"/>
                <a:cs typeface="Calibri"/>
              </a:rPr>
              <a:t>to </a:t>
            </a:r>
            <a:r>
              <a:rPr sz="3200" spc="-15" dirty="0">
                <a:latin typeface="Calibri"/>
                <a:cs typeface="Calibri"/>
              </a:rPr>
              <a:t>control </a:t>
            </a:r>
            <a:r>
              <a:rPr sz="3200" dirty="0">
                <a:latin typeface="Calibri"/>
                <a:cs typeface="Calibri"/>
              </a:rPr>
              <a:t>the </a:t>
            </a:r>
            <a:r>
              <a:rPr sz="3200" spc="-5" dirty="0">
                <a:latin typeface="Calibri"/>
                <a:cs typeface="Calibri"/>
              </a:rPr>
              <a:t>flow </a:t>
            </a:r>
            <a:r>
              <a:rPr sz="3200" dirty="0">
                <a:latin typeface="Calibri"/>
                <a:cs typeface="Calibri"/>
              </a:rPr>
              <a:t>of </a:t>
            </a:r>
            <a:r>
              <a:rPr sz="3200" spc="-20" dirty="0">
                <a:latin typeface="Calibri"/>
                <a:cs typeface="Calibri"/>
              </a:rPr>
              <a:t>execution </a:t>
            </a:r>
            <a:r>
              <a:rPr sz="3200" dirty="0">
                <a:latin typeface="Calibri"/>
                <a:cs typeface="Calibri"/>
              </a:rPr>
              <a:t>of the  </a:t>
            </a:r>
            <a:r>
              <a:rPr sz="3200" spc="-20" dirty="0">
                <a:latin typeface="Calibri"/>
                <a:cs typeface="Calibri"/>
              </a:rPr>
              <a:t>statements </a:t>
            </a:r>
            <a:r>
              <a:rPr sz="3200" dirty="0">
                <a:latin typeface="Calibri"/>
                <a:cs typeface="Calibri"/>
              </a:rPr>
              <a:t>and also </a:t>
            </a:r>
            <a:r>
              <a:rPr sz="3200" spc="-5" dirty="0">
                <a:latin typeface="Calibri"/>
                <a:cs typeface="Calibri"/>
              </a:rPr>
              <a:t>used </a:t>
            </a:r>
            <a:r>
              <a:rPr sz="3200" spc="-20" dirty="0">
                <a:latin typeface="Calibri"/>
                <a:cs typeface="Calibri"/>
              </a:rPr>
              <a:t>to test </a:t>
            </a:r>
            <a:r>
              <a:rPr sz="3200" spc="-5" dirty="0">
                <a:latin typeface="Calibri"/>
                <a:cs typeface="Calibri"/>
              </a:rPr>
              <a:t>logically  </a:t>
            </a:r>
            <a:r>
              <a:rPr sz="3200" dirty="0">
                <a:latin typeface="Calibri"/>
                <a:cs typeface="Calibri"/>
              </a:rPr>
              <a:t>whether the </a:t>
            </a:r>
            <a:r>
              <a:rPr sz="3200" spc="-5" dirty="0">
                <a:latin typeface="Calibri"/>
                <a:cs typeface="Calibri"/>
              </a:rPr>
              <a:t>condition is true </a:t>
            </a:r>
            <a:r>
              <a:rPr sz="3200" dirty="0">
                <a:latin typeface="Calibri"/>
                <a:cs typeface="Calibri"/>
              </a:rPr>
              <a:t>or</a:t>
            </a:r>
            <a:r>
              <a:rPr sz="3200" spc="-5" dirty="0">
                <a:latin typeface="Calibri"/>
                <a:cs typeface="Calibri"/>
              </a:rPr>
              <a:t> </a:t>
            </a:r>
            <a:r>
              <a:rPr sz="3200" spc="-15" dirty="0">
                <a:latin typeface="Calibri"/>
                <a:cs typeface="Calibri"/>
              </a:rPr>
              <a:t>false.</a:t>
            </a:r>
            <a:endParaRPr sz="3200">
              <a:latin typeface="Calibri"/>
              <a:cs typeface="Calibri"/>
            </a:endParaRPr>
          </a:p>
          <a:p>
            <a:pPr marL="12700">
              <a:lnSpc>
                <a:spcPct val="100000"/>
              </a:lnSpc>
              <a:spcBef>
                <a:spcPts val="770"/>
              </a:spcBef>
            </a:pPr>
            <a:r>
              <a:rPr sz="3200" spc="-20" dirty="0">
                <a:solidFill>
                  <a:srgbClr val="FF0000"/>
                </a:solidFill>
                <a:latin typeface="Calibri"/>
                <a:cs typeface="Calibri"/>
              </a:rPr>
              <a:t>Syntax</a:t>
            </a:r>
            <a:endParaRPr sz="3200">
              <a:latin typeface="Calibri"/>
              <a:cs typeface="Calibri"/>
            </a:endParaRPr>
          </a:p>
        </p:txBody>
      </p:sp>
      <p:sp>
        <p:nvSpPr>
          <p:cNvPr id="3" name="object 3"/>
          <p:cNvSpPr txBox="1"/>
          <p:nvPr/>
        </p:nvSpPr>
        <p:spPr>
          <a:xfrm>
            <a:off x="610362" y="3658361"/>
            <a:ext cx="3733800" cy="1274708"/>
          </a:xfrm>
          <a:prstGeom prst="rect">
            <a:avLst/>
          </a:prstGeom>
          <a:solidFill>
            <a:srgbClr val="4F81BC"/>
          </a:solidFill>
          <a:ln w="25907">
            <a:solidFill>
              <a:srgbClr val="385D89"/>
            </a:solidFill>
          </a:ln>
        </p:spPr>
        <p:txBody>
          <a:bodyPr vert="horz" wrap="square" lIns="0" tIns="287020" rIns="0" bIns="0" rtlCol="0">
            <a:spAutoFit/>
          </a:bodyPr>
          <a:lstStyle/>
          <a:p>
            <a:pPr marL="1005205" marR="572135" indent="-753110">
              <a:lnSpc>
                <a:spcPct val="100000"/>
              </a:lnSpc>
              <a:spcBef>
                <a:spcPts val="2260"/>
              </a:spcBef>
            </a:pPr>
            <a:r>
              <a:rPr sz="3200" spc="-5" dirty="0">
                <a:solidFill>
                  <a:srgbClr val="FFFFFF"/>
                </a:solidFill>
                <a:latin typeface="Calibri"/>
                <a:cs typeface="Calibri"/>
              </a:rPr>
              <a:t>if </a:t>
            </a:r>
            <a:r>
              <a:rPr sz="3200" spc="-25" dirty="0">
                <a:solidFill>
                  <a:srgbClr val="FFFFFF"/>
                </a:solidFill>
                <a:latin typeface="Calibri"/>
                <a:cs typeface="Calibri"/>
              </a:rPr>
              <a:t>test </a:t>
            </a:r>
            <a:r>
              <a:rPr sz="3200" spc="-10" dirty="0">
                <a:solidFill>
                  <a:srgbClr val="FFFFFF"/>
                </a:solidFill>
                <a:latin typeface="Calibri"/>
                <a:cs typeface="Calibri"/>
              </a:rPr>
              <a:t>expression</a:t>
            </a:r>
            <a:r>
              <a:rPr sz="3200" b="1" spc="-10" dirty="0">
                <a:solidFill>
                  <a:srgbClr val="FFFFFF"/>
                </a:solidFill>
                <a:latin typeface="Calibri"/>
                <a:cs typeface="Calibri"/>
              </a:rPr>
              <a:t>:  </a:t>
            </a:r>
            <a:r>
              <a:rPr sz="3200" spc="-15" dirty="0">
                <a:solidFill>
                  <a:srgbClr val="FFFFFF"/>
                </a:solidFill>
                <a:latin typeface="Calibri"/>
                <a:cs typeface="Calibri"/>
              </a:rPr>
              <a:t>statement(s)</a:t>
            </a:r>
            <a:endParaRPr sz="3200" dirty="0">
              <a:latin typeface="Calibri"/>
              <a:cs typeface="Calibri"/>
            </a:endParaRPr>
          </a:p>
        </p:txBody>
      </p:sp>
      <p:sp>
        <p:nvSpPr>
          <p:cNvPr id="4" name="object 4"/>
          <p:cNvSpPr/>
          <p:nvPr/>
        </p:nvSpPr>
        <p:spPr>
          <a:xfrm>
            <a:off x="4800600" y="2895600"/>
            <a:ext cx="4148328" cy="3657600"/>
          </a:xfrm>
          <a:prstGeom prst="rect">
            <a:avLst/>
          </a:prstGeom>
          <a:blipFill>
            <a:blip r:embed="rId2" cstate="print"/>
            <a:stretch>
              <a:fillRect/>
            </a:stretch>
          </a:blipFill>
        </p:spPr>
        <p:txBody>
          <a:bodyPr wrap="square" lIns="0" tIns="0" rIns="0" bIns="0" rtlCol="0"/>
          <a:lstStyle/>
          <a:p>
            <a:endParaRP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pPr marL="38100">
                <a:lnSpc>
                  <a:spcPts val="1240"/>
                </a:lnSpc>
              </a:pPr>
              <a:t>3</a:t>
            </a:fld>
            <a:endParaRPr dirty="0"/>
          </a:p>
        </p:txBody>
      </p:sp>
      <p:sp>
        <p:nvSpPr>
          <p:cNvPr id="6" name="Rectangle 1"/>
          <p:cNvSpPr>
            <a:spLocks noChangeArrowheads="1"/>
          </p:cNvSpPr>
          <p:nvPr/>
        </p:nvSpPr>
        <p:spPr bwMode="auto">
          <a:xfrm>
            <a:off x="1143000" y="5740976"/>
            <a:ext cx="4495800" cy="8002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smtClean="0">
                <a:ln>
                  <a:noFill/>
                </a:ln>
                <a:solidFill>
                  <a:srgbClr val="FF0000"/>
                </a:solidFill>
                <a:effectLst/>
                <a:latin typeface="Google Sans"/>
              </a:rPr>
              <a:t>: </a:t>
            </a:r>
            <a:r>
              <a:rPr kumimoji="0" lang="en-US" altLang="en-US" sz="2000" b="1" i="0" u="none" strike="noStrike" cap="none" normalizeH="0" baseline="0" dirty="0" smtClean="0">
                <a:ln>
                  <a:noFill/>
                </a:ln>
                <a:solidFill>
                  <a:srgbClr val="FF0000"/>
                </a:solidFill>
                <a:effectLst/>
                <a:latin typeface="Google Sans"/>
                <a:sym typeface="Wingdings" panose="05000000000000000000" pitchFamily="2" charset="2"/>
              </a:rPr>
              <a:t></a:t>
            </a:r>
            <a:r>
              <a:rPr kumimoji="0" lang="en-US" altLang="en-US" sz="1600" b="1" i="0" u="none" strike="noStrike" cap="none" normalizeH="0" baseline="0" dirty="0" smtClean="0">
                <a:ln>
                  <a:noFill/>
                </a:ln>
                <a:solidFill>
                  <a:schemeClr val="tx1"/>
                </a:solidFill>
                <a:effectLst/>
                <a:latin typeface="Google Sans"/>
              </a:rPr>
              <a:t>  </a:t>
            </a:r>
            <a:r>
              <a:rPr kumimoji="0" lang="en-US" altLang="en-US" sz="1600" b="1" i="0" u="none" strike="noStrike" cap="all" normalizeH="0" dirty="0" smtClean="0">
                <a:ln>
                  <a:noFill/>
                </a:ln>
                <a:solidFill>
                  <a:srgbClr val="00B050"/>
                </a:solidFill>
                <a:effectLst/>
                <a:latin typeface="Google Sans"/>
              </a:rPr>
              <a:t>Indentation</a:t>
            </a:r>
            <a:r>
              <a:rPr kumimoji="0" lang="en-US" altLang="en-US" sz="1600" b="1" i="0" u="none" strike="noStrike" cap="none" normalizeH="0" baseline="0" dirty="0" smtClean="0">
                <a:ln>
                  <a:noFill/>
                </a:ln>
                <a:solidFill>
                  <a:schemeClr val="tx1"/>
                </a:solidFill>
                <a:effectLst/>
                <a:latin typeface="Google Sans"/>
              </a:rPr>
              <a:t> in Python is a strict syntactical requirement used to define code blocks, replacing the curly braces </a:t>
            </a:r>
            <a:r>
              <a:rPr kumimoji="0" lang="en-US" altLang="en-US" sz="1600" b="1" i="0" u="none" strike="noStrike" cap="none" normalizeH="0" baseline="0" dirty="0" smtClean="0">
                <a:ln>
                  <a:noFill/>
                </a:ln>
                <a:solidFill>
                  <a:schemeClr val="tx1"/>
                </a:solidFill>
                <a:effectLst/>
                <a:latin typeface="Courier New" panose="02070309020205020404" pitchFamily="49" charset="0"/>
                <a:cs typeface="Courier New" panose="02070309020205020404" pitchFamily="49" charset="0"/>
              </a:rPr>
              <a:t>{}</a:t>
            </a:r>
            <a:r>
              <a:rPr kumimoji="0" lang="en-US" altLang="en-US" sz="1600" b="0" i="0" u="none" strike="noStrike" cap="none" normalizeH="0" baseline="0" dirty="0" smtClean="0">
                <a:ln>
                  <a:noFill/>
                </a:ln>
                <a:solidFill>
                  <a:schemeClr val="tx1"/>
                </a:solidFill>
                <a:effectLst/>
              </a:rPr>
              <a:t> in C</a:t>
            </a:r>
            <a:endParaRPr kumimoji="0" lang="en-US" altLang="en-US" sz="1600" b="0" i="0" u="none" strike="noStrike" cap="none" normalizeH="0" baseline="0" dirty="0" smtClean="0">
              <a:ln>
                <a:noFill/>
              </a:ln>
              <a:solidFill>
                <a:schemeClr val="tx1"/>
              </a:solidFill>
              <a:effectLst/>
              <a:latin typeface="Arial" panose="020B060402020202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5" name="Rectangle 1"/>
          <p:cNvSpPr>
            <a:spLocks noChangeArrowheads="1"/>
          </p:cNvSpPr>
          <p:nvPr/>
        </p:nvSpPr>
        <p:spPr bwMode="auto">
          <a:xfrm>
            <a:off x="228600" y="1143000"/>
            <a:ext cx="3505200" cy="2154436"/>
          </a:xfrm>
          <a:prstGeom prst="rect">
            <a:avLst/>
          </a:prstGeom>
          <a:solidFill>
            <a:schemeClr val="bg1"/>
          </a:solidFill>
          <a:ln w="9525">
            <a:noFill/>
            <a:miter lim="800000"/>
            <a:headEnd/>
            <a:tailEnd/>
          </a:ln>
          <a:effectLst/>
        </p:spPr>
        <p:txBody>
          <a:bodyPr vert="horz" wrap="square" lIns="91440" tIns="0" rIns="9144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2800" b="0" i="0" u="none" strike="noStrike" cap="none" normalizeH="0" baseline="0" dirty="0" smtClean="0">
                <a:ln>
                  <a:noFill/>
                </a:ln>
                <a:effectLst/>
                <a:cs typeface="Arial" pitchFamily="34" charset="0"/>
              </a:rPr>
              <a:t>if </a:t>
            </a:r>
            <a:r>
              <a:rPr kumimoji="0" lang="en-US" sz="2800" b="0" i="0" u="none" strike="noStrike" cap="none" normalizeH="0" baseline="0" dirty="0" smtClean="0">
                <a:ln>
                  <a:noFill/>
                </a:ln>
                <a:effectLst/>
              </a:rPr>
              <a:t>&lt;</a:t>
            </a:r>
            <a:r>
              <a:rPr kumimoji="0" lang="en-US" sz="2800" b="0" i="0" u="none" strike="noStrike" cap="none" normalizeH="0" baseline="0" dirty="0" err="1" smtClean="0">
                <a:ln>
                  <a:noFill/>
                </a:ln>
                <a:effectLst/>
              </a:rPr>
              <a:t>expr</a:t>
            </a:r>
            <a:r>
              <a:rPr kumimoji="0" lang="en-US" sz="2800" b="0" i="0" u="none" strike="noStrike" cap="none" normalizeH="0" baseline="0" dirty="0" smtClean="0">
                <a:ln>
                  <a:noFill/>
                </a:ln>
                <a:effectLst/>
              </a:rPr>
              <a:t>&gt;</a:t>
            </a:r>
            <a:r>
              <a:rPr kumimoji="0" lang="en-US" sz="2800" b="0" i="0" u="none" strike="noStrike" cap="none" normalizeH="0" baseline="0" dirty="0" smtClean="0">
                <a:ln>
                  <a:noFill/>
                </a:ln>
                <a:effectLst/>
                <a:cs typeface="Arial"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800" b="0" i="0" u="none" strike="noStrike" cap="none" normalizeH="0" baseline="0" dirty="0" smtClean="0">
                <a:ln>
                  <a:noFill/>
                </a:ln>
                <a:effectLst/>
                <a:cs typeface="Arial" pitchFamily="34" charset="0"/>
              </a:rPr>
              <a:t>        </a:t>
            </a:r>
            <a:r>
              <a:rPr kumimoji="0" lang="en-US" sz="2800" b="0" i="0" u="none" strike="noStrike" cap="none" normalizeH="0" baseline="0" dirty="0" smtClean="0">
                <a:ln>
                  <a:noFill/>
                </a:ln>
                <a:effectLst/>
              </a:rPr>
              <a:t>statement</a:t>
            </a:r>
          </a:p>
          <a:p>
            <a:pPr marL="0" marR="0" lvl="0" indent="0" algn="l" defTabSz="914400" rtl="0" eaLnBrk="0" fontAlgn="base" latinLnBrk="0" hangingPunct="0">
              <a:lnSpc>
                <a:spcPct val="100000"/>
              </a:lnSpc>
              <a:spcBef>
                <a:spcPct val="0"/>
              </a:spcBef>
              <a:spcAft>
                <a:spcPct val="0"/>
              </a:spcAft>
              <a:buClrTx/>
              <a:buSzTx/>
              <a:buFontTx/>
              <a:buNone/>
              <a:tabLst/>
            </a:pPr>
            <a:r>
              <a:rPr lang="en-US" sz="2800" dirty="0">
                <a:cs typeface="Arial" pitchFamily="34" charset="0"/>
              </a:rPr>
              <a:t> </a:t>
            </a:r>
            <a:r>
              <a:rPr lang="en-US" sz="2800" dirty="0" smtClean="0">
                <a:cs typeface="Arial" pitchFamily="34" charset="0"/>
              </a:rPr>
              <a:t> </a:t>
            </a:r>
            <a:r>
              <a:rPr kumimoji="0" lang="en-US" sz="2800" b="0" i="0" u="none" strike="noStrike" cap="none" normalizeH="0" baseline="0" dirty="0" smtClean="0">
                <a:ln>
                  <a:noFill/>
                </a:ln>
                <a:effectLst/>
                <a:cs typeface="Arial" pitchFamily="34" charset="0"/>
              </a:rPr>
              <a:t>    </a:t>
            </a:r>
            <a:r>
              <a:rPr lang="en-US" sz="2800" dirty="0"/>
              <a:t> </a:t>
            </a:r>
            <a:r>
              <a:rPr lang="en-US" sz="2800" dirty="0" smtClean="0"/>
              <a:t> </a:t>
            </a:r>
            <a:r>
              <a:rPr kumimoji="0" lang="en-US" sz="2800" b="0" i="0" u="none" strike="noStrike" cap="none" normalizeH="0" baseline="0" dirty="0" smtClean="0">
                <a:ln>
                  <a:noFill/>
                </a:ln>
                <a:effectLst/>
              </a:rPr>
              <a:t>statement</a:t>
            </a:r>
            <a:r>
              <a:rPr kumimoji="0" lang="en-US" sz="2800" b="0" i="0" u="none" strike="noStrike" cap="none" normalizeH="0" baseline="0" dirty="0" smtClean="0">
                <a:ln>
                  <a:noFill/>
                </a:ln>
                <a:effectLst/>
                <a:cs typeface="Arial" pitchFamily="34"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800" b="0" i="0" u="none" strike="noStrike" cap="none" normalizeH="0" baseline="0" dirty="0" smtClean="0">
                <a:ln>
                  <a:noFill/>
                </a:ln>
                <a:effectLst/>
                <a:cs typeface="Arial" pitchFamily="34" charset="0"/>
              </a:rPr>
              <a:t>       </a:t>
            </a:r>
            <a:r>
              <a:rPr lang="en-US" sz="2800" dirty="0"/>
              <a:t> </a:t>
            </a:r>
            <a:r>
              <a:rPr kumimoji="0" lang="en-US" sz="2800" b="0" i="0" u="none" strike="noStrike" cap="none" normalizeH="0" baseline="0" dirty="0" smtClean="0">
                <a:ln>
                  <a:noFill/>
                </a:ln>
                <a:effectLst/>
              </a:rPr>
              <a:t>statement</a:t>
            </a:r>
          </a:p>
          <a:p>
            <a:pPr marL="0" marR="0" lvl="0" indent="0" algn="l" defTabSz="914400" rtl="0" eaLnBrk="0" fontAlgn="base" latinLnBrk="0" hangingPunct="0">
              <a:lnSpc>
                <a:spcPct val="100000"/>
              </a:lnSpc>
              <a:spcBef>
                <a:spcPct val="0"/>
              </a:spcBef>
              <a:spcAft>
                <a:spcPct val="0"/>
              </a:spcAft>
              <a:buClrTx/>
              <a:buSzTx/>
              <a:buFontTx/>
              <a:buNone/>
              <a:tabLst/>
            </a:pPr>
            <a:r>
              <a:rPr lang="en-US" sz="2800" dirty="0" smtClean="0"/>
              <a:t>Outside statement</a:t>
            </a:r>
            <a:endParaRPr kumimoji="0" lang="en-US" sz="2800" b="0" i="0" u="none" strike="noStrike" cap="none" normalizeH="0" baseline="0" dirty="0" smtClean="0">
              <a:ln>
                <a:noFill/>
              </a:ln>
              <a:effectLst/>
              <a:cs typeface="Arial" pitchFamily="34" charset="0"/>
            </a:endParaRPr>
          </a:p>
        </p:txBody>
      </p:sp>
      <p:pic>
        <p:nvPicPr>
          <p:cNvPr id="1027" name="Picture 3" descr="https://files.realpython.com/media/t.78f3bacaa261.png"/>
          <p:cNvPicPr>
            <a:picLocks noChangeAspect="1" noChangeArrowheads="1"/>
          </p:cNvPicPr>
          <p:nvPr/>
        </p:nvPicPr>
        <p:blipFill>
          <a:blip r:embed="rId2" cstate="print"/>
          <a:srcRect/>
          <a:stretch>
            <a:fillRect/>
          </a:stretch>
        </p:blipFill>
        <p:spPr bwMode="auto">
          <a:xfrm>
            <a:off x="3876450" y="1071222"/>
            <a:ext cx="5080000" cy="2480930"/>
          </a:xfrm>
          <a:prstGeom prst="rect">
            <a:avLst/>
          </a:prstGeom>
          <a:noFill/>
        </p:spPr>
      </p:pic>
      <p:sp>
        <p:nvSpPr>
          <p:cNvPr id="1028" name="Rectangle 4"/>
          <p:cNvSpPr>
            <a:spLocks noChangeArrowheads="1"/>
          </p:cNvSpPr>
          <p:nvPr/>
        </p:nvSpPr>
        <p:spPr bwMode="auto">
          <a:xfrm rot="10800000" flipV="1">
            <a:off x="304800" y="3886200"/>
            <a:ext cx="8534400" cy="1938992"/>
          </a:xfrm>
          <a:prstGeom prst="rect">
            <a:avLst/>
          </a:prstGeom>
          <a:solidFill>
            <a:srgbClr val="FFFFFF"/>
          </a:solid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spcBef>
                <a:spcPct val="0"/>
              </a:spcBef>
              <a:spcAft>
                <a:spcPct val="0"/>
              </a:spcAft>
              <a:buClrTx/>
              <a:buSzTx/>
              <a:buFontTx/>
              <a:buNone/>
              <a:tabLst/>
            </a:pPr>
            <a:r>
              <a:rPr kumimoji="0" lang="en-US" sz="2000" b="0" i="0" u="none" strike="noStrike" cap="none" normalizeH="0" baseline="0" dirty="0" smtClean="0">
                <a:ln>
                  <a:noFill/>
                </a:ln>
                <a:solidFill>
                  <a:srgbClr val="222222"/>
                </a:solidFill>
                <a:effectLst/>
                <a:cs typeface="Arial" pitchFamily="34" charset="0"/>
              </a:rPr>
              <a:t>Here, all the statements at the matching </a:t>
            </a:r>
            <a:r>
              <a:rPr kumimoji="0" lang="en-US" sz="2000" b="0" i="0" u="none" strike="noStrike" cap="none" normalizeH="0" baseline="0" dirty="0" smtClean="0">
                <a:ln>
                  <a:noFill/>
                </a:ln>
                <a:solidFill>
                  <a:srgbClr val="C00000"/>
                </a:solidFill>
                <a:effectLst/>
                <a:cs typeface="Arial" pitchFamily="34" charset="0"/>
              </a:rPr>
              <a:t>indentation </a:t>
            </a:r>
            <a:r>
              <a:rPr kumimoji="0" lang="en-US" sz="2000" b="0" i="0" u="none" strike="noStrike" cap="none" normalizeH="0" baseline="0" dirty="0" smtClean="0">
                <a:ln>
                  <a:noFill/>
                </a:ln>
                <a:solidFill>
                  <a:srgbClr val="222222"/>
                </a:solidFill>
                <a:effectLst/>
                <a:cs typeface="Arial" pitchFamily="34" charset="0"/>
              </a:rPr>
              <a:t>level  are considered part of the same block. </a:t>
            </a:r>
            <a:br>
              <a:rPr kumimoji="0" lang="en-US" sz="2000" b="0" i="0" u="none" strike="noStrike" cap="none" normalizeH="0" baseline="0" dirty="0" smtClean="0">
                <a:ln>
                  <a:noFill/>
                </a:ln>
                <a:solidFill>
                  <a:srgbClr val="222222"/>
                </a:solidFill>
                <a:effectLst/>
                <a:cs typeface="Arial" pitchFamily="34" charset="0"/>
              </a:rPr>
            </a:br>
            <a:endParaRPr kumimoji="0" lang="en-US" sz="2000" b="0" i="0" u="none" strike="noStrike" cap="none" normalizeH="0" baseline="0" dirty="0" smtClean="0">
              <a:ln>
                <a:noFill/>
              </a:ln>
              <a:solidFill>
                <a:srgbClr val="222222"/>
              </a:solidFill>
              <a:effectLst/>
              <a:cs typeface="Arial" pitchFamily="34" charset="0"/>
            </a:endParaRPr>
          </a:p>
          <a:p>
            <a:pPr marL="0" marR="0" lvl="0" indent="0" algn="l" defTabSz="914400" rtl="0" eaLnBrk="1" fontAlgn="base" latinLnBrk="0" hangingPunct="1">
              <a:spcBef>
                <a:spcPct val="0"/>
              </a:spcBef>
              <a:spcAft>
                <a:spcPct val="0"/>
              </a:spcAft>
              <a:buClrTx/>
              <a:buSzTx/>
              <a:buFontTx/>
              <a:buNone/>
              <a:tabLst/>
            </a:pPr>
            <a:r>
              <a:rPr kumimoji="0" lang="en-US" sz="2000" b="0" i="0" u="none" strike="noStrike" cap="none" normalizeH="0" baseline="0" dirty="0" smtClean="0">
                <a:ln>
                  <a:noFill/>
                </a:ln>
                <a:solidFill>
                  <a:srgbClr val="222222"/>
                </a:solidFill>
                <a:effectLst/>
                <a:cs typeface="Arial" pitchFamily="34" charset="0"/>
              </a:rPr>
              <a:t>The entire block is executed if &lt;</a:t>
            </a:r>
            <a:r>
              <a:rPr kumimoji="0" lang="en-US" sz="2000" b="0" i="0" u="none" strike="noStrike" cap="none" normalizeH="0" baseline="0" dirty="0" err="1" smtClean="0">
                <a:ln>
                  <a:noFill/>
                </a:ln>
                <a:solidFill>
                  <a:srgbClr val="222222"/>
                </a:solidFill>
                <a:effectLst/>
                <a:cs typeface="Arial" pitchFamily="34" charset="0"/>
              </a:rPr>
              <a:t>expr</a:t>
            </a:r>
            <a:r>
              <a:rPr kumimoji="0" lang="en-US" sz="2000" b="0" i="0" u="none" strike="noStrike" cap="none" normalizeH="0" baseline="0" dirty="0" smtClean="0">
                <a:ln>
                  <a:noFill/>
                </a:ln>
                <a:solidFill>
                  <a:srgbClr val="222222"/>
                </a:solidFill>
                <a:effectLst/>
                <a:cs typeface="Arial" pitchFamily="34" charset="0"/>
              </a:rPr>
              <a:t>&gt; is true, or skipped over if &lt;</a:t>
            </a:r>
            <a:r>
              <a:rPr kumimoji="0" lang="en-US" sz="2000" b="0" i="0" u="none" strike="noStrike" cap="none" normalizeH="0" baseline="0" dirty="0" err="1" smtClean="0">
                <a:ln>
                  <a:noFill/>
                </a:ln>
                <a:solidFill>
                  <a:srgbClr val="222222"/>
                </a:solidFill>
                <a:effectLst/>
                <a:cs typeface="Arial" pitchFamily="34" charset="0"/>
              </a:rPr>
              <a:t>expr</a:t>
            </a:r>
            <a:r>
              <a:rPr kumimoji="0" lang="en-US" sz="2000" b="0" i="0" u="none" strike="noStrike" cap="none" normalizeH="0" baseline="0" dirty="0" smtClean="0">
                <a:ln>
                  <a:noFill/>
                </a:ln>
                <a:solidFill>
                  <a:srgbClr val="222222"/>
                </a:solidFill>
                <a:effectLst/>
                <a:cs typeface="Arial" pitchFamily="34" charset="0"/>
              </a:rPr>
              <a:t>&gt; is false. </a:t>
            </a:r>
            <a:br>
              <a:rPr kumimoji="0" lang="en-US" sz="2000" b="0" i="0" u="none" strike="noStrike" cap="none" normalizeH="0" baseline="0" dirty="0" smtClean="0">
                <a:ln>
                  <a:noFill/>
                </a:ln>
                <a:solidFill>
                  <a:srgbClr val="222222"/>
                </a:solidFill>
                <a:effectLst/>
                <a:cs typeface="Arial" pitchFamily="34" charset="0"/>
              </a:rPr>
            </a:br>
            <a:endParaRPr kumimoji="0" lang="en-US" sz="2000" b="0" i="0" u="none" strike="noStrike" cap="none" normalizeH="0" baseline="0" dirty="0" smtClean="0">
              <a:ln>
                <a:noFill/>
              </a:ln>
              <a:solidFill>
                <a:srgbClr val="222222"/>
              </a:solidFill>
              <a:effectLst/>
              <a:cs typeface="Arial" pitchFamily="34" charset="0"/>
            </a:endParaRPr>
          </a:p>
          <a:p>
            <a:pPr marL="0" marR="0" lvl="0" indent="0" algn="l" defTabSz="914400" rtl="0" eaLnBrk="1" fontAlgn="base" latinLnBrk="0" hangingPunct="1">
              <a:spcBef>
                <a:spcPct val="0"/>
              </a:spcBef>
              <a:spcAft>
                <a:spcPct val="0"/>
              </a:spcAft>
              <a:buClrTx/>
              <a:buSzTx/>
              <a:buFontTx/>
              <a:buNone/>
              <a:tabLst/>
            </a:pPr>
            <a:r>
              <a:rPr kumimoji="0" lang="en-US" sz="2000" b="0" i="0" u="none" strike="noStrike" cap="none" normalizeH="0" baseline="0" dirty="0" smtClean="0">
                <a:ln>
                  <a:noFill/>
                </a:ln>
                <a:solidFill>
                  <a:srgbClr val="222222"/>
                </a:solidFill>
                <a:effectLst/>
                <a:cs typeface="Arial" pitchFamily="34" charset="0"/>
              </a:rPr>
              <a:t>Either way, execution proceeds with &lt;</a:t>
            </a:r>
            <a:r>
              <a:rPr lang="en-US" sz="2000" dirty="0" err="1" smtClean="0">
                <a:solidFill>
                  <a:srgbClr val="222222"/>
                </a:solidFill>
                <a:cs typeface="Arial" pitchFamily="34" charset="0"/>
              </a:rPr>
              <a:t>Outside_</a:t>
            </a:r>
            <a:r>
              <a:rPr kumimoji="0" lang="en-US" sz="2000" b="0" i="0" u="none" strike="noStrike" cap="none" normalizeH="0" baseline="0" dirty="0" err="1" smtClean="0">
                <a:ln>
                  <a:noFill/>
                </a:ln>
                <a:solidFill>
                  <a:srgbClr val="222222"/>
                </a:solidFill>
                <a:effectLst/>
                <a:cs typeface="Arial" pitchFamily="34" charset="0"/>
              </a:rPr>
              <a:t>statement</a:t>
            </a:r>
            <a:r>
              <a:rPr kumimoji="0" lang="en-US" sz="2000" b="0" i="0" u="none" strike="noStrike" cap="none" normalizeH="0" baseline="0" dirty="0" smtClean="0">
                <a:ln>
                  <a:noFill/>
                </a:ln>
                <a:solidFill>
                  <a:srgbClr val="222222"/>
                </a:solidFill>
                <a:effectLst/>
                <a:cs typeface="Arial" pitchFamily="34" charset="0"/>
              </a:rPr>
              <a:t>&gt; afterward.</a:t>
            </a:r>
            <a:r>
              <a:rPr kumimoji="0" lang="en-US" sz="2000" b="0" i="0" u="none" strike="noStrike" cap="none" normalizeH="0" baseline="0" dirty="0" smtClean="0">
                <a:ln>
                  <a:noFill/>
                </a:ln>
                <a:solidFill>
                  <a:schemeClr val="tx1"/>
                </a:solidFill>
                <a:effectLst/>
                <a:cs typeface="Arial" pitchFamily="34" charset="0"/>
              </a:rPr>
              <a:t> </a:t>
            </a:r>
          </a:p>
        </p:txBody>
      </p:sp>
      <p:sp>
        <p:nvSpPr>
          <p:cNvPr id="5" name="Rectangle 4"/>
          <p:cNvSpPr/>
          <p:nvPr/>
        </p:nvSpPr>
        <p:spPr>
          <a:xfrm>
            <a:off x="1752600" y="152400"/>
            <a:ext cx="4247701" cy="584775"/>
          </a:xfrm>
          <a:prstGeom prst="rect">
            <a:avLst/>
          </a:prstGeom>
        </p:spPr>
        <p:txBody>
          <a:bodyPr wrap="none">
            <a:spAutoFit/>
          </a:bodyPr>
          <a:lstStyle/>
          <a:p>
            <a:r>
              <a:rPr lang="en-US" sz="3200" b="1" dirty="0" smtClean="0">
                <a:solidFill>
                  <a:srgbClr val="C00000"/>
                </a:solidFill>
              </a:rPr>
              <a:t>Compound </a:t>
            </a:r>
            <a:r>
              <a:rPr lang="en-US" sz="3200" b="1" dirty="0">
                <a:solidFill>
                  <a:srgbClr val="C00000"/>
                </a:solidFill>
              </a:rPr>
              <a:t>if Statement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5940" y="367639"/>
            <a:ext cx="5509895" cy="1781175"/>
          </a:xfrm>
          <a:prstGeom prst="rect">
            <a:avLst/>
          </a:prstGeom>
        </p:spPr>
        <p:txBody>
          <a:bodyPr vert="horz" wrap="square" lIns="0" tIns="109855" rIns="0" bIns="0" rtlCol="0">
            <a:spAutoFit/>
          </a:bodyPr>
          <a:lstStyle/>
          <a:p>
            <a:pPr marL="12700">
              <a:lnSpc>
                <a:spcPct val="100000"/>
              </a:lnSpc>
              <a:spcBef>
                <a:spcPts val="865"/>
              </a:spcBef>
            </a:pPr>
            <a:r>
              <a:rPr sz="3200" spc="-10" dirty="0">
                <a:solidFill>
                  <a:srgbClr val="FF0000"/>
                </a:solidFill>
              </a:rPr>
              <a:t>Example</a:t>
            </a:r>
            <a:r>
              <a:rPr sz="3200" spc="-5" dirty="0">
                <a:solidFill>
                  <a:srgbClr val="FF0000"/>
                </a:solidFill>
              </a:rPr>
              <a:t> </a:t>
            </a:r>
            <a:r>
              <a:rPr sz="3200" spc="-20" dirty="0">
                <a:solidFill>
                  <a:srgbClr val="FF0000"/>
                </a:solidFill>
              </a:rPr>
              <a:t>program</a:t>
            </a:r>
            <a:endParaRPr sz="3200" dirty="0"/>
          </a:p>
          <a:p>
            <a:pPr marL="12700" marR="5080">
              <a:lnSpc>
                <a:spcPct val="120000"/>
              </a:lnSpc>
            </a:pPr>
            <a:r>
              <a:rPr sz="3200" spc="-10" dirty="0"/>
              <a:t>i=int(input(“Enter </a:t>
            </a:r>
            <a:r>
              <a:rPr sz="3200" dirty="0"/>
              <a:t>the </a:t>
            </a:r>
            <a:r>
              <a:rPr sz="3200" spc="-5" dirty="0"/>
              <a:t>number:”))  </a:t>
            </a:r>
            <a:r>
              <a:rPr sz="3200" dirty="0"/>
              <a:t>If</a:t>
            </a:r>
            <a:r>
              <a:rPr sz="3200" spc="-15" dirty="0"/>
              <a:t> </a:t>
            </a:r>
            <a:r>
              <a:rPr sz="3200" spc="-5" dirty="0"/>
              <a:t>(i&lt;=10):</a:t>
            </a:r>
            <a:endParaRPr sz="3200" dirty="0"/>
          </a:p>
        </p:txBody>
      </p:sp>
      <p:sp>
        <p:nvSpPr>
          <p:cNvPr id="3" name="object 3"/>
          <p:cNvSpPr txBox="1"/>
          <p:nvPr/>
        </p:nvSpPr>
        <p:spPr>
          <a:xfrm>
            <a:off x="878839" y="2220595"/>
            <a:ext cx="4197350" cy="513715"/>
          </a:xfrm>
          <a:prstGeom prst="rect">
            <a:avLst/>
          </a:prstGeom>
        </p:spPr>
        <p:txBody>
          <a:bodyPr vert="horz" wrap="square" lIns="0" tIns="13335" rIns="0" bIns="0" rtlCol="0">
            <a:spAutoFit/>
          </a:bodyPr>
          <a:lstStyle/>
          <a:p>
            <a:pPr marL="12700">
              <a:lnSpc>
                <a:spcPct val="100000"/>
              </a:lnSpc>
              <a:spcBef>
                <a:spcPts val="105"/>
              </a:spcBef>
            </a:pPr>
            <a:r>
              <a:rPr sz="3200" spc="-10" dirty="0">
                <a:latin typeface="Calibri"/>
                <a:cs typeface="Calibri"/>
              </a:rPr>
              <a:t>print(“ </a:t>
            </a:r>
            <a:r>
              <a:rPr sz="3200" spc="-5" dirty="0">
                <a:latin typeface="Calibri"/>
                <a:cs typeface="Calibri"/>
              </a:rPr>
              <a:t>condition </a:t>
            </a:r>
            <a:r>
              <a:rPr sz="3200" dirty="0">
                <a:latin typeface="Calibri"/>
                <a:cs typeface="Calibri"/>
              </a:rPr>
              <a:t>is</a:t>
            </a:r>
            <a:r>
              <a:rPr sz="3200" spc="-10" dirty="0">
                <a:latin typeface="Calibri"/>
                <a:cs typeface="Calibri"/>
              </a:rPr>
              <a:t> </a:t>
            </a:r>
            <a:r>
              <a:rPr sz="3200" dirty="0">
                <a:latin typeface="Calibri"/>
                <a:cs typeface="Calibri"/>
              </a:rPr>
              <a:t>true”)</a:t>
            </a:r>
            <a:endParaRPr sz="3200">
              <a:latin typeface="Calibri"/>
              <a:cs typeface="Calibri"/>
            </a:endParaRPr>
          </a:p>
        </p:txBody>
      </p:sp>
      <p:grpSp>
        <p:nvGrpSpPr>
          <p:cNvPr id="4" name="object 4"/>
          <p:cNvGrpSpPr/>
          <p:nvPr/>
        </p:nvGrpSpPr>
        <p:grpSpPr>
          <a:xfrm>
            <a:off x="978408" y="3493008"/>
            <a:ext cx="3836035" cy="2235835"/>
            <a:chOff x="978408" y="3493008"/>
            <a:chExt cx="3836035" cy="2235835"/>
          </a:xfrm>
        </p:grpSpPr>
        <p:sp>
          <p:nvSpPr>
            <p:cNvPr id="5" name="object 5"/>
            <p:cNvSpPr/>
            <p:nvPr/>
          </p:nvSpPr>
          <p:spPr>
            <a:xfrm>
              <a:off x="991362" y="3505962"/>
              <a:ext cx="3810000" cy="2209800"/>
            </a:xfrm>
            <a:custGeom>
              <a:avLst/>
              <a:gdLst/>
              <a:ahLst/>
              <a:cxnLst/>
              <a:rect l="l" t="t" r="r" b="b"/>
              <a:pathLst>
                <a:path w="3810000" h="2209800">
                  <a:moveTo>
                    <a:pt x="3441700" y="0"/>
                  </a:moveTo>
                  <a:lnTo>
                    <a:pt x="368300" y="0"/>
                  </a:lnTo>
                  <a:lnTo>
                    <a:pt x="322101" y="2868"/>
                  </a:lnTo>
                  <a:lnTo>
                    <a:pt x="277616" y="11245"/>
                  </a:lnTo>
                  <a:lnTo>
                    <a:pt x="235187" y="24784"/>
                  </a:lnTo>
                  <a:lnTo>
                    <a:pt x="195161" y="43142"/>
                  </a:lnTo>
                  <a:lnTo>
                    <a:pt x="157883" y="65974"/>
                  </a:lnTo>
                  <a:lnTo>
                    <a:pt x="123698" y="92934"/>
                  </a:lnTo>
                  <a:lnTo>
                    <a:pt x="92951" y="123678"/>
                  </a:lnTo>
                  <a:lnTo>
                    <a:pt x="65987" y="157861"/>
                  </a:lnTo>
                  <a:lnTo>
                    <a:pt x="43152" y="195139"/>
                  </a:lnTo>
                  <a:lnTo>
                    <a:pt x="24791" y="235166"/>
                  </a:lnTo>
                  <a:lnTo>
                    <a:pt x="11248" y="277599"/>
                  </a:lnTo>
                  <a:lnTo>
                    <a:pt x="2869" y="322091"/>
                  </a:lnTo>
                  <a:lnTo>
                    <a:pt x="0" y="368300"/>
                  </a:lnTo>
                  <a:lnTo>
                    <a:pt x="0" y="1841500"/>
                  </a:lnTo>
                  <a:lnTo>
                    <a:pt x="2869" y="1887708"/>
                  </a:lnTo>
                  <a:lnTo>
                    <a:pt x="11248" y="1932200"/>
                  </a:lnTo>
                  <a:lnTo>
                    <a:pt x="24791" y="1974633"/>
                  </a:lnTo>
                  <a:lnTo>
                    <a:pt x="43152" y="2014660"/>
                  </a:lnTo>
                  <a:lnTo>
                    <a:pt x="65987" y="2051938"/>
                  </a:lnTo>
                  <a:lnTo>
                    <a:pt x="92951" y="2086121"/>
                  </a:lnTo>
                  <a:lnTo>
                    <a:pt x="123698" y="2116865"/>
                  </a:lnTo>
                  <a:lnTo>
                    <a:pt x="157883" y="2143825"/>
                  </a:lnTo>
                  <a:lnTo>
                    <a:pt x="195161" y="2166657"/>
                  </a:lnTo>
                  <a:lnTo>
                    <a:pt x="235187" y="2185015"/>
                  </a:lnTo>
                  <a:lnTo>
                    <a:pt x="277616" y="2198554"/>
                  </a:lnTo>
                  <a:lnTo>
                    <a:pt x="322101" y="2206931"/>
                  </a:lnTo>
                  <a:lnTo>
                    <a:pt x="368300" y="2209800"/>
                  </a:lnTo>
                  <a:lnTo>
                    <a:pt x="3441700" y="2209800"/>
                  </a:lnTo>
                  <a:lnTo>
                    <a:pt x="3487908" y="2206931"/>
                  </a:lnTo>
                  <a:lnTo>
                    <a:pt x="3532400" y="2198554"/>
                  </a:lnTo>
                  <a:lnTo>
                    <a:pt x="3574833" y="2185015"/>
                  </a:lnTo>
                  <a:lnTo>
                    <a:pt x="3614860" y="2166657"/>
                  </a:lnTo>
                  <a:lnTo>
                    <a:pt x="3652138" y="2143825"/>
                  </a:lnTo>
                  <a:lnTo>
                    <a:pt x="3686321" y="2116865"/>
                  </a:lnTo>
                  <a:lnTo>
                    <a:pt x="3717065" y="2086121"/>
                  </a:lnTo>
                  <a:lnTo>
                    <a:pt x="3744025" y="2051938"/>
                  </a:lnTo>
                  <a:lnTo>
                    <a:pt x="3766857" y="2014660"/>
                  </a:lnTo>
                  <a:lnTo>
                    <a:pt x="3785215" y="1974633"/>
                  </a:lnTo>
                  <a:lnTo>
                    <a:pt x="3798754" y="1932200"/>
                  </a:lnTo>
                  <a:lnTo>
                    <a:pt x="3807131" y="1887708"/>
                  </a:lnTo>
                  <a:lnTo>
                    <a:pt x="3810000" y="1841500"/>
                  </a:lnTo>
                  <a:lnTo>
                    <a:pt x="3810000" y="368300"/>
                  </a:lnTo>
                  <a:lnTo>
                    <a:pt x="3807131" y="322091"/>
                  </a:lnTo>
                  <a:lnTo>
                    <a:pt x="3798754" y="277599"/>
                  </a:lnTo>
                  <a:lnTo>
                    <a:pt x="3785215" y="235166"/>
                  </a:lnTo>
                  <a:lnTo>
                    <a:pt x="3766857" y="195139"/>
                  </a:lnTo>
                  <a:lnTo>
                    <a:pt x="3744025" y="157861"/>
                  </a:lnTo>
                  <a:lnTo>
                    <a:pt x="3717065" y="123678"/>
                  </a:lnTo>
                  <a:lnTo>
                    <a:pt x="3686321" y="92934"/>
                  </a:lnTo>
                  <a:lnTo>
                    <a:pt x="3652138" y="65974"/>
                  </a:lnTo>
                  <a:lnTo>
                    <a:pt x="3614860" y="43142"/>
                  </a:lnTo>
                  <a:lnTo>
                    <a:pt x="3574833" y="24784"/>
                  </a:lnTo>
                  <a:lnTo>
                    <a:pt x="3532400" y="11245"/>
                  </a:lnTo>
                  <a:lnTo>
                    <a:pt x="3487908" y="2868"/>
                  </a:lnTo>
                  <a:lnTo>
                    <a:pt x="3441700" y="0"/>
                  </a:lnTo>
                  <a:close/>
                </a:path>
              </a:pathLst>
            </a:custGeom>
            <a:solidFill>
              <a:srgbClr val="548ED4"/>
            </a:solidFill>
          </p:spPr>
          <p:txBody>
            <a:bodyPr wrap="square" lIns="0" tIns="0" rIns="0" bIns="0" rtlCol="0"/>
            <a:lstStyle/>
            <a:p>
              <a:endParaRPr/>
            </a:p>
          </p:txBody>
        </p:sp>
        <p:sp>
          <p:nvSpPr>
            <p:cNvPr id="6" name="object 6"/>
            <p:cNvSpPr/>
            <p:nvPr/>
          </p:nvSpPr>
          <p:spPr>
            <a:xfrm>
              <a:off x="991362" y="3505962"/>
              <a:ext cx="3810000" cy="2209800"/>
            </a:xfrm>
            <a:custGeom>
              <a:avLst/>
              <a:gdLst/>
              <a:ahLst/>
              <a:cxnLst/>
              <a:rect l="l" t="t" r="r" b="b"/>
              <a:pathLst>
                <a:path w="3810000" h="2209800">
                  <a:moveTo>
                    <a:pt x="0" y="368300"/>
                  </a:moveTo>
                  <a:lnTo>
                    <a:pt x="2869" y="322091"/>
                  </a:lnTo>
                  <a:lnTo>
                    <a:pt x="11248" y="277599"/>
                  </a:lnTo>
                  <a:lnTo>
                    <a:pt x="24791" y="235166"/>
                  </a:lnTo>
                  <a:lnTo>
                    <a:pt x="43152" y="195139"/>
                  </a:lnTo>
                  <a:lnTo>
                    <a:pt x="65987" y="157861"/>
                  </a:lnTo>
                  <a:lnTo>
                    <a:pt x="92951" y="123678"/>
                  </a:lnTo>
                  <a:lnTo>
                    <a:pt x="123698" y="92934"/>
                  </a:lnTo>
                  <a:lnTo>
                    <a:pt x="157883" y="65974"/>
                  </a:lnTo>
                  <a:lnTo>
                    <a:pt x="195161" y="43142"/>
                  </a:lnTo>
                  <a:lnTo>
                    <a:pt x="235187" y="24784"/>
                  </a:lnTo>
                  <a:lnTo>
                    <a:pt x="277616" y="11245"/>
                  </a:lnTo>
                  <a:lnTo>
                    <a:pt x="322101" y="2868"/>
                  </a:lnTo>
                  <a:lnTo>
                    <a:pt x="368300" y="0"/>
                  </a:lnTo>
                  <a:lnTo>
                    <a:pt x="3441700" y="0"/>
                  </a:lnTo>
                  <a:lnTo>
                    <a:pt x="3487908" y="2868"/>
                  </a:lnTo>
                  <a:lnTo>
                    <a:pt x="3532400" y="11245"/>
                  </a:lnTo>
                  <a:lnTo>
                    <a:pt x="3574833" y="24784"/>
                  </a:lnTo>
                  <a:lnTo>
                    <a:pt x="3614860" y="43142"/>
                  </a:lnTo>
                  <a:lnTo>
                    <a:pt x="3652138" y="65974"/>
                  </a:lnTo>
                  <a:lnTo>
                    <a:pt x="3686321" y="92934"/>
                  </a:lnTo>
                  <a:lnTo>
                    <a:pt x="3717065" y="123678"/>
                  </a:lnTo>
                  <a:lnTo>
                    <a:pt x="3744025" y="157861"/>
                  </a:lnTo>
                  <a:lnTo>
                    <a:pt x="3766857" y="195139"/>
                  </a:lnTo>
                  <a:lnTo>
                    <a:pt x="3785215" y="235166"/>
                  </a:lnTo>
                  <a:lnTo>
                    <a:pt x="3798754" y="277599"/>
                  </a:lnTo>
                  <a:lnTo>
                    <a:pt x="3807131" y="322091"/>
                  </a:lnTo>
                  <a:lnTo>
                    <a:pt x="3810000" y="368300"/>
                  </a:lnTo>
                  <a:lnTo>
                    <a:pt x="3810000" y="1841500"/>
                  </a:lnTo>
                  <a:lnTo>
                    <a:pt x="3807131" y="1887708"/>
                  </a:lnTo>
                  <a:lnTo>
                    <a:pt x="3798754" y="1932200"/>
                  </a:lnTo>
                  <a:lnTo>
                    <a:pt x="3785215" y="1974633"/>
                  </a:lnTo>
                  <a:lnTo>
                    <a:pt x="3766857" y="2014660"/>
                  </a:lnTo>
                  <a:lnTo>
                    <a:pt x="3744025" y="2051938"/>
                  </a:lnTo>
                  <a:lnTo>
                    <a:pt x="3717065" y="2086121"/>
                  </a:lnTo>
                  <a:lnTo>
                    <a:pt x="3686321" y="2116865"/>
                  </a:lnTo>
                  <a:lnTo>
                    <a:pt x="3652138" y="2143825"/>
                  </a:lnTo>
                  <a:lnTo>
                    <a:pt x="3614860" y="2166657"/>
                  </a:lnTo>
                  <a:lnTo>
                    <a:pt x="3574833" y="2185015"/>
                  </a:lnTo>
                  <a:lnTo>
                    <a:pt x="3532400" y="2198554"/>
                  </a:lnTo>
                  <a:lnTo>
                    <a:pt x="3487908" y="2206931"/>
                  </a:lnTo>
                  <a:lnTo>
                    <a:pt x="3441700" y="2209800"/>
                  </a:lnTo>
                  <a:lnTo>
                    <a:pt x="368300" y="2209800"/>
                  </a:lnTo>
                  <a:lnTo>
                    <a:pt x="322101" y="2206931"/>
                  </a:lnTo>
                  <a:lnTo>
                    <a:pt x="277616" y="2198554"/>
                  </a:lnTo>
                  <a:lnTo>
                    <a:pt x="235187" y="2185015"/>
                  </a:lnTo>
                  <a:lnTo>
                    <a:pt x="195161" y="2166657"/>
                  </a:lnTo>
                  <a:lnTo>
                    <a:pt x="157883" y="2143825"/>
                  </a:lnTo>
                  <a:lnTo>
                    <a:pt x="123698" y="2116865"/>
                  </a:lnTo>
                  <a:lnTo>
                    <a:pt x="92951" y="2086121"/>
                  </a:lnTo>
                  <a:lnTo>
                    <a:pt x="65987" y="2051938"/>
                  </a:lnTo>
                  <a:lnTo>
                    <a:pt x="43152" y="2014660"/>
                  </a:lnTo>
                  <a:lnTo>
                    <a:pt x="24791" y="1974633"/>
                  </a:lnTo>
                  <a:lnTo>
                    <a:pt x="11248" y="1932200"/>
                  </a:lnTo>
                  <a:lnTo>
                    <a:pt x="2869" y="1887708"/>
                  </a:lnTo>
                  <a:lnTo>
                    <a:pt x="0" y="1841500"/>
                  </a:lnTo>
                  <a:lnTo>
                    <a:pt x="0" y="368300"/>
                  </a:lnTo>
                  <a:close/>
                </a:path>
              </a:pathLst>
            </a:custGeom>
            <a:ln w="25908">
              <a:solidFill>
                <a:srgbClr val="385D89"/>
              </a:solidFill>
            </a:ln>
          </p:spPr>
          <p:txBody>
            <a:bodyPr wrap="square" lIns="0" tIns="0" rIns="0" bIns="0" rtlCol="0"/>
            <a:lstStyle/>
            <a:p>
              <a:endParaRPr/>
            </a:p>
          </p:txBody>
        </p:sp>
      </p:grpSp>
      <p:sp>
        <p:nvSpPr>
          <p:cNvPr id="7" name="object 7"/>
          <p:cNvSpPr txBox="1"/>
          <p:nvPr/>
        </p:nvSpPr>
        <p:spPr>
          <a:xfrm>
            <a:off x="1177544" y="3790568"/>
            <a:ext cx="2566670" cy="1544955"/>
          </a:xfrm>
          <a:prstGeom prst="rect">
            <a:avLst/>
          </a:prstGeom>
        </p:spPr>
        <p:txBody>
          <a:bodyPr vert="horz" wrap="square" lIns="0" tIns="195580" rIns="0" bIns="0" rtlCol="0">
            <a:spAutoFit/>
          </a:bodyPr>
          <a:lstStyle/>
          <a:p>
            <a:pPr marL="12700">
              <a:lnSpc>
                <a:spcPct val="100000"/>
              </a:lnSpc>
              <a:spcBef>
                <a:spcPts val="1540"/>
              </a:spcBef>
            </a:pPr>
            <a:r>
              <a:rPr sz="2400" b="1" spc="-5" dirty="0">
                <a:solidFill>
                  <a:srgbClr val="FFFFFF"/>
                </a:solidFill>
                <a:latin typeface="Calibri"/>
                <a:cs typeface="Calibri"/>
              </a:rPr>
              <a:t>OUTPUT</a:t>
            </a:r>
            <a:endParaRPr sz="2400">
              <a:latin typeface="Calibri"/>
              <a:cs typeface="Calibri"/>
            </a:endParaRPr>
          </a:p>
          <a:p>
            <a:pPr marL="12700" marR="5080">
              <a:lnSpc>
                <a:spcPct val="115399"/>
              </a:lnSpc>
              <a:spcBef>
                <a:spcPts val="994"/>
              </a:spcBef>
            </a:pPr>
            <a:r>
              <a:rPr sz="2400" b="1" spc="-15" dirty="0">
                <a:solidFill>
                  <a:srgbClr val="FFFFFF"/>
                </a:solidFill>
                <a:latin typeface="Calibri"/>
                <a:cs typeface="Calibri"/>
              </a:rPr>
              <a:t>Enter </a:t>
            </a:r>
            <a:r>
              <a:rPr sz="2400" b="1" dirty="0">
                <a:solidFill>
                  <a:srgbClr val="FFFFFF"/>
                </a:solidFill>
                <a:latin typeface="Calibri"/>
                <a:cs typeface="Calibri"/>
              </a:rPr>
              <a:t>the </a:t>
            </a:r>
            <a:r>
              <a:rPr sz="2400" b="1" spc="-5" dirty="0">
                <a:solidFill>
                  <a:srgbClr val="FFFFFF"/>
                </a:solidFill>
                <a:latin typeface="Calibri"/>
                <a:cs typeface="Calibri"/>
              </a:rPr>
              <a:t>number:</a:t>
            </a:r>
            <a:r>
              <a:rPr sz="2400" b="1" spc="-60" dirty="0">
                <a:solidFill>
                  <a:srgbClr val="FFFFFF"/>
                </a:solidFill>
                <a:latin typeface="Calibri"/>
                <a:cs typeface="Calibri"/>
              </a:rPr>
              <a:t> </a:t>
            </a:r>
            <a:r>
              <a:rPr sz="2400" b="1" dirty="0">
                <a:solidFill>
                  <a:srgbClr val="FFFFFF"/>
                </a:solidFill>
                <a:latin typeface="Calibri"/>
                <a:cs typeface="Calibri"/>
              </a:rPr>
              <a:t>9  </a:t>
            </a:r>
            <a:r>
              <a:rPr sz="2400" b="1" spc="-5" dirty="0">
                <a:solidFill>
                  <a:srgbClr val="FFFFFF"/>
                </a:solidFill>
                <a:latin typeface="Calibri"/>
                <a:cs typeface="Calibri"/>
              </a:rPr>
              <a:t>Condition </a:t>
            </a:r>
            <a:r>
              <a:rPr sz="2400" b="1" dirty="0">
                <a:solidFill>
                  <a:srgbClr val="FFFFFF"/>
                </a:solidFill>
                <a:latin typeface="Calibri"/>
                <a:cs typeface="Calibri"/>
              </a:rPr>
              <a:t>is</a:t>
            </a:r>
            <a:r>
              <a:rPr sz="2400" b="1" spc="-20" dirty="0">
                <a:solidFill>
                  <a:srgbClr val="FFFFFF"/>
                </a:solidFill>
                <a:latin typeface="Calibri"/>
                <a:cs typeface="Calibri"/>
              </a:rPr>
              <a:t> </a:t>
            </a:r>
            <a:r>
              <a:rPr sz="2400" b="1" spc="-10" dirty="0">
                <a:solidFill>
                  <a:srgbClr val="FFFFFF"/>
                </a:solidFill>
                <a:latin typeface="Calibri"/>
                <a:cs typeface="Calibri"/>
              </a:rPr>
              <a:t>true</a:t>
            </a:r>
            <a:endParaRPr sz="2400">
              <a:latin typeface="Calibri"/>
              <a:cs typeface="Calibri"/>
            </a:endParaRP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pPr marL="38100">
                <a:lnSpc>
                  <a:spcPts val="1240"/>
                </a:lnSpc>
              </a:pPr>
              <a:t>5</a:t>
            </a:fld>
            <a:endParaRPr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457200" y="1295400"/>
            <a:ext cx="8305800" cy="1891287"/>
          </a:xfrm>
          <a:prstGeom prst="rect">
            <a:avLst/>
          </a:prstGeom>
        </p:spPr>
        <p:txBody>
          <a:bodyPr wrap="square">
            <a:spAutoFit/>
          </a:bodyPr>
          <a:lstStyle/>
          <a:p>
            <a:pPr algn="just">
              <a:lnSpc>
                <a:spcPct val="150000"/>
              </a:lnSpc>
            </a:pPr>
            <a:r>
              <a:rPr lang="en-US" sz="2000" dirty="0"/>
              <a:t>A nested if is an if statement that is the target of another if statement. Nested if statements means an if statement inside another if statement. Yes, Python allows us to nest if statements within if statements. </a:t>
            </a:r>
            <a:r>
              <a:rPr lang="en-US" sz="2000" dirty="0" err="1"/>
              <a:t>i.e</a:t>
            </a:r>
            <a:r>
              <a:rPr lang="en-US" sz="2000" dirty="0"/>
              <a:t>, we can place an if statement inside another if statement.</a:t>
            </a:r>
          </a:p>
        </p:txBody>
      </p:sp>
      <p:sp>
        <p:nvSpPr>
          <p:cNvPr id="27649" name="Rectangle 1"/>
          <p:cNvSpPr>
            <a:spLocks noChangeArrowheads="1"/>
          </p:cNvSpPr>
          <p:nvPr/>
        </p:nvSpPr>
        <p:spPr bwMode="auto">
          <a:xfrm>
            <a:off x="762000" y="3335613"/>
            <a:ext cx="5257800" cy="2244176"/>
          </a:xfrm>
          <a:prstGeom prst="rect">
            <a:avLst/>
          </a:prstGeom>
          <a:solidFill>
            <a:srgbClr val="FFFFFF"/>
          </a:solidFill>
          <a:ln w="9525">
            <a:noFill/>
            <a:miter lim="800000"/>
            <a:headEnd/>
            <a:tailEnd/>
          </a:ln>
          <a:effectLst/>
        </p:spPr>
        <p:txBody>
          <a:bodyPr vert="horz" wrap="square" lIns="0" tIns="0" rIns="0" bIns="88872"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smtClean="0">
                <a:ln>
                  <a:noFill/>
                </a:ln>
                <a:solidFill>
                  <a:srgbClr val="40424E"/>
                </a:solidFill>
                <a:effectLst/>
                <a:cs typeface="Arial" pitchFamily="34" charset="0"/>
              </a:rPr>
              <a:t>Syntax</a:t>
            </a:r>
            <a:r>
              <a:rPr kumimoji="0" lang="en-US" sz="2000" b="0" i="0" u="none" strike="noStrike" cap="none" normalizeH="0" baseline="0" dirty="0" smtClean="0">
                <a:ln>
                  <a:noFill/>
                </a:ln>
                <a:solidFill>
                  <a:srgbClr val="40424E"/>
                </a:solidFill>
                <a:effectLst/>
                <a:cs typeface="Arial" pitchFamily="34" charset="0"/>
              </a:rPr>
              <a:t>:</a:t>
            </a:r>
            <a:endParaRPr kumimoji="0" lang="en-US" sz="2000" b="0" i="0" u="none" strike="noStrike" cap="none" normalizeH="0" baseline="0" dirty="0" smtClean="0">
              <a:ln>
                <a:noFill/>
              </a:ln>
              <a:solidFill>
                <a:schemeClr val="tx1"/>
              </a:solidFill>
              <a:effectLst/>
              <a:cs typeface="Consolas"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000" b="0" i="0" u="none" strike="noStrike" cap="none" normalizeH="0" baseline="0" dirty="0" smtClean="0">
                <a:ln>
                  <a:noFill/>
                </a:ln>
                <a:solidFill>
                  <a:schemeClr val="tx1"/>
                </a:solidFill>
                <a:effectLst/>
                <a:cs typeface="Consolas" pitchFamily="49" charset="0"/>
              </a:rPr>
              <a:t>if (condition1):</a:t>
            </a:r>
          </a:p>
          <a:p>
            <a:pPr marL="0" marR="0" lvl="0" indent="0" algn="l" defTabSz="914400" rtl="0" eaLnBrk="0" fontAlgn="base" latinLnBrk="0" hangingPunct="0">
              <a:lnSpc>
                <a:spcPct val="100000"/>
              </a:lnSpc>
              <a:spcBef>
                <a:spcPct val="0"/>
              </a:spcBef>
              <a:spcAft>
                <a:spcPct val="0"/>
              </a:spcAft>
              <a:buClrTx/>
              <a:buSzTx/>
              <a:buFontTx/>
              <a:buNone/>
              <a:tabLst/>
            </a:pPr>
            <a:r>
              <a:rPr lang="en-US" sz="2000" dirty="0">
                <a:cs typeface="Consolas" pitchFamily="49" charset="0"/>
              </a:rPr>
              <a:t>	</a:t>
            </a:r>
            <a:r>
              <a:rPr kumimoji="0" lang="en-US" sz="2000" b="0" i="0" u="none" strike="noStrike" cap="none" normalizeH="0" baseline="0" dirty="0" smtClean="0">
                <a:ln>
                  <a:noFill/>
                </a:ln>
                <a:solidFill>
                  <a:schemeClr val="tx1"/>
                </a:solidFill>
                <a:effectLst/>
                <a:cs typeface="Consolas" pitchFamily="49" charset="0"/>
              </a:rPr>
              <a:t> # Executes when condition1 is true</a:t>
            </a:r>
          </a:p>
          <a:p>
            <a:pPr marL="0" marR="0" lvl="0" indent="0" algn="l" defTabSz="914400" rtl="0" eaLnBrk="0" fontAlgn="base" latinLnBrk="0" hangingPunct="0">
              <a:lnSpc>
                <a:spcPct val="100000"/>
              </a:lnSpc>
              <a:spcBef>
                <a:spcPct val="0"/>
              </a:spcBef>
              <a:spcAft>
                <a:spcPct val="0"/>
              </a:spcAft>
              <a:buClrTx/>
              <a:buSzTx/>
              <a:buFontTx/>
              <a:buNone/>
              <a:tabLst/>
            </a:pPr>
            <a:r>
              <a:rPr lang="en-US" sz="2000" dirty="0">
                <a:cs typeface="Consolas" pitchFamily="49" charset="0"/>
              </a:rPr>
              <a:t>	</a:t>
            </a:r>
            <a:r>
              <a:rPr kumimoji="0" lang="en-US" sz="2000" b="0" i="0" u="none" strike="noStrike" cap="none" normalizeH="0" baseline="0" dirty="0" smtClean="0">
                <a:ln>
                  <a:noFill/>
                </a:ln>
                <a:solidFill>
                  <a:schemeClr val="tx1"/>
                </a:solidFill>
                <a:effectLst/>
                <a:cs typeface="Consolas" pitchFamily="49" charset="0"/>
              </a:rPr>
              <a:t> if (condition2):</a:t>
            </a:r>
          </a:p>
          <a:p>
            <a:pPr marL="0" marR="0" lvl="0" indent="0" algn="l" defTabSz="914400" rtl="0" eaLnBrk="0" fontAlgn="base" latinLnBrk="0" hangingPunct="0">
              <a:lnSpc>
                <a:spcPct val="100000"/>
              </a:lnSpc>
              <a:spcBef>
                <a:spcPct val="0"/>
              </a:spcBef>
              <a:spcAft>
                <a:spcPct val="0"/>
              </a:spcAft>
              <a:buClrTx/>
              <a:buSzTx/>
              <a:buFontTx/>
              <a:buNone/>
              <a:tabLst/>
            </a:pPr>
            <a:r>
              <a:rPr lang="en-US" sz="2000" dirty="0">
                <a:cs typeface="Consolas" pitchFamily="49" charset="0"/>
              </a:rPr>
              <a:t>	</a:t>
            </a:r>
            <a:r>
              <a:rPr kumimoji="0" lang="en-US" sz="2000" b="0" i="0" u="none" strike="noStrike" cap="none" normalizeH="0" baseline="0" dirty="0" smtClean="0">
                <a:ln>
                  <a:noFill/>
                </a:ln>
                <a:solidFill>
                  <a:schemeClr val="tx1"/>
                </a:solidFill>
                <a:effectLst/>
                <a:cs typeface="Consolas" pitchFamily="49" charset="0"/>
              </a:rPr>
              <a:t> # Executes when condition2 is true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000" b="0" i="0" u="none" strike="noStrike" cap="none" normalizeH="0" baseline="0" dirty="0" smtClean="0">
                <a:ln>
                  <a:noFill/>
                </a:ln>
                <a:solidFill>
                  <a:schemeClr val="tx1"/>
                </a:solidFill>
                <a:effectLst/>
                <a:cs typeface="Consolas" pitchFamily="49" charset="0"/>
              </a:rPr>
              <a:t>                 # if Block is end here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000" b="0" i="0" u="none" strike="noStrike" cap="none" normalizeH="0" baseline="0" dirty="0" smtClean="0">
                <a:ln>
                  <a:noFill/>
                </a:ln>
                <a:solidFill>
                  <a:schemeClr val="tx1"/>
                </a:solidFill>
                <a:effectLst/>
                <a:cs typeface="Consolas" pitchFamily="49" charset="0"/>
              </a:rPr>
              <a:t># if Block is end here</a:t>
            </a:r>
            <a:r>
              <a:rPr kumimoji="0" lang="en-US" sz="2000" b="0" i="0" u="none" strike="noStrike" cap="none" normalizeH="0" baseline="0" dirty="0" smtClean="0">
                <a:ln>
                  <a:noFill/>
                </a:ln>
                <a:solidFill>
                  <a:schemeClr val="tx1"/>
                </a:solidFill>
                <a:effectLst/>
                <a:cs typeface="Arial" pitchFamily="34" charset="0"/>
              </a:rPr>
              <a:t> </a:t>
            </a:r>
          </a:p>
        </p:txBody>
      </p:sp>
      <p:sp>
        <p:nvSpPr>
          <p:cNvPr id="6" name="Rectangle 5"/>
          <p:cNvSpPr/>
          <p:nvPr/>
        </p:nvSpPr>
        <p:spPr>
          <a:xfrm>
            <a:off x="3429000" y="381000"/>
            <a:ext cx="1658403" cy="584775"/>
          </a:xfrm>
          <a:prstGeom prst="rect">
            <a:avLst/>
          </a:prstGeom>
        </p:spPr>
        <p:txBody>
          <a:bodyPr wrap="none">
            <a:spAutoFit/>
          </a:bodyPr>
          <a:lstStyle/>
          <a:p>
            <a:r>
              <a:rPr lang="en-US" sz="3200" u="sng" dirty="0">
                <a:solidFill>
                  <a:srgbClr val="C00000"/>
                </a:solidFill>
              </a:rPr>
              <a:t>nested-if</a:t>
            </a:r>
            <a:endParaRPr lang="en-US" sz="3200" dirty="0">
              <a:solidFill>
                <a:srgbClr val="C00000"/>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5" name="Rectangle 3"/>
          <p:cNvSpPr>
            <a:spLocks noChangeArrowheads="1"/>
          </p:cNvSpPr>
          <p:nvPr/>
        </p:nvSpPr>
        <p:spPr bwMode="auto">
          <a:xfrm>
            <a:off x="762000" y="1708666"/>
            <a:ext cx="6019800" cy="2954655"/>
          </a:xfrm>
          <a:prstGeom prst="rect">
            <a:avLst/>
          </a:prstGeom>
          <a:solidFill>
            <a:srgbClr val="FFFFFF"/>
          </a:solidFill>
          <a:ln w="9525">
            <a:noFill/>
            <a:miter lim="800000"/>
            <a:headEnd/>
            <a:tailEnd/>
          </a:ln>
          <a:effectLst/>
        </p:spPr>
        <p:txBody>
          <a:bodyPr vert="horz" wrap="square" lIns="0" tIns="0" rIns="0" bIns="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dirty="0" err="1" smtClean="0">
                <a:ln>
                  <a:noFill/>
                </a:ln>
                <a:solidFill>
                  <a:srgbClr val="000000"/>
                </a:solidFill>
                <a:effectLst/>
                <a:cs typeface="Consolas" pitchFamily="49" charset="0"/>
              </a:rPr>
              <a:t>i</a:t>
            </a:r>
            <a:r>
              <a:rPr kumimoji="0" lang="en-US" sz="2400" b="0" i="0" u="none" strike="noStrike" cap="none" normalizeH="0" baseline="0" dirty="0" smtClean="0">
                <a:ln>
                  <a:noFill/>
                </a:ln>
                <a:solidFill>
                  <a:srgbClr val="000000"/>
                </a:solidFill>
                <a:effectLst/>
                <a:cs typeface="Consolas" pitchFamily="49" charset="0"/>
              </a:rPr>
              <a:t> </a:t>
            </a:r>
            <a:r>
              <a:rPr kumimoji="0" lang="en-US" sz="2400" b="1" i="0" u="none" strike="noStrike" cap="none" normalizeH="0" baseline="0" dirty="0" smtClean="0">
                <a:ln>
                  <a:noFill/>
                </a:ln>
                <a:solidFill>
                  <a:srgbClr val="006699"/>
                </a:solidFill>
                <a:effectLst/>
                <a:cs typeface="Consolas" pitchFamily="49" charset="0"/>
              </a:rPr>
              <a:t>=</a:t>
            </a:r>
            <a:r>
              <a:rPr kumimoji="0" lang="en-US" sz="2400" b="0" i="0" u="none" strike="noStrike" cap="none" normalizeH="0" baseline="0" dirty="0" smtClean="0">
                <a:ln>
                  <a:noFill/>
                </a:ln>
                <a:solidFill>
                  <a:srgbClr val="40424E"/>
                </a:solidFill>
                <a:effectLst/>
                <a:cs typeface="Consolas" pitchFamily="49" charset="0"/>
              </a:rPr>
              <a:t> </a:t>
            </a:r>
            <a:r>
              <a:rPr kumimoji="0" lang="en-US" sz="2400" b="0" i="0" u="none" strike="noStrike" cap="none" normalizeH="0" baseline="0" dirty="0" smtClean="0">
                <a:ln>
                  <a:noFill/>
                </a:ln>
                <a:solidFill>
                  <a:srgbClr val="009900"/>
                </a:solidFill>
                <a:effectLst/>
                <a:cs typeface="Consolas" pitchFamily="49" charset="0"/>
              </a:rPr>
              <a:t>10</a:t>
            </a:r>
            <a:endParaRPr kumimoji="0" lang="en-US" sz="2400" b="0" i="0" u="none" strike="noStrike" cap="none" normalizeH="0" baseline="0" dirty="0" smtClean="0">
              <a:ln>
                <a:noFill/>
              </a:ln>
              <a:solidFill>
                <a:schemeClr val="tx1"/>
              </a:solidFill>
              <a:effectLst/>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400" b="1" i="0" u="none" strike="noStrike" cap="none" normalizeH="0" baseline="0" dirty="0" smtClean="0">
                <a:ln>
                  <a:noFill/>
                </a:ln>
                <a:solidFill>
                  <a:srgbClr val="006699"/>
                </a:solidFill>
                <a:effectLst/>
                <a:cs typeface="Consolas" pitchFamily="49" charset="0"/>
              </a:rPr>
              <a:t>if</a:t>
            </a:r>
            <a:r>
              <a:rPr kumimoji="0" lang="en-US" sz="2400" b="0" i="0" u="none" strike="noStrike" cap="none" normalizeH="0" baseline="0" dirty="0" smtClean="0">
                <a:ln>
                  <a:noFill/>
                </a:ln>
                <a:solidFill>
                  <a:srgbClr val="40424E"/>
                </a:solidFill>
                <a:effectLst/>
                <a:cs typeface="Consolas" pitchFamily="49" charset="0"/>
              </a:rPr>
              <a:t> </a:t>
            </a:r>
            <a:r>
              <a:rPr kumimoji="0" lang="en-US" sz="2400" b="0" i="0" u="none" strike="noStrike" cap="none" normalizeH="0" baseline="0" dirty="0" smtClean="0">
                <a:ln>
                  <a:noFill/>
                </a:ln>
                <a:solidFill>
                  <a:srgbClr val="000000"/>
                </a:solidFill>
                <a:effectLst/>
                <a:cs typeface="Consolas" pitchFamily="49" charset="0"/>
              </a:rPr>
              <a:t>(</a:t>
            </a:r>
            <a:r>
              <a:rPr kumimoji="0" lang="en-US" sz="2400" b="0" i="0" u="none" strike="noStrike" cap="none" normalizeH="0" baseline="0" dirty="0" err="1" smtClean="0">
                <a:ln>
                  <a:noFill/>
                </a:ln>
                <a:solidFill>
                  <a:srgbClr val="000000"/>
                </a:solidFill>
                <a:effectLst/>
                <a:cs typeface="Consolas" pitchFamily="49" charset="0"/>
              </a:rPr>
              <a:t>i</a:t>
            </a:r>
            <a:r>
              <a:rPr kumimoji="0" lang="en-US" sz="2400" b="0" i="0" u="none" strike="noStrike" cap="none" normalizeH="0" baseline="0" dirty="0" smtClean="0">
                <a:ln>
                  <a:noFill/>
                </a:ln>
                <a:solidFill>
                  <a:srgbClr val="000000"/>
                </a:solidFill>
                <a:effectLst/>
                <a:cs typeface="Consolas" pitchFamily="49" charset="0"/>
              </a:rPr>
              <a:t> </a:t>
            </a:r>
            <a:r>
              <a:rPr kumimoji="0" lang="en-US" sz="2400" b="1" i="0" u="none" strike="noStrike" cap="none" normalizeH="0" baseline="0" dirty="0" smtClean="0">
                <a:ln>
                  <a:noFill/>
                </a:ln>
                <a:solidFill>
                  <a:srgbClr val="006699"/>
                </a:solidFill>
                <a:effectLst/>
                <a:cs typeface="Consolas" pitchFamily="49" charset="0"/>
              </a:rPr>
              <a:t>==</a:t>
            </a:r>
            <a:r>
              <a:rPr kumimoji="0" lang="en-US" sz="2400" b="0" i="0" u="none" strike="noStrike" cap="none" normalizeH="0" baseline="0" dirty="0" smtClean="0">
                <a:ln>
                  <a:noFill/>
                </a:ln>
                <a:solidFill>
                  <a:srgbClr val="40424E"/>
                </a:solidFill>
                <a:effectLst/>
                <a:cs typeface="Consolas" pitchFamily="49" charset="0"/>
              </a:rPr>
              <a:t> </a:t>
            </a:r>
            <a:r>
              <a:rPr kumimoji="0" lang="en-US" sz="2400" b="0" i="0" u="none" strike="noStrike" cap="none" normalizeH="0" baseline="0" dirty="0" smtClean="0">
                <a:ln>
                  <a:noFill/>
                </a:ln>
                <a:solidFill>
                  <a:srgbClr val="009900"/>
                </a:solidFill>
                <a:effectLst/>
                <a:cs typeface="Consolas" pitchFamily="49" charset="0"/>
              </a:rPr>
              <a:t>10</a:t>
            </a:r>
            <a:r>
              <a:rPr kumimoji="0" lang="en-US" sz="2400" b="0" i="0" u="none" strike="noStrike" cap="none" normalizeH="0" baseline="0" dirty="0" smtClean="0">
                <a:ln>
                  <a:noFill/>
                </a:ln>
                <a:solidFill>
                  <a:srgbClr val="000000"/>
                </a:solidFill>
                <a:effectLst/>
                <a:cs typeface="Consolas" pitchFamily="49" charset="0"/>
              </a:rPr>
              <a:t>): </a:t>
            </a:r>
            <a:endParaRPr kumimoji="0" lang="en-US" sz="2400" b="0" i="0" u="none" strike="noStrike" cap="none" normalizeH="0" baseline="0" dirty="0" smtClean="0">
              <a:ln>
                <a:noFill/>
              </a:ln>
              <a:solidFill>
                <a:schemeClr val="tx1"/>
              </a:solidFill>
              <a:effectLst/>
              <a:cs typeface="Arial" pitchFamily="34" charset="0"/>
            </a:endParaRPr>
          </a:p>
          <a:p>
            <a:pPr lvl="0" eaLnBrk="0" fontAlgn="base" hangingPunct="0">
              <a:spcBef>
                <a:spcPct val="0"/>
              </a:spcBef>
              <a:spcAft>
                <a:spcPct val="0"/>
              </a:spcAft>
            </a:pPr>
            <a:r>
              <a:rPr kumimoji="0" lang="en-US" sz="2400" b="0" i="0" u="none" strike="noStrike" cap="none" normalizeH="0" baseline="0" dirty="0" smtClean="0">
                <a:ln>
                  <a:noFill/>
                </a:ln>
                <a:solidFill>
                  <a:srgbClr val="40424E"/>
                </a:solidFill>
                <a:effectLst/>
                <a:cs typeface="Consolas" pitchFamily="49" charset="0"/>
              </a:rPr>
              <a:t>    </a:t>
            </a:r>
            <a:r>
              <a:rPr kumimoji="0" lang="en-US" sz="2400" b="1" i="0" u="none" strike="noStrike" cap="none" normalizeH="0" baseline="0" dirty="0" smtClean="0">
                <a:ln>
                  <a:noFill/>
                </a:ln>
                <a:solidFill>
                  <a:srgbClr val="006699"/>
                </a:solidFill>
                <a:effectLst/>
                <a:cs typeface="Consolas" pitchFamily="49" charset="0"/>
              </a:rPr>
              <a:t> print</a:t>
            </a:r>
            <a:r>
              <a:rPr kumimoji="0" lang="en-US" sz="2400" b="0" i="0" u="none" strike="noStrike" cap="none" normalizeH="0" baseline="0" dirty="0" smtClean="0">
                <a:ln>
                  <a:noFill/>
                </a:ln>
                <a:solidFill>
                  <a:srgbClr val="40424E"/>
                </a:solidFill>
                <a:effectLst/>
                <a:cs typeface="Consolas" pitchFamily="49" charset="0"/>
              </a:rPr>
              <a:t> </a:t>
            </a:r>
            <a:r>
              <a:rPr kumimoji="0" lang="en-US" sz="2400" b="0" i="0" u="none" strike="noStrike" cap="none" normalizeH="0" baseline="0" dirty="0" smtClean="0">
                <a:ln>
                  <a:noFill/>
                </a:ln>
                <a:solidFill>
                  <a:srgbClr val="000000"/>
                </a:solidFill>
                <a:effectLst/>
                <a:cs typeface="Consolas" pitchFamily="49" charset="0"/>
              </a:rPr>
              <a:t>(</a:t>
            </a:r>
            <a:r>
              <a:rPr kumimoji="0" lang="en-US" sz="2400" b="0" i="0" u="none" strike="noStrike" cap="none" normalizeH="0" baseline="0" dirty="0" smtClean="0">
                <a:ln>
                  <a:noFill/>
                </a:ln>
                <a:solidFill>
                  <a:srgbClr val="0000FF"/>
                </a:solidFill>
                <a:effectLst/>
                <a:cs typeface="Consolas" pitchFamily="49" charset="0"/>
              </a:rPr>
              <a:t>"</a:t>
            </a:r>
            <a:r>
              <a:rPr kumimoji="0" lang="en-US" sz="2400" b="0" i="0" u="none" strike="noStrike" cap="none" normalizeH="0" baseline="0" dirty="0" err="1" smtClean="0">
                <a:ln>
                  <a:noFill/>
                </a:ln>
                <a:solidFill>
                  <a:srgbClr val="0000FF"/>
                </a:solidFill>
                <a:effectLst/>
                <a:cs typeface="Consolas" pitchFamily="49" charset="0"/>
              </a:rPr>
              <a:t>i</a:t>
            </a:r>
            <a:r>
              <a:rPr kumimoji="0" lang="en-US" sz="2400" b="0" i="0" u="none" strike="noStrike" cap="none" normalizeH="0" baseline="0" dirty="0" smtClean="0">
                <a:ln>
                  <a:noFill/>
                </a:ln>
                <a:solidFill>
                  <a:srgbClr val="0000FF"/>
                </a:solidFill>
                <a:effectLst/>
                <a:cs typeface="Consolas" pitchFamily="49" charset="0"/>
              </a:rPr>
              <a:t> </a:t>
            </a:r>
            <a:r>
              <a:rPr lang="en-US" sz="2400" dirty="0">
                <a:solidFill>
                  <a:srgbClr val="0000FF"/>
                </a:solidFill>
                <a:cs typeface="Consolas" pitchFamily="49" charset="0"/>
              </a:rPr>
              <a:t> </a:t>
            </a:r>
            <a:r>
              <a:rPr lang="en-US" sz="2400" dirty="0" smtClean="0">
                <a:solidFill>
                  <a:srgbClr val="0000FF"/>
                </a:solidFill>
                <a:cs typeface="Consolas" pitchFamily="49" charset="0"/>
              </a:rPr>
              <a:t>equal to</a:t>
            </a:r>
            <a:r>
              <a:rPr kumimoji="0" lang="en-US" sz="2400" b="0" i="0" u="none" strike="noStrike" cap="none" normalizeH="0" baseline="0" dirty="0" smtClean="0">
                <a:ln>
                  <a:noFill/>
                </a:ln>
                <a:solidFill>
                  <a:srgbClr val="0000FF"/>
                </a:solidFill>
                <a:effectLst/>
                <a:cs typeface="Consolas" pitchFamily="49" charset="0"/>
              </a:rPr>
              <a:t> 10"</a:t>
            </a:r>
            <a:r>
              <a:rPr kumimoji="0" lang="en-US" sz="2400" b="0" i="0" u="none" strike="noStrike" cap="none" normalizeH="0" baseline="0" dirty="0" smtClean="0">
                <a:ln>
                  <a:noFill/>
                </a:ln>
                <a:solidFill>
                  <a:srgbClr val="000000"/>
                </a:solidFill>
                <a:effectLst/>
                <a:cs typeface="Consolas" pitchFamily="49" charset="0"/>
              </a:rPr>
              <a:t>) </a:t>
            </a:r>
            <a:endParaRPr kumimoji="0" lang="en-US" sz="2400" b="0" i="0" u="none" strike="noStrike" cap="none" normalizeH="0" baseline="0" dirty="0" smtClean="0">
              <a:ln>
                <a:noFill/>
              </a:ln>
              <a:solidFill>
                <a:schemeClr val="tx1"/>
              </a:solidFill>
              <a:effectLst/>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smtClean="0">
                <a:ln>
                  <a:noFill/>
                </a:ln>
                <a:solidFill>
                  <a:srgbClr val="40424E"/>
                </a:solidFill>
                <a:effectLst/>
                <a:cs typeface="Consolas" pitchFamily="49" charset="0"/>
              </a:rPr>
              <a:t>    </a:t>
            </a:r>
            <a:r>
              <a:rPr kumimoji="0" lang="en-US" sz="2400" b="1" i="0" u="none" strike="noStrike" cap="none" normalizeH="0" baseline="0" dirty="0" smtClean="0">
                <a:ln>
                  <a:noFill/>
                </a:ln>
                <a:solidFill>
                  <a:srgbClr val="006699"/>
                </a:solidFill>
                <a:effectLst/>
                <a:cs typeface="Consolas" pitchFamily="49" charset="0"/>
              </a:rPr>
              <a:t>if</a:t>
            </a:r>
            <a:r>
              <a:rPr kumimoji="0" lang="en-US" sz="2400" b="0" i="0" u="none" strike="noStrike" cap="none" normalizeH="0" baseline="0" dirty="0" smtClean="0">
                <a:ln>
                  <a:noFill/>
                </a:ln>
                <a:solidFill>
                  <a:srgbClr val="40424E"/>
                </a:solidFill>
                <a:effectLst/>
                <a:cs typeface="Consolas" pitchFamily="49" charset="0"/>
              </a:rPr>
              <a:t> </a:t>
            </a:r>
            <a:r>
              <a:rPr kumimoji="0" lang="en-US" sz="2400" b="0" i="0" u="none" strike="noStrike" cap="none" normalizeH="0" baseline="0" dirty="0" smtClean="0">
                <a:ln>
                  <a:noFill/>
                </a:ln>
                <a:solidFill>
                  <a:srgbClr val="000000"/>
                </a:solidFill>
                <a:effectLst/>
                <a:cs typeface="Consolas" pitchFamily="49" charset="0"/>
              </a:rPr>
              <a:t>(</a:t>
            </a:r>
            <a:r>
              <a:rPr kumimoji="0" lang="en-US" sz="2400" b="0" i="0" u="none" strike="noStrike" cap="none" normalizeH="0" baseline="0" dirty="0" err="1" smtClean="0">
                <a:ln>
                  <a:noFill/>
                </a:ln>
                <a:solidFill>
                  <a:srgbClr val="000000"/>
                </a:solidFill>
                <a:effectLst/>
                <a:cs typeface="Consolas" pitchFamily="49" charset="0"/>
              </a:rPr>
              <a:t>i</a:t>
            </a:r>
            <a:r>
              <a:rPr kumimoji="0" lang="en-US" sz="2400" b="0" i="0" u="none" strike="noStrike" cap="none" normalizeH="0" baseline="0" dirty="0" smtClean="0">
                <a:ln>
                  <a:noFill/>
                </a:ln>
                <a:solidFill>
                  <a:srgbClr val="000000"/>
                </a:solidFill>
                <a:effectLst/>
                <a:cs typeface="Consolas" pitchFamily="49" charset="0"/>
              </a:rPr>
              <a:t> &lt; </a:t>
            </a:r>
            <a:r>
              <a:rPr kumimoji="0" lang="en-US" sz="2400" b="0" i="0" u="none" strike="noStrike" cap="none" normalizeH="0" baseline="0" dirty="0" smtClean="0">
                <a:ln>
                  <a:noFill/>
                </a:ln>
                <a:solidFill>
                  <a:srgbClr val="009900"/>
                </a:solidFill>
                <a:effectLst/>
                <a:cs typeface="Consolas" pitchFamily="49" charset="0"/>
              </a:rPr>
              <a:t>15</a:t>
            </a:r>
            <a:r>
              <a:rPr kumimoji="0" lang="en-US" sz="2400" b="0" i="0" u="none" strike="noStrike" cap="none" normalizeH="0" baseline="0" dirty="0" smtClean="0">
                <a:ln>
                  <a:noFill/>
                </a:ln>
                <a:solidFill>
                  <a:srgbClr val="000000"/>
                </a:solidFill>
                <a:effectLst/>
                <a:cs typeface="Consolas" pitchFamily="49" charset="0"/>
              </a:rPr>
              <a:t>): </a:t>
            </a:r>
            <a:endParaRPr kumimoji="0" lang="en-US" sz="2400" b="0" i="0" u="none" strike="noStrike" cap="none" normalizeH="0" baseline="0" dirty="0" smtClean="0">
              <a:ln>
                <a:noFill/>
              </a:ln>
              <a:solidFill>
                <a:schemeClr val="tx1"/>
              </a:solidFill>
              <a:effectLst/>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smtClean="0">
                <a:ln>
                  <a:noFill/>
                </a:ln>
                <a:solidFill>
                  <a:srgbClr val="40424E"/>
                </a:solidFill>
                <a:effectLst/>
                <a:cs typeface="Consolas" pitchFamily="49" charset="0"/>
              </a:rPr>
              <a:t>        </a:t>
            </a:r>
            <a:r>
              <a:rPr kumimoji="0" lang="en-US" sz="2400" b="1" i="0" u="none" strike="noStrike" cap="none" normalizeH="0" baseline="0" dirty="0" smtClean="0">
                <a:ln>
                  <a:noFill/>
                </a:ln>
                <a:solidFill>
                  <a:srgbClr val="006699"/>
                </a:solidFill>
                <a:effectLst/>
                <a:cs typeface="Consolas" pitchFamily="49" charset="0"/>
              </a:rPr>
              <a:t>print</a:t>
            </a:r>
            <a:r>
              <a:rPr kumimoji="0" lang="en-US" sz="2400" b="0" i="0" u="none" strike="noStrike" cap="none" normalizeH="0" baseline="0" dirty="0" smtClean="0">
                <a:ln>
                  <a:noFill/>
                </a:ln>
                <a:solidFill>
                  <a:srgbClr val="40424E"/>
                </a:solidFill>
                <a:effectLst/>
                <a:cs typeface="Consolas" pitchFamily="49" charset="0"/>
              </a:rPr>
              <a:t> </a:t>
            </a:r>
            <a:r>
              <a:rPr kumimoji="0" lang="en-US" sz="2400" b="0" i="0" u="none" strike="noStrike" cap="none" normalizeH="0" baseline="0" dirty="0" smtClean="0">
                <a:ln>
                  <a:noFill/>
                </a:ln>
                <a:solidFill>
                  <a:srgbClr val="000000"/>
                </a:solidFill>
                <a:effectLst/>
                <a:cs typeface="Consolas" pitchFamily="49" charset="0"/>
              </a:rPr>
              <a:t>(</a:t>
            </a:r>
            <a:r>
              <a:rPr kumimoji="0" lang="en-US" sz="2400" b="0" i="0" u="none" strike="noStrike" cap="none" normalizeH="0" baseline="0" dirty="0" smtClean="0">
                <a:ln>
                  <a:noFill/>
                </a:ln>
                <a:solidFill>
                  <a:srgbClr val="0000FF"/>
                </a:solidFill>
                <a:effectLst/>
                <a:cs typeface="Consolas" pitchFamily="49" charset="0"/>
              </a:rPr>
              <a:t>"</a:t>
            </a:r>
            <a:r>
              <a:rPr kumimoji="0" lang="en-US" sz="2400" b="0" i="0" u="none" strike="noStrike" cap="none" normalizeH="0" baseline="0" dirty="0" err="1" smtClean="0">
                <a:ln>
                  <a:noFill/>
                </a:ln>
                <a:solidFill>
                  <a:srgbClr val="0000FF"/>
                </a:solidFill>
                <a:effectLst/>
                <a:cs typeface="Consolas" pitchFamily="49" charset="0"/>
              </a:rPr>
              <a:t>i</a:t>
            </a:r>
            <a:r>
              <a:rPr kumimoji="0" lang="en-US" sz="2400" b="0" i="0" u="none" strike="noStrike" cap="none" normalizeH="0" baseline="0" dirty="0" smtClean="0">
                <a:ln>
                  <a:noFill/>
                </a:ln>
                <a:solidFill>
                  <a:srgbClr val="0000FF"/>
                </a:solidFill>
                <a:effectLst/>
                <a:cs typeface="Consolas" pitchFamily="49" charset="0"/>
              </a:rPr>
              <a:t> is smaller than 15"</a:t>
            </a:r>
            <a:r>
              <a:rPr kumimoji="0" lang="en-US" sz="2400" b="0" i="0" u="none" strike="noStrike" cap="none" normalizeH="0" baseline="0" dirty="0" smtClean="0">
                <a:ln>
                  <a:noFill/>
                </a:ln>
                <a:solidFill>
                  <a:srgbClr val="000000"/>
                </a:solidFill>
                <a:effectLst/>
                <a:cs typeface="Consolas" pitchFamily="49" charset="0"/>
              </a:rPr>
              <a:t>) </a:t>
            </a:r>
            <a:endParaRPr kumimoji="0" lang="en-US" sz="2400" b="0" i="0" u="none" strike="noStrike" cap="none" normalizeH="0" baseline="0" dirty="0" smtClean="0">
              <a:ln>
                <a:noFill/>
              </a:ln>
              <a:solidFill>
                <a:schemeClr val="tx1"/>
              </a:solidFill>
              <a:effectLst/>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smtClean="0">
                <a:ln>
                  <a:noFill/>
                </a:ln>
                <a:solidFill>
                  <a:srgbClr val="40424E"/>
                </a:solidFill>
                <a:effectLst/>
                <a:cs typeface="Consolas" pitchFamily="49" charset="0"/>
              </a:rPr>
              <a:t>       </a:t>
            </a:r>
            <a:r>
              <a:rPr kumimoji="0" lang="en-US" sz="2400" b="1" i="0" u="none" strike="noStrike" cap="none" normalizeH="0" baseline="0" dirty="0" smtClean="0">
                <a:ln>
                  <a:noFill/>
                </a:ln>
                <a:solidFill>
                  <a:srgbClr val="006699"/>
                </a:solidFill>
                <a:effectLst/>
                <a:cs typeface="Consolas" pitchFamily="49" charset="0"/>
              </a:rPr>
              <a:t>if</a:t>
            </a:r>
            <a:r>
              <a:rPr kumimoji="0" lang="en-US" sz="2400" b="0" i="0" u="none" strike="noStrike" cap="none" normalizeH="0" baseline="0" dirty="0" smtClean="0">
                <a:ln>
                  <a:noFill/>
                </a:ln>
                <a:solidFill>
                  <a:srgbClr val="40424E"/>
                </a:solidFill>
                <a:effectLst/>
                <a:cs typeface="Consolas" pitchFamily="49" charset="0"/>
              </a:rPr>
              <a:t> </a:t>
            </a:r>
            <a:r>
              <a:rPr kumimoji="0" lang="en-US" sz="2400" b="0" i="0" u="none" strike="noStrike" cap="none" normalizeH="0" baseline="0" dirty="0" smtClean="0">
                <a:ln>
                  <a:noFill/>
                </a:ln>
                <a:solidFill>
                  <a:srgbClr val="000000"/>
                </a:solidFill>
                <a:effectLst/>
                <a:cs typeface="Consolas" pitchFamily="49" charset="0"/>
              </a:rPr>
              <a:t>(</a:t>
            </a:r>
            <a:r>
              <a:rPr kumimoji="0" lang="en-US" sz="2400" b="0" i="0" u="none" strike="noStrike" cap="none" normalizeH="0" baseline="0" dirty="0" err="1" smtClean="0">
                <a:ln>
                  <a:noFill/>
                </a:ln>
                <a:solidFill>
                  <a:srgbClr val="000000"/>
                </a:solidFill>
                <a:effectLst/>
                <a:cs typeface="Consolas" pitchFamily="49" charset="0"/>
              </a:rPr>
              <a:t>i</a:t>
            </a:r>
            <a:r>
              <a:rPr kumimoji="0" lang="en-US" sz="2400" b="0" i="0" u="none" strike="noStrike" cap="none" normalizeH="0" baseline="0" dirty="0" smtClean="0">
                <a:ln>
                  <a:noFill/>
                </a:ln>
                <a:solidFill>
                  <a:srgbClr val="000000"/>
                </a:solidFill>
                <a:effectLst/>
                <a:cs typeface="Consolas" pitchFamily="49" charset="0"/>
              </a:rPr>
              <a:t> &lt; </a:t>
            </a:r>
            <a:r>
              <a:rPr kumimoji="0" lang="en-US" sz="2400" b="0" i="0" u="none" strike="noStrike" cap="none" normalizeH="0" baseline="0" dirty="0" smtClean="0">
                <a:ln>
                  <a:noFill/>
                </a:ln>
                <a:solidFill>
                  <a:srgbClr val="009900"/>
                </a:solidFill>
                <a:effectLst/>
                <a:cs typeface="Consolas" pitchFamily="49" charset="0"/>
              </a:rPr>
              <a:t>12</a:t>
            </a:r>
            <a:r>
              <a:rPr kumimoji="0" lang="en-US" sz="2400" b="0" i="0" u="none" strike="noStrike" cap="none" normalizeH="0" baseline="0" dirty="0" smtClean="0">
                <a:ln>
                  <a:noFill/>
                </a:ln>
                <a:solidFill>
                  <a:srgbClr val="000000"/>
                </a:solidFill>
                <a:effectLst/>
                <a:cs typeface="Consolas" pitchFamily="49" charset="0"/>
              </a:rPr>
              <a:t>): </a:t>
            </a:r>
            <a:endParaRPr kumimoji="0" lang="en-US" sz="2400" b="0" i="0" u="none" strike="noStrike" cap="none" normalizeH="0" baseline="0" dirty="0" smtClean="0">
              <a:ln>
                <a:noFill/>
              </a:ln>
              <a:solidFill>
                <a:schemeClr val="tx1"/>
              </a:solidFill>
              <a:effectLst/>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smtClean="0">
                <a:ln>
                  <a:noFill/>
                </a:ln>
                <a:solidFill>
                  <a:srgbClr val="40424E"/>
                </a:solidFill>
                <a:effectLst/>
                <a:cs typeface="Consolas" pitchFamily="49" charset="0"/>
              </a:rPr>
              <a:t>        </a:t>
            </a:r>
            <a:r>
              <a:rPr kumimoji="0" lang="en-US" sz="2400" b="0" i="0" u="none" strike="noStrike" cap="none" normalizeH="0" baseline="0" dirty="0" smtClean="0">
                <a:ln>
                  <a:noFill/>
                </a:ln>
                <a:solidFill>
                  <a:srgbClr val="FF1493"/>
                </a:solidFill>
                <a:effectLst/>
                <a:cs typeface="Consolas" pitchFamily="49" charset="0"/>
              </a:rPr>
              <a:t>print</a:t>
            </a:r>
            <a:r>
              <a:rPr kumimoji="0" lang="en-US" sz="2400" b="0" i="0" u="none" strike="noStrike" cap="none" normalizeH="0" baseline="0" dirty="0" smtClean="0">
                <a:ln>
                  <a:noFill/>
                </a:ln>
                <a:solidFill>
                  <a:srgbClr val="40424E"/>
                </a:solidFill>
                <a:effectLst/>
                <a:cs typeface="Consolas" pitchFamily="49" charset="0"/>
              </a:rPr>
              <a:t> </a:t>
            </a:r>
            <a:r>
              <a:rPr kumimoji="0" lang="en-US" sz="2400" b="0" i="0" u="none" strike="noStrike" cap="none" normalizeH="0" baseline="0" dirty="0" smtClean="0">
                <a:ln>
                  <a:noFill/>
                </a:ln>
                <a:solidFill>
                  <a:srgbClr val="000000"/>
                </a:solidFill>
                <a:effectLst/>
                <a:cs typeface="Consolas" pitchFamily="49" charset="0"/>
              </a:rPr>
              <a:t>(</a:t>
            </a:r>
            <a:r>
              <a:rPr kumimoji="0" lang="en-US" sz="2400" b="0" i="0" u="none" strike="noStrike" cap="none" normalizeH="0" baseline="0" dirty="0" smtClean="0">
                <a:ln>
                  <a:noFill/>
                </a:ln>
                <a:solidFill>
                  <a:srgbClr val="0000FF"/>
                </a:solidFill>
                <a:effectLst/>
                <a:cs typeface="Consolas" pitchFamily="49" charset="0"/>
              </a:rPr>
              <a:t>"</a:t>
            </a:r>
            <a:r>
              <a:rPr kumimoji="0" lang="en-US" sz="2400" b="0" i="0" u="none" strike="noStrike" cap="none" normalizeH="0" baseline="0" dirty="0" err="1" smtClean="0">
                <a:ln>
                  <a:noFill/>
                </a:ln>
                <a:solidFill>
                  <a:srgbClr val="0000FF"/>
                </a:solidFill>
                <a:effectLst/>
                <a:cs typeface="Consolas" pitchFamily="49" charset="0"/>
              </a:rPr>
              <a:t>i</a:t>
            </a:r>
            <a:r>
              <a:rPr kumimoji="0" lang="en-US" sz="2400" b="0" i="0" u="none" strike="noStrike" cap="none" normalizeH="0" baseline="0" dirty="0" smtClean="0">
                <a:ln>
                  <a:noFill/>
                </a:ln>
                <a:solidFill>
                  <a:srgbClr val="0000FF"/>
                </a:solidFill>
                <a:effectLst/>
                <a:cs typeface="Consolas" pitchFamily="49" charset="0"/>
              </a:rPr>
              <a:t> is smaller than 12 too"</a:t>
            </a:r>
            <a:r>
              <a:rPr kumimoji="0" lang="en-US" sz="2400" b="0" i="0" u="none" strike="noStrike" cap="none" normalizeH="0" baseline="0" dirty="0" smtClean="0">
                <a:ln>
                  <a:noFill/>
                </a:ln>
                <a:solidFill>
                  <a:srgbClr val="000000"/>
                </a:solidFill>
                <a:effectLst/>
                <a:cs typeface="Consolas" pitchFamily="49" charset="0"/>
              </a:rPr>
              <a:t>) </a:t>
            </a:r>
            <a:endParaRPr kumimoji="0" lang="en-US" sz="2400" b="0" i="0" u="none" strike="noStrike" cap="none" normalizeH="0" baseline="0" dirty="0" smtClean="0">
              <a:ln>
                <a:noFill/>
              </a:ln>
              <a:solidFill>
                <a:schemeClr val="tx1"/>
              </a:solidFill>
              <a:effectLst/>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smtClean="0">
                <a:ln>
                  <a:noFill/>
                </a:ln>
                <a:solidFill>
                  <a:srgbClr val="40424E"/>
                </a:solidFill>
                <a:effectLst/>
                <a:cs typeface="Consolas" pitchFamily="49" charset="0"/>
              </a:rPr>
              <a:t>   </a:t>
            </a:r>
            <a:r>
              <a:rPr kumimoji="0" lang="en-US" sz="2400" b="0" i="0" u="none" strike="noStrike" cap="none" normalizeH="0" baseline="0" smtClean="0">
                <a:ln>
                  <a:noFill/>
                </a:ln>
                <a:solidFill>
                  <a:srgbClr val="40424E"/>
                </a:solidFill>
                <a:effectLst/>
                <a:cs typeface="Consolas" pitchFamily="49" charset="0"/>
              </a:rPr>
              <a:t> </a:t>
            </a:r>
            <a:endParaRPr kumimoji="0" lang="en-US" sz="2400" b="0" i="0" u="none" strike="noStrike" cap="none" normalizeH="0" baseline="0" dirty="0" smtClean="0">
              <a:ln>
                <a:noFill/>
              </a:ln>
              <a:solidFill>
                <a:schemeClr val="tx1"/>
              </a:solidFill>
              <a:effectLst/>
              <a:cs typeface="Arial" pitchFamily="34" charset="0"/>
            </a:endParaRPr>
          </a:p>
        </p:txBody>
      </p:sp>
      <p:sp>
        <p:nvSpPr>
          <p:cNvPr id="6" name="TextBox 5"/>
          <p:cNvSpPr txBox="1"/>
          <p:nvPr/>
        </p:nvSpPr>
        <p:spPr>
          <a:xfrm>
            <a:off x="2057400" y="304800"/>
            <a:ext cx="1676400" cy="584775"/>
          </a:xfrm>
          <a:prstGeom prst="rect">
            <a:avLst/>
          </a:prstGeom>
          <a:noFill/>
        </p:spPr>
        <p:txBody>
          <a:bodyPr wrap="square" rtlCol="0">
            <a:spAutoFit/>
          </a:bodyPr>
          <a:lstStyle/>
          <a:p>
            <a:r>
              <a:rPr lang="en-US" sz="3200" dirty="0" smtClean="0">
                <a:solidFill>
                  <a:srgbClr val="C00000"/>
                </a:solidFill>
              </a:rPr>
              <a:t>Example</a:t>
            </a:r>
            <a:endParaRPr lang="en-US" sz="3200" dirty="0">
              <a:solidFill>
                <a:srgbClr val="C00000"/>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307340" y="138215"/>
            <a:ext cx="8455025" cy="3245485"/>
          </a:xfrm>
          <a:prstGeom prst="rect">
            <a:avLst/>
          </a:prstGeom>
        </p:spPr>
        <p:txBody>
          <a:bodyPr vert="horz" wrap="square" lIns="0" tIns="110489" rIns="0" bIns="0" rtlCol="0">
            <a:spAutoFit/>
          </a:bodyPr>
          <a:lstStyle/>
          <a:p>
            <a:pPr marL="12700" algn="just">
              <a:lnSpc>
                <a:spcPct val="100000"/>
              </a:lnSpc>
              <a:spcBef>
                <a:spcPts val="869"/>
              </a:spcBef>
            </a:pPr>
            <a:r>
              <a:rPr sz="3200" dirty="0">
                <a:solidFill>
                  <a:srgbClr val="FF0000"/>
                </a:solidFill>
                <a:latin typeface="Calibri"/>
                <a:cs typeface="Calibri"/>
              </a:rPr>
              <a:t>If … </a:t>
            </a:r>
            <a:r>
              <a:rPr sz="3200" spc="-5" dirty="0">
                <a:solidFill>
                  <a:srgbClr val="FF0000"/>
                </a:solidFill>
                <a:latin typeface="Calibri"/>
                <a:cs typeface="Calibri"/>
              </a:rPr>
              <a:t>else</a:t>
            </a:r>
            <a:r>
              <a:rPr sz="3200" spc="-15" dirty="0">
                <a:solidFill>
                  <a:srgbClr val="FF0000"/>
                </a:solidFill>
                <a:latin typeface="Calibri"/>
                <a:cs typeface="Calibri"/>
              </a:rPr>
              <a:t> </a:t>
            </a:r>
            <a:r>
              <a:rPr sz="3200" spc="-20" dirty="0">
                <a:solidFill>
                  <a:srgbClr val="FF0000"/>
                </a:solidFill>
                <a:latin typeface="Calibri"/>
                <a:cs typeface="Calibri"/>
              </a:rPr>
              <a:t>statement</a:t>
            </a:r>
            <a:endParaRPr sz="3200">
              <a:latin typeface="Calibri"/>
              <a:cs typeface="Calibri"/>
            </a:endParaRPr>
          </a:p>
          <a:p>
            <a:pPr marL="355600" marR="5080" indent="-342900" algn="just">
              <a:lnSpc>
                <a:spcPct val="100000"/>
              </a:lnSpc>
              <a:spcBef>
                <a:spcPts val="770"/>
              </a:spcBef>
              <a:buSzPct val="96875"/>
              <a:buFont typeface="Wingdings"/>
              <a:buChar char=""/>
              <a:tabLst>
                <a:tab pos="376555" algn="l"/>
              </a:tabLst>
            </a:pPr>
            <a:r>
              <a:rPr sz="3200" spc="-5" dirty="0">
                <a:latin typeface="Calibri"/>
                <a:cs typeface="Calibri"/>
              </a:rPr>
              <a:t>The </a:t>
            </a:r>
            <a:r>
              <a:rPr sz="3200" dirty="0">
                <a:latin typeface="Calibri"/>
                <a:cs typeface="Calibri"/>
              </a:rPr>
              <a:t>if…else </a:t>
            </a:r>
            <a:r>
              <a:rPr sz="3200" spc="-20" dirty="0">
                <a:latin typeface="Calibri"/>
                <a:cs typeface="Calibri"/>
              </a:rPr>
              <a:t>statement </a:t>
            </a:r>
            <a:r>
              <a:rPr sz="3200" spc="-5" dirty="0">
                <a:latin typeface="Calibri"/>
                <a:cs typeface="Calibri"/>
              </a:rPr>
              <a:t>is called </a:t>
            </a:r>
            <a:r>
              <a:rPr sz="3200" spc="-10" dirty="0">
                <a:latin typeface="Calibri"/>
                <a:cs typeface="Calibri"/>
              </a:rPr>
              <a:t>alternative  </a:t>
            </a:r>
            <a:r>
              <a:rPr sz="3200" spc="-20" dirty="0">
                <a:latin typeface="Calibri"/>
                <a:cs typeface="Calibri"/>
              </a:rPr>
              <a:t>execution, </a:t>
            </a:r>
            <a:r>
              <a:rPr sz="3200" spc="-5" dirty="0">
                <a:latin typeface="Calibri"/>
                <a:cs typeface="Calibri"/>
              </a:rPr>
              <a:t>in </a:t>
            </a:r>
            <a:r>
              <a:rPr sz="3200" dirty="0">
                <a:latin typeface="Calibri"/>
                <a:cs typeface="Calibri"/>
              </a:rPr>
              <a:t>which </a:t>
            </a:r>
            <a:r>
              <a:rPr sz="3200" spc="-10" dirty="0">
                <a:latin typeface="Calibri"/>
                <a:cs typeface="Calibri"/>
              </a:rPr>
              <a:t>there </a:t>
            </a:r>
            <a:r>
              <a:rPr sz="3200" spc="-15" dirty="0">
                <a:latin typeface="Calibri"/>
                <a:cs typeface="Calibri"/>
              </a:rPr>
              <a:t>are </a:t>
            </a:r>
            <a:r>
              <a:rPr sz="3200" spc="-10" dirty="0">
                <a:latin typeface="Calibri"/>
                <a:cs typeface="Calibri"/>
              </a:rPr>
              <a:t>two </a:t>
            </a:r>
            <a:r>
              <a:rPr sz="3200" spc="-5" dirty="0">
                <a:latin typeface="Calibri"/>
                <a:cs typeface="Calibri"/>
              </a:rPr>
              <a:t>possibilities  </a:t>
            </a:r>
            <a:r>
              <a:rPr sz="3200" dirty="0">
                <a:latin typeface="Calibri"/>
                <a:cs typeface="Calibri"/>
              </a:rPr>
              <a:t>and the </a:t>
            </a:r>
            <a:r>
              <a:rPr sz="3200" spc="-5" dirty="0">
                <a:latin typeface="Calibri"/>
                <a:cs typeface="Calibri"/>
              </a:rPr>
              <a:t>condition </a:t>
            </a:r>
            <a:r>
              <a:rPr sz="3200" spc="-10" dirty="0">
                <a:latin typeface="Calibri"/>
                <a:cs typeface="Calibri"/>
              </a:rPr>
              <a:t>determines </a:t>
            </a:r>
            <a:r>
              <a:rPr sz="3200" dirty="0">
                <a:latin typeface="Calibri"/>
                <a:cs typeface="Calibri"/>
              </a:rPr>
              <a:t>wich one </a:t>
            </a:r>
            <a:r>
              <a:rPr sz="3200" spc="-10" dirty="0">
                <a:latin typeface="Calibri"/>
                <a:cs typeface="Calibri"/>
              </a:rPr>
              <a:t>gets  </a:t>
            </a:r>
            <a:r>
              <a:rPr sz="3200" spc="-20" dirty="0">
                <a:latin typeface="Calibri"/>
                <a:cs typeface="Calibri"/>
              </a:rPr>
              <a:t>executed.</a:t>
            </a:r>
            <a:endParaRPr sz="3200">
              <a:latin typeface="Calibri"/>
              <a:cs typeface="Calibri"/>
            </a:endParaRPr>
          </a:p>
          <a:p>
            <a:pPr marL="12700">
              <a:lnSpc>
                <a:spcPct val="100000"/>
              </a:lnSpc>
              <a:spcBef>
                <a:spcPts val="770"/>
              </a:spcBef>
            </a:pPr>
            <a:r>
              <a:rPr sz="3200" spc="-20" dirty="0">
                <a:solidFill>
                  <a:srgbClr val="FF0000"/>
                </a:solidFill>
                <a:latin typeface="Calibri"/>
                <a:cs typeface="Calibri"/>
              </a:rPr>
              <a:t>Syntax</a:t>
            </a:r>
            <a:endParaRPr sz="3200">
              <a:latin typeface="Calibri"/>
              <a:cs typeface="Calibri"/>
            </a:endParaRPr>
          </a:p>
        </p:txBody>
      </p:sp>
      <p:sp>
        <p:nvSpPr>
          <p:cNvPr id="3" name="object 3"/>
          <p:cNvSpPr txBox="1"/>
          <p:nvPr/>
        </p:nvSpPr>
        <p:spPr>
          <a:xfrm>
            <a:off x="610362" y="3658361"/>
            <a:ext cx="3733800" cy="2133600"/>
          </a:xfrm>
          <a:prstGeom prst="rect">
            <a:avLst/>
          </a:prstGeom>
          <a:solidFill>
            <a:srgbClr val="4F81BC"/>
          </a:solidFill>
          <a:ln w="25907">
            <a:solidFill>
              <a:srgbClr val="385D89"/>
            </a:solidFill>
          </a:ln>
        </p:spPr>
        <p:txBody>
          <a:bodyPr vert="horz" wrap="square" lIns="0" tIns="66040" rIns="0" bIns="0" rtlCol="0">
            <a:spAutoFit/>
          </a:bodyPr>
          <a:lstStyle/>
          <a:p>
            <a:pPr marL="1005205" indent="-753110">
              <a:lnSpc>
                <a:spcPct val="100000"/>
              </a:lnSpc>
              <a:spcBef>
                <a:spcPts val="520"/>
              </a:spcBef>
            </a:pPr>
            <a:r>
              <a:rPr sz="3200" spc="-5" dirty="0">
                <a:solidFill>
                  <a:srgbClr val="FFFFFF"/>
                </a:solidFill>
                <a:latin typeface="Calibri"/>
                <a:cs typeface="Calibri"/>
              </a:rPr>
              <a:t>if </a:t>
            </a:r>
            <a:r>
              <a:rPr sz="3200" spc="-25" dirty="0">
                <a:solidFill>
                  <a:srgbClr val="FFFFFF"/>
                </a:solidFill>
                <a:latin typeface="Calibri"/>
                <a:cs typeface="Calibri"/>
              </a:rPr>
              <a:t>test</a:t>
            </a:r>
            <a:r>
              <a:rPr sz="3200" dirty="0">
                <a:solidFill>
                  <a:srgbClr val="FFFFFF"/>
                </a:solidFill>
                <a:latin typeface="Calibri"/>
                <a:cs typeface="Calibri"/>
              </a:rPr>
              <a:t> </a:t>
            </a:r>
            <a:r>
              <a:rPr sz="3200" spc="-10" dirty="0">
                <a:solidFill>
                  <a:srgbClr val="FFFFFF"/>
                </a:solidFill>
                <a:latin typeface="Calibri"/>
                <a:cs typeface="Calibri"/>
              </a:rPr>
              <a:t>expression:</a:t>
            </a:r>
            <a:endParaRPr sz="3200">
              <a:latin typeface="Calibri"/>
              <a:cs typeface="Calibri"/>
            </a:endParaRPr>
          </a:p>
          <a:p>
            <a:pPr marL="1005205">
              <a:lnSpc>
                <a:spcPct val="100000"/>
              </a:lnSpc>
            </a:pPr>
            <a:r>
              <a:rPr sz="3200" dirty="0">
                <a:solidFill>
                  <a:srgbClr val="FFFFFF"/>
                </a:solidFill>
                <a:latin typeface="Calibri"/>
                <a:cs typeface="Calibri"/>
              </a:rPr>
              <a:t>Body of</a:t>
            </a:r>
            <a:r>
              <a:rPr sz="3200" spc="-25" dirty="0">
                <a:solidFill>
                  <a:srgbClr val="FFFFFF"/>
                </a:solidFill>
                <a:latin typeface="Calibri"/>
                <a:cs typeface="Calibri"/>
              </a:rPr>
              <a:t> </a:t>
            </a:r>
            <a:r>
              <a:rPr sz="3200" spc="-5" dirty="0">
                <a:solidFill>
                  <a:srgbClr val="FFFFFF"/>
                </a:solidFill>
                <a:latin typeface="Calibri"/>
                <a:cs typeface="Calibri"/>
              </a:rPr>
              <a:t>if</a:t>
            </a:r>
            <a:endParaRPr sz="3200">
              <a:latin typeface="Calibri"/>
              <a:cs typeface="Calibri"/>
            </a:endParaRPr>
          </a:p>
          <a:p>
            <a:pPr marL="90170">
              <a:lnSpc>
                <a:spcPct val="100000"/>
              </a:lnSpc>
            </a:pPr>
            <a:r>
              <a:rPr sz="3200" spc="-5" dirty="0">
                <a:solidFill>
                  <a:srgbClr val="FFFFFF"/>
                </a:solidFill>
                <a:latin typeface="Calibri"/>
                <a:cs typeface="Calibri"/>
              </a:rPr>
              <a:t>else:</a:t>
            </a:r>
            <a:endParaRPr sz="3200">
              <a:latin typeface="Calibri"/>
              <a:cs typeface="Calibri"/>
            </a:endParaRPr>
          </a:p>
          <a:p>
            <a:pPr marL="1005205">
              <a:lnSpc>
                <a:spcPct val="100000"/>
              </a:lnSpc>
            </a:pPr>
            <a:r>
              <a:rPr sz="3200" dirty="0">
                <a:solidFill>
                  <a:srgbClr val="FFFFFF"/>
                </a:solidFill>
                <a:latin typeface="Calibri"/>
                <a:cs typeface="Calibri"/>
              </a:rPr>
              <a:t>Body of</a:t>
            </a:r>
            <a:r>
              <a:rPr sz="3200" spc="-30" dirty="0">
                <a:solidFill>
                  <a:srgbClr val="FFFFFF"/>
                </a:solidFill>
                <a:latin typeface="Calibri"/>
                <a:cs typeface="Calibri"/>
              </a:rPr>
              <a:t> </a:t>
            </a:r>
            <a:r>
              <a:rPr sz="3200" dirty="0">
                <a:solidFill>
                  <a:srgbClr val="FFFFFF"/>
                </a:solidFill>
                <a:latin typeface="Calibri"/>
                <a:cs typeface="Calibri"/>
              </a:rPr>
              <a:t>else</a:t>
            </a:r>
            <a:endParaRPr sz="3200">
              <a:latin typeface="Calibri"/>
              <a:cs typeface="Calibri"/>
            </a:endParaRPr>
          </a:p>
        </p:txBody>
      </p:sp>
      <p:sp>
        <p:nvSpPr>
          <p:cNvPr id="4" name="object 4"/>
          <p:cNvSpPr/>
          <p:nvPr/>
        </p:nvSpPr>
        <p:spPr>
          <a:xfrm>
            <a:off x="4724400" y="2743200"/>
            <a:ext cx="3922776" cy="3528807"/>
          </a:xfrm>
          <a:prstGeom prst="rect">
            <a:avLst/>
          </a:prstGeom>
          <a:blipFill>
            <a:blip r:embed="rId2" cstate="print"/>
            <a:stretch>
              <a:fillRect/>
            </a:stretch>
          </a:blipFill>
        </p:spPr>
        <p:txBody>
          <a:bodyPr wrap="square" lIns="0" tIns="0" rIns="0" bIns="0" rtlCol="0"/>
          <a:lstStyle/>
          <a:p>
            <a:endParaRP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pPr marL="38100">
                <a:lnSpc>
                  <a:spcPts val="1240"/>
                </a:lnSpc>
              </a:pPr>
              <a:t>8</a:t>
            </a:fld>
            <a:endParaRPr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5940" y="152234"/>
            <a:ext cx="7582534" cy="1050925"/>
          </a:xfrm>
          <a:prstGeom prst="rect">
            <a:avLst/>
          </a:prstGeom>
        </p:spPr>
        <p:txBody>
          <a:bodyPr vert="horz" wrap="square" lIns="0" tIns="12700" rIns="0" bIns="0" rtlCol="0">
            <a:spAutoFit/>
          </a:bodyPr>
          <a:lstStyle/>
          <a:p>
            <a:pPr marL="12700" marR="5080">
              <a:lnSpc>
                <a:spcPct val="120100"/>
              </a:lnSpc>
              <a:spcBef>
                <a:spcPts val="100"/>
              </a:spcBef>
            </a:pPr>
            <a:r>
              <a:rPr sz="2800" spc="-30" dirty="0">
                <a:solidFill>
                  <a:srgbClr val="FF0000"/>
                </a:solidFill>
              </a:rPr>
              <a:t>Write </a:t>
            </a:r>
            <a:r>
              <a:rPr sz="2800" spc="-5" dirty="0">
                <a:solidFill>
                  <a:srgbClr val="FF0000"/>
                </a:solidFill>
              </a:rPr>
              <a:t>a </a:t>
            </a:r>
            <a:r>
              <a:rPr sz="2800" spc="-25" dirty="0">
                <a:solidFill>
                  <a:srgbClr val="FF0000"/>
                </a:solidFill>
              </a:rPr>
              <a:t>program </a:t>
            </a:r>
            <a:r>
              <a:rPr sz="2800" spc="-20" dirty="0">
                <a:solidFill>
                  <a:srgbClr val="FF0000"/>
                </a:solidFill>
              </a:rPr>
              <a:t>to </a:t>
            </a:r>
            <a:r>
              <a:rPr sz="2800" spc="-5" dirty="0">
                <a:solidFill>
                  <a:srgbClr val="FF0000"/>
                </a:solidFill>
              </a:rPr>
              <a:t>check </a:t>
            </a:r>
            <a:r>
              <a:rPr sz="2800" spc="-10" dirty="0">
                <a:solidFill>
                  <a:srgbClr val="FF0000"/>
                </a:solidFill>
              </a:rPr>
              <a:t>if </a:t>
            </a:r>
            <a:r>
              <a:rPr sz="2800" spc="-5" dirty="0">
                <a:solidFill>
                  <a:srgbClr val="FF0000"/>
                </a:solidFill>
              </a:rPr>
              <a:t>a </a:t>
            </a:r>
            <a:r>
              <a:rPr sz="2800" spc="-10" dirty="0">
                <a:solidFill>
                  <a:srgbClr val="FF0000"/>
                </a:solidFill>
              </a:rPr>
              <a:t>number is </a:t>
            </a:r>
            <a:r>
              <a:rPr sz="2800" spc="-5" dirty="0">
                <a:solidFill>
                  <a:srgbClr val="FF0000"/>
                </a:solidFill>
              </a:rPr>
              <a:t>Odd or </a:t>
            </a:r>
            <a:r>
              <a:rPr sz="2800" spc="-25" dirty="0">
                <a:solidFill>
                  <a:srgbClr val="FF0000"/>
                </a:solidFill>
              </a:rPr>
              <a:t>Even  </a:t>
            </a:r>
            <a:r>
              <a:rPr sz="2800" spc="-10" dirty="0"/>
              <a:t>num </a:t>
            </a:r>
            <a:r>
              <a:rPr sz="2800" spc="-5" dirty="0"/>
              <a:t>= </a:t>
            </a:r>
            <a:r>
              <a:rPr sz="2800" spc="-15" dirty="0"/>
              <a:t>int(input(“Enter </a:t>
            </a:r>
            <a:r>
              <a:rPr sz="2800" spc="-5" dirty="0"/>
              <a:t>the</a:t>
            </a:r>
            <a:r>
              <a:rPr sz="2800" spc="135" dirty="0"/>
              <a:t> </a:t>
            </a:r>
            <a:r>
              <a:rPr sz="2800" spc="-10" dirty="0"/>
              <a:t>number:”))</a:t>
            </a:r>
            <a:endParaRPr sz="2800"/>
          </a:p>
        </p:txBody>
      </p:sp>
      <p:sp>
        <p:nvSpPr>
          <p:cNvPr id="3" name="object 3"/>
          <p:cNvSpPr txBox="1"/>
          <p:nvPr/>
        </p:nvSpPr>
        <p:spPr>
          <a:xfrm>
            <a:off x="535940" y="1177567"/>
            <a:ext cx="4775200" cy="2073910"/>
          </a:xfrm>
          <a:prstGeom prst="rect">
            <a:avLst/>
          </a:prstGeom>
        </p:spPr>
        <p:txBody>
          <a:bodyPr vert="horz" wrap="square" lIns="0" tIns="97790" rIns="0" bIns="0" rtlCol="0">
            <a:spAutoFit/>
          </a:bodyPr>
          <a:lstStyle/>
          <a:p>
            <a:pPr marL="12700">
              <a:lnSpc>
                <a:spcPct val="100000"/>
              </a:lnSpc>
              <a:spcBef>
                <a:spcPts val="770"/>
              </a:spcBef>
            </a:pPr>
            <a:r>
              <a:rPr sz="2800" spc="-10" dirty="0">
                <a:latin typeface="Calibri"/>
                <a:cs typeface="Calibri"/>
              </a:rPr>
              <a:t>if (num </a:t>
            </a:r>
            <a:r>
              <a:rPr sz="2800" spc="-5" dirty="0">
                <a:latin typeface="Calibri"/>
                <a:cs typeface="Calibri"/>
              </a:rPr>
              <a:t>% </a:t>
            </a:r>
            <a:r>
              <a:rPr sz="2800" spc="-10" dirty="0">
                <a:latin typeface="Calibri"/>
                <a:cs typeface="Calibri"/>
              </a:rPr>
              <a:t>2)==</a:t>
            </a:r>
            <a:r>
              <a:rPr sz="2800" spc="70" dirty="0">
                <a:latin typeface="Calibri"/>
                <a:cs typeface="Calibri"/>
              </a:rPr>
              <a:t> </a:t>
            </a:r>
            <a:r>
              <a:rPr sz="2800" spc="-5" dirty="0">
                <a:latin typeface="Calibri"/>
                <a:cs typeface="Calibri"/>
              </a:rPr>
              <a:t>0:</a:t>
            </a:r>
            <a:endParaRPr sz="2800">
              <a:latin typeface="Calibri"/>
              <a:cs typeface="Calibri"/>
            </a:endParaRPr>
          </a:p>
          <a:p>
            <a:pPr marL="12700" marR="5080" indent="342900">
              <a:lnSpc>
                <a:spcPts val="4040"/>
              </a:lnSpc>
              <a:spcBef>
                <a:spcPts val="240"/>
              </a:spcBef>
            </a:pPr>
            <a:r>
              <a:rPr sz="2800" spc="-15" dirty="0">
                <a:latin typeface="Calibri"/>
                <a:cs typeface="Calibri"/>
              </a:rPr>
              <a:t>print (“Given </a:t>
            </a:r>
            <a:r>
              <a:rPr sz="2800" spc="-5" dirty="0">
                <a:latin typeface="Calibri"/>
                <a:cs typeface="Calibri"/>
              </a:rPr>
              <a:t>number </a:t>
            </a:r>
            <a:r>
              <a:rPr sz="2800" spc="-10" dirty="0">
                <a:latin typeface="Calibri"/>
                <a:cs typeface="Calibri"/>
              </a:rPr>
              <a:t>is </a:t>
            </a:r>
            <a:r>
              <a:rPr sz="2800" spc="-20" dirty="0">
                <a:latin typeface="Calibri"/>
                <a:cs typeface="Calibri"/>
              </a:rPr>
              <a:t>Even”)  </a:t>
            </a:r>
            <a:r>
              <a:rPr sz="2800" spc="-5" dirty="0">
                <a:latin typeface="Calibri"/>
                <a:cs typeface="Calibri"/>
              </a:rPr>
              <a:t>else:</a:t>
            </a:r>
            <a:endParaRPr sz="2800">
              <a:latin typeface="Calibri"/>
              <a:cs typeface="Calibri"/>
            </a:endParaRPr>
          </a:p>
          <a:p>
            <a:pPr marL="355600">
              <a:lnSpc>
                <a:spcPct val="100000"/>
              </a:lnSpc>
              <a:spcBef>
                <a:spcPts val="415"/>
              </a:spcBef>
            </a:pPr>
            <a:r>
              <a:rPr sz="2800" spc="-10" dirty="0">
                <a:latin typeface="Calibri"/>
                <a:cs typeface="Calibri"/>
              </a:rPr>
              <a:t>print(“ Given number is</a:t>
            </a:r>
            <a:r>
              <a:rPr sz="2800" spc="65" dirty="0">
                <a:latin typeface="Calibri"/>
                <a:cs typeface="Calibri"/>
              </a:rPr>
              <a:t> </a:t>
            </a:r>
            <a:r>
              <a:rPr sz="2800" spc="-10" dirty="0">
                <a:latin typeface="Calibri"/>
                <a:cs typeface="Calibri"/>
              </a:rPr>
              <a:t>Odd”)</a:t>
            </a:r>
            <a:endParaRPr sz="2800">
              <a:latin typeface="Calibri"/>
              <a:cs typeface="Calibri"/>
            </a:endParaRPr>
          </a:p>
        </p:txBody>
      </p:sp>
      <p:grpSp>
        <p:nvGrpSpPr>
          <p:cNvPr id="4" name="object 4"/>
          <p:cNvGrpSpPr/>
          <p:nvPr/>
        </p:nvGrpSpPr>
        <p:grpSpPr>
          <a:xfrm>
            <a:off x="1130808" y="3569208"/>
            <a:ext cx="3836035" cy="2235835"/>
            <a:chOff x="1130808" y="3569208"/>
            <a:chExt cx="3836035" cy="2235835"/>
          </a:xfrm>
        </p:grpSpPr>
        <p:sp>
          <p:nvSpPr>
            <p:cNvPr id="5" name="object 5"/>
            <p:cNvSpPr/>
            <p:nvPr/>
          </p:nvSpPr>
          <p:spPr>
            <a:xfrm>
              <a:off x="1143762" y="3582162"/>
              <a:ext cx="3810000" cy="2209800"/>
            </a:xfrm>
            <a:custGeom>
              <a:avLst/>
              <a:gdLst/>
              <a:ahLst/>
              <a:cxnLst/>
              <a:rect l="l" t="t" r="r" b="b"/>
              <a:pathLst>
                <a:path w="3810000" h="2209800">
                  <a:moveTo>
                    <a:pt x="3441700" y="0"/>
                  </a:moveTo>
                  <a:lnTo>
                    <a:pt x="368300" y="0"/>
                  </a:lnTo>
                  <a:lnTo>
                    <a:pt x="322091" y="2868"/>
                  </a:lnTo>
                  <a:lnTo>
                    <a:pt x="277599" y="11245"/>
                  </a:lnTo>
                  <a:lnTo>
                    <a:pt x="235166" y="24784"/>
                  </a:lnTo>
                  <a:lnTo>
                    <a:pt x="195139" y="43142"/>
                  </a:lnTo>
                  <a:lnTo>
                    <a:pt x="157861" y="65974"/>
                  </a:lnTo>
                  <a:lnTo>
                    <a:pt x="123678" y="92934"/>
                  </a:lnTo>
                  <a:lnTo>
                    <a:pt x="92934" y="123678"/>
                  </a:lnTo>
                  <a:lnTo>
                    <a:pt x="65974" y="157861"/>
                  </a:lnTo>
                  <a:lnTo>
                    <a:pt x="43142" y="195139"/>
                  </a:lnTo>
                  <a:lnTo>
                    <a:pt x="24784" y="235166"/>
                  </a:lnTo>
                  <a:lnTo>
                    <a:pt x="11245" y="277599"/>
                  </a:lnTo>
                  <a:lnTo>
                    <a:pt x="2868" y="322091"/>
                  </a:lnTo>
                  <a:lnTo>
                    <a:pt x="0" y="368300"/>
                  </a:lnTo>
                  <a:lnTo>
                    <a:pt x="0" y="1841500"/>
                  </a:lnTo>
                  <a:lnTo>
                    <a:pt x="2868" y="1887698"/>
                  </a:lnTo>
                  <a:lnTo>
                    <a:pt x="11245" y="1932183"/>
                  </a:lnTo>
                  <a:lnTo>
                    <a:pt x="24784" y="1974612"/>
                  </a:lnTo>
                  <a:lnTo>
                    <a:pt x="43142" y="2014638"/>
                  </a:lnTo>
                  <a:lnTo>
                    <a:pt x="65974" y="2051916"/>
                  </a:lnTo>
                  <a:lnTo>
                    <a:pt x="92934" y="2086101"/>
                  </a:lnTo>
                  <a:lnTo>
                    <a:pt x="123678" y="2116848"/>
                  </a:lnTo>
                  <a:lnTo>
                    <a:pt x="157861" y="2143812"/>
                  </a:lnTo>
                  <a:lnTo>
                    <a:pt x="195139" y="2166647"/>
                  </a:lnTo>
                  <a:lnTo>
                    <a:pt x="235166" y="2185008"/>
                  </a:lnTo>
                  <a:lnTo>
                    <a:pt x="277599" y="2198551"/>
                  </a:lnTo>
                  <a:lnTo>
                    <a:pt x="322091" y="2206930"/>
                  </a:lnTo>
                  <a:lnTo>
                    <a:pt x="368300" y="2209800"/>
                  </a:lnTo>
                  <a:lnTo>
                    <a:pt x="3441700" y="2209800"/>
                  </a:lnTo>
                  <a:lnTo>
                    <a:pt x="3487908" y="2206930"/>
                  </a:lnTo>
                  <a:lnTo>
                    <a:pt x="3532400" y="2198551"/>
                  </a:lnTo>
                  <a:lnTo>
                    <a:pt x="3574833" y="2185008"/>
                  </a:lnTo>
                  <a:lnTo>
                    <a:pt x="3614860" y="2166647"/>
                  </a:lnTo>
                  <a:lnTo>
                    <a:pt x="3652138" y="2143812"/>
                  </a:lnTo>
                  <a:lnTo>
                    <a:pt x="3686321" y="2116848"/>
                  </a:lnTo>
                  <a:lnTo>
                    <a:pt x="3717065" y="2086101"/>
                  </a:lnTo>
                  <a:lnTo>
                    <a:pt x="3744025" y="2051916"/>
                  </a:lnTo>
                  <a:lnTo>
                    <a:pt x="3766857" y="2014638"/>
                  </a:lnTo>
                  <a:lnTo>
                    <a:pt x="3785215" y="1974612"/>
                  </a:lnTo>
                  <a:lnTo>
                    <a:pt x="3798754" y="1932183"/>
                  </a:lnTo>
                  <a:lnTo>
                    <a:pt x="3807131" y="1887698"/>
                  </a:lnTo>
                  <a:lnTo>
                    <a:pt x="3810000" y="1841500"/>
                  </a:lnTo>
                  <a:lnTo>
                    <a:pt x="3810000" y="368300"/>
                  </a:lnTo>
                  <a:lnTo>
                    <a:pt x="3807131" y="322091"/>
                  </a:lnTo>
                  <a:lnTo>
                    <a:pt x="3798754" y="277599"/>
                  </a:lnTo>
                  <a:lnTo>
                    <a:pt x="3785215" y="235166"/>
                  </a:lnTo>
                  <a:lnTo>
                    <a:pt x="3766857" y="195139"/>
                  </a:lnTo>
                  <a:lnTo>
                    <a:pt x="3744025" y="157861"/>
                  </a:lnTo>
                  <a:lnTo>
                    <a:pt x="3717065" y="123678"/>
                  </a:lnTo>
                  <a:lnTo>
                    <a:pt x="3686321" y="92934"/>
                  </a:lnTo>
                  <a:lnTo>
                    <a:pt x="3652138" y="65974"/>
                  </a:lnTo>
                  <a:lnTo>
                    <a:pt x="3614860" y="43142"/>
                  </a:lnTo>
                  <a:lnTo>
                    <a:pt x="3574833" y="24784"/>
                  </a:lnTo>
                  <a:lnTo>
                    <a:pt x="3532400" y="11245"/>
                  </a:lnTo>
                  <a:lnTo>
                    <a:pt x="3487908" y="2868"/>
                  </a:lnTo>
                  <a:lnTo>
                    <a:pt x="3441700" y="0"/>
                  </a:lnTo>
                  <a:close/>
                </a:path>
              </a:pathLst>
            </a:custGeom>
            <a:solidFill>
              <a:srgbClr val="548ED4"/>
            </a:solidFill>
          </p:spPr>
          <p:txBody>
            <a:bodyPr wrap="square" lIns="0" tIns="0" rIns="0" bIns="0" rtlCol="0"/>
            <a:lstStyle/>
            <a:p>
              <a:endParaRPr/>
            </a:p>
          </p:txBody>
        </p:sp>
        <p:sp>
          <p:nvSpPr>
            <p:cNvPr id="6" name="object 6"/>
            <p:cNvSpPr/>
            <p:nvPr/>
          </p:nvSpPr>
          <p:spPr>
            <a:xfrm>
              <a:off x="1143762" y="3582162"/>
              <a:ext cx="3810000" cy="2209800"/>
            </a:xfrm>
            <a:custGeom>
              <a:avLst/>
              <a:gdLst/>
              <a:ahLst/>
              <a:cxnLst/>
              <a:rect l="l" t="t" r="r" b="b"/>
              <a:pathLst>
                <a:path w="3810000" h="2209800">
                  <a:moveTo>
                    <a:pt x="0" y="368300"/>
                  </a:moveTo>
                  <a:lnTo>
                    <a:pt x="2868" y="322091"/>
                  </a:lnTo>
                  <a:lnTo>
                    <a:pt x="11245" y="277599"/>
                  </a:lnTo>
                  <a:lnTo>
                    <a:pt x="24784" y="235166"/>
                  </a:lnTo>
                  <a:lnTo>
                    <a:pt x="43142" y="195139"/>
                  </a:lnTo>
                  <a:lnTo>
                    <a:pt x="65974" y="157861"/>
                  </a:lnTo>
                  <a:lnTo>
                    <a:pt x="92934" y="123678"/>
                  </a:lnTo>
                  <a:lnTo>
                    <a:pt x="123678" y="92934"/>
                  </a:lnTo>
                  <a:lnTo>
                    <a:pt x="157861" y="65974"/>
                  </a:lnTo>
                  <a:lnTo>
                    <a:pt x="195139" y="43142"/>
                  </a:lnTo>
                  <a:lnTo>
                    <a:pt x="235166" y="24784"/>
                  </a:lnTo>
                  <a:lnTo>
                    <a:pt x="277599" y="11245"/>
                  </a:lnTo>
                  <a:lnTo>
                    <a:pt x="322091" y="2868"/>
                  </a:lnTo>
                  <a:lnTo>
                    <a:pt x="368300" y="0"/>
                  </a:lnTo>
                  <a:lnTo>
                    <a:pt x="3441700" y="0"/>
                  </a:lnTo>
                  <a:lnTo>
                    <a:pt x="3487908" y="2868"/>
                  </a:lnTo>
                  <a:lnTo>
                    <a:pt x="3532400" y="11245"/>
                  </a:lnTo>
                  <a:lnTo>
                    <a:pt x="3574833" y="24784"/>
                  </a:lnTo>
                  <a:lnTo>
                    <a:pt x="3614860" y="43142"/>
                  </a:lnTo>
                  <a:lnTo>
                    <a:pt x="3652138" y="65974"/>
                  </a:lnTo>
                  <a:lnTo>
                    <a:pt x="3686321" y="92934"/>
                  </a:lnTo>
                  <a:lnTo>
                    <a:pt x="3717065" y="123678"/>
                  </a:lnTo>
                  <a:lnTo>
                    <a:pt x="3744025" y="157861"/>
                  </a:lnTo>
                  <a:lnTo>
                    <a:pt x="3766857" y="195139"/>
                  </a:lnTo>
                  <a:lnTo>
                    <a:pt x="3785215" y="235166"/>
                  </a:lnTo>
                  <a:lnTo>
                    <a:pt x="3798754" y="277599"/>
                  </a:lnTo>
                  <a:lnTo>
                    <a:pt x="3807131" y="322091"/>
                  </a:lnTo>
                  <a:lnTo>
                    <a:pt x="3810000" y="368300"/>
                  </a:lnTo>
                  <a:lnTo>
                    <a:pt x="3810000" y="1841500"/>
                  </a:lnTo>
                  <a:lnTo>
                    <a:pt x="3807131" y="1887698"/>
                  </a:lnTo>
                  <a:lnTo>
                    <a:pt x="3798754" y="1932183"/>
                  </a:lnTo>
                  <a:lnTo>
                    <a:pt x="3785215" y="1974612"/>
                  </a:lnTo>
                  <a:lnTo>
                    <a:pt x="3766857" y="2014638"/>
                  </a:lnTo>
                  <a:lnTo>
                    <a:pt x="3744025" y="2051916"/>
                  </a:lnTo>
                  <a:lnTo>
                    <a:pt x="3717065" y="2086101"/>
                  </a:lnTo>
                  <a:lnTo>
                    <a:pt x="3686321" y="2116848"/>
                  </a:lnTo>
                  <a:lnTo>
                    <a:pt x="3652138" y="2143812"/>
                  </a:lnTo>
                  <a:lnTo>
                    <a:pt x="3614860" y="2166647"/>
                  </a:lnTo>
                  <a:lnTo>
                    <a:pt x="3574833" y="2185008"/>
                  </a:lnTo>
                  <a:lnTo>
                    <a:pt x="3532400" y="2198551"/>
                  </a:lnTo>
                  <a:lnTo>
                    <a:pt x="3487908" y="2206930"/>
                  </a:lnTo>
                  <a:lnTo>
                    <a:pt x="3441700" y="2209800"/>
                  </a:lnTo>
                  <a:lnTo>
                    <a:pt x="368300" y="2209800"/>
                  </a:lnTo>
                  <a:lnTo>
                    <a:pt x="322091" y="2206930"/>
                  </a:lnTo>
                  <a:lnTo>
                    <a:pt x="277599" y="2198551"/>
                  </a:lnTo>
                  <a:lnTo>
                    <a:pt x="235166" y="2185008"/>
                  </a:lnTo>
                  <a:lnTo>
                    <a:pt x="195139" y="2166647"/>
                  </a:lnTo>
                  <a:lnTo>
                    <a:pt x="157861" y="2143812"/>
                  </a:lnTo>
                  <a:lnTo>
                    <a:pt x="123678" y="2116848"/>
                  </a:lnTo>
                  <a:lnTo>
                    <a:pt x="92934" y="2086101"/>
                  </a:lnTo>
                  <a:lnTo>
                    <a:pt x="65974" y="2051916"/>
                  </a:lnTo>
                  <a:lnTo>
                    <a:pt x="43142" y="2014638"/>
                  </a:lnTo>
                  <a:lnTo>
                    <a:pt x="24784" y="1974612"/>
                  </a:lnTo>
                  <a:lnTo>
                    <a:pt x="11245" y="1932183"/>
                  </a:lnTo>
                  <a:lnTo>
                    <a:pt x="2868" y="1887698"/>
                  </a:lnTo>
                  <a:lnTo>
                    <a:pt x="0" y="1841500"/>
                  </a:lnTo>
                  <a:lnTo>
                    <a:pt x="0" y="368300"/>
                  </a:lnTo>
                  <a:close/>
                </a:path>
              </a:pathLst>
            </a:custGeom>
            <a:ln w="25908">
              <a:solidFill>
                <a:srgbClr val="385D89"/>
              </a:solidFill>
            </a:ln>
          </p:spPr>
          <p:txBody>
            <a:bodyPr wrap="square" lIns="0" tIns="0" rIns="0" bIns="0" rtlCol="0"/>
            <a:lstStyle/>
            <a:p>
              <a:endParaRPr/>
            </a:p>
          </p:txBody>
        </p:sp>
      </p:grpSp>
      <p:sp>
        <p:nvSpPr>
          <p:cNvPr id="7" name="object 7"/>
          <p:cNvSpPr txBox="1"/>
          <p:nvPr/>
        </p:nvSpPr>
        <p:spPr>
          <a:xfrm>
            <a:off x="1329944" y="3866768"/>
            <a:ext cx="2687955" cy="1544955"/>
          </a:xfrm>
          <a:prstGeom prst="rect">
            <a:avLst/>
          </a:prstGeom>
        </p:spPr>
        <p:txBody>
          <a:bodyPr vert="horz" wrap="square" lIns="0" tIns="195580" rIns="0" bIns="0" rtlCol="0">
            <a:spAutoFit/>
          </a:bodyPr>
          <a:lstStyle/>
          <a:p>
            <a:pPr marL="12700">
              <a:lnSpc>
                <a:spcPct val="100000"/>
              </a:lnSpc>
              <a:spcBef>
                <a:spcPts val="1540"/>
              </a:spcBef>
            </a:pPr>
            <a:r>
              <a:rPr sz="2400" b="1" spc="-5" dirty="0">
                <a:solidFill>
                  <a:srgbClr val="FFFFFF"/>
                </a:solidFill>
                <a:latin typeface="Calibri"/>
                <a:cs typeface="Calibri"/>
              </a:rPr>
              <a:t>OUTPUT</a:t>
            </a:r>
            <a:endParaRPr sz="2400">
              <a:latin typeface="Calibri"/>
              <a:cs typeface="Calibri"/>
            </a:endParaRPr>
          </a:p>
          <a:p>
            <a:pPr marL="12700" marR="5080">
              <a:lnSpc>
                <a:spcPct val="115399"/>
              </a:lnSpc>
              <a:spcBef>
                <a:spcPts val="994"/>
              </a:spcBef>
            </a:pPr>
            <a:r>
              <a:rPr sz="2400" b="1" spc="-15" dirty="0">
                <a:solidFill>
                  <a:srgbClr val="FFFFFF"/>
                </a:solidFill>
                <a:latin typeface="Calibri"/>
                <a:cs typeface="Calibri"/>
              </a:rPr>
              <a:t>Enter </a:t>
            </a:r>
            <a:r>
              <a:rPr sz="2400" b="1" dirty="0">
                <a:solidFill>
                  <a:srgbClr val="FFFFFF"/>
                </a:solidFill>
                <a:latin typeface="Calibri"/>
                <a:cs typeface="Calibri"/>
              </a:rPr>
              <a:t>the </a:t>
            </a:r>
            <a:r>
              <a:rPr sz="2400" b="1" spc="-5" dirty="0">
                <a:solidFill>
                  <a:srgbClr val="FFFFFF"/>
                </a:solidFill>
                <a:latin typeface="Calibri"/>
                <a:cs typeface="Calibri"/>
              </a:rPr>
              <a:t>number: </a:t>
            </a:r>
            <a:r>
              <a:rPr sz="2400" b="1" dirty="0">
                <a:solidFill>
                  <a:srgbClr val="FFFFFF"/>
                </a:solidFill>
                <a:latin typeface="Calibri"/>
                <a:cs typeface="Calibri"/>
              </a:rPr>
              <a:t>9  </a:t>
            </a:r>
            <a:r>
              <a:rPr sz="2400" b="1" spc="-10" dirty="0">
                <a:solidFill>
                  <a:srgbClr val="FFFFFF"/>
                </a:solidFill>
                <a:latin typeface="Calibri"/>
                <a:cs typeface="Calibri"/>
              </a:rPr>
              <a:t>Given </a:t>
            </a:r>
            <a:r>
              <a:rPr sz="2400" b="1" spc="-5" dirty="0">
                <a:solidFill>
                  <a:srgbClr val="FFFFFF"/>
                </a:solidFill>
                <a:latin typeface="Calibri"/>
                <a:cs typeface="Calibri"/>
              </a:rPr>
              <a:t>number </a:t>
            </a:r>
            <a:r>
              <a:rPr sz="2400" b="1" dirty="0">
                <a:solidFill>
                  <a:srgbClr val="FFFFFF"/>
                </a:solidFill>
                <a:latin typeface="Calibri"/>
                <a:cs typeface="Calibri"/>
              </a:rPr>
              <a:t>is</a:t>
            </a:r>
            <a:r>
              <a:rPr sz="2400" b="1" spc="-70" dirty="0">
                <a:solidFill>
                  <a:srgbClr val="FFFFFF"/>
                </a:solidFill>
                <a:latin typeface="Calibri"/>
                <a:cs typeface="Calibri"/>
              </a:rPr>
              <a:t> </a:t>
            </a:r>
            <a:r>
              <a:rPr sz="2400" b="1" spc="-5" dirty="0">
                <a:solidFill>
                  <a:srgbClr val="FFFFFF"/>
                </a:solidFill>
                <a:latin typeface="Calibri"/>
                <a:cs typeface="Calibri"/>
              </a:rPr>
              <a:t>Odd</a:t>
            </a:r>
            <a:endParaRPr sz="2400">
              <a:latin typeface="Calibri"/>
              <a:cs typeface="Calibri"/>
            </a:endParaRP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pPr marL="38100">
                <a:lnSpc>
                  <a:spcPts val="1240"/>
                </a:lnSpc>
              </a:pPr>
              <a:t>9</a:t>
            </a:fld>
            <a:endParaRPr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7340" y="235407"/>
            <a:ext cx="2511425" cy="514350"/>
          </a:xfrm>
          <a:prstGeom prst="rect">
            <a:avLst/>
          </a:prstGeom>
        </p:spPr>
        <p:txBody>
          <a:bodyPr vert="horz" wrap="square" lIns="0" tIns="13335" rIns="0" bIns="0" rtlCol="0">
            <a:spAutoFit/>
          </a:bodyPr>
          <a:lstStyle/>
          <a:p>
            <a:pPr marL="12700">
              <a:lnSpc>
                <a:spcPct val="100000"/>
              </a:lnSpc>
              <a:spcBef>
                <a:spcPts val="105"/>
              </a:spcBef>
            </a:pPr>
            <a:r>
              <a:rPr sz="3200" spc="-5" dirty="0">
                <a:solidFill>
                  <a:srgbClr val="FF0000"/>
                </a:solidFill>
              </a:rPr>
              <a:t>elif</a:t>
            </a:r>
            <a:r>
              <a:rPr sz="3200" spc="-75" dirty="0">
                <a:solidFill>
                  <a:srgbClr val="FF0000"/>
                </a:solidFill>
              </a:rPr>
              <a:t> </a:t>
            </a:r>
            <a:r>
              <a:rPr sz="3200" spc="-10" dirty="0">
                <a:solidFill>
                  <a:srgbClr val="FF0000"/>
                </a:solidFill>
              </a:rPr>
              <a:t>Statements</a:t>
            </a:r>
            <a:endParaRPr sz="3200"/>
          </a:p>
        </p:txBody>
      </p:sp>
      <p:sp>
        <p:nvSpPr>
          <p:cNvPr id="3" name="object 3"/>
          <p:cNvSpPr txBox="1"/>
          <p:nvPr/>
        </p:nvSpPr>
        <p:spPr>
          <a:xfrm>
            <a:off x="307340" y="821182"/>
            <a:ext cx="8378190" cy="2562860"/>
          </a:xfrm>
          <a:prstGeom prst="rect">
            <a:avLst/>
          </a:prstGeom>
        </p:spPr>
        <p:txBody>
          <a:bodyPr vert="horz" wrap="square" lIns="0" tIns="13335" rIns="0" bIns="0" rtlCol="0">
            <a:spAutoFit/>
          </a:bodyPr>
          <a:lstStyle/>
          <a:p>
            <a:pPr marL="12700" marR="5080" algn="just">
              <a:lnSpc>
                <a:spcPct val="100000"/>
              </a:lnSpc>
              <a:spcBef>
                <a:spcPts val="105"/>
              </a:spcBef>
              <a:buFont typeface="Wingdings"/>
              <a:buChar char=""/>
              <a:tabLst>
                <a:tab pos="927735" algn="l"/>
              </a:tabLst>
            </a:pPr>
            <a:r>
              <a:rPr sz="3200" dirty="0">
                <a:latin typeface="Calibri"/>
                <a:cs typeface="Calibri"/>
              </a:rPr>
              <a:t>elif – </a:t>
            </a:r>
            <a:r>
              <a:rPr sz="3200" spc="-5" dirty="0">
                <a:latin typeface="Calibri"/>
                <a:cs typeface="Calibri"/>
              </a:rPr>
              <a:t>is </a:t>
            </a:r>
            <a:r>
              <a:rPr sz="3200" dirty="0">
                <a:latin typeface="Calibri"/>
                <a:cs typeface="Calibri"/>
              </a:rPr>
              <a:t>a </a:t>
            </a:r>
            <a:r>
              <a:rPr sz="3200" spc="-30" dirty="0">
                <a:latin typeface="Calibri"/>
                <a:cs typeface="Calibri"/>
              </a:rPr>
              <a:t>keyword </a:t>
            </a:r>
            <a:r>
              <a:rPr sz="3200" spc="-5" dirty="0">
                <a:latin typeface="Calibri"/>
                <a:cs typeface="Calibri"/>
              </a:rPr>
              <a:t>used in </a:t>
            </a:r>
            <a:r>
              <a:rPr sz="3200" spc="5" dirty="0">
                <a:latin typeface="Calibri"/>
                <a:cs typeface="Calibri"/>
              </a:rPr>
              <a:t>Python in  </a:t>
            </a:r>
            <a:r>
              <a:rPr sz="3200" spc="-10" dirty="0">
                <a:latin typeface="Calibri"/>
                <a:cs typeface="Calibri"/>
              </a:rPr>
              <a:t>replacement </a:t>
            </a:r>
            <a:r>
              <a:rPr sz="3200" dirty="0">
                <a:latin typeface="Calibri"/>
                <a:cs typeface="Calibri"/>
              </a:rPr>
              <a:t>of else </a:t>
            </a:r>
            <a:r>
              <a:rPr sz="3200" spc="-5" dirty="0">
                <a:latin typeface="Calibri"/>
                <a:cs typeface="Calibri"/>
              </a:rPr>
              <a:t>if </a:t>
            </a:r>
            <a:r>
              <a:rPr sz="3200" spc="-25" dirty="0">
                <a:latin typeface="Calibri"/>
                <a:cs typeface="Calibri"/>
              </a:rPr>
              <a:t>to </a:t>
            </a:r>
            <a:r>
              <a:rPr sz="3200" dirty="0">
                <a:latin typeface="Calibri"/>
                <a:cs typeface="Calibri"/>
              </a:rPr>
              <a:t>place another </a:t>
            </a:r>
            <a:r>
              <a:rPr sz="3200" spc="-5" dirty="0">
                <a:latin typeface="Calibri"/>
                <a:cs typeface="Calibri"/>
              </a:rPr>
              <a:t>condition  in </a:t>
            </a:r>
            <a:r>
              <a:rPr sz="3200" dirty="0">
                <a:latin typeface="Calibri"/>
                <a:cs typeface="Calibri"/>
              </a:rPr>
              <a:t>the </a:t>
            </a:r>
            <a:r>
              <a:rPr sz="3200" spc="-15" dirty="0">
                <a:latin typeface="Calibri"/>
                <a:cs typeface="Calibri"/>
              </a:rPr>
              <a:t>program. </a:t>
            </a:r>
            <a:r>
              <a:rPr sz="3200" spc="-5" dirty="0">
                <a:latin typeface="Calibri"/>
                <a:cs typeface="Calibri"/>
              </a:rPr>
              <a:t>This is called </a:t>
            </a:r>
            <a:r>
              <a:rPr sz="3200" dirty="0">
                <a:latin typeface="Calibri"/>
                <a:cs typeface="Calibri"/>
              </a:rPr>
              <a:t>chained</a:t>
            </a:r>
            <a:r>
              <a:rPr sz="3200" spc="20" dirty="0">
                <a:latin typeface="Calibri"/>
                <a:cs typeface="Calibri"/>
              </a:rPr>
              <a:t> </a:t>
            </a:r>
            <a:r>
              <a:rPr sz="3200" spc="-5" dirty="0">
                <a:latin typeface="Calibri"/>
                <a:cs typeface="Calibri"/>
              </a:rPr>
              <a:t>conditional.</a:t>
            </a:r>
            <a:endParaRPr sz="3200">
              <a:latin typeface="Calibri"/>
              <a:cs typeface="Calibri"/>
            </a:endParaRPr>
          </a:p>
          <a:p>
            <a:pPr marL="12700" marR="6350" algn="just">
              <a:lnSpc>
                <a:spcPct val="100000"/>
              </a:lnSpc>
              <a:spcBef>
                <a:spcPts val="770"/>
              </a:spcBef>
              <a:buFont typeface="Wingdings"/>
              <a:buChar char=""/>
              <a:tabLst>
                <a:tab pos="927735" algn="l"/>
              </a:tabLst>
            </a:pPr>
            <a:r>
              <a:rPr sz="3200" spc="-5" dirty="0">
                <a:latin typeface="Calibri"/>
                <a:cs typeface="Calibri"/>
              </a:rPr>
              <a:t>Chained conditions allows </a:t>
            </a:r>
            <a:r>
              <a:rPr sz="3200" dirty="0">
                <a:latin typeface="Calibri"/>
                <a:cs typeface="Calibri"/>
              </a:rPr>
              <a:t>than </a:t>
            </a:r>
            <a:r>
              <a:rPr sz="3200" spc="-10" dirty="0">
                <a:latin typeface="Calibri"/>
                <a:cs typeface="Calibri"/>
              </a:rPr>
              <a:t>two  </a:t>
            </a:r>
            <a:r>
              <a:rPr sz="3200" spc="-5" dirty="0">
                <a:latin typeface="Calibri"/>
                <a:cs typeface="Calibri"/>
              </a:rPr>
              <a:t>possibilities </a:t>
            </a:r>
            <a:r>
              <a:rPr sz="3200" dirty="0">
                <a:latin typeface="Calibri"/>
                <a:cs typeface="Calibri"/>
              </a:rPr>
              <a:t>and </a:t>
            </a:r>
            <a:r>
              <a:rPr sz="3200" spc="-5" dirty="0">
                <a:latin typeface="Calibri"/>
                <a:cs typeface="Calibri"/>
              </a:rPr>
              <a:t>need </a:t>
            </a:r>
            <a:r>
              <a:rPr sz="3200" spc="-10" dirty="0">
                <a:latin typeface="Calibri"/>
                <a:cs typeface="Calibri"/>
              </a:rPr>
              <a:t>more </a:t>
            </a:r>
            <a:r>
              <a:rPr sz="3200" dirty="0">
                <a:latin typeface="Calibri"/>
                <a:cs typeface="Calibri"/>
              </a:rPr>
              <a:t>than </a:t>
            </a:r>
            <a:r>
              <a:rPr sz="3200" spc="-10" dirty="0">
                <a:latin typeface="Calibri"/>
                <a:cs typeface="Calibri"/>
              </a:rPr>
              <a:t>two</a:t>
            </a:r>
            <a:r>
              <a:rPr sz="3200" spc="60" dirty="0">
                <a:latin typeface="Calibri"/>
                <a:cs typeface="Calibri"/>
              </a:rPr>
              <a:t> </a:t>
            </a:r>
            <a:r>
              <a:rPr sz="3200" spc="-10" dirty="0">
                <a:latin typeface="Calibri"/>
                <a:cs typeface="Calibri"/>
              </a:rPr>
              <a:t>branches.</a:t>
            </a:r>
            <a:endParaRPr sz="3200">
              <a:latin typeface="Calibri"/>
              <a:cs typeface="Calibri"/>
            </a:endParaRPr>
          </a:p>
        </p:txBody>
      </p:sp>
      <p:sp>
        <p:nvSpPr>
          <p:cNvPr id="4" name="object 4"/>
          <p:cNvSpPr txBox="1"/>
          <p:nvPr/>
        </p:nvSpPr>
        <p:spPr>
          <a:xfrm>
            <a:off x="307340" y="3455289"/>
            <a:ext cx="1281430" cy="513715"/>
          </a:xfrm>
          <a:prstGeom prst="rect">
            <a:avLst/>
          </a:prstGeom>
        </p:spPr>
        <p:txBody>
          <a:bodyPr vert="horz" wrap="square" lIns="0" tIns="13335" rIns="0" bIns="0" rtlCol="0">
            <a:spAutoFit/>
          </a:bodyPr>
          <a:lstStyle/>
          <a:p>
            <a:pPr marL="12700">
              <a:lnSpc>
                <a:spcPct val="100000"/>
              </a:lnSpc>
              <a:spcBef>
                <a:spcPts val="105"/>
              </a:spcBef>
            </a:pPr>
            <a:r>
              <a:rPr sz="3200" spc="-35" dirty="0">
                <a:solidFill>
                  <a:srgbClr val="FF0000"/>
                </a:solidFill>
                <a:latin typeface="Calibri"/>
                <a:cs typeface="Calibri"/>
              </a:rPr>
              <a:t>S</a:t>
            </a:r>
            <a:r>
              <a:rPr sz="3200" spc="-5" dirty="0">
                <a:solidFill>
                  <a:srgbClr val="FF0000"/>
                </a:solidFill>
                <a:latin typeface="Calibri"/>
                <a:cs typeface="Calibri"/>
              </a:rPr>
              <a:t>YN</a:t>
            </a:r>
            <a:r>
              <a:rPr sz="3200" spc="-265" dirty="0">
                <a:solidFill>
                  <a:srgbClr val="FF0000"/>
                </a:solidFill>
                <a:latin typeface="Calibri"/>
                <a:cs typeface="Calibri"/>
              </a:rPr>
              <a:t>T</a:t>
            </a:r>
            <a:r>
              <a:rPr sz="3200" dirty="0">
                <a:solidFill>
                  <a:srgbClr val="FF0000"/>
                </a:solidFill>
                <a:latin typeface="Calibri"/>
                <a:cs typeface="Calibri"/>
              </a:rPr>
              <a:t>AX</a:t>
            </a:r>
            <a:endParaRPr sz="3200">
              <a:latin typeface="Calibri"/>
              <a:cs typeface="Calibri"/>
            </a:endParaRPr>
          </a:p>
        </p:txBody>
      </p:sp>
      <p:grpSp>
        <p:nvGrpSpPr>
          <p:cNvPr id="5" name="object 5"/>
          <p:cNvGrpSpPr/>
          <p:nvPr/>
        </p:nvGrpSpPr>
        <p:grpSpPr>
          <a:xfrm>
            <a:off x="2273807" y="3569208"/>
            <a:ext cx="4902835" cy="2997835"/>
            <a:chOff x="2273807" y="3569208"/>
            <a:chExt cx="4902835" cy="2997835"/>
          </a:xfrm>
        </p:grpSpPr>
        <p:sp>
          <p:nvSpPr>
            <p:cNvPr id="6" name="object 6"/>
            <p:cNvSpPr/>
            <p:nvPr/>
          </p:nvSpPr>
          <p:spPr>
            <a:xfrm>
              <a:off x="2286761" y="3582162"/>
              <a:ext cx="4876800" cy="2971800"/>
            </a:xfrm>
            <a:custGeom>
              <a:avLst/>
              <a:gdLst/>
              <a:ahLst/>
              <a:cxnLst/>
              <a:rect l="l" t="t" r="r" b="b"/>
              <a:pathLst>
                <a:path w="4876800" h="2971800">
                  <a:moveTo>
                    <a:pt x="4381499" y="0"/>
                  </a:moveTo>
                  <a:lnTo>
                    <a:pt x="495300" y="0"/>
                  </a:lnTo>
                  <a:lnTo>
                    <a:pt x="447597" y="2267"/>
                  </a:lnTo>
                  <a:lnTo>
                    <a:pt x="401178" y="8930"/>
                  </a:lnTo>
                  <a:lnTo>
                    <a:pt x="356249" y="19782"/>
                  </a:lnTo>
                  <a:lnTo>
                    <a:pt x="313019" y="34615"/>
                  </a:lnTo>
                  <a:lnTo>
                    <a:pt x="271695" y="53222"/>
                  </a:lnTo>
                  <a:lnTo>
                    <a:pt x="232484" y="75394"/>
                  </a:lnTo>
                  <a:lnTo>
                    <a:pt x="195594" y="100925"/>
                  </a:lnTo>
                  <a:lnTo>
                    <a:pt x="161233" y="129607"/>
                  </a:lnTo>
                  <a:lnTo>
                    <a:pt x="129607" y="161233"/>
                  </a:lnTo>
                  <a:lnTo>
                    <a:pt x="100925" y="195594"/>
                  </a:lnTo>
                  <a:lnTo>
                    <a:pt x="75394" y="232484"/>
                  </a:lnTo>
                  <a:lnTo>
                    <a:pt x="53222" y="271695"/>
                  </a:lnTo>
                  <a:lnTo>
                    <a:pt x="34615" y="313019"/>
                  </a:lnTo>
                  <a:lnTo>
                    <a:pt x="19782" y="356249"/>
                  </a:lnTo>
                  <a:lnTo>
                    <a:pt x="8930" y="401178"/>
                  </a:lnTo>
                  <a:lnTo>
                    <a:pt x="2267" y="447597"/>
                  </a:lnTo>
                  <a:lnTo>
                    <a:pt x="0" y="495300"/>
                  </a:lnTo>
                  <a:lnTo>
                    <a:pt x="0" y="2476487"/>
                  </a:lnTo>
                  <a:lnTo>
                    <a:pt x="2267" y="2524189"/>
                  </a:lnTo>
                  <a:lnTo>
                    <a:pt x="8930" y="2570609"/>
                  </a:lnTo>
                  <a:lnTo>
                    <a:pt x="19782" y="2615538"/>
                  </a:lnTo>
                  <a:lnTo>
                    <a:pt x="34615" y="2658769"/>
                  </a:lnTo>
                  <a:lnTo>
                    <a:pt x="53222" y="2700094"/>
                  </a:lnTo>
                  <a:lnTo>
                    <a:pt x="75394" y="2739306"/>
                  </a:lnTo>
                  <a:lnTo>
                    <a:pt x="100925" y="2776196"/>
                  </a:lnTo>
                  <a:lnTo>
                    <a:pt x="129607" y="2810559"/>
                  </a:lnTo>
                  <a:lnTo>
                    <a:pt x="161233" y="2842186"/>
                  </a:lnTo>
                  <a:lnTo>
                    <a:pt x="195594" y="2870869"/>
                  </a:lnTo>
                  <a:lnTo>
                    <a:pt x="232484" y="2896401"/>
                  </a:lnTo>
                  <a:lnTo>
                    <a:pt x="271695" y="2918575"/>
                  </a:lnTo>
                  <a:lnTo>
                    <a:pt x="313019" y="2937182"/>
                  </a:lnTo>
                  <a:lnTo>
                    <a:pt x="356249" y="2952016"/>
                  </a:lnTo>
                  <a:lnTo>
                    <a:pt x="401178" y="2962868"/>
                  </a:lnTo>
                  <a:lnTo>
                    <a:pt x="447597" y="2969532"/>
                  </a:lnTo>
                  <a:lnTo>
                    <a:pt x="495300" y="2971800"/>
                  </a:lnTo>
                  <a:lnTo>
                    <a:pt x="4381499" y="2971800"/>
                  </a:lnTo>
                  <a:lnTo>
                    <a:pt x="4429202" y="2969532"/>
                  </a:lnTo>
                  <a:lnTo>
                    <a:pt x="4475621" y="2962868"/>
                  </a:lnTo>
                  <a:lnTo>
                    <a:pt x="4520550" y="2952016"/>
                  </a:lnTo>
                  <a:lnTo>
                    <a:pt x="4563780" y="2937182"/>
                  </a:lnTo>
                  <a:lnTo>
                    <a:pt x="4605104" y="2918575"/>
                  </a:lnTo>
                  <a:lnTo>
                    <a:pt x="4644315" y="2896401"/>
                  </a:lnTo>
                  <a:lnTo>
                    <a:pt x="4681205" y="2870869"/>
                  </a:lnTo>
                  <a:lnTo>
                    <a:pt x="4715566" y="2842186"/>
                  </a:lnTo>
                  <a:lnTo>
                    <a:pt x="4747192" y="2810559"/>
                  </a:lnTo>
                  <a:lnTo>
                    <a:pt x="4775874" y="2776196"/>
                  </a:lnTo>
                  <a:lnTo>
                    <a:pt x="4801405" y="2739306"/>
                  </a:lnTo>
                  <a:lnTo>
                    <a:pt x="4823577" y="2700094"/>
                  </a:lnTo>
                  <a:lnTo>
                    <a:pt x="4842184" y="2658769"/>
                  </a:lnTo>
                  <a:lnTo>
                    <a:pt x="4857017" y="2615538"/>
                  </a:lnTo>
                  <a:lnTo>
                    <a:pt x="4867869" y="2570609"/>
                  </a:lnTo>
                  <a:lnTo>
                    <a:pt x="4874532" y="2524189"/>
                  </a:lnTo>
                  <a:lnTo>
                    <a:pt x="4876799" y="2476487"/>
                  </a:lnTo>
                  <a:lnTo>
                    <a:pt x="4876799" y="495300"/>
                  </a:lnTo>
                  <a:lnTo>
                    <a:pt x="4874532" y="447597"/>
                  </a:lnTo>
                  <a:lnTo>
                    <a:pt x="4867869" y="401178"/>
                  </a:lnTo>
                  <a:lnTo>
                    <a:pt x="4857017" y="356249"/>
                  </a:lnTo>
                  <a:lnTo>
                    <a:pt x="4842184" y="313019"/>
                  </a:lnTo>
                  <a:lnTo>
                    <a:pt x="4823577" y="271695"/>
                  </a:lnTo>
                  <a:lnTo>
                    <a:pt x="4801405" y="232484"/>
                  </a:lnTo>
                  <a:lnTo>
                    <a:pt x="4775874" y="195594"/>
                  </a:lnTo>
                  <a:lnTo>
                    <a:pt x="4747192" y="161233"/>
                  </a:lnTo>
                  <a:lnTo>
                    <a:pt x="4715566" y="129607"/>
                  </a:lnTo>
                  <a:lnTo>
                    <a:pt x="4681205" y="100925"/>
                  </a:lnTo>
                  <a:lnTo>
                    <a:pt x="4644315" y="75394"/>
                  </a:lnTo>
                  <a:lnTo>
                    <a:pt x="4605104" y="53222"/>
                  </a:lnTo>
                  <a:lnTo>
                    <a:pt x="4563780" y="34615"/>
                  </a:lnTo>
                  <a:lnTo>
                    <a:pt x="4520550" y="19782"/>
                  </a:lnTo>
                  <a:lnTo>
                    <a:pt x="4475621" y="8930"/>
                  </a:lnTo>
                  <a:lnTo>
                    <a:pt x="4429202" y="2267"/>
                  </a:lnTo>
                  <a:lnTo>
                    <a:pt x="4381499" y="0"/>
                  </a:lnTo>
                  <a:close/>
                </a:path>
              </a:pathLst>
            </a:custGeom>
            <a:solidFill>
              <a:srgbClr val="548ED4"/>
            </a:solidFill>
          </p:spPr>
          <p:txBody>
            <a:bodyPr wrap="square" lIns="0" tIns="0" rIns="0" bIns="0" rtlCol="0"/>
            <a:lstStyle/>
            <a:p>
              <a:endParaRPr/>
            </a:p>
          </p:txBody>
        </p:sp>
        <p:sp>
          <p:nvSpPr>
            <p:cNvPr id="7" name="object 7"/>
            <p:cNvSpPr/>
            <p:nvPr/>
          </p:nvSpPr>
          <p:spPr>
            <a:xfrm>
              <a:off x="2286761" y="3582162"/>
              <a:ext cx="4876800" cy="2971800"/>
            </a:xfrm>
            <a:custGeom>
              <a:avLst/>
              <a:gdLst/>
              <a:ahLst/>
              <a:cxnLst/>
              <a:rect l="l" t="t" r="r" b="b"/>
              <a:pathLst>
                <a:path w="4876800" h="2971800">
                  <a:moveTo>
                    <a:pt x="0" y="495300"/>
                  </a:moveTo>
                  <a:lnTo>
                    <a:pt x="2267" y="447597"/>
                  </a:lnTo>
                  <a:lnTo>
                    <a:pt x="8930" y="401178"/>
                  </a:lnTo>
                  <a:lnTo>
                    <a:pt x="19782" y="356249"/>
                  </a:lnTo>
                  <a:lnTo>
                    <a:pt x="34615" y="313019"/>
                  </a:lnTo>
                  <a:lnTo>
                    <a:pt x="53222" y="271695"/>
                  </a:lnTo>
                  <a:lnTo>
                    <a:pt x="75394" y="232484"/>
                  </a:lnTo>
                  <a:lnTo>
                    <a:pt x="100925" y="195594"/>
                  </a:lnTo>
                  <a:lnTo>
                    <a:pt x="129607" y="161233"/>
                  </a:lnTo>
                  <a:lnTo>
                    <a:pt x="161233" y="129607"/>
                  </a:lnTo>
                  <a:lnTo>
                    <a:pt x="195594" y="100925"/>
                  </a:lnTo>
                  <a:lnTo>
                    <a:pt x="232484" y="75394"/>
                  </a:lnTo>
                  <a:lnTo>
                    <a:pt x="271695" y="53222"/>
                  </a:lnTo>
                  <a:lnTo>
                    <a:pt x="313019" y="34615"/>
                  </a:lnTo>
                  <a:lnTo>
                    <a:pt x="356249" y="19782"/>
                  </a:lnTo>
                  <a:lnTo>
                    <a:pt x="401178" y="8930"/>
                  </a:lnTo>
                  <a:lnTo>
                    <a:pt x="447597" y="2267"/>
                  </a:lnTo>
                  <a:lnTo>
                    <a:pt x="495300" y="0"/>
                  </a:lnTo>
                  <a:lnTo>
                    <a:pt x="4381499" y="0"/>
                  </a:lnTo>
                  <a:lnTo>
                    <a:pt x="4429202" y="2267"/>
                  </a:lnTo>
                  <a:lnTo>
                    <a:pt x="4475621" y="8930"/>
                  </a:lnTo>
                  <a:lnTo>
                    <a:pt x="4520550" y="19782"/>
                  </a:lnTo>
                  <a:lnTo>
                    <a:pt x="4563780" y="34615"/>
                  </a:lnTo>
                  <a:lnTo>
                    <a:pt x="4605104" y="53222"/>
                  </a:lnTo>
                  <a:lnTo>
                    <a:pt x="4644315" y="75394"/>
                  </a:lnTo>
                  <a:lnTo>
                    <a:pt x="4681205" y="100925"/>
                  </a:lnTo>
                  <a:lnTo>
                    <a:pt x="4715566" y="129607"/>
                  </a:lnTo>
                  <a:lnTo>
                    <a:pt x="4747192" y="161233"/>
                  </a:lnTo>
                  <a:lnTo>
                    <a:pt x="4775874" y="195594"/>
                  </a:lnTo>
                  <a:lnTo>
                    <a:pt x="4801405" y="232484"/>
                  </a:lnTo>
                  <a:lnTo>
                    <a:pt x="4823577" y="271695"/>
                  </a:lnTo>
                  <a:lnTo>
                    <a:pt x="4842184" y="313019"/>
                  </a:lnTo>
                  <a:lnTo>
                    <a:pt x="4857017" y="356249"/>
                  </a:lnTo>
                  <a:lnTo>
                    <a:pt x="4867869" y="401178"/>
                  </a:lnTo>
                  <a:lnTo>
                    <a:pt x="4874532" y="447597"/>
                  </a:lnTo>
                  <a:lnTo>
                    <a:pt x="4876799" y="495300"/>
                  </a:lnTo>
                  <a:lnTo>
                    <a:pt x="4876799" y="2476487"/>
                  </a:lnTo>
                  <a:lnTo>
                    <a:pt x="4874532" y="2524189"/>
                  </a:lnTo>
                  <a:lnTo>
                    <a:pt x="4867869" y="2570609"/>
                  </a:lnTo>
                  <a:lnTo>
                    <a:pt x="4857017" y="2615538"/>
                  </a:lnTo>
                  <a:lnTo>
                    <a:pt x="4842184" y="2658769"/>
                  </a:lnTo>
                  <a:lnTo>
                    <a:pt x="4823577" y="2700094"/>
                  </a:lnTo>
                  <a:lnTo>
                    <a:pt x="4801405" y="2739306"/>
                  </a:lnTo>
                  <a:lnTo>
                    <a:pt x="4775874" y="2776196"/>
                  </a:lnTo>
                  <a:lnTo>
                    <a:pt x="4747192" y="2810559"/>
                  </a:lnTo>
                  <a:lnTo>
                    <a:pt x="4715566" y="2842186"/>
                  </a:lnTo>
                  <a:lnTo>
                    <a:pt x="4681205" y="2870869"/>
                  </a:lnTo>
                  <a:lnTo>
                    <a:pt x="4644315" y="2896401"/>
                  </a:lnTo>
                  <a:lnTo>
                    <a:pt x="4605104" y="2918575"/>
                  </a:lnTo>
                  <a:lnTo>
                    <a:pt x="4563780" y="2937182"/>
                  </a:lnTo>
                  <a:lnTo>
                    <a:pt x="4520550" y="2952016"/>
                  </a:lnTo>
                  <a:lnTo>
                    <a:pt x="4475621" y="2962868"/>
                  </a:lnTo>
                  <a:lnTo>
                    <a:pt x="4429202" y="2969532"/>
                  </a:lnTo>
                  <a:lnTo>
                    <a:pt x="4381499" y="2971800"/>
                  </a:lnTo>
                  <a:lnTo>
                    <a:pt x="495300" y="2971800"/>
                  </a:lnTo>
                  <a:lnTo>
                    <a:pt x="447597" y="2969532"/>
                  </a:lnTo>
                  <a:lnTo>
                    <a:pt x="401178" y="2962868"/>
                  </a:lnTo>
                  <a:lnTo>
                    <a:pt x="356249" y="2952016"/>
                  </a:lnTo>
                  <a:lnTo>
                    <a:pt x="313019" y="2937182"/>
                  </a:lnTo>
                  <a:lnTo>
                    <a:pt x="271695" y="2918575"/>
                  </a:lnTo>
                  <a:lnTo>
                    <a:pt x="232484" y="2896401"/>
                  </a:lnTo>
                  <a:lnTo>
                    <a:pt x="195594" y="2870869"/>
                  </a:lnTo>
                  <a:lnTo>
                    <a:pt x="161233" y="2842186"/>
                  </a:lnTo>
                  <a:lnTo>
                    <a:pt x="129607" y="2810559"/>
                  </a:lnTo>
                  <a:lnTo>
                    <a:pt x="100925" y="2776196"/>
                  </a:lnTo>
                  <a:lnTo>
                    <a:pt x="75394" y="2739306"/>
                  </a:lnTo>
                  <a:lnTo>
                    <a:pt x="53222" y="2700094"/>
                  </a:lnTo>
                  <a:lnTo>
                    <a:pt x="34615" y="2658769"/>
                  </a:lnTo>
                  <a:lnTo>
                    <a:pt x="19782" y="2615538"/>
                  </a:lnTo>
                  <a:lnTo>
                    <a:pt x="8930" y="2570609"/>
                  </a:lnTo>
                  <a:lnTo>
                    <a:pt x="2267" y="2524189"/>
                  </a:lnTo>
                  <a:lnTo>
                    <a:pt x="0" y="2476487"/>
                  </a:lnTo>
                  <a:lnTo>
                    <a:pt x="0" y="495300"/>
                  </a:lnTo>
                  <a:close/>
                </a:path>
              </a:pathLst>
            </a:custGeom>
            <a:ln w="25908">
              <a:solidFill>
                <a:srgbClr val="385D89"/>
              </a:solidFill>
            </a:ln>
          </p:spPr>
          <p:txBody>
            <a:bodyPr wrap="square" lIns="0" tIns="0" rIns="0" bIns="0" rtlCol="0"/>
            <a:lstStyle/>
            <a:p>
              <a:endParaRPr/>
            </a:p>
          </p:txBody>
        </p:sp>
      </p:grpSp>
      <p:sp>
        <p:nvSpPr>
          <p:cNvPr id="8" name="object 8"/>
          <p:cNvSpPr txBox="1"/>
          <p:nvPr/>
        </p:nvSpPr>
        <p:spPr>
          <a:xfrm>
            <a:off x="2967354" y="3752469"/>
            <a:ext cx="2266950" cy="2585720"/>
          </a:xfrm>
          <a:prstGeom prst="rect">
            <a:avLst/>
          </a:prstGeom>
        </p:spPr>
        <p:txBody>
          <a:bodyPr vert="horz" wrap="square" lIns="0" tIns="12065" rIns="0" bIns="0" rtlCol="0">
            <a:spAutoFit/>
          </a:bodyPr>
          <a:lstStyle/>
          <a:p>
            <a:pPr marL="417830" indent="-405765">
              <a:lnSpc>
                <a:spcPct val="100000"/>
              </a:lnSpc>
              <a:spcBef>
                <a:spcPts val="95"/>
              </a:spcBef>
              <a:tabLst>
                <a:tab pos="363220" algn="l"/>
              </a:tabLst>
            </a:pPr>
            <a:r>
              <a:rPr sz="2800" spc="-5" dirty="0">
                <a:solidFill>
                  <a:srgbClr val="FFFFFF"/>
                </a:solidFill>
                <a:latin typeface="Calibri"/>
                <a:cs typeface="Calibri"/>
              </a:rPr>
              <a:t>if	</a:t>
            </a:r>
            <a:r>
              <a:rPr sz="2800" spc="-15" dirty="0">
                <a:solidFill>
                  <a:srgbClr val="FFFFFF"/>
                </a:solidFill>
                <a:latin typeface="Calibri"/>
                <a:cs typeface="Calibri"/>
              </a:rPr>
              <a:t>expression:</a:t>
            </a:r>
            <a:endParaRPr sz="2800">
              <a:latin typeface="Calibri"/>
              <a:cs typeface="Calibri"/>
            </a:endParaRPr>
          </a:p>
          <a:p>
            <a:pPr marL="12700" marR="5080" indent="405130">
              <a:lnSpc>
                <a:spcPct val="100000"/>
              </a:lnSpc>
              <a:tabLst>
                <a:tab pos="620395" algn="l"/>
              </a:tabLst>
            </a:pPr>
            <a:r>
              <a:rPr sz="2800" spc="-5" dirty="0">
                <a:solidFill>
                  <a:srgbClr val="FFFFFF"/>
                </a:solidFill>
                <a:latin typeface="Calibri"/>
                <a:cs typeface="Calibri"/>
              </a:rPr>
              <a:t>Body of if  el</a:t>
            </a:r>
            <a:r>
              <a:rPr sz="2800" spc="-20" dirty="0">
                <a:solidFill>
                  <a:srgbClr val="FFFFFF"/>
                </a:solidFill>
                <a:latin typeface="Calibri"/>
                <a:cs typeface="Calibri"/>
              </a:rPr>
              <a:t>i</a:t>
            </a:r>
            <a:r>
              <a:rPr sz="2800" spc="-5" dirty="0">
                <a:solidFill>
                  <a:srgbClr val="FFFFFF"/>
                </a:solidFill>
                <a:latin typeface="Calibri"/>
                <a:cs typeface="Calibri"/>
              </a:rPr>
              <a:t>f</a:t>
            </a:r>
            <a:r>
              <a:rPr sz="2800" dirty="0">
                <a:solidFill>
                  <a:srgbClr val="FFFFFF"/>
                </a:solidFill>
                <a:latin typeface="Calibri"/>
                <a:cs typeface="Calibri"/>
              </a:rPr>
              <a:t>	</a:t>
            </a:r>
            <a:r>
              <a:rPr sz="2800" spc="-55" dirty="0">
                <a:solidFill>
                  <a:srgbClr val="FFFFFF"/>
                </a:solidFill>
                <a:latin typeface="Calibri"/>
                <a:cs typeface="Calibri"/>
              </a:rPr>
              <a:t>e</a:t>
            </a:r>
            <a:r>
              <a:rPr sz="2800" spc="-10" dirty="0">
                <a:solidFill>
                  <a:srgbClr val="FFFFFF"/>
                </a:solidFill>
                <a:latin typeface="Calibri"/>
                <a:cs typeface="Calibri"/>
              </a:rPr>
              <a:t>xp</a:t>
            </a:r>
            <a:r>
              <a:rPr sz="2800" spc="-50" dirty="0">
                <a:solidFill>
                  <a:srgbClr val="FFFFFF"/>
                </a:solidFill>
                <a:latin typeface="Calibri"/>
                <a:cs typeface="Calibri"/>
              </a:rPr>
              <a:t>r</a:t>
            </a:r>
            <a:r>
              <a:rPr sz="2800" spc="-5" dirty="0">
                <a:solidFill>
                  <a:srgbClr val="FFFFFF"/>
                </a:solidFill>
                <a:latin typeface="Calibri"/>
                <a:cs typeface="Calibri"/>
              </a:rPr>
              <a:t>ess</a:t>
            </a:r>
            <a:r>
              <a:rPr sz="2800" spc="-15" dirty="0">
                <a:solidFill>
                  <a:srgbClr val="FFFFFF"/>
                </a:solidFill>
                <a:latin typeface="Calibri"/>
                <a:cs typeface="Calibri"/>
              </a:rPr>
              <a:t>i</a:t>
            </a:r>
            <a:r>
              <a:rPr sz="2800" spc="-10" dirty="0">
                <a:solidFill>
                  <a:srgbClr val="FFFFFF"/>
                </a:solidFill>
                <a:latin typeface="Calibri"/>
                <a:cs typeface="Calibri"/>
              </a:rPr>
              <a:t>on:</a:t>
            </a:r>
            <a:endParaRPr sz="2800">
              <a:latin typeface="Calibri"/>
              <a:cs typeface="Calibri"/>
            </a:endParaRPr>
          </a:p>
          <a:p>
            <a:pPr marL="12700" marR="208279" indent="405130">
              <a:lnSpc>
                <a:spcPct val="100000"/>
              </a:lnSpc>
              <a:spcBef>
                <a:spcPts val="5"/>
              </a:spcBef>
            </a:pPr>
            <a:r>
              <a:rPr sz="2800" spc="-5" dirty="0">
                <a:solidFill>
                  <a:srgbClr val="FFFFFF"/>
                </a:solidFill>
                <a:latin typeface="Calibri"/>
                <a:cs typeface="Calibri"/>
              </a:rPr>
              <a:t>Body of</a:t>
            </a:r>
            <a:r>
              <a:rPr sz="2800" spc="-70" dirty="0">
                <a:solidFill>
                  <a:srgbClr val="FFFFFF"/>
                </a:solidFill>
                <a:latin typeface="Calibri"/>
                <a:cs typeface="Calibri"/>
              </a:rPr>
              <a:t> </a:t>
            </a:r>
            <a:r>
              <a:rPr sz="2800" spc="-5" dirty="0">
                <a:solidFill>
                  <a:srgbClr val="FFFFFF"/>
                </a:solidFill>
                <a:latin typeface="Calibri"/>
                <a:cs typeface="Calibri"/>
              </a:rPr>
              <a:t>elif  else:</a:t>
            </a:r>
            <a:endParaRPr sz="2800">
              <a:latin typeface="Calibri"/>
              <a:cs typeface="Calibri"/>
            </a:endParaRPr>
          </a:p>
          <a:p>
            <a:pPr marL="417830">
              <a:lnSpc>
                <a:spcPct val="100000"/>
              </a:lnSpc>
            </a:pPr>
            <a:r>
              <a:rPr sz="2800" spc="-5" dirty="0">
                <a:solidFill>
                  <a:srgbClr val="FFFFFF"/>
                </a:solidFill>
                <a:latin typeface="Calibri"/>
                <a:cs typeface="Calibri"/>
              </a:rPr>
              <a:t>Body of</a:t>
            </a:r>
            <a:r>
              <a:rPr sz="2800" spc="-45" dirty="0">
                <a:solidFill>
                  <a:srgbClr val="FFFFFF"/>
                </a:solidFill>
                <a:latin typeface="Calibri"/>
                <a:cs typeface="Calibri"/>
              </a:rPr>
              <a:t> </a:t>
            </a:r>
            <a:r>
              <a:rPr sz="2800" spc="-5" dirty="0">
                <a:solidFill>
                  <a:srgbClr val="FFFFFF"/>
                </a:solidFill>
                <a:latin typeface="Calibri"/>
                <a:cs typeface="Calibri"/>
              </a:rPr>
              <a:t>else</a:t>
            </a:r>
            <a:endParaRPr sz="2800">
              <a:latin typeface="Calibri"/>
              <a:cs typeface="Calibri"/>
            </a:endParaRPr>
          </a:p>
        </p:txBody>
      </p:sp>
      <p:sp>
        <p:nvSpPr>
          <p:cNvPr id="9" name="object 9"/>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pPr marL="38100">
                <a:lnSpc>
                  <a:spcPts val="1240"/>
                </a:lnSpc>
              </a:pPr>
              <a:t>10</a:t>
            </a:fld>
            <a:endParaRPr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828800" y="228600"/>
            <a:ext cx="4090670" cy="391795"/>
          </a:xfrm>
          <a:prstGeom prst="rect">
            <a:avLst/>
          </a:prstGeom>
        </p:spPr>
        <p:txBody>
          <a:bodyPr vert="horz" wrap="square" lIns="0" tIns="12700" rIns="0" bIns="0" rtlCol="0">
            <a:spAutoFit/>
          </a:bodyPr>
          <a:lstStyle/>
          <a:p>
            <a:pPr marL="12700" algn="ctr">
              <a:lnSpc>
                <a:spcPct val="100000"/>
              </a:lnSpc>
              <a:spcBef>
                <a:spcPts val="100"/>
              </a:spcBef>
            </a:pPr>
            <a:r>
              <a:rPr sz="2400" b="1" spc="-5" dirty="0" err="1" smtClean="0">
                <a:solidFill>
                  <a:srgbClr val="FF0000"/>
                </a:solidFill>
                <a:latin typeface="Calibri"/>
                <a:cs typeface="Calibri"/>
              </a:rPr>
              <a:t>elif</a:t>
            </a:r>
            <a:r>
              <a:rPr sz="2400" b="1" spc="-5" dirty="0" smtClean="0">
                <a:solidFill>
                  <a:srgbClr val="FF0000"/>
                </a:solidFill>
                <a:latin typeface="Calibri"/>
                <a:cs typeface="Calibri"/>
              </a:rPr>
              <a:t> </a:t>
            </a:r>
            <a:r>
              <a:rPr sz="2400" b="1" spc="-5" dirty="0">
                <a:solidFill>
                  <a:srgbClr val="FF0000"/>
                </a:solidFill>
                <a:latin typeface="Calibri"/>
                <a:cs typeface="Calibri"/>
              </a:rPr>
              <a:t>condition</a:t>
            </a:r>
            <a:r>
              <a:rPr sz="2400" b="1" spc="-80" dirty="0">
                <a:solidFill>
                  <a:srgbClr val="FF0000"/>
                </a:solidFill>
                <a:latin typeface="Calibri"/>
                <a:cs typeface="Calibri"/>
              </a:rPr>
              <a:t> </a:t>
            </a:r>
            <a:r>
              <a:rPr sz="2400" b="1" spc="-5" dirty="0">
                <a:solidFill>
                  <a:srgbClr val="FF0000"/>
                </a:solidFill>
                <a:latin typeface="Calibri"/>
                <a:cs typeface="Calibri"/>
              </a:rPr>
              <a:t>Flowchart</a:t>
            </a:r>
            <a:endParaRPr sz="2400" dirty="0">
              <a:latin typeface="Calibri"/>
              <a:cs typeface="Calibri"/>
            </a:endParaRP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pPr marL="38100">
                <a:lnSpc>
                  <a:spcPts val="1240"/>
                </a:lnSpc>
              </a:pPr>
              <a:t>11</a:t>
            </a:fld>
            <a:endParaRPr dirty="0"/>
          </a:p>
        </p:txBody>
      </p:sp>
      <p:pic>
        <p:nvPicPr>
          <p:cNvPr id="12290" name="Picture 2" descr="Flowchart of if...elif....else in Python programming"/>
          <p:cNvPicPr>
            <a:picLocks noChangeAspect="1" noChangeArrowheads="1"/>
          </p:cNvPicPr>
          <p:nvPr/>
        </p:nvPicPr>
        <p:blipFill>
          <a:blip r:embed="rId2" cstate="print"/>
          <a:srcRect/>
          <a:stretch>
            <a:fillRect/>
          </a:stretch>
        </p:blipFill>
        <p:spPr bwMode="auto">
          <a:xfrm>
            <a:off x="685800" y="838200"/>
            <a:ext cx="7620000" cy="5867400"/>
          </a:xfrm>
          <a:prstGeom prst="rect">
            <a:avLst/>
          </a:prstGeom>
          <a:noFill/>
        </p:spPr>
      </p:pic>
      <p:sp>
        <p:nvSpPr>
          <p:cNvPr id="6" name="Rectangle 5"/>
          <p:cNvSpPr/>
          <p:nvPr/>
        </p:nvSpPr>
        <p:spPr>
          <a:xfrm>
            <a:off x="2209800" y="6400800"/>
            <a:ext cx="4038600" cy="3048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7340" y="351231"/>
            <a:ext cx="5476240" cy="437515"/>
          </a:xfrm>
          <a:prstGeom prst="rect">
            <a:avLst/>
          </a:prstGeom>
        </p:spPr>
        <p:txBody>
          <a:bodyPr vert="horz" wrap="square" lIns="0" tIns="12700" rIns="0" bIns="0" rtlCol="0">
            <a:spAutoFit/>
          </a:bodyPr>
          <a:lstStyle/>
          <a:p>
            <a:pPr marL="12700">
              <a:lnSpc>
                <a:spcPct val="100000"/>
              </a:lnSpc>
              <a:spcBef>
                <a:spcPts val="100"/>
              </a:spcBef>
            </a:pPr>
            <a:r>
              <a:rPr sz="2700" spc="-10" dirty="0">
                <a:solidFill>
                  <a:srgbClr val="FF0000"/>
                </a:solidFill>
              </a:rPr>
              <a:t>Example: </a:t>
            </a:r>
            <a:r>
              <a:rPr sz="2700" spc="-15" dirty="0">
                <a:solidFill>
                  <a:srgbClr val="FF0000"/>
                </a:solidFill>
              </a:rPr>
              <a:t>largest </a:t>
            </a:r>
            <a:r>
              <a:rPr sz="2700" dirty="0">
                <a:solidFill>
                  <a:srgbClr val="FF0000"/>
                </a:solidFill>
              </a:rPr>
              <a:t>among </a:t>
            </a:r>
            <a:r>
              <a:rPr sz="2700" spc="-10" dirty="0">
                <a:solidFill>
                  <a:srgbClr val="FF0000"/>
                </a:solidFill>
              </a:rPr>
              <a:t>three</a:t>
            </a:r>
            <a:r>
              <a:rPr sz="2700" spc="-50" dirty="0">
                <a:solidFill>
                  <a:srgbClr val="FF0000"/>
                </a:solidFill>
              </a:rPr>
              <a:t> </a:t>
            </a:r>
            <a:r>
              <a:rPr sz="2700" spc="-15" dirty="0">
                <a:solidFill>
                  <a:srgbClr val="FF0000"/>
                </a:solidFill>
              </a:rPr>
              <a:t>numbers</a:t>
            </a:r>
            <a:endParaRPr sz="2700"/>
          </a:p>
        </p:txBody>
      </p:sp>
      <p:sp>
        <p:nvSpPr>
          <p:cNvPr id="3" name="object 3"/>
          <p:cNvSpPr txBox="1"/>
          <p:nvPr/>
        </p:nvSpPr>
        <p:spPr>
          <a:xfrm>
            <a:off x="281940" y="1216239"/>
            <a:ext cx="4813935" cy="4391843"/>
          </a:xfrm>
          <a:prstGeom prst="rect">
            <a:avLst/>
          </a:prstGeom>
        </p:spPr>
        <p:txBody>
          <a:bodyPr vert="horz" wrap="square" lIns="0" tIns="12065" rIns="0" bIns="0" rtlCol="0">
            <a:spAutoFit/>
          </a:bodyPr>
          <a:lstStyle/>
          <a:p>
            <a:pPr marL="38100" marR="30480" algn="just">
              <a:lnSpc>
                <a:spcPct val="110000"/>
              </a:lnSpc>
              <a:spcBef>
                <a:spcPts val="95"/>
              </a:spcBef>
            </a:pPr>
            <a:r>
              <a:rPr sz="2700" dirty="0">
                <a:latin typeface="Calibri"/>
                <a:cs typeface="Calibri"/>
              </a:rPr>
              <a:t>a = </a:t>
            </a:r>
            <a:r>
              <a:rPr sz="2700" spc="-10" dirty="0">
                <a:latin typeface="Calibri"/>
                <a:cs typeface="Calibri"/>
              </a:rPr>
              <a:t>int(input(“Enter 1</a:t>
            </a:r>
            <a:r>
              <a:rPr sz="2700" spc="-15" baseline="24691" dirty="0">
                <a:latin typeface="Calibri"/>
                <a:cs typeface="Calibri"/>
              </a:rPr>
              <a:t>st </a:t>
            </a:r>
            <a:r>
              <a:rPr sz="2700" spc="-5" dirty="0">
                <a:latin typeface="Calibri"/>
                <a:cs typeface="Calibri"/>
              </a:rPr>
              <a:t>number:”))  b= </a:t>
            </a:r>
            <a:r>
              <a:rPr sz="2700" spc="-10" dirty="0">
                <a:latin typeface="Calibri"/>
                <a:cs typeface="Calibri"/>
              </a:rPr>
              <a:t>int(input(“Enter </a:t>
            </a:r>
            <a:r>
              <a:rPr sz="2700" spc="-5" dirty="0">
                <a:latin typeface="Calibri"/>
                <a:cs typeface="Calibri"/>
              </a:rPr>
              <a:t>2</a:t>
            </a:r>
            <a:r>
              <a:rPr sz="2700" spc="-7" baseline="24691" dirty="0">
                <a:latin typeface="Calibri"/>
                <a:cs typeface="Calibri"/>
              </a:rPr>
              <a:t>nd </a:t>
            </a:r>
            <a:r>
              <a:rPr sz="2700" spc="-5" dirty="0">
                <a:latin typeface="Calibri"/>
                <a:cs typeface="Calibri"/>
              </a:rPr>
              <a:t>number:”))  </a:t>
            </a:r>
            <a:r>
              <a:rPr sz="2700" dirty="0">
                <a:latin typeface="Calibri"/>
                <a:cs typeface="Calibri"/>
              </a:rPr>
              <a:t>c= </a:t>
            </a:r>
            <a:r>
              <a:rPr sz="2700" spc="-10" dirty="0">
                <a:latin typeface="Calibri"/>
                <a:cs typeface="Calibri"/>
              </a:rPr>
              <a:t>int(input(“Enter 3</a:t>
            </a:r>
            <a:r>
              <a:rPr sz="2700" spc="-15" baseline="24691" dirty="0">
                <a:latin typeface="Calibri"/>
                <a:cs typeface="Calibri"/>
              </a:rPr>
              <a:t>rd</a:t>
            </a:r>
            <a:r>
              <a:rPr sz="2700" spc="165" baseline="24691" dirty="0">
                <a:latin typeface="Calibri"/>
                <a:cs typeface="Calibri"/>
              </a:rPr>
              <a:t> </a:t>
            </a:r>
            <a:r>
              <a:rPr sz="2700" spc="-5" dirty="0">
                <a:latin typeface="Calibri"/>
                <a:cs typeface="Calibri"/>
              </a:rPr>
              <a:t>number:”))</a:t>
            </a:r>
            <a:endParaRPr sz="2700" dirty="0">
              <a:latin typeface="Calibri"/>
              <a:cs typeface="Calibri"/>
            </a:endParaRPr>
          </a:p>
          <a:p>
            <a:pPr marL="38100" algn="just">
              <a:lnSpc>
                <a:spcPct val="100000"/>
              </a:lnSpc>
              <a:spcBef>
                <a:spcPts val="650"/>
              </a:spcBef>
            </a:pPr>
            <a:r>
              <a:rPr sz="2700" dirty="0">
                <a:latin typeface="Calibri"/>
                <a:cs typeface="Calibri"/>
              </a:rPr>
              <a:t>if </a:t>
            </a:r>
            <a:r>
              <a:rPr sz="2700" spc="-5" dirty="0">
                <a:latin typeface="Calibri"/>
                <a:cs typeface="Calibri"/>
              </a:rPr>
              <a:t>(a </a:t>
            </a:r>
            <a:r>
              <a:rPr sz="2700" dirty="0">
                <a:latin typeface="Calibri"/>
                <a:cs typeface="Calibri"/>
              </a:rPr>
              <a:t>&gt; </a:t>
            </a:r>
            <a:r>
              <a:rPr sz="2700" spc="-5" dirty="0">
                <a:latin typeface="Calibri"/>
                <a:cs typeface="Calibri"/>
              </a:rPr>
              <a:t>b) </a:t>
            </a:r>
            <a:r>
              <a:rPr sz="2700" dirty="0">
                <a:latin typeface="Calibri"/>
                <a:cs typeface="Calibri"/>
              </a:rPr>
              <a:t>and </a:t>
            </a:r>
            <a:r>
              <a:rPr sz="2700" spc="-5" dirty="0">
                <a:latin typeface="Calibri"/>
                <a:cs typeface="Calibri"/>
              </a:rPr>
              <a:t>(a </a:t>
            </a:r>
            <a:r>
              <a:rPr sz="2700" dirty="0">
                <a:latin typeface="Calibri"/>
                <a:cs typeface="Calibri"/>
              </a:rPr>
              <a:t>&gt;</a:t>
            </a:r>
            <a:r>
              <a:rPr sz="2700" spc="-60" dirty="0">
                <a:latin typeface="Calibri"/>
                <a:cs typeface="Calibri"/>
              </a:rPr>
              <a:t> </a:t>
            </a:r>
            <a:r>
              <a:rPr sz="2700" dirty="0">
                <a:latin typeface="Calibri"/>
                <a:cs typeface="Calibri"/>
              </a:rPr>
              <a:t>c):</a:t>
            </a:r>
          </a:p>
          <a:p>
            <a:pPr marL="115570" marR="1160780" indent="836930">
              <a:lnSpc>
                <a:spcPts val="3890"/>
              </a:lnSpc>
              <a:spcBef>
                <a:spcPts val="235"/>
              </a:spcBef>
            </a:pPr>
            <a:r>
              <a:rPr sz="2700" spc="-10" dirty="0">
                <a:latin typeface="Calibri"/>
                <a:cs typeface="Calibri"/>
              </a:rPr>
              <a:t>print("a </a:t>
            </a:r>
            <a:r>
              <a:rPr sz="2700" dirty="0">
                <a:latin typeface="Calibri"/>
                <a:cs typeface="Calibri"/>
              </a:rPr>
              <a:t>is</a:t>
            </a:r>
            <a:r>
              <a:rPr sz="2700" spc="-50" dirty="0">
                <a:latin typeface="Calibri"/>
                <a:cs typeface="Calibri"/>
              </a:rPr>
              <a:t> </a:t>
            </a:r>
            <a:r>
              <a:rPr sz="2700" spc="-15" dirty="0">
                <a:latin typeface="Calibri"/>
                <a:cs typeface="Calibri"/>
              </a:rPr>
              <a:t>greater")  </a:t>
            </a:r>
            <a:r>
              <a:rPr sz="2700" dirty="0">
                <a:latin typeface="Calibri"/>
                <a:cs typeface="Calibri"/>
              </a:rPr>
              <a:t>elif </a:t>
            </a:r>
            <a:r>
              <a:rPr sz="2700" spc="-5" dirty="0">
                <a:latin typeface="Calibri"/>
                <a:cs typeface="Calibri"/>
              </a:rPr>
              <a:t>(b </a:t>
            </a:r>
            <a:r>
              <a:rPr lang="en-US" sz="2700" dirty="0" smtClean="0">
                <a:latin typeface="Calibri"/>
                <a:cs typeface="Calibri"/>
              </a:rPr>
              <a:t>&gt;</a:t>
            </a:r>
            <a:r>
              <a:rPr sz="2700" dirty="0" smtClean="0">
                <a:latin typeface="Calibri"/>
                <a:cs typeface="Calibri"/>
              </a:rPr>
              <a:t>a</a:t>
            </a:r>
            <a:r>
              <a:rPr sz="2700" dirty="0">
                <a:latin typeface="Calibri"/>
                <a:cs typeface="Calibri"/>
              </a:rPr>
              <a:t>) and </a:t>
            </a:r>
            <a:r>
              <a:rPr sz="2700" spc="-5" dirty="0">
                <a:latin typeface="Calibri"/>
                <a:cs typeface="Calibri"/>
              </a:rPr>
              <a:t>(b </a:t>
            </a:r>
            <a:r>
              <a:rPr lang="en-US" sz="2700" dirty="0" smtClean="0">
                <a:latin typeface="Calibri"/>
                <a:cs typeface="Calibri"/>
              </a:rPr>
              <a:t>&gt;</a:t>
            </a:r>
            <a:r>
              <a:rPr sz="2700" spc="-80" dirty="0" smtClean="0">
                <a:latin typeface="Calibri"/>
                <a:cs typeface="Calibri"/>
              </a:rPr>
              <a:t> </a:t>
            </a:r>
            <a:r>
              <a:rPr sz="2700" dirty="0">
                <a:latin typeface="Calibri"/>
                <a:cs typeface="Calibri"/>
              </a:rPr>
              <a:t>c):</a:t>
            </a:r>
          </a:p>
          <a:p>
            <a:pPr marL="952500">
              <a:lnSpc>
                <a:spcPct val="100000"/>
              </a:lnSpc>
              <a:spcBef>
                <a:spcPts val="409"/>
              </a:spcBef>
            </a:pPr>
            <a:r>
              <a:rPr sz="2700" spc="-10" dirty="0">
                <a:latin typeface="Calibri"/>
                <a:cs typeface="Calibri"/>
              </a:rPr>
              <a:t>print(“b </a:t>
            </a:r>
            <a:r>
              <a:rPr sz="2700" dirty="0">
                <a:latin typeface="Calibri"/>
                <a:cs typeface="Calibri"/>
              </a:rPr>
              <a:t>is</a:t>
            </a:r>
            <a:r>
              <a:rPr sz="2700" spc="-20" dirty="0">
                <a:latin typeface="Calibri"/>
                <a:cs typeface="Calibri"/>
              </a:rPr>
              <a:t> </a:t>
            </a:r>
            <a:r>
              <a:rPr sz="2700" spc="-15" dirty="0">
                <a:latin typeface="Calibri"/>
                <a:cs typeface="Calibri"/>
              </a:rPr>
              <a:t>greater")</a:t>
            </a:r>
            <a:endParaRPr sz="2700" dirty="0">
              <a:latin typeface="Calibri"/>
              <a:cs typeface="Calibri"/>
            </a:endParaRPr>
          </a:p>
          <a:p>
            <a:pPr marL="115570">
              <a:lnSpc>
                <a:spcPct val="100000"/>
              </a:lnSpc>
              <a:spcBef>
                <a:spcPts val="650"/>
              </a:spcBef>
            </a:pPr>
            <a:r>
              <a:rPr sz="2700" dirty="0">
                <a:latin typeface="Calibri"/>
                <a:cs typeface="Calibri"/>
              </a:rPr>
              <a:t>else:</a:t>
            </a:r>
          </a:p>
          <a:p>
            <a:pPr marL="952500">
              <a:lnSpc>
                <a:spcPct val="100000"/>
              </a:lnSpc>
              <a:spcBef>
                <a:spcPts val="650"/>
              </a:spcBef>
            </a:pPr>
            <a:r>
              <a:rPr sz="2700" spc="-25" dirty="0">
                <a:latin typeface="Calibri"/>
                <a:cs typeface="Calibri"/>
              </a:rPr>
              <a:t>print(“c </a:t>
            </a:r>
            <a:r>
              <a:rPr sz="2700" dirty="0">
                <a:latin typeface="Calibri"/>
                <a:cs typeface="Calibri"/>
              </a:rPr>
              <a:t>is</a:t>
            </a:r>
            <a:r>
              <a:rPr sz="2700" spc="-10" dirty="0">
                <a:latin typeface="Calibri"/>
                <a:cs typeface="Calibri"/>
              </a:rPr>
              <a:t> </a:t>
            </a:r>
            <a:r>
              <a:rPr sz="2700" spc="-15" dirty="0">
                <a:latin typeface="Calibri"/>
                <a:cs typeface="Calibri"/>
              </a:rPr>
              <a:t>greater")</a:t>
            </a:r>
            <a:endParaRPr sz="2700" dirty="0">
              <a:latin typeface="Calibri"/>
              <a:cs typeface="Calibri"/>
            </a:endParaRPr>
          </a:p>
        </p:txBody>
      </p:sp>
      <p:grpSp>
        <p:nvGrpSpPr>
          <p:cNvPr id="4" name="object 4"/>
          <p:cNvGrpSpPr/>
          <p:nvPr/>
        </p:nvGrpSpPr>
        <p:grpSpPr>
          <a:xfrm>
            <a:off x="5245608" y="1130808"/>
            <a:ext cx="3607435" cy="4674235"/>
            <a:chOff x="5245608" y="1130808"/>
            <a:chExt cx="3607435" cy="4674235"/>
          </a:xfrm>
        </p:grpSpPr>
        <p:sp>
          <p:nvSpPr>
            <p:cNvPr id="5" name="object 5"/>
            <p:cNvSpPr/>
            <p:nvPr/>
          </p:nvSpPr>
          <p:spPr>
            <a:xfrm>
              <a:off x="5258562" y="1143762"/>
              <a:ext cx="3581400" cy="4648200"/>
            </a:xfrm>
            <a:custGeom>
              <a:avLst/>
              <a:gdLst/>
              <a:ahLst/>
              <a:cxnLst/>
              <a:rect l="l" t="t" r="r" b="b"/>
              <a:pathLst>
                <a:path w="3581400" h="4648200">
                  <a:moveTo>
                    <a:pt x="2984499" y="0"/>
                  </a:moveTo>
                  <a:lnTo>
                    <a:pt x="596900" y="0"/>
                  </a:lnTo>
                  <a:lnTo>
                    <a:pt x="547940" y="1978"/>
                  </a:lnTo>
                  <a:lnTo>
                    <a:pt x="500071" y="7811"/>
                  </a:lnTo>
                  <a:lnTo>
                    <a:pt x="453447" y="17345"/>
                  </a:lnTo>
                  <a:lnTo>
                    <a:pt x="408220" y="30427"/>
                  </a:lnTo>
                  <a:lnTo>
                    <a:pt x="364545" y="46902"/>
                  </a:lnTo>
                  <a:lnTo>
                    <a:pt x="322575" y="66618"/>
                  </a:lnTo>
                  <a:lnTo>
                    <a:pt x="282463" y="89421"/>
                  </a:lnTo>
                  <a:lnTo>
                    <a:pt x="244364" y="115157"/>
                  </a:lnTo>
                  <a:lnTo>
                    <a:pt x="208430" y="143673"/>
                  </a:lnTo>
                  <a:lnTo>
                    <a:pt x="174815" y="174815"/>
                  </a:lnTo>
                  <a:lnTo>
                    <a:pt x="143673" y="208430"/>
                  </a:lnTo>
                  <a:lnTo>
                    <a:pt x="115157" y="244364"/>
                  </a:lnTo>
                  <a:lnTo>
                    <a:pt x="89421" y="282463"/>
                  </a:lnTo>
                  <a:lnTo>
                    <a:pt x="66618" y="322575"/>
                  </a:lnTo>
                  <a:lnTo>
                    <a:pt x="46902" y="364545"/>
                  </a:lnTo>
                  <a:lnTo>
                    <a:pt x="30427" y="408220"/>
                  </a:lnTo>
                  <a:lnTo>
                    <a:pt x="17345" y="453447"/>
                  </a:lnTo>
                  <a:lnTo>
                    <a:pt x="7811" y="500071"/>
                  </a:lnTo>
                  <a:lnTo>
                    <a:pt x="1978" y="547940"/>
                  </a:lnTo>
                  <a:lnTo>
                    <a:pt x="0" y="596900"/>
                  </a:lnTo>
                  <a:lnTo>
                    <a:pt x="0" y="4051300"/>
                  </a:lnTo>
                  <a:lnTo>
                    <a:pt x="1978" y="4100259"/>
                  </a:lnTo>
                  <a:lnTo>
                    <a:pt x="7811" y="4148128"/>
                  </a:lnTo>
                  <a:lnTo>
                    <a:pt x="17345" y="4194752"/>
                  </a:lnTo>
                  <a:lnTo>
                    <a:pt x="30427" y="4239979"/>
                  </a:lnTo>
                  <a:lnTo>
                    <a:pt x="46902" y="4283654"/>
                  </a:lnTo>
                  <a:lnTo>
                    <a:pt x="66618" y="4325624"/>
                  </a:lnTo>
                  <a:lnTo>
                    <a:pt x="89421" y="4365736"/>
                  </a:lnTo>
                  <a:lnTo>
                    <a:pt x="115157" y="4403835"/>
                  </a:lnTo>
                  <a:lnTo>
                    <a:pt x="143673" y="4439769"/>
                  </a:lnTo>
                  <a:lnTo>
                    <a:pt x="174815" y="4473384"/>
                  </a:lnTo>
                  <a:lnTo>
                    <a:pt x="208430" y="4504526"/>
                  </a:lnTo>
                  <a:lnTo>
                    <a:pt x="244364" y="4533042"/>
                  </a:lnTo>
                  <a:lnTo>
                    <a:pt x="282463" y="4558778"/>
                  </a:lnTo>
                  <a:lnTo>
                    <a:pt x="322575" y="4581581"/>
                  </a:lnTo>
                  <a:lnTo>
                    <a:pt x="364545" y="4601297"/>
                  </a:lnTo>
                  <a:lnTo>
                    <a:pt x="408220" y="4617772"/>
                  </a:lnTo>
                  <a:lnTo>
                    <a:pt x="453447" y="4630854"/>
                  </a:lnTo>
                  <a:lnTo>
                    <a:pt x="500071" y="4640388"/>
                  </a:lnTo>
                  <a:lnTo>
                    <a:pt x="547940" y="4646221"/>
                  </a:lnTo>
                  <a:lnTo>
                    <a:pt x="596900" y="4648200"/>
                  </a:lnTo>
                  <a:lnTo>
                    <a:pt x="2984499" y="4648200"/>
                  </a:lnTo>
                  <a:lnTo>
                    <a:pt x="3033459" y="4646221"/>
                  </a:lnTo>
                  <a:lnTo>
                    <a:pt x="3081328" y="4640388"/>
                  </a:lnTo>
                  <a:lnTo>
                    <a:pt x="3127952" y="4630854"/>
                  </a:lnTo>
                  <a:lnTo>
                    <a:pt x="3173179" y="4617772"/>
                  </a:lnTo>
                  <a:lnTo>
                    <a:pt x="3216854" y="4601297"/>
                  </a:lnTo>
                  <a:lnTo>
                    <a:pt x="3258824" y="4581581"/>
                  </a:lnTo>
                  <a:lnTo>
                    <a:pt x="3298936" y="4558778"/>
                  </a:lnTo>
                  <a:lnTo>
                    <a:pt x="3337035" y="4533042"/>
                  </a:lnTo>
                  <a:lnTo>
                    <a:pt x="3372969" y="4504526"/>
                  </a:lnTo>
                  <a:lnTo>
                    <a:pt x="3406584" y="4473384"/>
                  </a:lnTo>
                  <a:lnTo>
                    <a:pt x="3437726" y="4439769"/>
                  </a:lnTo>
                  <a:lnTo>
                    <a:pt x="3466242" y="4403835"/>
                  </a:lnTo>
                  <a:lnTo>
                    <a:pt x="3491978" y="4365736"/>
                  </a:lnTo>
                  <a:lnTo>
                    <a:pt x="3514781" y="4325624"/>
                  </a:lnTo>
                  <a:lnTo>
                    <a:pt x="3534497" y="4283654"/>
                  </a:lnTo>
                  <a:lnTo>
                    <a:pt x="3550972" y="4239979"/>
                  </a:lnTo>
                  <a:lnTo>
                    <a:pt x="3564054" y="4194752"/>
                  </a:lnTo>
                  <a:lnTo>
                    <a:pt x="3573588" y="4148128"/>
                  </a:lnTo>
                  <a:lnTo>
                    <a:pt x="3579421" y="4100259"/>
                  </a:lnTo>
                  <a:lnTo>
                    <a:pt x="3581399" y="4051300"/>
                  </a:lnTo>
                  <a:lnTo>
                    <a:pt x="3581399" y="596900"/>
                  </a:lnTo>
                  <a:lnTo>
                    <a:pt x="3579421" y="547940"/>
                  </a:lnTo>
                  <a:lnTo>
                    <a:pt x="3573588" y="500071"/>
                  </a:lnTo>
                  <a:lnTo>
                    <a:pt x="3564054" y="453447"/>
                  </a:lnTo>
                  <a:lnTo>
                    <a:pt x="3550972" y="408220"/>
                  </a:lnTo>
                  <a:lnTo>
                    <a:pt x="3534497" y="364545"/>
                  </a:lnTo>
                  <a:lnTo>
                    <a:pt x="3514781" y="322575"/>
                  </a:lnTo>
                  <a:lnTo>
                    <a:pt x="3491978" y="282463"/>
                  </a:lnTo>
                  <a:lnTo>
                    <a:pt x="3466242" y="244364"/>
                  </a:lnTo>
                  <a:lnTo>
                    <a:pt x="3437726" y="208430"/>
                  </a:lnTo>
                  <a:lnTo>
                    <a:pt x="3406584" y="174815"/>
                  </a:lnTo>
                  <a:lnTo>
                    <a:pt x="3372969" y="143673"/>
                  </a:lnTo>
                  <a:lnTo>
                    <a:pt x="3337035" y="115157"/>
                  </a:lnTo>
                  <a:lnTo>
                    <a:pt x="3298936" y="89421"/>
                  </a:lnTo>
                  <a:lnTo>
                    <a:pt x="3258824" y="66618"/>
                  </a:lnTo>
                  <a:lnTo>
                    <a:pt x="3216854" y="46902"/>
                  </a:lnTo>
                  <a:lnTo>
                    <a:pt x="3173179" y="30427"/>
                  </a:lnTo>
                  <a:lnTo>
                    <a:pt x="3127952" y="17345"/>
                  </a:lnTo>
                  <a:lnTo>
                    <a:pt x="3081328" y="7811"/>
                  </a:lnTo>
                  <a:lnTo>
                    <a:pt x="3033459" y="1978"/>
                  </a:lnTo>
                  <a:lnTo>
                    <a:pt x="2984499" y="0"/>
                  </a:lnTo>
                  <a:close/>
                </a:path>
              </a:pathLst>
            </a:custGeom>
            <a:solidFill>
              <a:srgbClr val="548ED4"/>
            </a:solidFill>
          </p:spPr>
          <p:txBody>
            <a:bodyPr wrap="square" lIns="0" tIns="0" rIns="0" bIns="0" rtlCol="0"/>
            <a:lstStyle/>
            <a:p>
              <a:endParaRPr/>
            </a:p>
          </p:txBody>
        </p:sp>
        <p:sp>
          <p:nvSpPr>
            <p:cNvPr id="6" name="object 6"/>
            <p:cNvSpPr/>
            <p:nvPr/>
          </p:nvSpPr>
          <p:spPr>
            <a:xfrm>
              <a:off x="5258562" y="1143762"/>
              <a:ext cx="3581400" cy="4648200"/>
            </a:xfrm>
            <a:custGeom>
              <a:avLst/>
              <a:gdLst/>
              <a:ahLst/>
              <a:cxnLst/>
              <a:rect l="l" t="t" r="r" b="b"/>
              <a:pathLst>
                <a:path w="3581400" h="4648200">
                  <a:moveTo>
                    <a:pt x="0" y="596900"/>
                  </a:moveTo>
                  <a:lnTo>
                    <a:pt x="1978" y="547940"/>
                  </a:lnTo>
                  <a:lnTo>
                    <a:pt x="7811" y="500071"/>
                  </a:lnTo>
                  <a:lnTo>
                    <a:pt x="17345" y="453447"/>
                  </a:lnTo>
                  <a:lnTo>
                    <a:pt x="30427" y="408220"/>
                  </a:lnTo>
                  <a:lnTo>
                    <a:pt x="46902" y="364545"/>
                  </a:lnTo>
                  <a:lnTo>
                    <a:pt x="66618" y="322575"/>
                  </a:lnTo>
                  <a:lnTo>
                    <a:pt x="89421" y="282463"/>
                  </a:lnTo>
                  <a:lnTo>
                    <a:pt x="115157" y="244364"/>
                  </a:lnTo>
                  <a:lnTo>
                    <a:pt x="143673" y="208430"/>
                  </a:lnTo>
                  <a:lnTo>
                    <a:pt x="174815" y="174815"/>
                  </a:lnTo>
                  <a:lnTo>
                    <a:pt x="208430" y="143673"/>
                  </a:lnTo>
                  <a:lnTo>
                    <a:pt x="244364" y="115157"/>
                  </a:lnTo>
                  <a:lnTo>
                    <a:pt x="282463" y="89421"/>
                  </a:lnTo>
                  <a:lnTo>
                    <a:pt x="322575" y="66618"/>
                  </a:lnTo>
                  <a:lnTo>
                    <a:pt x="364545" y="46902"/>
                  </a:lnTo>
                  <a:lnTo>
                    <a:pt x="408220" y="30427"/>
                  </a:lnTo>
                  <a:lnTo>
                    <a:pt x="453447" y="17345"/>
                  </a:lnTo>
                  <a:lnTo>
                    <a:pt x="500071" y="7811"/>
                  </a:lnTo>
                  <a:lnTo>
                    <a:pt x="547940" y="1978"/>
                  </a:lnTo>
                  <a:lnTo>
                    <a:pt x="596900" y="0"/>
                  </a:lnTo>
                  <a:lnTo>
                    <a:pt x="2984499" y="0"/>
                  </a:lnTo>
                  <a:lnTo>
                    <a:pt x="3033459" y="1978"/>
                  </a:lnTo>
                  <a:lnTo>
                    <a:pt x="3081328" y="7811"/>
                  </a:lnTo>
                  <a:lnTo>
                    <a:pt x="3127952" y="17345"/>
                  </a:lnTo>
                  <a:lnTo>
                    <a:pt x="3173179" y="30427"/>
                  </a:lnTo>
                  <a:lnTo>
                    <a:pt x="3216854" y="46902"/>
                  </a:lnTo>
                  <a:lnTo>
                    <a:pt x="3258824" y="66618"/>
                  </a:lnTo>
                  <a:lnTo>
                    <a:pt x="3298936" y="89421"/>
                  </a:lnTo>
                  <a:lnTo>
                    <a:pt x="3337035" y="115157"/>
                  </a:lnTo>
                  <a:lnTo>
                    <a:pt x="3372969" y="143673"/>
                  </a:lnTo>
                  <a:lnTo>
                    <a:pt x="3406584" y="174815"/>
                  </a:lnTo>
                  <a:lnTo>
                    <a:pt x="3437726" y="208430"/>
                  </a:lnTo>
                  <a:lnTo>
                    <a:pt x="3466242" y="244364"/>
                  </a:lnTo>
                  <a:lnTo>
                    <a:pt x="3491978" y="282463"/>
                  </a:lnTo>
                  <a:lnTo>
                    <a:pt x="3514781" y="322575"/>
                  </a:lnTo>
                  <a:lnTo>
                    <a:pt x="3534497" y="364545"/>
                  </a:lnTo>
                  <a:lnTo>
                    <a:pt x="3550972" y="408220"/>
                  </a:lnTo>
                  <a:lnTo>
                    <a:pt x="3564054" y="453447"/>
                  </a:lnTo>
                  <a:lnTo>
                    <a:pt x="3573588" y="500071"/>
                  </a:lnTo>
                  <a:lnTo>
                    <a:pt x="3579421" y="547940"/>
                  </a:lnTo>
                  <a:lnTo>
                    <a:pt x="3581399" y="596900"/>
                  </a:lnTo>
                  <a:lnTo>
                    <a:pt x="3581399" y="4051300"/>
                  </a:lnTo>
                  <a:lnTo>
                    <a:pt x="3579421" y="4100259"/>
                  </a:lnTo>
                  <a:lnTo>
                    <a:pt x="3573588" y="4148128"/>
                  </a:lnTo>
                  <a:lnTo>
                    <a:pt x="3564054" y="4194752"/>
                  </a:lnTo>
                  <a:lnTo>
                    <a:pt x="3550972" y="4239979"/>
                  </a:lnTo>
                  <a:lnTo>
                    <a:pt x="3534497" y="4283654"/>
                  </a:lnTo>
                  <a:lnTo>
                    <a:pt x="3514781" y="4325624"/>
                  </a:lnTo>
                  <a:lnTo>
                    <a:pt x="3491978" y="4365736"/>
                  </a:lnTo>
                  <a:lnTo>
                    <a:pt x="3466242" y="4403835"/>
                  </a:lnTo>
                  <a:lnTo>
                    <a:pt x="3437726" y="4439769"/>
                  </a:lnTo>
                  <a:lnTo>
                    <a:pt x="3406584" y="4473384"/>
                  </a:lnTo>
                  <a:lnTo>
                    <a:pt x="3372969" y="4504526"/>
                  </a:lnTo>
                  <a:lnTo>
                    <a:pt x="3337035" y="4533042"/>
                  </a:lnTo>
                  <a:lnTo>
                    <a:pt x="3298936" y="4558778"/>
                  </a:lnTo>
                  <a:lnTo>
                    <a:pt x="3258824" y="4581581"/>
                  </a:lnTo>
                  <a:lnTo>
                    <a:pt x="3216854" y="4601297"/>
                  </a:lnTo>
                  <a:lnTo>
                    <a:pt x="3173179" y="4617772"/>
                  </a:lnTo>
                  <a:lnTo>
                    <a:pt x="3127952" y="4630854"/>
                  </a:lnTo>
                  <a:lnTo>
                    <a:pt x="3081328" y="4640388"/>
                  </a:lnTo>
                  <a:lnTo>
                    <a:pt x="3033459" y="4646221"/>
                  </a:lnTo>
                  <a:lnTo>
                    <a:pt x="2984499" y="4648200"/>
                  </a:lnTo>
                  <a:lnTo>
                    <a:pt x="596900" y="4648200"/>
                  </a:lnTo>
                  <a:lnTo>
                    <a:pt x="547940" y="4646221"/>
                  </a:lnTo>
                  <a:lnTo>
                    <a:pt x="500071" y="4640388"/>
                  </a:lnTo>
                  <a:lnTo>
                    <a:pt x="453447" y="4630854"/>
                  </a:lnTo>
                  <a:lnTo>
                    <a:pt x="408220" y="4617772"/>
                  </a:lnTo>
                  <a:lnTo>
                    <a:pt x="364545" y="4601297"/>
                  </a:lnTo>
                  <a:lnTo>
                    <a:pt x="322575" y="4581581"/>
                  </a:lnTo>
                  <a:lnTo>
                    <a:pt x="282463" y="4558778"/>
                  </a:lnTo>
                  <a:lnTo>
                    <a:pt x="244364" y="4533042"/>
                  </a:lnTo>
                  <a:lnTo>
                    <a:pt x="208430" y="4504526"/>
                  </a:lnTo>
                  <a:lnTo>
                    <a:pt x="174815" y="4473384"/>
                  </a:lnTo>
                  <a:lnTo>
                    <a:pt x="143673" y="4439769"/>
                  </a:lnTo>
                  <a:lnTo>
                    <a:pt x="115157" y="4403835"/>
                  </a:lnTo>
                  <a:lnTo>
                    <a:pt x="89421" y="4365736"/>
                  </a:lnTo>
                  <a:lnTo>
                    <a:pt x="66618" y="4325624"/>
                  </a:lnTo>
                  <a:lnTo>
                    <a:pt x="46902" y="4283654"/>
                  </a:lnTo>
                  <a:lnTo>
                    <a:pt x="30427" y="4239979"/>
                  </a:lnTo>
                  <a:lnTo>
                    <a:pt x="17345" y="4194752"/>
                  </a:lnTo>
                  <a:lnTo>
                    <a:pt x="7811" y="4148128"/>
                  </a:lnTo>
                  <a:lnTo>
                    <a:pt x="1978" y="4100259"/>
                  </a:lnTo>
                  <a:lnTo>
                    <a:pt x="0" y="4051300"/>
                  </a:lnTo>
                  <a:lnTo>
                    <a:pt x="0" y="596900"/>
                  </a:lnTo>
                  <a:close/>
                </a:path>
              </a:pathLst>
            </a:custGeom>
            <a:ln w="25908">
              <a:solidFill>
                <a:srgbClr val="385D89"/>
              </a:solidFill>
            </a:ln>
          </p:spPr>
          <p:txBody>
            <a:bodyPr wrap="square" lIns="0" tIns="0" rIns="0" bIns="0" rtlCol="0"/>
            <a:lstStyle/>
            <a:p>
              <a:endParaRPr/>
            </a:p>
          </p:txBody>
        </p:sp>
      </p:grpSp>
      <p:sp>
        <p:nvSpPr>
          <p:cNvPr id="7" name="object 7"/>
          <p:cNvSpPr txBox="1"/>
          <p:nvPr/>
        </p:nvSpPr>
        <p:spPr>
          <a:xfrm>
            <a:off x="5512053" y="2281554"/>
            <a:ext cx="2709545" cy="2277110"/>
          </a:xfrm>
          <a:prstGeom prst="rect">
            <a:avLst/>
          </a:prstGeom>
        </p:spPr>
        <p:txBody>
          <a:bodyPr vert="horz" wrap="square" lIns="0" tIns="195580" rIns="0" bIns="0" rtlCol="0">
            <a:spAutoFit/>
          </a:bodyPr>
          <a:lstStyle/>
          <a:p>
            <a:pPr marL="12700">
              <a:lnSpc>
                <a:spcPct val="100000"/>
              </a:lnSpc>
              <a:spcBef>
                <a:spcPts val="1540"/>
              </a:spcBef>
            </a:pPr>
            <a:r>
              <a:rPr sz="2400" b="1" spc="-5" dirty="0">
                <a:solidFill>
                  <a:srgbClr val="FFFFFF"/>
                </a:solidFill>
                <a:latin typeface="Calibri"/>
                <a:cs typeface="Calibri"/>
              </a:rPr>
              <a:t>OUTPUT</a:t>
            </a:r>
            <a:endParaRPr sz="2400">
              <a:latin typeface="Calibri"/>
              <a:cs typeface="Calibri"/>
            </a:endParaRPr>
          </a:p>
          <a:p>
            <a:pPr marL="12700" marR="5080">
              <a:lnSpc>
                <a:spcPct val="115399"/>
              </a:lnSpc>
              <a:spcBef>
                <a:spcPts val="994"/>
              </a:spcBef>
            </a:pPr>
            <a:r>
              <a:rPr sz="2400" b="1" spc="-15" dirty="0">
                <a:solidFill>
                  <a:srgbClr val="FFFFFF"/>
                </a:solidFill>
                <a:latin typeface="Calibri"/>
                <a:cs typeface="Calibri"/>
              </a:rPr>
              <a:t>Enter </a:t>
            </a:r>
            <a:r>
              <a:rPr sz="2400" b="1" spc="-10" dirty="0">
                <a:solidFill>
                  <a:srgbClr val="FFFFFF"/>
                </a:solidFill>
                <a:latin typeface="Calibri"/>
                <a:cs typeface="Calibri"/>
              </a:rPr>
              <a:t>1st </a:t>
            </a:r>
            <a:r>
              <a:rPr sz="2400" b="1" dirty="0">
                <a:solidFill>
                  <a:srgbClr val="FFFFFF"/>
                </a:solidFill>
                <a:latin typeface="Calibri"/>
                <a:cs typeface="Calibri"/>
              </a:rPr>
              <a:t>number:10  </a:t>
            </a:r>
            <a:r>
              <a:rPr sz="2400" b="1" spc="-15" dirty="0">
                <a:solidFill>
                  <a:srgbClr val="FFFFFF"/>
                </a:solidFill>
                <a:latin typeface="Calibri"/>
                <a:cs typeface="Calibri"/>
              </a:rPr>
              <a:t>Enter </a:t>
            </a:r>
            <a:r>
              <a:rPr sz="2400" b="1" spc="-5" dirty="0">
                <a:solidFill>
                  <a:srgbClr val="FFFFFF"/>
                </a:solidFill>
                <a:latin typeface="Calibri"/>
                <a:cs typeface="Calibri"/>
              </a:rPr>
              <a:t>2nd</a:t>
            </a:r>
            <a:r>
              <a:rPr sz="2400" b="1" spc="-65" dirty="0">
                <a:solidFill>
                  <a:srgbClr val="FFFFFF"/>
                </a:solidFill>
                <a:latin typeface="Calibri"/>
                <a:cs typeface="Calibri"/>
              </a:rPr>
              <a:t> </a:t>
            </a:r>
            <a:r>
              <a:rPr sz="2400" b="1" spc="-5" dirty="0">
                <a:solidFill>
                  <a:srgbClr val="FFFFFF"/>
                </a:solidFill>
                <a:latin typeface="Calibri"/>
                <a:cs typeface="Calibri"/>
              </a:rPr>
              <a:t>number:25</a:t>
            </a:r>
            <a:endParaRPr sz="2400">
              <a:latin typeface="Calibri"/>
              <a:cs typeface="Calibri"/>
            </a:endParaRPr>
          </a:p>
          <a:p>
            <a:pPr marL="12700" marR="64135">
              <a:lnSpc>
                <a:spcPct val="100000"/>
              </a:lnSpc>
            </a:pPr>
            <a:r>
              <a:rPr sz="2400" b="1" spc="-15" dirty="0">
                <a:solidFill>
                  <a:srgbClr val="FFFFFF"/>
                </a:solidFill>
                <a:latin typeface="Calibri"/>
                <a:cs typeface="Calibri"/>
              </a:rPr>
              <a:t>Enter </a:t>
            </a:r>
            <a:r>
              <a:rPr sz="2400" b="1" spc="-10" dirty="0">
                <a:solidFill>
                  <a:srgbClr val="FFFFFF"/>
                </a:solidFill>
                <a:latin typeface="Calibri"/>
                <a:cs typeface="Calibri"/>
              </a:rPr>
              <a:t>3rd</a:t>
            </a:r>
            <a:r>
              <a:rPr sz="2400" b="1" spc="-85" dirty="0">
                <a:solidFill>
                  <a:srgbClr val="FFFFFF"/>
                </a:solidFill>
                <a:latin typeface="Calibri"/>
                <a:cs typeface="Calibri"/>
              </a:rPr>
              <a:t> </a:t>
            </a:r>
            <a:r>
              <a:rPr sz="2400" b="1" spc="-5" dirty="0">
                <a:solidFill>
                  <a:srgbClr val="FFFFFF"/>
                </a:solidFill>
                <a:latin typeface="Calibri"/>
                <a:cs typeface="Calibri"/>
              </a:rPr>
              <a:t>number:15  </a:t>
            </a:r>
            <a:r>
              <a:rPr sz="2400" b="1" dirty="0">
                <a:solidFill>
                  <a:srgbClr val="FFFFFF"/>
                </a:solidFill>
                <a:latin typeface="Calibri"/>
                <a:cs typeface="Calibri"/>
              </a:rPr>
              <a:t>B </a:t>
            </a:r>
            <a:r>
              <a:rPr sz="2400" b="1" spc="-5" dirty="0">
                <a:solidFill>
                  <a:srgbClr val="FFFFFF"/>
                </a:solidFill>
                <a:latin typeface="Calibri"/>
                <a:cs typeface="Calibri"/>
              </a:rPr>
              <a:t>is</a:t>
            </a:r>
            <a:r>
              <a:rPr sz="2400" b="1" spc="-10" dirty="0">
                <a:solidFill>
                  <a:srgbClr val="FFFFFF"/>
                </a:solidFill>
                <a:latin typeface="Calibri"/>
                <a:cs typeface="Calibri"/>
              </a:rPr>
              <a:t> </a:t>
            </a:r>
            <a:r>
              <a:rPr sz="2400" b="1" spc="-15" dirty="0">
                <a:solidFill>
                  <a:srgbClr val="FFFFFF"/>
                </a:solidFill>
                <a:latin typeface="Calibri"/>
                <a:cs typeface="Calibri"/>
              </a:rPr>
              <a:t>greater</a:t>
            </a:r>
            <a:endParaRPr sz="2400">
              <a:latin typeface="Calibri"/>
              <a:cs typeface="Calibri"/>
            </a:endParaRP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pPr marL="38100">
                <a:lnSpc>
                  <a:spcPts val="1240"/>
                </a:lnSpc>
              </a:pPr>
              <a:t>12</a:t>
            </a:fld>
            <a:endParaRPr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pPr marL="38100">
                <a:lnSpc>
                  <a:spcPts val="1240"/>
                </a:lnSpc>
              </a:pPr>
              <a:t>13</a:t>
            </a:fld>
            <a:endParaRPr dirty="0"/>
          </a:p>
        </p:txBody>
      </p:sp>
      <p:sp>
        <p:nvSpPr>
          <p:cNvPr id="2" name="object 2"/>
          <p:cNvSpPr txBox="1">
            <a:spLocks noGrp="1"/>
          </p:cNvSpPr>
          <p:nvPr>
            <p:ph type="title"/>
          </p:nvPr>
        </p:nvSpPr>
        <p:spPr>
          <a:xfrm>
            <a:off x="1942592" y="385317"/>
            <a:ext cx="5260975" cy="574040"/>
          </a:xfrm>
          <a:prstGeom prst="rect">
            <a:avLst/>
          </a:prstGeom>
        </p:spPr>
        <p:txBody>
          <a:bodyPr vert="horz" wrap="square" lIns="0" tIns="12700" rIns="0" bIns="0" rtlCol="0">
            <a:spAutoFit/>
          </a:bodyPr>
          <a:lstStyle/>
          <a:p>
            <a:pPr marL="12700">
              <a:lnSpc>
                <a:spcPct val="100000"/>
              </a:lnSpc>
              <a:spcBef>
                <a:spcPts val="100"/>
              </a:spcBef>
              <a:tabLst>
                <a:tab pos="3139440" algn="l"/>
              </a:tabLst>
            </a:pPr>
            <a:r>
              <a:rPr u="heavy" spc="-900" dirty="0">
                <a:solidFill>
                  <a:srgbClr val="FF0000"/>
                </a:solidFill>
                <a:uFill>
                  <a:solidFill>
                    <a:srgbClr val="FF0000"/>
                  </a:solidFill>
                </a:uFill>
                <a:latin typeface="Times New Roman"/>
                <a:cs typeface="Times New Roman"/>
              </a:rPr>
              <a:t> </a:t>
            </a:r>
            <a:r>
              <a:rPr u="heavy" spc="-15" dirty="0">
                <a:solidFill>
                  <a:srgbClr val="FF0000"/>
                </a:solidFill>
                <a:uFill>
                  <a:solidFill>
                    <a:srgbClr val="FF0000"/>
                  </a:solidFill>
                </a:uFill>
              </a:rPr>
              <a:t>Nested </a:t>
            </a:r>
            <a:r>
              <a:rPr u="heavy" dirty="0">
                <a:solidFill>
                  <a:srgbClr val="FF0000"/>
                </a:solidFill>
                <a:uFill>
                  <a:solidFill>
                    <a:srgbClr val="FF0000"/>
                  </a:solidFill>
                </a:uFill>
              </a:rPr>
              <a:t>if</a:t>
            </a:r>
            <a:r>
              <a:rPr u="heavy" spc="5" dirty="0">
                <a:solidFill>
                  <a:srgbClr val="FF0000"/>
                </a:solidFill>
                <a:uFill>
                  <a:solidFill>
                    <a:srgbClr val="FF0000"/>
                  </a:solidFill>
                </a:uFill>
              </a:rPr>
              <a:t> </a:t>
            </a:r>
            <a:r>
              <a:rPr u="heavy" dirty="0">
                <a:solidFill>
                  <a:srgbClr val="FF0000"/>
                </a:solidFill>
                <a:uFill>
                  <a:solidFill>
                    <a:srgbClr val="FF0000"/>
                  </a:solidFill>
                </a:uFill>
              </a:rPr>
              <a:t>…</a:t>
            </a:r>
            <a:r>
              <a:rPr u="heavy" spc="-5" dirty="0">
                <a:solidFill>
                  <a:srgbClr val="FF0000"/>
                </a:solidFill>
                <a:uFill>
                  <a:solidFill>
                    <a:srgbClr val="FF0000"/>
                  </a:solidFill>
                </a:uFill>
              </a:rPr>
              <a:t> </a:t>
            </a:r>
            <a:r>
              <a:rPr u="heavy" dirty="0">
                <a:solidFill>
                  <a:srgbClr val="FF0000"/>
                </a:solidFill>
                <a:uFill>
                  <a:solidFill>
                    <a:srgbClr val="FF0000"/>
                  </a:solidFill>
                </a:uFill>
              </a:rPr>
              <a:t>else	</a:t>
            </a:r>
            <a:r>
              <a:rPr u="heavy" spc="-20" dirty="0">
                <a:solidFill>
                  <a:srgbClr val="FF0000"/>
                </a:solidFill>
                <a:uFill>
                  <a:solidFill>
                    <a:srgbClr val="FF0000"/>
                  </a:solidFill>
                </a:uFill>
              </a:rPr>
              <a:t>Statements</a:t>
            </a:r>
          </a:p>
        </p:txBody>
      </p:sp>
      <p:sp>
        <p:nvSpPr>
          <p:cNvPr id="3" name="object 3"/>
          <p:cNvSpPr txBox="1"/>
          <p:nvPr/>
        </p:nvSpPr>
        <p:spPr>
          <a:xfrm>
            <a:off x="307340" y="1752041"/>
            <a:ext cx="8529955" cy="3162300"/>
          </a:xfrm>
          <a:prstGeom prst="rect">
            <a:avLst/>
          </a:prstGeom>
        </p:spPr>
        <p:txBody>
          <a:bodyPr vert="horz" wrap="square" lIns="0" tIns="6350" rIns="0" bIns="0" rtlCol="0">
            <a:spAutoFit/>
          </a:bodyPr>
          <a:lstStyle/>
          <a:p>
            <a:pPr marL="12700" marR="5715" algn="just">
              <a:lnSpc>
                <a:spcPct val="101400"/>
              </a:lnSpc>
              <a:spcBef>
                <a:spcPts val="50"/>
              </a:spcBef>
              <a:buSzPct val="112500"/>
              <a:buFont typeface="Wingdings"/>
              <a:buChar char=""/>
              <a:tabLst>
                <a:tab pos="525145" algn="l"/>
              </a:tabLst>
            </a:pPr>
            <a:r>
              <a:rPr sz="3200" spc="-55" dirty="0">
                <a:latin typeface="Calibri"/>
                <a:cs typeface="Calibri"/>
              </a:rPr>
              <a:t>We </a:t>
            </a:r>
            <a:r>
              <a:rPr sz="3200" spc="-10" dirty="0">
                <a:latin typeface="Calibri"/>
                <a:cs typeface="Calibri"/>
              </a:rPr>
              <a:t>can write </a:t>
            </a:r>
            <a:r>
              <a:rPr sz="3200" spc="5" dirty="0">
                <a:latin typeface="Calibri"/>
                <a:cs typeface="Calibri"/>
              </a:rPr>
              <a:t>an </a:t>
            </a:r>
            <a:r>
              <a:rPr sz="3200" spc="-10" dirty="0">
                <a:latin typeface="Calibri"/>
                <a:cs typeface="Calibri"/>
              </a:rPr>
              <a:t>entire </a:t>
            </a:r>
            <a:r>
              <a:rPr sz="3200" dirty="0">
                <a:latin typeface="Calibri"/>
                <a:cs typeface="Calibri"/>
              </a:rPr>
              <a:t>if… </a:t>
            </a:r>
            <a:r>
              <a:rPr sz="3200" spc="-5" dirty="0">
                <a:latin typeface="Calibri"/>
                <a:cs typeface="Calibri"/>
              </a:rPr>
              <a:t>else </a:t>
            </a:r>
            <a:r>
              <a:rPr sz="3200" spc="-20" dirty="0">
                <a:latin typeface="Calibri"/>
                <a:cs typeface="Calibri"/>
              </a:rPr>
              <a:t>statement </a:t>
            </a:r>
            <a:r>
              <a:rPr sz="3200" spc="-5" dirty="0">
                <a:latin typeface="Calibri"/>
                <a:cs typeface="Calibri"/>
              </a:rPr>
              <a:t>in  </a:t>
            </a:r>
            <a:r>
              <a:rPr sz="3200" dirty="0">
                <a:latin typeface="Calibri"/>
                <a:cs typeface="Calibri"/>
              </a:rPr>
              <a:t>another </a:t>
            </a:r>
            <a:r>
              <a:rPr sz="3200" spc="-5" dirty="0">
                <a:latin typeface="Calibri"/>
                <a:cs typeface="Calibri"/>
              </a:rPr>
              <a:t>if… </a:t>
            </a:r>
            <a:r>
              <a:rPr sz="3200" dirty="0">
                <a:latin typeface="Calibri"/>
                <a:cs typeface="Calibri"/>
              </a:rPr>
              <a:t>else </a:t>
            </a:r>
            <a:r>
              <a:rPr sz="3200" spc="-20" dirty="0">
                <a:latin typeface="Calibri"/>
                <a:cs typeface="Calibri"/>
              </a:rPr>
              <a:t>statement </a:t>
            </a:r>
            <a:r>
              <a:rPr sz="3200" spc="-5" dirty="0">
                <a:latin typeface="Calibri"/>
                <a:cs typeface="Calibri"/>
              </a:rPr>
              <a:t>called nesting, </a:t>
            </a:r>
            <a:r>
              <a:rPr sz="3200" dirty="0">
                <a:latin typeface="Calibri"/>
                <a:cs typeface="Calibri"/>
              </a:rPr>
              <a:t>and the  </a:t>
            </a:r>
            <a:r>
              <a:rPr sz="3200" spc="-20" dirty="0">
                <a:latin typeface="Calibri"/>
                <a:cs typeface="Calibri"/>
              </a:rPr>
              <a:t>statement </a:t>
            </a:r>
            <a:r>
              <a:rPr sz="3200" spc="-5" dirty="0">
                <a:latin typeface="Calibri"/>
                <a:cs typeface="Calibri"/>
              </a:rPr>
              <a:t>is called </a:t>
            </a:r>
            <a:r>
              <a:rPr sz="3200" spc="-15" dirty="0">
                <a:latin typeface="Calibri"/>
                <a:cs typeface="Calibri"/>
              </a:rPr>
              <a:t>nested</a:t>
            </a:r>
            <a:r>
              <a:rPr sz="3200" spc="30" dirty="0">
                <a:latin typeface="Calibri"/>
                <a:cs typeface="Calibri"/>
              </a:rPr>
              <a:t> </a:t>
            </a:r>
            <a:r>
              <a:rPr sz="3200" spc="-80" dirty="0">
                <a:latin typeface="Calibri"/>
                <a:cs typeface="Calibri"/>
              </a:rPr>
              <a:t>if.</a:t>
            </a:r>
            <a:endParaRPr sz="3200">
              <a:latin typeface="Calibri"/>
              <a:cs typeface="Calibri"/>
            </a:endParaRPr>
          </a:p>
          <a:p>
            <a:pPr>
              <a:lnSpc>
                <a:spcPct val="100000"/>
              </a:lnSpc>
              <a:spcBef>
                <a:spcPts val="5"/>
              </a:spcBef>
              <a:buChar char=""/>
            </a:pPr>
            <a:endParaRPr sz="4400">
              <a:latin typeface="Calibri"/>
              <a:cs typeface="Calibri"/>
            </a:endParaRPr>
          </a:p>
          <a:p>
            <a:pPr marL="466725" indent="-454659" algn="just">
              <a:lnSpc>
                <a:spcPct val="100000"/>
              </a:lnSpc>
              <a:spcBef>
                <a:spcPts val="5"/>
              </a:spcBef>
              <a:buFont typeface="Wingdings"/>
              <a:buChar char=""/>
              <a:tabLst>
                <a:tab pos="467359" algn="l"/>
              </a:tabLst>
            </a:pPr>
            <a:r>
              <a:rPr sz="3200" dirty="0">
                <a:latin typeface="Calibri"/>
                <a:cs typeface="Calibri"/>
              </a:rPr>
              <a:t>In</a:t>
            </a:r>
            <a:r>
              <a:rPr sz="3200" spc="90" dirty="0">
                <a:latin typeface="Calibri"/>
                <a:cs typeface="Calibri"/>
              </a:rPr>
              <a:t> </a:t>
            </a:r>
            <a:r>
              <a:rPr sz="3200" dirty="0">
                <a:latin typeface="Calibri"/>
                <a:cs typeface="Calibri"/>
              </a:rPr>
              <a:t>a</a:t>
            </a:r>
            <a:r>
              <a:rPr sz="3200" spc="105" dirty="0">
                <a:latin typeface="Calibri"/>
                <a:cs typeface="Calibri"/>
              </a:rPr>
              <a:t> </a:t>
            </a:r>
            <a:r>
              <a:rPr sz="3200" spc="-15" dirty="0">
                <a:latin typeface="Calibri"/>
                <a:cs typeface="Calibri"/>
              </a:rPr>
              <a:t>nested</a:t>
            </a:r>
            <a:r>
              <a:rPr sz="3200" spc="90" dirty="0">
                <a:latin typeface="Calibri"/>
                <a:cs typeface="Calibri"/>
              </a:rPr>
              <a:t> </a:t>
            </a:r>
            <a:r>
              <a:rPr sz="3200" b="1" dirty="0">
                <a:latin typeface="Calibri"/>
                <a:cs typeface="Calibri"/>
              </a:rPr>
              <a:t>if</a:t>
            </a:r>
            <a:r>
              <a:rPr sz="3200" b="1" spc="85" dirty="0">
                <a:latin typeface="Calibri"/>
                <a:cs typeface="Calibri"/>
              </a:rPr>
              <a:t> </a:t>
            </a:r>
            <a:r>
              <a:rPr sz="3200" spc="-10" dirty="0">
                <a:latin typeface="Calibri"/>
                <a:cs typeface="Calibri"/>
              </a:rPr>
              <a:t>construct,</a:t>
            </a:r>
            <a:r>
              <a:rPr sz="3200" spc="95" dirty="0">
                <a:latin typeface="Calibri"/>
                <a:cs typeface="Calibri"/>
              </a:rPr>
              <a:t> </a:t>
            </a:r>
            <a:r>
              <a:rPr sz="3200" spc="-15" dirty="0">
                <a:latin typeface="Calibri"/>
                <a:cs typeface="Calibri"/>
              </a:rPr>
              <a:t>you</a:t>
            </a:r>
            <a:r>
              <a:rPr sz="3200" spc="90" dirty="0">
                <a:latin typeface="Calibri"/>
                <a:cs typeface="Calibri"/>
              </a:rPr>
              <a:t> </a:t>
            </a:r>
            <a:r>
              <a:rPr sz="3200" spc="-10" dirty="0">
                <a:latin typeface="Calibri"/>
                <a:cs typeface="Calibri"/>
              </a:rPr>
              <a:t>can</a:t>
            </a:r>
            <a:r>
              <a:rPr sz="3200" spc="100" dirty="0">
                <a:latin typeface="Calibri"/>
                <a:cs typeface="Calibri"/>
              </a:rPr>
              <a:t> </a:t>
            </a:r>
            <a:r>
              <a:rPr sz="3200" spc="-20" dirty="0">
                <a:latin typeface="Calibri"/>
                <a:cs typeface="Calibri"/>
              </a:rPr>
              <a:t>have</a:t>
            </a:r>
            <a:r>
              <a:rPr sz="3200" spc="90" dirty="0">
                <a:latin typeface="Calibri"/>
                <a:cs typeface="Calibri"/>
              </a:rPr>
              <a:t> </a:t>
            </a:r>
            <a:r>
              <a:rPr sz="3200" dirty="0">
                <a:latin typeface="Calibri"/>
                <a:cs typeface="Calibri"/>
              </a:rPr>
              <a:t>an</a:t>
            </a:r>
            <a:r>
              <a:rPr sz="3200" spc="90" dirty="0">
                <a:latin typeface="Calibri"/>
                <a:cs typeface="Calibri"/>
              </a:rPr>
              <a:t> </a:t>
            </a:r>
            <a:r>
              <a:rPr sz="3200" dirty="0">
                <a:latin typeface="Calibri"/>
                <a:cs typeface="Calibri"/>
              </a:rPr>
              <a:t>if</a:t>
            </a:r>
            <a:r>
              <a:rPr sz="3200" spc="95" dirty="0">
                <a:latin typeface="Calibri"/>
                <a:cs typeface="Calibri"/>
              </a:rPr>
              <a:t> </a:t>
            </a:r>
            <a:r>
              <a:rPr sz="3200" dirty="0">
                <a:latin typeface="Calibri"/>
                <a:cs typeface="Calibri"/>
              </a:rPr>
              <a:t>…</a:t>
            </a:r>
            <a:r>
              <a:rPr sz="3200" spc="85" dirty="0">
                <a:latin typeface="Calibri"/>
                <a:cs typeface="Calibri"/>
              </a:rPr>
              <a:t> </a:t>
            </a:r>
            <a:r>
              <a:rPr sz="3200" dirty="0">
                <a:latin typeface="Calibri"/>
                <a:cs typeface="Calibri"/>
              </a:rPr>
              <a:t>elif</a:t>
            </a:r>
            <a:endParaRPr sz="3200">
              <a:latin typeface="Calibri"/>
              <a:cs typeface="Calibri"/>
            </a:endParaRPr>
          </a:p>
          <a:p>
            <a:pPr marL="12700">
              <a:lnSpc>
                <a:spcPct val="100000"/>
              </a:lnSpc>
            </a:pPr>
            <a:r>
              <a:rPr sz="3200" dirty="0">
                <a:latin typeface="Calibri"/>
                <a:cs typeface="Calibri"/>
              </a:rPr>
              <a:t>… else </a:t>
            </a:r>
            <a:r>
              <a:rPr sz="3200" spc="-10" dirty="0">
                <a:latin typeface="Calibri"/>
                <a:cs typeface="Calibri"/>
              </a:rPr>
              <a:t>construct </a:t>
            </a:r>
            <a:r>
              <a:rPr sz="3200" spc="-5" dirty="0">
                <a:latin typeface="Calibri"/>
                <a:cs typeface="Calibri"/>
              </a:rPr>
              <a:t>inside </a:t>
            </a:r>
            <a:r>
              <a:rPr sz="3200" dirty="0">
                <a:latin typeface="Calibri"/>
                <a:cs typeface="Calibri"/>
              </a:rPr>
              <a:t>an </a:t>
            </a:r>
            <a:r>
              <a:rPr sz="3200" spc="-5" dirty="0">
                <a:latin typeface="Calibri"/>
                <a:cs typeface="Calibri"/>
              </a:rPr>
              <a:t>if </a:t>
            </a:r>
            <a:r>
              <a:rPr sz="3200" dirty="0">
                <a:latin typeface="Calibri"/>
                <a:cs typeface="Calibri"/>
              </a:rPr>
              <a:t>… </a:t>
            </a:r>
            <a:r>
              <a:rPr sz="3200" spc="-40" dirty="0">
                <a:latin typeface="Calibri"/>
                <a:cs typeface="Calibri"/>
              </a:rPr>
              <a:t>elif.. </a:t>
            </a:r>
            <a:r>
              <a:rPr sz="3200" spc="-5" dirty="0">
                <a:latin typeface="Calibri"/>
                <a:cs typeface="Calibri"/>
              </a:rPr>
              <a:t>Else</a:t>
            </a:r>
            <a:r>
              <a:rPr sz="3200" spc="90" dirty="0">
                <a:latin typeface="Calibri"/>
                <a:cs typeface="Calibri"/>
              </a:rPr>
              <a:t> </a:t>
            </a:r>
            <a:r>
              <a:rPr sz="3200" spc="-10" dirty="0">
                <a:latin typeface="Calibri"/>
                <a:cs typeface="Calibri"/>
              </a:rPr>
              <a:t>construct.</a:t>
            </a:r>
            <a:endParaRPr sz="3200">
              <a:latin typeface="Calibri"/>
              <a:cs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981200" y="381000"/>
            <a:ext cx="2713355" cy="1232535"/>
          </a:xfrm>
          <a:prstGeom prst="rect">
            <a:avLst/>
          </a:prstGeom>
        </p:spPr>
        <p:txBody>
          <a:bodyPr vert="horz" wrap="square" lIns="0" tIns="67310" rIns="0" bIns="0" rtlCol="0">
            <a:spAutoFit/>
          </a:bodyPr>
          <a:lstStyle/>
          <a:p>
            <a:pPr marL="12700">
              <a:lnSpc>
                <a:spcPct val="100000"/>
              </a:lnSpc>
              <a:spcBef>
                <a:spcPts val="530"/>
              </a:spcBef>
            </a:pPr>
            <a:r>
              <a:rPr u="heavy" spc="-30" dirty="0">
                <a:solidFill>
                  <a:srgbClr val="FF0000"/>
                </a:solidFill>
                <a:uFill>
                  <a:solidFill>
                    <a:srgbClr val="FF0000"/>
                  </a:solidFill>
                </a:uFill>
              </a:rPr>
              <a:t>Syntax</a:t>
            </a:r>
          </a:p>
          <a:p>
            <a:pPr marL="12700">
              <a:lnSpc>
                <a:spcPct val="100000"/>
              </a:lnSpc>
              <a:spcBef>
                <a:spcPts val="434"/>
              </a:spcBef>
            </a:pPr>
            <a:r>
              <a:rPr dirty="0"/>
              <a:t>if</a:t>
            </a:r>
            <a:r>
              <a:rPr spc="-45" dirty="0"/>
              <a:t> </a:t>
            </a:r>
            <a:r>
              <a:rPr spc="-15" dirty="0"/>
              <a:t>expression1:</a:t>
            </a:r>
          </a:p>
        </p:txBody>
      </p:sp>
      <p:sp>
        <p:nvSpPr>
          <p:cNvPr id="3" name="object 3"/>
          <p:cNvSpPr txBox="1"/>
          <p:nvPr/>
        </p:nvSpPr>
        <p:spPr>
          <a:xfrm>
            <a:off x="2286000" y="1524000"/>
            <a:ext cx="3289300" cy="4791710"/>
          </a:xfrm>
          <a:prstGeom prst="rect">
            <a:avLst/>
          </a:prstGeom>
        </p:spPr>
        <p:txBody>
          <a:bodyPr vert="horz" wrap="square" lIns="0" tIns="12700" rIns="0" bIns="0" rtlCol="0">
            <a:spAutoFit/>
          </a:bodyPr>
          <a:lstStyle/>
          <a:p>
            <a:pPr marL="12700" marR="5715" indent="914400">
              <a:lnSpc>
                <a:spcPct val="110100"/>
              </a:lnSpc>
              <a:spcBef>
                <a:spcPts val="100"/>
              </a:spcBef>
            </a:pPr>
            <a:r>
              <a:rPr sz="3600" spc="-40" dirty="0">
                <a:latin typeface="Calibri"/>
                <a:cs typeface="Calibri"/>
              </a:rPr>
              <a:t>s</a:t>
            </a:r>
            <a:r>
              <a:rPr sz="3600" spc="-55" dirty="0">
                <a:latin typeface="Calibri"/>
                <a:cs typeface="Calibri"/>
              </a:rPr>
              <a:t>t</a:t>
            </a:r>
            <a:r>
              <a:rPr sz="3600" spc="-35" dirty="0">
                <a:latin typeface="Calibri"/>
                <a:cs typeface="Calibri"/>
              </a:rPr>
              <a:t>a</a:t>
            </a:r>
            <a:r>
              <a:rPr sz="3600" spc="-45" dirty="0">
                <a:latin typeface="Calibri"/>
                <a:cs typeface="Calibri"/>
              </a:rPr>
              <a:t>t</a:t>
            </a:r>
            <a:r>
              <a:rPr sz="3600" dirty="0">
                <a:latin typeface="Calibri"/>
                <a:cs typeface="Calibri"/>
              </a:rPr>
              <a:t>eme</a:t>
            </a:r>
            <a:r>
              <a:rPr sz="3600" spc="-45" dirty="0">
                <a:latin typeface="Calibri"/>
                <a:cs typeface="Calibri"/>
              </a:rPr>
              <a:t>n</a:t>
            </a:r>
            <a:r>
              <a:rPr sz="3600" dirty="0">
                <a:latin typeface="Calibri"/>
                <a:cs typeface="Calibri"/>
              </a:rPr>
              <a:t>t(</a:t>
            </a:r>
            <a:r>
              <a:rPr sz="3600" spc="-15" dirty="0">
                <a:latin typeface="Calibri"/>
                <a:cs typeface="Calibri"/>
              </a:rPr>
              <a:t>s</a:t>
            </a:r>
            <a:r>
              <a:rPr sz="3600" dirty="0">
                <a:latin typeface="Calibri"/>
                <a:cs typeface="Calibri"/>
              </a:rPr>
              <a:t>)  if</a:t>
            </a:r>
            <a:r>
              <a:rPr sz="3600" spc="-10" dirty="0">
                <a:latin typeface="Calibri"/>
                <a:cs typeface="Calibri"/>
              </a:rPr>
              <a:t> </a:t>
            </a:r>
            <a:r>
              <a:rPr sz="3600" spc="-15" dirty="0">
                <a:latin typeface="Calibri"/>
                <a:cs typeface="Calibri"/>
              </a:rPr>
              <a:t>expression2:</a:t>
            </a:r>
            <a:endParaRPr sz="3600" dirty="0">
              <a:latin typeface="Calibri"/>
              <a:cs typeface="Calibri"/>
            </a:endParaRPr>
          </a:p>
          <a:p>
            <a:pPr marL="12700" marR="5080" indent="914400">
              <a:lnSpc>
                <a:spcPct val="110000"/>
              </a:lnSpc>
            </a:pPr>
            <a:r>
              <a:rPr sz="3600" spc="-40" dirty="0">
                <a:latin typeface="Calibri"/>
                <a:cs typeface="Calibri"/>
              </a:rPr>
              <a:t>s</a:t>
            </a:r>
            <a:r>
              <a:rPr sz="3600" spc="-55" dirty="0">
                <a:latin typeface="Calibri"/>
                <a:cs typeface="Calibri"/>
              </a:rPr>
              <a:t>t</a:t>
            </a:r>
            <a:r>
              <a:rPr sz="3600" spc="-35" dirty="0">
                <a:latin typeface="Calibri"/>
                <a:cs typeface="Calibri"/>
              </a:rPr>
              <a:t>a</a:t>
            </a:r>
            <a:r>
              <a:rPr sz="3600" spc="-45" dirty="0">
                <a:latin typeface="Calibri"/>
                <a:cs typeface="Calibri"/>
              </a:rPr>
              <a:t>t</a:t>
            </a:r>
            <a:r>
              <a:rPr sz="3600" dirty="0">
                <a:latin typeface="Calibri"/>
                <a:cs typeface="Calibri"/>
              </a:rPr>
              <a:t>eme</a:t>
            </a:r>
            <a:r>
              <a:rPr sz="3600" spc="-35" dirty="0">
                <a:latin typeface="Calibri"/>
                <a:cs typeface="Calibri"/>
              </a:rPr>
              <a:t>n</a:t>
            </a:r>
            <a:r>
              <a:rPr sz="3600" dirty="0">
                <a:latin typeface="Calibri"/>
                <a:cs typeface="Calibri"/>
              </a:rPr>
              <a:t>t(s)  elif</a:t>
            </a:r>
            <a:r>
              <a:rPr sz="3600" spc="-40" dirty="0">
                <a:latin typeface="Calibri"/>
                <a:cs typeface="Calibri"/>
              </a:rPr>
              <a:t> </a:t>
            </a:r>
            <a:r>
              <a:rPr sz="3600" spc="-10" dirty="0">
                <a:latin typeface="Calibri"/>
                <a:cs typeface="Calibri"/>
              </a:rPr>
              <a:t>expression3:</a:t>
            </a:r>
            <a:endParaRPr sz="3600" dirty="0">
              <a:latin typeface="Calibri"/>
              <a:cs typeface="Calibri"/>
            </a:endParaRPr>
          </a:p>
          <a:p>
            <a:pPr marL="927100">
              <a:lnSpc>
                <a:spcPct val="100000"/>
              </a:lnSpc>
              <a:spcBef>
                <a:spcPts val="434"/>
              </a:spcBef>
            </a:pPr>
            <a:r>
              <a:rPr sz="3600" spc="-20" dirty="0">
                <a:latin typeface="Calibri"/>
                <a:cs typeface="Calibri"/>
              </a:rPr>
              <a:t>statement(s)</a:t>
            </a:r>
            <a:endParaRPr sz="3600" dirty="0">
              <a:latin typeface="Calibri"/>
              <a:cs typeface="Calibri"/>
            </a:endParaRPr>
          </a:p>
          <a:p>
            <a:pPr marL="12700">
              <a:lnSpc>
                <a:spcPct val="100000"/>
              </a:lnSpc>
              <a:spcBef>
                <a:spcPts val="430"/>
              </a:spcBef>
            </a:pPr>
            <a:r>
              <a:rPr sz="3600" spc="-5" dirty="0">
                <a:latin typeface="Calibri"/>
                <a:cs typeface="Calibri"/>
              </a:rPr>
              <a:t>else:</a:t>
            </a:r>
            <a:endParaRPr sz="3600" dirty="0">
              <a:latin typeface="Calibri"/>
              <a:cs typeface="Calibri"/>
            </a:endParaRPr>
          </a:p>
          <a:p>
            <a:pPr marL="927100">
              <a:lnSpc>
                <a:spcPct val="100000"/>
              </a:lnSpc>
              <a:spcBef>
                <a:spcPts val="434"/>
              </a:spcBef>
            </a:pPr>
            <a:r>
              <a:rPr sz="3600" spc="-20" dirty="0">
                <a:latin typeface="Calibri"/>
                <a:cs typeface="Calibri"/>
              </a:rPr>
              <a:t>statement(s)</a:t>
            </a:r>
            <a:endParaRPr sz="3600" dirty="0">
              <a:latin typeface="Calibri"/>
              <a:cs typeface="Calibri"/>
            </a:endParaRPr>
          </a:p>
          <a:p>
            <a:pPr marL="12700">
              <a:lnSpc>
                <a:spcPct val="100000"/>
              </a:lnSpc>
              <a:spcBef>
                <a:spcPts val="409"/>
              </a:spcBef>
            </a:pPr>
            <a:r>
              <a:rPr sz="3200" dirty="0">
                <a:latin typeface="Calibri"/>
                <a:cs typeface="Calibri"/>
              </a:rPr>
              <a:t>.</a:t>
            </a:r>
          </a:p>
        </p:txBody>
      </p:sp>
      <p:sp>
        <p:nvSpPr>
          <p:cNvPr id="7" name="object 7"/>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pPr marL="38100">
                <a:lnSpc>
                  <a:spcPts val="1240"/>
                </a:lnSpc>
              </a:pPr>
              <a:t>14</a:t>
            </a:fld>
            <a:endParaRPr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535940" y="367639"/>
            <a:ext cx="5260975" cy="1781175"/>
          </a:xfrm>
          <a:prstGeom prst="rect">
            <a:avLst/>
          </a:prstGeom>
        </p:spPr>
        <p:txBody>
          <a:bodyPr vert="horz" wrap="square" lIns="0" tIns="109855" rIns="0" bIns="0" rtlCol="0">
            <a:spAutoFit/>
          </a:bodyPr>
          <a:lstStyle/>
          <a:p>
            <a:pPr marL="355600" indent="-342900">
              <a:lnSpc>
                <a:spcPct val="100000"/>
              </a:lnSpc>
              <a:spcBef>
                <a:spcPts val="865"/>
              </a:spcBef>
              <a:buFont typeface="Arial"/>
              <a:buChar char="•"/>
              <a:tabLst>
                <a:tab pos="354965" algn="l"/>
                <a:tab pos="355600" algn="l"/>
              </a:tabLst>
            </a:pPr>
            <a:r>
              <a:rPr sz="3200" spc="-10" dirty="0">
                <a:solidFill>
                  <a:srgbClr val="FF0000"/>
                </a:solidFill>
                <a:latin typeface="Calibri"/>
                <a:cs typeface="Calibri"/>
              </a:rPr>
              <a:t>Example</a:t>
            </a:r>
            <a:r>
              <a:rPr sz="3200" spc="-5" dirty="0">
                <a:solidFill>
                  <a:srgbClr val="FF0000"/>
                </a:solidFill>
                <a:latin typeface="Calibri"/>
                <a:cs typeface="Calibri"/>
              </a:rPr>
              <a:t> </a:t>
            </a:r>
            <a:r>
              <a:rPr sz="3200" spc="-15" dirty="0">
                <a:solidFill>
                  <a:srgbClr val="FF0000"/>
                </a:solidFill>
                <a:latin typeface="Calibri"/>
                <a:cs typeface="Calibri"/>
              </a:rPr>
              <a:t>program</a:t>
            </a:r>
            <a:endParaRPr sz="3200" dirty="0">
              <a:latin typeface="Calibri"/>
              <a:cs typeface="Calibri"/>
            </a:endParaRPr>
          </a:p>
          <a:p>
            <a:pPr marL="12700" marR="5080">
              <a:lnSpc>
                <a:spcPct val="120000"/>
              </a:lnSpc>
              <a:tabLst>
                <a:tab pos="3413760" algn="l"/>
              </a:tabLst>
            </a:pPr>
            <a:r>
              <a:rPr sz="3200" dirty="0">
                <a:latin typeface="Calibri"/>
                <a:cs typeface="Calibri"/>
              </a:rPr>
              <a:t>n</a:t>
            </a:r>
            <a:r>
              <a:rPr sz="3200" spc="-5" dirty="0">
                <a:latin typeface="Calibri"/>
                <a:cs typeface="Calibri"/>
              </a:rPr>
              <a:t> </a:t>
            </a:r>
            <a:r>
              <a:rPr sz="3200" dirty="0">
                <a:latin typeface="Calibri"/>
                <a:cs typeface="Calibri"/>
              </a:rPr>
              <a:t>=</a:t>
            </a:r>
            <a:r>
              <a:rPr sz="3200" spc="15" dirty="0">
                <a:latin typeface="Calibri"/>
                <a:cs typeface="Calibri"/>
              </a:rPr>
              <a:t> </a:t>
            </a:r>
            <a:r>
              <a:rPr sz="3200" dirty="0">
                <a:latin typeface="Calibri"/>
                <a:cs typeface="Calibri"/>
              </a:rPr>
              <a:t>i</a:t>
            </a:r>
            <a:r>
              <a:rPr sz="3200" spc="-35" dirty="0">
                <a:latin typeface="Calibri"/>
                <a:cs typeface="Calibri"/>
              </a:rPr>
              <a:t>n</a:t>
            </a:r>
            <a:r>
              <a:rPr sz="3200" spc="-10" dirty="0">
                <a:latin typeface="Calibri"/>
                <a:cs typeface="Calibri"/>
              </a:rPr>
              <a:t>t</a:t>
            </a:r>
            <a:r>
              <a:rPr sz="3200" spc="-5" dirty="0">
                <a:latin typeface="Calibri"/>
                <a:cs typeface="Calibri"/>
              </a:rPr>
              <a:t>(inp</a:t>
            </a:r>
            <a:r>
              <a:rPr sz="3200" spc="-15" dirty="0">
                <a:latin typeface="Calibri"/>
                <a:cs typeface="Calibri"/>
              </a:rPr>
              <a:t>u</a:t>
            </a:r>
            <a:r>
              <a:rPr sz="3200" dirty="0">
                <a:latin typeface="Calibri"/>
                <a:cs typeface="Calibri"/>
              </a:rPr>
              <a:t>t(“E</a:t>
            </a:r>
            <a:r>
              <a:rPr sz="3200" spc="-30" dirty="0">
                <a:latin typeface="Calibri"/>
                <a:cs typeface="Calibri"/>
              </a:rPr>
              <a:t>n</a:t>
            </a:r>
            <a:r>
              <a:rPr sz="3200" spc="-45" dirty="0">
                <a:latin typeface="Calibri"/>
                <a:cs typeface="Calibri"/>
              </a:rPr>
              <a:t>t</a:t>
            </a:r>
            <a:r>
              <a:rPr sz="3200" dirty="0">
                <a:latin typeface="Calibri"/>
                <a:cs typeface="Calibri"/>
              </a:rPr>
              <a:t>er	</a:t>
            </a:r>
            <a:r>
              <a:rPr sz="3200" spc="-5" dirty="0">
                <a:latin typeface="Calibri"/>
                <a:cs typeface="Calibri"/>
              </a:rPr>
              <a:t>number</a:t>
            </a:r>
            <a:r>
              <a:rPr sz="3200" spc="-15" dirty="0">
                <a:latin typeface="Calibri"/>
                <a:cs typeface="Calibri"/>
              </a:rPr>
              <a:t>:</a:t>
            </a:r>
            <a:r>
              <a:rPr sz="3200" spc="-5" dirty="0">
                <a:latin typeface="Calibri"/>
                <a:cs typeface="Calibri"/>
              </a:rPr>
              <a:t>”))  </a:t>
            </a:r>
            <a:r>
              <a:rPr sz="3200" dirty="0">
                <a:latin typeface="Calibri"/>
                <a:cs typeface="Calibri"/>
              </a:rPr>
              <a:t>If</a:t>
            </a:r>
            <a:r>
              <a:rPr sz="3200" spc="-15" dirty="0">
                <a:latin typeface="Calibri"/>
                <a:cs typeface="Calibri"/>
              </a:rPr>
              <a:t> </a:t>
            </a:r>
            <a:r>
              <a:rPr sz="3200" spc="-5" dirty="0">
                <a:latin typeface="Calibri"/>
                <a:cs typeface="Calibri"/>
              </a:rPr>
              <a:t>(n&lt;=15):</a:t>
            </a:r>
            <a:endParaRPr sz="3200" dirty="0">
              <a:latin typeface="Calibri"/>
              <a:cs typeface="Calibri"/>
            </a:endParaRPr>
          </a:p>
        </p:txBody>
      </p:sp>
      <p:sp>
        <p:nvSpPr>
          <p:cNvPr id="3" name="object 3"/>
          <p:cNvSpPr txBox="1"/>
          <p:nvPr/>
        </p:nvSpPr>
        <p:spPr>
          <a:xfrm>
            <a:off x="535940" y="2123669"/>
            <a:ext cx="4304030" cy="3537585"/>
          </a:xfrm>
          <a:prstGeom prst="rect">
            <a:avLst/>
          </a:prstGeom>
        </p:spPr>
        <p:txBody>
          <a:bodyPr vert="horz" wrap="square" lIns="0" tIns="109855" rIns="0" bIns="0" rtlCol="0">
            <a:spAutoFit/>
          </a:bodyPr>
          <a:lstStyle/>
          <a:p>
            <a:pPr marL="355600">
              <a:lnSpc>
                <a:spcPct val="100000"/>
              </a:lnSpc>
              <a:spcBef>
                <a:spcPts val="865"/>
              </a:spcBef>
            </a:pPr>
            <a:r>
              <a:rPr sz="3200" dirty="0">
                <a:latin typeface="Calibri"/>
                <a:cs typeface="Calibri"/>
              </a:rPr>
              <a:t>if </a:t>
            </a:r>
            <a:r>
              <a:rPr sz="3200" spc="-5" dirty="0">
                <a:latin typeface="Calibri"/>
                <a:cs typeface="Calibri"/>
              </a:rPr>
              <a:t>(n ==</a:t>
            </a:r>
            <a:r>
              <a:rPr sz="3200" spc="5" dirty="0">
                <a:latin typeface="Calibri"/>
                <a:cs typeface="Calibri"/>
              </a:rPr>
              <a:t> </a:t>
            </a:r>
            <a:r>
              <a:rPr sz="3200" dirty="0">
                <a:latin typeface="Calibri"/>
                <a:cs typeface="Calibri"/>
              </a:rPr>
              <a:t>10):</a:t>
            </a:r>
          </a:p>
          <a:p>
            <a:pPr marL="355600" marR="251460" indent="571500">
              <a:lnSpc>
                <a:spcPct val="120000"/>
              </a:lnSpc>
            </a:pPr>
            <a:r>
              <a:rPr sz="3200" spc="-10" dirty="0">
                <a:latin typeface="Calibri"/>
                <a:cs typeface="Calibri"/>
              </a:rPr>
              <a:t>print(‘play</a:t>
            </a:r>
            <a:r>
              <a:rPr sz="3200" spc="-50" dirty="0">
                <a:latin typeface="Calibri"/>
                <a:cs typeface="Calibri"/>
              </a:rPr>
              <a:t> </a:t>
            </a:r>
            <a:r>
              <a:rPr sz="3200" spc="-5" dirty="0">
                <a:latin typeface="Calibri"/>
                <a:cs typeface="Calibri"/>
              </a:rPr>
              <a:t>cricket’)  </a:t>
            </a:r>
            <a:r>
              <a:rPr lang="en-US" sz="3200" dirty="0" err="1" smtClean="0">
                <a:latin typeface="Calibri"/>
                <a:cs typeface="Calibri"/>
              </a:rPr>
              <a:t>elif</a:t>
            </a:r>
            <a:r>
              <a:rPr lang="en-US" sz="3200" dirty="0" smtClean="0">
                <a:latin typeface="Calibri"/>
                <a:cs typeface="Calibri"/>
              </a:rPr>
              <a:t> n &gt; 10:</a:t>
            </a:r>
            <a:endParaRPr sz="3200" dirty="0">
              <a:latin typeface="Calibri"/>
              <a:cs typeface="Calibri"/>
            </a:endParaRPr>
          </a:p>
          <a:p>
            <a:pPr marL="927100">
              <a:lnSpc>
                <a:spcPct val="100000"/>
              </a:lnSpc>
              <a:spcBef>
                <a:spcPts val="770"/>
              </a:spcBef>
            </a:pPr>
            <a:r>
              <a:rPr sz="3200" spc="-10" dirty="0">
                <a:latin typeface="Calibri"/>
                <a:cs typeface="Calibri"/>
              </a:rPr>
              <a:t>print(‘play</a:t>
            </a:r>
            <a:r>
              <a:rPr sz="3200" spc="5" dirty="0">
                <a:latin typeface="Calibri"/>
                <a:cs typeface="Calibri"/>
              </a:rPr>
              <a:t> </a:t>
            </a:r>
            <a:r>
              <a:rPr sz="3200" spc="-5" dirty="0">
                <a:latin typeface="Calibri"/>
                <a:cs typeface="Calibri"/>
              </a:rPr>
              <a:t>kabadi’)</a:t>
            </a:r>
            <a:endParaRPr sz="3200" dirty="0">
              <a:latin typeface="Calibri"/>
              <a:cs typeface="Calibri"/>
            </a:endParaRPr>
          </a:p>
          <a:p>
            <a:pPr marL="12700">
              <a:lnSpc>
                <a:spcPct val="100000"/>
              </a:lnSpc>
              <a:spcBef>
                <a:spcPts val="770"/>
              </a:spcBef>
            </a:pPr>
            <a:r>
              <a:rPr lang="en-US" sz="3200" spc="-5" dirty="0" smtClean="0">
                <a:latin typeface="Calibri"/>
                <a:cs typeface="Calibri"/>
              </a:rPr>
              <a:t>e</a:t>
            </a:r>
            <a:r>
              <a:rPr sz="3200" spc="-5" dirty="0" smtClean="0">
                <a:latin typeface="Calibri"/>
                <a:cs typeface="Calibri"/>
              </a:rPr>
              <a:t>lse</a:t>
            </a:r>
            <a:r>
              <a:rPr sz="3200" spc="-5" dirty="0">
                <a:latin typeface="Calibri"/>
                <a:cs typeface="Calibri"/>
              </a:rPr>
              <a:t>:</a:t>
            </a:r>
            <a:endParaRPr sz="3200" dirty="0">
              <a:latin typeface="Calibri"/>
              <a:cs typeface="Calibri"/>
            </a:endParaRPr>
          </a:p>
          <a:p>
            <a:pPr marL="355600">
              <a:lnSpc>
                <a:spcPct val="100000"/>
              </a:lnSpc>
              <a:spcBef>
                <a:spcPts val="770"/>
              </a:spcBef>
            </a:pPr>
            <a:r>
              <a:rPr sz="3200" spc="-5" dirty="0">
                <a:latin typeface="Calibri"/>
                <a:cs typeface="Calibri"/>
              </a:rPr>
              <a:t>print(‘Don’t </a:t>
            </a:r>
            <a:r>
              <a:rPr sz="3200" spc="-20" dirty="0">
                <a:latin typeface="Calibri"/>
                <a:cs typeface="Calibri"/>
              </a:rPr>
              <a:t>play</a:t>
            </a:r>
            <a:r>
              <a:rPr sz="3200" dirty="0">
                <a:latin typeface="Calibri"/>
                <a:cs typeface="Calibri"/>
              </a:rPr>
              <a:t> </a:t>
            </a:r>
            <a:r>
              <a:rPr sz="3200" spc="-10" dirty="0">
                <a:latin typeface="Calibri"/>
                <a:cs typeface="Calibri"/>
              </a:rPr>
              <a:t>game’)</a:t>
            </a:r>
            <a:endParaRPr sz="3200" dirty="0">
              <a:latin typeface="Calibri"/>
              <a:cs typeface="Calibri"/>
            </a:endParaRPr>
          </a:p>
        </p:txBody>
      </p:sp>
      <p:grpSp>
        <p:nvGrpSpPr>
          <p:cNvPr id="4" name="object 4"/>
          <p:cNvGrpSpPr/>
          <p:nvPr/>
        </p:nvGrpSpPr>
        <p:grpSpPr>
          <a:xfrm>
            <a:off x="5321808" y="1588008"/>
            <a:ext cx="3226435" cy="3607435"/>
            <a:chOff x="5321808" y="1588008"/>
            <a:chExt cx="3226435" cy="3607435"/>
          </a:xfrm>
        </p:grpSpPr>
        <p:sp>
          <p:nvSpPr>
            <p:cNvPr id="5" name="object 5"/>
            <p:cNvSpPr/>
            <p:nvPr/>
          </p:nvSpPr>
          <p:spPr>
            <a:xfrm>
              <a:off x="5334762" y="1600962"/>
              <a:ext cx="3200400" cy="3581400"/>
            </a:xfrm>
            <a:custGeom>
              <a:avLst/>
              <a:gdLst/>
              <a:ahLst/>
              <a:cxnLst/>
              <a:rect l="l" t="t" r="r" b="b"/>
              <a:pathLst>
                <a:path w="3200400" h="3581400">
                  <a:moveTo>
                    <a:pt x="2666999" y="0"/>
                  </a:moveTo>
                  <a:lnTo>
                    <a:pt x="533400" y="0"/>
                  </a:lnTo>
                  <a:lnTo>
                    <a:pt x="484842" y="2179"/>
                  </a:lnTo>
                  <a:lnTo>
                    <a:pt x="437507" y="8592"/>
                  </a:lnTo>
                  <a:lnTo>
                    <a:pt x="391583" y="19050"/>
                  </a:lnTo>
                  <a:lnTo>
                    <a:pt x="347258" y="33364"/>
                  </a:lnTo>
                  <a:lnTo>
                    <a:pt x="304721" y="51348"/>
                  </a:lnTo>
                  <a:lnTo>
                    <a:pt x="264159" y="72813"/>
                  </a:lnTo>
                  <a:lnTo>
                    <a:pt x="225762" y="97570"/>
                  </a:lnTo>
                  <a:lnTo>
                    <a:pt x="189716" y="125432"/>
                  </a:lnTo>
                  <a:lnTo>
                    <a:pt x="156209" y="156210"/>
                  </a:lnTo>
                  <a:lnTo>
                    <a:pt x="125432" y="189716"/>
                  </a:lnTo>
                  <a:lnTo>
                    <a:pt x="97570" y="225762"/>
                  </a:lnTo>
                  <a:lnTo>
                    <a:pt x="72813" y="264160"/>
                  </a:lnTo>
                  <a:lnTo>
                    <a:pt x="51348" y="304721"/>
                  </a:lnTo>
                  <a:lnTo>
                    <a:pt x="33364" y="347258"/>
                  </a:lnTo>
                  <a:lnTo>
                    <a:pt x="19050" y="391583"/>
                  </a:lnTo>
                  <a:lnTo>
                    <a:pt x="8592" y="437507"/>
                  </a:lnTo>
                  <a:lnTo>
                    <a:pt x="2179" y="484842"/>
                  </a:lnTo>
                  <a:lnTo>
                    <a:pt x="0" y="533400"/>
                  </a:lnTo>
                  <a:lnTo>
                    <a:pt x="0" y="3048000"/>
                  </a:lnTo>
                  <a:lnTo>
                    <a:pt x="2179" y="3096557"/>
                  </a:lnTo>
                  <a:lnTo>
                    <a:pt x="8592" y="3143892"/>
                  </a:lnTo>
                  <a:lnTo>
                    <a:pt x="19050" y="3189816"/>
                  </a:lnTo>
                  <a:lnTo>
                    <a:pt x="33364" y="3234141"/>
                  </a:lnTo>
                  <a:lnTo>
                    <a:pt x="51348" y="3276678"/>
                  </a:lnTo>
                  <a:lnTo>
                    <a:pt x="72813" y="3317240"/>
                  </a:lnTo>
                  <a:lnTo>
                    <a:pt x="97570" y="3355637"/>
                  </a:lnTo>
                  <a:lnTo>
                    <a:pt x="125432" y="3391683"/>
                  </a:lnTo>
                  <a:lnTo>
                    <a:pt x="156210" y="3425190"/>
                  </a:lnTo>
                  <a:lnTo>
                    <a:pt x="189716" y="3455967"/>
                  </a:lnTo>
                  <a:lnTo>
                    <a:pt x="225762" y="3483829"/>
                  </a:lnTo>
                  <a:lnTo>
                    <a:pt x="264160" y="3508586"/>
                  </a:lnTo>
                  <a:lnTo>
                    <a:pt x="304721" y="3530051"/>
                  </a:lnTo>
                  <a:lnTo>
                    <a:pt x="347258" y="3548035"/>
                  </a:lnTo>
                  <a:lnTo>
                    <a:pt x="391583" y="3562350"/>
                  </a:lnTo>
                  <a:lnTo>
                    <a:pt x="437507" y="3572807"/>
                  </a:lnTo>
                  <a:lnTo>
                    <a:pt x="484842" y="3579220"/>
                  </a:lnTo>
                  <a:lnTo>
                    <a:pt x="533400" y="3581400"/>
                  </a:lnTo>
                  <a:lnTo>
                    <a:pt x="2666999" y="3581400"/>
                  </a:lnTo>
                  <a:lnTo>
                    <a:pt x="2715557" y="3579220"/>
                  </a:lnTo>
                  <a:lnTo>
                    <a:pt x="2762892" y="3572807"/>
                  </a:lnTo>
                  <a:lnTo>
                    <a:pt x="2808816" y="3562350"/>
                  </a:lnTo>
                  <a:lnTo>
                    <a:pt x="2853141" y="3548035"/>
                  </a:lnTo>
                  <a:lnTo>
                    <a:pt x="2895678" y="3530051"/>
                  </a:lnTo>
                  <a:lnTo>
                    <a:pt x="2936239" y="3508586"/>
                  </a:lnTo>
                  <a:lnTo>
                    <a:pt x="2974637" y="3483829"/>
                  </a:lnTo>
                  <a:lnTo>
                    <a:pt x="3010683" y="3455967"/>
                  </a:lnTo>
                  <a:lnTo>
                    <a:pt x="3044189" y="3425190"/>
                  </a:lnTo>
                  <a:lnTo>
                    <a:pt x="3074967" y="3391683"/>
                  </a:lnTo>
                  <a:lnTo>
                    <a:pt x="3102829" y="3355637"/>
                  </a:lnTo>
                  <a:lnTo>
                    <a:pt x="3127586" y="3317240"/>
                  </a:lnTo>
                  <a:lnTo>
                    <a:pt x="3149051" y="3276678"/>
                  </a:lnTo>
                  <a:lnTo>
                    <a:pt x="3167035" y="3234141"/>
                  </a:lnTo>
                  <a:lnTo>
                    <a:pt x="3181349" y="3189816"/>
                  </a:lnTo>
                  <a:lnTo>
                    <a:pt x="3191807" y="3143892"/>
                  </a:lnTo>
                  <a:lnTo>
                    <a:pt x="3198220" y="3096557"/>
                  </a:lnTo>
                  <a:lnTo>
                    <a:pt x="3200399" y="3048000"/>
                  </a:lnTo>
                  <a:lnTo>
                    <a:pt x="3200399" y="533400"/>
                  </a:lnTo>
                  <a:lnTo>
                    <a:pt x="3198220" y="484842"/>
                  </a:lnTo>
                  <a:lnTo>
                    <a:pt x="3191807" y="437507"/>
                  </a:lnTo>
                  <a:lnTo>
                    <a:pt x="3181350" y="391583"/>
                  </a:lnTo>
                  <a:lnTo>
                    <a:pt x="3167035" y="347258"/>
                  </a:lnTo>
                  <a:lnTo>
                    <a:pt x="3149051" y="304721"/>
                  </a:lnTo>
                  <a:lnTo>
                    <a:pt x="3127586" y="264159"/>
                  </a:lnTo>
                  <a:lnTo>
                    <a:pt x="3102829" y="225762"/>
                  </a:lnTo>
                  <a:lnTo>
                    <a:pt x="3074967" y="189716"/>
                  </a:lnTo>
                  <a:lnTo>
                    <a:pt x="3044189" y="156209"/>
                  </a:lnTo>
                  <a:lnTo>
                    <a:pt x="3010683" y="125432"/>
                  </a:lnTo>
                  <a:lnTo>
                    <a:pt x="2974637" y="97570"/>
                  </a:lnTo>
                  <a:lnTo>
                    <a:pt x="2936239" y="72813"/>
                  </a:lnTo>
                  <a:lnTo>
                    <a:pt x="2895678" y="51348"/>
                  </a:lnTo>
                  <a:lnTo>
                    <a:pt x="2853141" y="33364"/>
                  </a:lnTo>
                  <a:lnTo>
                    <a:pt x="2808816" y="19050"/>
                  </a:lnTo>
                  <a:lnTo>
                    <a:pt x="2762892" y="8592"/>
                  </a:lnTo>
                  <a:lnTo>
                    <a:pt x="2715557" y="2179"/>
                  </a:lnTo>
                  <a:lnTo>
                    <a:pt x="2666999" y="0"/>
                  </a:lnTo>
                  <a:close/>
                </a:path>
              </a:pathLst>
            </a:custGeom>
            <a:solidFill>
              <a:srgbClr val="548ED4"/>
            </a:solidFill>
          </p:spPr>
          <p:txBody>
            <a:bodyPr wrap="square" lIns="0" tIns="0" rIns="0" bIns="0" rtlCol="0"/>
            <a:lstStyle/>
            <a:p>
              <a:endParaRPr/>
            </a:p>
          </p:txBody>
        </p:sp>
        <p:sp>
          <p:nvSpPr>
            <p:cNvPr id="6" name="object 6"/>
            <p:cNvSpPr/>
            <p:nvPr/>
          </p:nvSpPr>
          <p:spPr>
            <a:xfrm>
              <a:off x="5334762" y="1600962"/>
              <a:ext cx="3200400" cy="3581400"/>
            </a:xfrm>
            <a:custGeom>
              <a:avLst/>
              <a:gdLst/>
              <a:ahLst/>
              <a:cxnLst/>
              <a:rect l="l" t="t" r="r" b="b"/>
              <a:pathLst>
                <a:path w="3200400" h="3581400">
                  <a:moveTo>
                    <a:pt x="0" y="533400"/>
                  </a:moveTo>
                  <a:lnTo>
                    <a:pt x="2179" y="484842"/>
                  </a:lnTo>
                  <a:lnTo>
                    <a:pt x="8592" y="437507"/>
                  </a:lnTo>
                  <a:lnTo>
                    <a:pt x="19050" y="391583"/>
                  </a:lnTo>
                  <a:lnTo>
                    <a:pt x="33364" y="347258"/>
                  </a:lnTo>
                  <a:lnTo>
                    <a:pt x="51348" y="304721"/>
                  </a:lnTo>
                  <a:lnTo>
                    <a:pt x="72813" y="264160"/>
                  </a:lnTo>
                  <a:lnTo>
                    <a:pt x="97570" y="225762"/>
                  </a:lnTo>
                  <a:lnTo>
                    <a:pt x="125432" y="189716"/>
                  </a:lnTo>
                  <a:lnTo>
                    <a:pt x="156209" y="156210"/>
                  </a:lnTo>
                  <a:lnTo>
                    <a:pt x="189716" y="125432"/>
                  </a:lnTo>
                  <a:lnTo>
                    <a:pt x="225762" y="97570"/>
                  </a:lnTo>
                  <a:lnTo>
                    <a:pt x="264159" y="72813"/>
                  </a:lnTo>
                  <a:lnTo>
                    <a:pt x="304721" y="51348"/>
                  </a:lnTo>
                  <a:lnTo>
                    <a:pt x="347258" y="33364"/>
                  </a:lnTo>
                  <a:lnTo>
                    <a:pt x="391583" y="19050"/>
                  </a:lnTo>
                  <a:lnTo>
                    <a:pt x="437507" y="8592"/>
                  </a:lnTo>
                  <a:lnTo>
                    <a:pt x="484842" y="2179"/>
                  </a:lnTo>
                  <a:lnTo>
                    <a:pt x="533400" y="0"/>
                  </a:lnTo>
                  <a:lnTo>
                    <a:pt x="2666999" y="0"/>
                  </a:lnTo>
                  <a:lnTo>
                    <a:pt x="2715557" y="2179"/>
                  </a:lnTo>
                  <a:lnTo>
                    <a:pt x="2762892" y="8592"/>
                  </a:lnTo>
                  <a:lnTo>
                    <a:pt x="2808816" y="19050"/>
                  </a:lnTo>
                  <a:lnTo>
                    <a:pt x="2853141" y="33364"/>
                  </a:lnTo>
                  <a:lnTo>
                    <a:pt x="2895678" y="51348"/>
                  </a:lnTo>
                  <a:lnTo>
                    <a:pt x="2936239" y="72813"/>
                  </a:lnTo>
                  <a:lnTo>
                    <a:pt x="2974637" y="97570"/>
                  </a:lnTo>
                  <a:lnTo>
                    <a:pt x="3010683" y="125432"/>
                  </a:lnTo>
                  <a:lnTo>
                    <a:pt x="3044189" y="156209"/>
                  </a:lnTo>
                  <a:lnTo>
                    <a:pt x="3074967" y="189716"/>
                  </a:lnTo>
                  <a:lnTo>
                    <a:pt x="3102829" y="225762"/>
                  </a:lnTo>
                  <a:lnTo>
                    <a:pt x="3127586" y="264159"/>
                  </a:lnTo>
                  <a:lnTo>
                    <a:pt x="3149051" y="304721"/>
                  </a:lnTo>
                  <a:lnTo>
                    <a:pt x="3167035" y="347258"/>
                  </a:lnTo>
                  <a:lnTo>
                    <a:pt x="3181350" y="391583"/>
                  </a:lnTo>
                  <a:lnTo>
                    <a:pt x="3191807" y="437507"/>
                  </a:lnTo>
                  <a:lnTo>
                    <a:pt x="3198220" y="484842"/>
                  </a:lnTo>
                  <a:lnTo>
                    <a:pt x="3200399" y="533400"/>
                  </a:lnTo>
                  <a:lnTo>
                    <a:pt x="3200399" y="3048000"/>
                  </a:lnTo>
                  <a:lnTo>
                    <a:pt x="3198220" y="3096557"/>
                  </a:lnTo>
                  <a:lnTo>
                    <a:pt x="3191807" y="3143892"/>
                  </a:lnTo>
                  <a:lnTo>
                    <a:pt x="3181349" y="3189816"/>
                  </a:lnTo>
                  <a:lnTo>
                    <a:pt x="3167035" y="3234141"/>
                  </a:lnTo>
                  <a:lnTo>
                    <a:pt x="3149051" y="3276678"/>
                  </a:lnTo>
                  <a:lnTo>
                    <a:pt x="3127586" y="3317240"/>
                  </a:lnTo>
                  <a:lnTo>
                    <a:pt x="3102829" y="3355637"/>
                  </a:lnTo>
                  <a:lnTo>
                    <a:pt x="3074967" y="3391683"/>
                  </a:lnTo>
                  <a:lnTo>
                    <a:pt x="3044189" y="3425190"/>
                  </a:lnTo>
                  <a:lnTo>
                    <a:pt x="3010683" y="3455967"/>
                  </a:lnTo>
                  <a:lnTo>
                    <a:pt x="2974637" y="3483829"/>
                  </a:lnTo>
                  <a:lnTo>
                    <a:pt x="2936239" y="3508586"/>
                  </a:lnTo>
                  <a:lnTo>
                    <a:pt x="2895678" y="3530051"/>
                  </a:lnTo>
                  <a:lnTo>
                    <a:pt x="2853141" y="3548035"/>
                  </a:lnTo>
                  <a:lnTo>
                    <a:pt x="2808816" y="3562350"/>
                  </a:lnTo>
                  <a:lnTo>
                    <a:pt x="2762892" y="3572807"/>
                  </a:lnTo>
                  <a:lnTo>
                    <a:pt x="2715557" y="3579220"/>
                  </a:lnTo>
                  <a:lnTo>
                    <a:pt x="2666999" y="3581400"/>
                  </a:lnTo>
                  <a:lnTo>
                    <a:pt x="533400" y="3581400"/>
                  </a:lnTo>
                  <a:lnTo>
                    <a:pt x="484842" y="3579220"/>
                  </a:lnTo>
                  <a:lnTo>
                    <a:pt x="437507" y="3572807"/>
                  </a:lnTo>
                  <a:lnTo>
                    <a:pt x="391583" y="3562350"/>
                  </a:lnTo>
                  <a:lnTo>
                    <a:pt x="347258" y="3548035"/>
                  </a:lnTo>
                  <a:lnTo>
                    <a:pt x="304721" y="3530051"/>
                  </a:lnTo>
                  <a:lnTo>
                    <a:pt x="264160" y="3508586"/>
                  </a:lnTo>
                  <a:lnTo>
                    <a:pt x="225762" y="3483829"/>
                  </a:lnTo>
                  <a:lnTo>
                    <a:pt x="189716" y="3455967"/>
                  </a:lnTo>
                  <a:lnTo>
                    <a:pt x="156210" y="3425190"/>
                  </a:lnTo>
                  <a:lnTo>
                    <a:pt x="125432" y="3391683"/>
                  </a:lnTo>
                  <a:lnTo>
                    <a:pt x="97570" y="3355637"/>
                  </a:lnTo>
                  <a:lnTo>
                    <a:pt x="72813" y="3317240"/>
                  </a:lnTo>
                  <a:lnTo>
                    <a:pt x="51348" y="3276678"/>
                  </a:lnTo>
                  <a:lnTo>
                    <a:pt x="33364" y="3234141"/>
                  </a:lnTo>
                  <a:lnTo>
                    <a:pt x="19050" y="3189816"/>
                  </a:lnTo>
                  <a:lnTo>
                    <a:pt x="8592" y="3143892"/>
                  </a:lnTo>
                  <a:lnTo>
                    <a:pt x="2179" y="3096557"/>
                  </a:lnTo>
                  <a:lnTo>
                    <a:pt x="0" y="3048000"/>
                  </a:lnTo>
                  <a:lnTo>
                    <a:pt x="0" y="533400"/>
                  </a:lnTo>
                  <a:close/>
                </a:path>
              </a:pathLst>
            </a:custGeom>
            <a:ln w="25908">
              <a:solidFill>
                <a:srgbClr val="385D89"/>
              </a:solidFill>
            </a:ln>
          </p:spPr>
          <p:txBody>
            <a:bodyPr wrap="square" lIns="0" tIns="0" rIns="0" bIns="0" rtlCol="0"/>
            <a:lstStyle/>
            <a:p>
              <a:endParaRPr/>
            </a:p>
          </p:txBody>
        </p:sp>
      </p:grpSp>
      <p:sp>
        <p:nvSpPr>
          <p:cNvPr id="7" name="object 7"/>
          <p:cNvSpPr txBox="1"/>
          <p:nvPr/>
        </p:nvSpPr>
        <p:spPr>
          <a:xfrm>
            <a:off x="5569711" y="2423287"/>
            <a:ext cx="2296160" cy="869950"/>
          </a:xfrm>
          <a:prstGeom prst="rect">
            <a:avLst/>
          </a:prstGeom>
        </p:spPr>
        <p:txBody>
          <a:bodyPr vert="horz" wrap="square" lIns="0" tIns="68580" rIns="0" bIns="0" rtlCol="0">
            <a:spAutoFit/>
          </a:bodyPr>
          <a:lstStyle/>
          <a:p>
            <a:pPr marL="12700">
              <a:lnSpc>
                <a:spcPct val="100000"/>
              </a:lnSpc>
              <a:spcBef>
                <a:spcPts val="540"/>
              </a:spcBef>
            </a:pPr>
            <a:r>
              <a:rPr sz="2400" b="1" spc="-5" dirty="0">
                <a:solidFill>
                  <a:srgbClr val="FFFFFF"/>
                </a:solidFill>
                <a:latin typeface="Calibri"/>
                <a:cs typeface="Calibri"/>
              </a:rPr>
              <a:t>OUTPUT</a:t>
            </a:r>
            <a:endParaRPr sz="2400">
              <a:latin typeface="Calibri"/>
              <a:cs typeface="Calibri"/>
            </a:endParaRPr>
          </a:p>
          <a:p>
            <a:pPr marL="12700">
              <a:lnSpc>
                <a:spcPct val="100000"/>
              </a:lnSpc>
              <a:spcBef>
                <a:spcPts val="445"/>
              </a:spcBef>
            </a:pPr>
            <a:r>
              <a:rPr sz="2400" b="1" spc="-15" dirty="0">
                <a:solidFill>
                  <a:srgbClr val="FFFFFF"/>
                </a:solidFill>
                <a:latin typeface="Calibri"/>
                <a:cs typeface="Calibri"/>
              </a:rPr>
              <a:t>Enter </a:t>
            </a:r>
            <a:r>
              <a:rPr sz="2400" b="1" spc="-5" dirty="0">
                <a:solidFill>
                  <a:srgbClr val="FFFFFF"/>
                </a:solidFill>
                <a:latin typeface="Calibri"/>
                <a:cs typeface="Calibri"/>
              </a:rPr>
              <a:t>number </a:t>
            </a:r>
            <a:r>
              <a:rPr sz="2400" b="1" dirty="0">
                <a:solidFill>
                  <a:srgbClr val="FFFFFF"/>
                </a:solidFill>
                <a:latin typeface="Calibri"/>
                <a:cs typeface="Calibri"/>
              </a:rPr>
              <a:t>:</a:t>
            </a:r>
            <a:r>
              <a:rPr sz="2400" b="1" spc="-65" dirty="0">
                <a:solidFill>
                  <a:srgbClr val="FFFFFF"/>
                </a:solidFill>
                <a:latin typeface="Calibri"/>
                <a:cs typeface="Calibri"/>
              </a:rPr>
              <a:t> </a:t>
            </a:r>
            <a:r>
              <a:rPr sz="2400" b="1" spc="-5" dirty="0">
                <a:solidFill>
                  <a:srgbClr val="FFFFFF"/>
                </a:solidFill>
                <a:latin typeface="Calibri"/>
                <a:cs typeface="Calibri"/>
              </a:rPr>
              <a:t>10</a:t>
            </a:r>
            <a:endParaRPr sz="2400">
              <a:latin typeface="Calibri"/>
              <a:cs typeface="Calibri"/>
            </a:endParaRPr>
          </a:p>
        </p:txBody>
      </p:sp>
      <p:sp>
        <p:nvSpPr>
          <p:cNvPr id="9" name="object 9"/>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pPr marL="38100">
                <a:lnSpc>
                  <a:spcPts val="1240"/>
                </a:lnSpc>
              </a:pPr>
              <a:t>15</a:t>
            </a:fld>
            <a:endParaRPr dirty="0"/>
          </a:p>
        </p:txBody>
      </p:sp>
      <p:sp>
        <p:nvSpPr>
          <p:cNvPr id="8" name="object 8"/>
          <p:cNvSpPr txBox="1"/>
          <p:nvPr/>
        </p:nvSpPr>
        <p:spPr>
          <a:xfrm>
            <a:off x="5569711" y="3633596"/>
            <a:ext cx="1454785" cy="391160"/>
          </a:xfrm>
          <a:prstGeom prst="rect">
            <a:avLst/>
          </a:prstGeom>
        </p:spPr>
        <p:txBody>
          <a:bodyPr vert="horz" wrap="square" lIns="0" tIns="12700" rIns="0" bIns="0" rtlCol="0">
            <a:spAutoFit/>
          </a:bodyPr>
          <a:lstStyle/>
          <a:p>
            <a:pPr marL="12700">
              <a:lnSpc>
                <a:spcPct val="100000"/>
              </a:lnSpc>
              <a:spcBef>
                <a:spcPts val="100"/>
              </a:spcBef>
            </a:pPr>
            <a:r>
              <a:rPr sz="2400" b="1" spc="-15" dirty="0">
                <a:solidFill>
                  <a:srgbClr val="FFFFFF"/>
                </a:solidFill>
                <a:latin typeface="Calibri"/>
                <a:cs typeface="Calibri"/>
              </a:rPr>
              <a:t>Play</a:t>
            </a:r>
            <a:r>
              <a:rPr sz="2400" b="1" spc="-65" dirty="0">
                <a:solidFill>
                  <a:srgbClr val="FFFFFF"/>
                </a:solidFill>
                <a:latin typeface="Calibri"/>
                <a:cs typeface="Calibri"/>
              </a:rPr>
              <a:t> </a:t>
            </a:r>
            <a:r>
              <a:rPr sz="2400" b="1" spc="-15" dirty="0">
                <a:solidFill>
                  <a:srgbClr val="FFFFFF"/>
                </a:solidFill>
                <a:latin typeface="Calibri"/>
                <a:cs typeface="Calibri"/>
              </a:rPr>
              <a:t>cricket</a:t>
            </a:r>
            <a:endParaRPr sz="2400">
              <a:latin typeface="Calibri"/>
              <a:cs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32770" name="Rectangle 2"/>
          <p:cNvSpPr>
            <a:spLocks noChangeArrowheads="1"/>
          </p:cNvSpPr>
          <p:nvPr/>
        </p:nvSpPr>
        <p:spPr bwMode="auto">
          <a:xfrm>
            <a:off x="381000" y="611088"/>
            <a:ext cx="8458200" cy="5232202"/>
          </a:xfrm>
          <a:prstGeom prst="rect">
            <a:avLst/>
          </a:prstGeom>
          <a:solidFill>
            <a:srgbClr val="FFFFFF"/>
          </a:solidFill>
          <a:ln w="9525">
            <a:noFill/>
            <a:miter lim="800000"/>
            <a:headEnd/>
            <a:tailEnd/>
          </a:ln>
          <a:effectLst/>
        </p:spPr>
        <p:txBody>
          <a:bodyPr vert="horz" wrap="square" lIns="0" tIns="0" rIns="0" bIns="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dirty="0" smtClean="0">
                <a:ln>
                  <a:noFill/>
                </a:ln>
                <a:solidFill>
                  <a:srgbClr val="000000"/>
                </a:solidFill>
                <a:effectLst/>
                <a:cs typeface="Consolas" pitchFamily="49" charset="0"/>
              </a:rPr>
              <a:t>price </a:t>
            </a:r>
            <a:r>
              <a:rPr kumimoji="0" lang="en-US" sz="2000" b="0" i="0" u="none" strike="noStrike" cap="none" normalizeH="0" baseline="0" dirty="0" smtClean="0">
                <a:ln>
                  <a:noFill/>
                </a:ln>
                <a:solidFill>
                  <a:srgbClr val="9A6E3A"/>
                </a:solidFill>
                <a:effectLst/>
                <a:cs typeface="Consolas" pitchFamily="49" charset="0"/>
              </a:rPr>
              <a:t>=</a:t>
            </a:r>
            <a:r>
              <a:rPr kumimoji="0" lang="en-US" sz="2000" b="0" i="0" u="none" strike="noStrike" cap="none" normalizeH="0" baseline="0" dirty="0" smtClean="0">
                <a:ln>
                  <a:noFill/>
                </a:ln>
                <a:solidFill>
                  <a:srgbClr val="000000"/>
                </a:solidFill>
                <a:effectLst/>
                <a:cs typeface="Consolas" pitchFamily="49" charset="0"/>
              </a:rPr>
              <a:t> </a:t>
            </a:r>
            <a:r>
              <a:rPr kumimoji="0" lang="en-US" sz="2000" b="0" i="0" u="none" strike="noStrike" cap="none" normalizeH="0" baseline="0" dirty="0" smtClean="0">
                <a:ln>
                  <a:noFill/>
                </a:ln>
                <a:solidFill>
                  <a:srgbClr val="990055"/>
                </a:solidFill>
                <a:effectLst/>
                <a:cs typeface="Consolas" pitchFamily="49" charset="0"/>
              </a:rPr>
              <a:t>50</a:t>
            </a:r>
            <a:r>
              <a:rPr kumimoji="0" lang="en-US" sz="2000" b="0" i="0" u="none" strike="noStrike" cap="none" normalizeH="0" baseline="0" dirty="0" smtClean="0">
                <a:ln>
                  <a:noFill/>
                </a:ln>
                <a:solidFill>
                  <a:srgbClr val="000000"/>
                </a:solidFill>
                <a:effectLst/>
                <a:cs typeface="Consolas" pitchFamily="49" charset="0"/>
              </a:rPr>
              <a:t> </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dirty="0" smtClean="0">
                <a:ln>
                  <a:noFill/>
                </a:ln>
                <a:solidFill>
                  <a:srgbClr val="000000"/>
                </a:solidFill>
                <a:effectLst/>
                <a:cs typeface="Consolas" pitchFamily="49" charset="0"/>
              </a:rPr>
              <a:t>quantity </a:t>
            </a:r>
            <a:r>
              <a:rPr kumimoji="0" lang="en-US" sz="2000" b="0" i="0" u="none" strike="noStrike" cap="none" normalizeH="0" baseline="0" dirty="0" smtClean="0">
                <a:ln>
                  <a:noFill/>
                </a:ln>
                <a:solidFill>
                  <a:srgbClr val="9A6E3A"/>
                </a:solidFill>
                <a:effectLst/>
                <a:cs typeface="Consolas" pitchFamily="49" charset="0"/>
              </a:rPr>
              <a:t>=</a:t>
            </a:r>
            <a:r>
              <a:rPr kumimoji="0" lang="en-US" sz="2000" b="0" i="0" u="none" strike="noStrike" cap="none" normalizeH="0" baseline="0" dirty="0" smtClean="0">
                <a:ln>
                  <a:noFill/>
                </a:ln>
                <a:solidFill>
                  <a:srgbClr val="000000"/>
                </a:solidFill>
                <a:effectLst/>
                <a:cs typeface="Consolas" pitchFamily="49" charset="0"/>
              </a:rPr>
              <a:t> </a:t>
            </a:r>
            <a:r>
              <a:rPr kumimoji="0" lang="en-US" sz="2000" b="0" i="0" u="none" strike="noStrike" cap="none" normalizeH="0" baseline="0" dirty="0" smtClean="0">
                <a:ln>
                  <a:noFill/>
                </a:ln>
                <a:solidFill>
                  <a:srgbClr val="990055"/>
                </a:solidFill>
                <a:effectLst/>
                <a:cs typeface="Consolas" pitchFamily="49" charset="0"/>
              </a:rPr>
              <a:t>5</a:t>
            </a:r>
            <a:r>
              <a:rPr kumimoji="0" lang="en-US" sz="2000" b="0" i="0" u="none" strike="noStrike" cap="none" normalizeH="0" baseline="0" dirty="0" smtClean="0">
                <a:ln>
                  <a:noFill/>
                </a:ln>
                <a:solidFill>
                  <a:srgbClr val="000000"/>
                </a:solidFill>
                <a:effectLst/>
                <a:cs typeface="Consolas" pitchFamily="49" charset="0"/>
              </a:rPr>
              <a:t> </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dirty="0" smtClean="0">
                <a:ln>
                  <a:noFill/>
                </a:ln>
                <a:solidFill>
                  <a:srgbClr val="000000"/>
                </a:solidFill>
                <a:effectLst/>
                <a:cs typeface="Consolas" pitchFamily="49" charset="0"/>
              </a:rPr>
              <a:t>amount </a:t>
            </a:r>
            <a:r>
              <a:rPr kumimoji="0" lang="en-US" sz="2000" b="0" i="0" u="none" strike="noStrike" cap="none" normalizeH="0" baseline="0" dirty="0" smtClean="0">
                <a:ln>
                  <a:noFill/>
                </a:ln>
                <a:solidFill>
                  <a:srgbClr val="9A6E3A"/>
                </a:solidFill>
                <a:effectLst/>
                <a:cs typeface="Consolas" pitchFamily="49" charset="0"/>
              </a:rPr>
              <a:t>=</a:t>
            </a:r>
            <a:r>
              <a:rPr kumimoji="0" lang="en-US" sz="2000" b="0" i="0" u="none" strike="noStrike" cap="none" normalizeH="0" baseline="0" dirty="0" smtClean="0">
                <a:ln>
                  <a:noFill/>
                </a:ln>
                <a:solidFill>
                  <a:srgbClr val="000000"/>
                </a:solidFill>
                <a:effectLst/>
                <a:cs typeface="Consolas" pitchFamily="49" charset="0"/>
              </a:rPr>
              <a:t> price</a:t>
            </a:r>
            <a:r>
              <a:rPr kumimoji="0" lang="en-US" sz="2000" b="0" i="0" u="none" strike="noStrike" cap="none" normalizeH="0" baseline="0" dirty="0" smtClean="0">
                <a:ln>
                  <a:noFill/>
                </a:ln>
                <a:solidFill>
                  <a:srgbClr val="9A6E3A"/>
                </a:solidFill>
                <a:effectLst/>
                <a:cs typeface="Consolas" pitchFamily="49" charset="0"/>
              </a:rPr>
              <a:t>*</a:t>
            </a:r>
            <a:r>
              <a:rPr kumimoji="0" lang="en-US" sz="2000" b="0" i="0" u="none" strike="noStrike" cap="none" normalizeH="0" baseline="0" dirty="0" smtClean="0">
                <a:ln>
                  <a:noFill/>
                </a:ln>
                <a:solidFill>
                  <a:srgbClr val="000000"/>
                </a:solidFill>
                <a:effectLst/>
                <a:cs typeface="Consolas" pitchFamily="49" charset="0"/>
              </a:rPr>
              <a:t>quantity </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dirty="0" smtClean="0">
                <a:ln>
                  <a:noFill/>
                </a:ln>
                <a:solidFill>
                  <a:srgbClr val="0077AA"/>
                </a:solidFill>
                <a:effectLst/>
                <a:cs typeface="Consolas" pitchFamily="49" charset="0"/>
              </a:rPr>
              <a:t>   if</a:t>
            </a:r>
            <a:r>
              <a:rPr kumimoji="0" lang="en-US" sz="2000" b="0" i="0" u="none" strike="noStrike" cap="none" normalizeH="0" baseline="0" dirty="0" smtClean="0">
                <a:ln>
                  <a:noFill/>
                </a:ln>
                <a:solidFill>
                  <a:srgbClr val="000000"/>
                </a:solidFill>
                <a:effectLst/>
                <a:cs typeface="Consolas" pitchFamily="49" charset="0"/>
              </a:rPr>
              <a:t> amount </a:t>
            </a:r>
            <a:r>
              <a:rPr kumimoji="0" lang="en-US" sz="2000" b="0" i="0" u="none" strike="noStrike" cap="none" normalizeH="0" baseline="0" dirty="0" smtClean="0">
                <a:ln>
                  <a:noFill/>
                </a:ln>
                <a:solidFill>
                  <a:srgbClr val="9A6E3A"/>
                </a:solidFill>
                <a:effectLst/>
                <a:cs typeface="Consolas" pitchFamily="49" charset="0"/>
              </a:rPr>
              <a:t>&gt;</a:t>
            </a:r>
            <a:r>
              <a:rPr kumimoji="0" lang="en-US" sz="2000" b="0" i="0" u="none" strike="noStrike" cap="none" normalizeH="0" baseline="0" dirty="0" smtClean="0">
                <a:ln>
                  <a:noFill/>
                </a:ln>
                <a:solidFill>
                  <a:srgbClr val="000000"/>
                </a:solidFill>
                <a:effectLst/>
                <a:cs typeface="Consolas" pitchFamily="49" charset="0"/>
              </a:rPr>
              <a:t> </a:t>
            </a:r>
            <a:r>
              <a:rPr kumimoji="0" lang="en-US" sz="2000" b="0" i="0" u="none" strike="noStrike" cap="none" normalizeH="0" baseline="0" dirty="0" smtClean="0">
                <a:ln>
                  <a:noFill/>
                </a:ln>
                <a:solidFill>
                  <a:srgbClr val="990055"/>
                </a:solidFill>
                <a:effectLst/>
                <a:cs typeface="Consolas" pitchFamily="49" charset="0"/>
              </a:rPr>
              <a:t>100</a:t>
            </a:r>
            <a:r>
              <a:rPr kumimoji="0" lang="en-US" sz="2000" b="0" i="0" u="none" strike="noStrike" cap="none" normalizeH="0" baseline="0" dirty="0" smtClean="0">
                <a:ln>
                  <a:noFill/>
                </a:ln>
                <a:solidFill>
                  <a:srgbClr val="413F3F"/>
                </a:solidFill>
                <a:effectLst/>
                <a:cs typeface="Consolas" pitchFamily="49" charset="0"/>
              </a:rPr>
              <a:t>:</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dirty="0" smtClean="0">
                <a:ln>
                  <a:noFill/>
                </a:ln>
                <a:solidFill>
                  <a:srgbClr val="000000"/>
                </a:solidFill>
                <a:effectLst/>
                <a:cs typeface="Consolas" pitchFamily="49" charset="0"/>
              </a:rPr>
              <a:t>         </a:t>
            </a:r>
            <a:r>
              <a:rPr kumimoji="0" lang="en-US" sz="2000" b="0" i="0" u="none" strike="noStrike" cap="none" normalizeH="0" baseline="0" dirty="0" smtClean="0">
                <a:ln>
                  <a:noFill/>
                </a:ln>
                <a:solidFill>
                  <a:srgbClr val="0077AA"/>
                </a:solidFill>
                <a:effectLst/>
                <a:cs typeface="Consolas" pitchFamily="49" charset="0"/>
              </a:rPr>
              <a:t>if</a:t>
            </a:r>
            <a:r>
              <a:rPr kumimoji="0" lang="en-US" sz="2000" b="0" i="0" u="none" strike="noStrike" cap="none" normalizeH="0" baseline="0" dirty="0" smtClean="0">
                <a:ln>
                  <a:noFill/>
                </a:ln>
                <a:solidFill>
                  <a:srgbClr val="000000"/>
                </a:solidFill>
                <a:effectLst/>
                <a:cs typeface="Consolas" pitchFamily="49" charset="0"/>
              </a:rPr>
              <a:t> amount </a:t>
            </a:r>
            <a:r>
              <a:rPr kumimoji="0" lang="en-US" sz="2000" b="0" i="0" u="none" strike="noStrike" cap="none" normalizeH="0" baseline="0" dirty="0" smtClean="0">
                <a:ln>
                  <a:noFill/>
                </a:ln>
                <a:solidFill>
                  <a:srgbClr val="9A6E3A"/>
                </a:solidFill>
                <a:effectLst/>
                <a:cs typeface="Consolas" pitchFamily="49" charset="0"/>
              </a:rPr>
              <a:t>&gt;</a:t>
            </a:r>
            <a:r>
              <a:rPr kumimoji="0" lang="en-US" sz="2000" b="0" i="0" u="none" strike="noStrike" cap="none" normalizeH="0" baseline="0" dirty="0" smtClean="0">
                <a:ln>
                  <a:noFill/>
                </a:ln>
                <a:solidFill>
                  <a:srgbClr val="000000"/>
                </a:solidFill>
                <a:effectLst/>
                <a:cs typeface="Consolas" pitchFamily="49" charset="0"/>
              </a:rPr>
              <a:t> </a:t>
            </a:r>
            <a:r>
              <a:rPr kumimoji="0" lang="en-US" sz="2000" b="0" i="0" u="none" strike="noStrike" cap="none" normalizeH="0" baseline="0" dirty="0" smtClean="0">
                <a:ln>
                  <a:noFill/>
                </a:ln>
                <a:solidFill>
                  <a:srgbClr val="990055"/>
                </a:solidFill>
                <a:effectLst/>
                <a:cs typeface="Consolas" pitchFamily="49" charset="0"/>
              </a:rPr>
              <a:t>500</a:t>
            </a:r>
            <a:r>
              <a:rPr kumimoji="0" lang="en-US" sz="2000" b="0" i="0" u="none" strike="noStrike" cap="none" normalizeH="0" baseline="0" dirty="0" smtClean="0">
                <a:ln>
                  <a:noFill/>
                </a:ln>
                <a:solidFill>
                  <a:srgbClr val="413F3F"/>
                </a:solidFill>
                <a:effectLst/>
                <a:cs typeface="Consolas" pitchFamily="49" charset="0"/>
              </a:rPr>
              <a:t>:</a:t>
            </a:r>
            <a:r>
              <a:rPr kumimoji="0" lang="en-US" sz="2000" b="0" i="0" u="none" strike="noStrike" cap="none" normalizeH="0" baseline="0" dirty="0" smtClean="0">
                <a:ln>
                  <a:noFill/>
                </a:ln>
                <a:solidFill>
                  <a:srgbClr val="000000"/>
                </a:solidFill>
                <a:effectLst/>
                <a:cs typeface="Consolas" pitchFamily="49" charset="0"/>
              </a:rPr>
              <a:t> </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dirty="0" smtClean="0">
                <a:ln>
                  <a:noFill/>
                </a:ln>
                <a:solidFill>
                  <a:srgbClr val="0077AA"/>
                </a:solidFill>
                <a:effectLst/>
                <a:cs typeface="Consolas" pitchFamily="49" charset="0"/>
              </a:rPr>
              <a:t>            print</a:t>
            </a:r>
            <a:r>
              <a:rPr kumimoji="0" lang="en-US" sz="2000" b="0" i="0" u="none" strike="noStrike" cap="none" normalizeH="0" baseline="0" dirty="0" smtClean="0">
                <a:ln>
                  <a:noFill/>
                </a:ln>
                <a:solidFill>
                  <a:srgbClr val="413F3F"/>
                </a:solidFill>
                <a:effectLst/>
                <a:cs typeface="Consolas" pitchFamily="49" charset="0"/>
              </a:rPr>
              <a:t>(</a:t>
            </a:r>
            <a:r>
              <a:rPr kumimoji="0" lang="en-US" sz="2000" b="0" i="0" u="none" strike="noStrike" cap="none" normalizeH="0" baseline="0" dirty="0" smtClean="0">
                <a:ln>
                  <a:noFill/>
                </a:ln>
                <a:solidFill>
                  <a:srgbClr val="669900"/>
                </a:solidFill>
                <a:effectLst/>
                <a:cs typeface="Consolas" pitchFamily="49" charset="0"/>
              </a:rPr>
              <a:t>"Amount is greater than 500"</a:t>
            </a:r>
            <a:r>
              <a:rPr kumimoji="0" lang="en-US" sz="2000" b="0" i="0" u="none" strike="noStrike" cap="none" normalizeH="0" baseline="0" dirty="0" smtClean="0">
                <a:ln>
                  <a:noFill/>
                </a:ln>
                <a:solidFill>
                  <a:srgbClr val="413F3F"/>
                </a:solidFill>
                <a:effectLst/>
                <a:cs typeface="Consolas" pitchFamily="49" charset="0"/>
              </a:rPr>
              <a:t>)</a:t>
            </a:r>
            <a:r>
              <a:rPr kumimoji="0" lang="en-US" sz="2000" b="0" i="0" u="none" strike="noStrike" cap="none" normalizeH="0" baseline="0" dirty="0" smtClean="0">
                <a:ln>
                  <a:noFill/>
                </a:ln>
                <a:solidFill>
                  <a:srgbClr val="000000"/>
                </a:solidFill>
                <a:effectLst/>
                <a:cs typeface="Consolas" pitchFamily="49" charset="0"/>
              </a:rPr>
              <a:t> </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dirty="0" smtClean="0">
                <a:ln>
                  <a:noFill/>
                </a:ln>
                <a:solidFill>
                  <a:srgbClr val="0077AA"/>
                </a:solidFill>
                <a:effectLst/>
                <a:cs typeface="Consolas" pitchFamily="49" charset="0"/>
              </a:rPr>
              <a:t>         else</a:t>
            </a:r>
            <a:r>
              <a:rPr kumimoji="0" lang="en-US" sz="2000" b="0" i="0" u="none" strike="noStrike" cap="none" normalizeH="0" baseline="0" dirty="0" smtClean="0">
                <a:ln>
                  <a:noFill/>
                </a:ln>
                <a:solidFill>
                  <a:srgbClr val="413F3F"/>
                </a:solidFill>
                <a:effectLst/>
                <a:cs typeface="Consolas" pitchFamily="49" charset="0"/>
              </a:rPr>
              <a:t>:</a:t>
            </a:r>
          </a:p>
          <a:p>
            <a:pPr marL="0" marR="0" lvl="0" indent="0" algn="l" defTabSz="914400" rtl="0" eaLnBrk="1" fontAlgn="base" latinLnBrk="0" hangingPunct="1">
              <a:lnSpc>
                <a:spcPct val="100000"/>
              </a:lnSpc>
              <a:spcBef>
                <a:spcPct val="0"/>
              </a:spcBef>
              <a:spcAft>
                <a:spcPct val="0"/>
              </a:spcAft>
              <a:buClrTx/>
              <a:buSzTx/>
              <a:buFontTx/>
              <a:buNone/>
              <a:tabLst/>
            </a:pPr>
            <a:r>
              <a:rPr lang="en-US" sz="2000" dirty="0" smtClean="0">
                <a:solidFill>
                  <a:srgbClr val="413F3F"/>
                </a:solidFill>
                <a:cs typeface="Consolas" pitchFamily="49" charset="0"/>
              </a:rPr>
              <a:t>	</a:t>
            </a:r>
            <a:r>
              <a:rPr kumimoji="0" lang="en-US" sz="2000" b="0" i="0" u="none" strike="noStrike" cap="none" normalizeH="0" baseline="0" dirty="0" smtClean="0">
                <a:ln>
                  <a:noFill/>
                </a:ln>
                <a:solidFill>
                  <a:srgbClr val="000000"/>
                </a:solidFill>
                <a:effectLst/>
                <a:cs typeface="Consolas" pitchFamily="49" charset="0"/>
              </a:rPr>
              <a:t> </a:t>
            </a:r>
            <a:r>
              <a:rPr kumimoji="0" lang="en-US" sz="2000" b="0" i="0" u="none" strike="noStrike" cap="none" normalizeH="0" baseline="0" dirty="0" smtClean="0">
                <a:ln>
                  <a:noFill/>
                </a:ln>
                <a:solidFill>
                  <a:srgbClr val="0077AA"/>
                </a:solidFill>
                <a:effectLst/>
                <a:cs typeface="Consolas" pitchFamily="49" charset="0"/>
              </a:rPr>
              <a:t>if</a:t>
            </a:r>
            <a:r>
              <a:rPr kumimoji="0" lang="en-US" sz="2000" b="0" i="0" u="none" strike="noStrike" cap="none" normalizeH="0" baseline="0" dirty="0" smtClean="0">
                <a:ln>
                  <a:noFill/>
                </a:ln>
                <a:solidFill>
                  <a:srgbClr val="000000"/>
                </a:solidFill>
                <a:effectLst/>
                <a:cs typeface="Consolas" pitchFamily="49" charset="0"/>
              </a:rPr>
              <a:t> amount </a:t>
            </a:r>
            <a:r>
              <a:rPr kumimoji="0" lang="en-US" sz="2000" b="0" i="0" u="none" strike="noStrike" cap="none" normalizeH="0" baseline="0" dirty="0" smtClean="0">
                <a:ln>
                  <a:noFill/>
                </a:ln>
                <a:solidFill>
                  <a:srgbClr val="9A6E3A"/>
                </a:solidFill>
                <a:effectLst/>
                <a:cs typeface="Consolas" pitchFamily="49" charset="0"/>
              </a:rPr>
              <a:t>&lt;</a:t>
            </a:r>
            <a:r>
              <a:rPr kumimoji="0" lang="en-US" sz="2000" b="0" i="0" u="none" strike="noStrike" cap="none" normalizeH="0" baseline="0" dirty="0" smtClean="0">
                <a:ln>
                  <a:noFill/>
                </a:ln>
                <a:solidFill>
                  <a:srgbClr val="000000"/>
                </a:solidFill>
                <a:effectLst/>
                <a:cs typeface="Consolas" pitchFamily="49" charset="0"/>
              </a:rPr>
              <a:t> </a:t>
            </a:r>
            <a:r>
              <a:rPr kumimoji="0" lang="en-US" sz="2000" b="0" i="0" u="none" strike="noStrike" cap="none" normalizeH="0" baseline="0" dirty="0" smtClean="0">
                <a:ln>
                  <a:noFill/>
                </a:ln>
                <a:solidFill>
                  <a:srgbClr val="990055"/>
                </a:solidFill>
                <a:effectLst/>
                <a:cs typeface="Consolas" pitchFamily="49" charset="0"/>
              </a:rPr>
              <a:t>500</a:t>
            </a:r>
            <a:r>
              <a:rPr kumimoji="0" lang="en-US" sz="2000" b="0" i="0" u="none" strike="noStrike" cap="none" normalizeH="0" baseline="0" dirty="0" smtClean="0">
                <a:ln>
                  <a:noFill/>
                </a:ln>
                <a:solidFill>
                  <a:srgbClr val="000000"/>
                </a:solidFill>
                <a:effectLst/>
                <a:cs typeface="Consolas" pitchFamily="49" charset="0"/>
              </a:rPr>
              <a:t> </a:t>
            </a:r>
            <a:r>
              <a:rPr kumimoji="0" lang="en-US" sz="2000" b="0" i="0" u="none" strike="noStrike" cap="none" normalizeH="0" baseline="0" dirty="0" smtClean="0">
                <a:ln>
                  <a:noFill/>
                </a:ln>
                <a:solidFill>
                  <a:srgbClr val="0077AA"/>
                </a:solidFill>
                <a:effectLst/>
                <a:cs typeface="Consolas" pitchFamily="49" charset="0"/>
              </a:rPr>
              <a:t>and</a:t>
            </a:r>
            <a:r>
              <a:rPr kumimoji="0" lang="en-US" sz="2000" b="0" i="0" u="none" strike="noStrike" cap="none" normalizeH="0" baseline="0" dirty="0" smtClean="0">
                <a:ln>
                  <a:noFill/>
                </a:ln>
                <a:solidFill>
                  <a:srgbClr val="000000"/>
                </a:solidFill>
                <a:effectLst/>
                <a:cs typeface="Consolas" pitchFamily="49" charset="0"/>
              </a:rPr>
              <a:t> amount </a:t>
            </a:r>
            <a:r>
              <a:rPr kumimoji="0" lang="en-US" sz="2000" b="0" i="0" u="none" strike="noStrike" cap="none" normalizeH="0" baseline="0" dirty="0" smtClean="0">
                <a:ln>
                  <a:noFill/>
                </a:ln>
                <a:solidFill>
                  <a:srgbClr val="9A6E3A"/>
                </a:solidFill>
                <a:effectLst/>
                <a:cs typeface="Consolas" pitchFamily="49" charset="0"/>
              </a:rPr>
              <a:t>&gt;</a:t>
            </a:r>
            <a:r>
              <a:rPr kumimoji="0" lang="en-US" sz="2000" b="0" i="0" u="none" strike="noStrike" cap="none" normalizeH="0" baseline="0" dirty="0" smtClean="0">
                <a:ln>
                  <a:noFill/>
                </a:ln>
                <a:solidFill>
                  <a:srgbClr val="000000"/>
                </a:solidFill>
                <a:effectLst/>
                <a:cs typeface="Consolas" pitchFamily="49" charset="0"/>
              </a:rPr>
              <a:t> </a:t>
            </a:r>
            <a:r>
              <a:rPr kumimoji="0" lang="en-US" sz="2000" b="0" i="0" u="none" strike="noStrike" cap="none" normalizeH="0" baseline="0" dirty="0" smtClean="0">
                <a:ln>
                  <a:noFill/>
                </a:ln>
                <a:solidFill>
                  <a:srgbClr val="990055"/>
                </a:solidFill>
                <a:effectLst/>
                <a:cs typeface="Consolas" pitchFamily="49" charset="0"/>
              </a:rPr>
              <a:t>400</a:t>
            </a:r>
            <a:r>
              <a:rPr kumimoji="0" lang="en-US" sz="2000" b="0" i="0" u="none" strike="noStrike" cap="none" normalizeH="0" baseline="0" dirty="0" smtClean="0">
                <a:ln>
                  <a:noFill/>
                </a:ln>
                <a:solidFill>
                  <a:srgbClr val="413F3F"/>
                </a:solidFill>
                <a:effectLst/>
                <a:cs typeface="Consolas" pitchFamily="49" charset="0"/>
              </a:rPr>
              <a:t>:</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dirty="0" smtClean="0">
                <a:ln>
                  <a:noFill/>
                </a:ln>
                <a:solidFill>
                  <a:srgbClr val="000000"/>
                </a:solidFill>
                <a:effectLst/>
                <a:cs typeface="Consolas" pitchFamily="49" charset="0"/>
              </a:rPr>
              <a:t>                       </a:t>
            </a:r>
            <a:r>
              <a:rPr kumimoji="0" lang="en-US" sz="2000" b="0" i="0" u="none" strike="noStrike" cap="none" normalizeH="0" baseline="0" dirty="0" smtClean="0">
                <a:ln>
                  <a:noFill/>
                </a:ln>
                <a:solidFill>
                  <a:srgbClr val="0077AA"/>
                </a:solidFill>
                <a:effectLst/>
                <a:cs typeface="Consolas" pitchFamily="49" charset="0"/>
              </a:rPr>
              <a:t>print</a:t>
            </a:r>
            <a:r>
              <a:rPr kumimoji="0" lang="en-US" sz="2000" b="0" i="0" u="none" strike="noStrike" cap="none" normalizeH="0" baseline="0" dirty="0" smtClean="0">
                <a:ln>
                  <a:noFill/>
                </a:ln>
                <a:solidFill>
                  <a:srgbClr val="413F3F"/>
                </a:solidFill>
                <a:effectLst/>
                <a:cs typeface="Consolas" pitchFamily="49" charset="0"/>
              </a:rPr>
              <a:t>(</a:t>
            </a:r>
            <a:r>
              <a:rPr kumimoji="0" lang="en-US" sz="2000" b="0" i="0" u="none" strike="noStrike" cap="none" normalizeH="0" baseline="0" dirty="0" smtClean="0">
                <a:ln>
                  <a:noFill/>
                </a:ln>
                <a:solidFill>
                  <a:srgbClr val="669900"/>
                </a:solidFill>
                <a:effectLst/>
                <a:cs typeface="Consolas" pitchFamily="49" charset="0"/>
              </a:rPr>
              <a:t>"Amount is"</a:t>
            </a:r>
            <a:r>
              <a:rPr kumimoji="0" lang="en-US" sz="2000" b="0" i="0" u="none" strike="noStrike" cap="none" normalizeH="0" baseline="0" dirty="0" smtClean="0">
                <a:ln>
                  <a:noFill/>
                </a:ln>
                <a:solidFill>
                  <a:srgbClr val="413F3F"/>
                </a:solidFill>
                <a:effectLst/>
                <a:cs typeface="Consolas" pitchFamily="49" charset="0"/>
              </a:rPr>
              <a:t>)</a:t>
            </a:r>
            <a:r>
              <a:rPr kumimoji="0" lang="en-US" sz="2000" b="0" i="0" u="none" strike="noStrike" cap="none" normalizeH="0" baseline="0" dirty="0" smtClean="0">
                <a:ln>
                  <a:noFill/>
                </a:ln>
                <a:solidFill>
                  <a:srgbClr val="000000"/>
                </a:solidFill>
                <a:effectLst/>
                <a:cs typeface="Consolas" pitchFamily="49" charset="0"/>
              </a:rPr>
              <a:t>  </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dirty="0" smtClean="0">
                <a:ln>
                  <a:noFill/>
                </a:ln>
                <a:solidFill>
                  <a:srgbClr val="0077AA"/>
                </a:solidFill>
                <a:effectLst/>
                <a:cs typeface="Consolas" pitchFamily="49" charset="0"/>
              </a:rPr>
              <a:t>                 </a:t>
            </a:r>
            <a:r>
              <a:rPr kumimoji="0" lang="en-US" sz="2000" b="0" i="0" u="none" strike="noStrike" cap="none" normalizeH="0" baseline="0" dirty="0" err="1" smtClean="0">
                <a:ln>
                  <a:noFill/>
                </a:ln>
                <a:solidFill>
                  <a:srgbClr val="0077AA"/>
                </a:solidFill>
                <a:effectLst/>
                <a:cs typeface="Consolas" pitchFamily="49" charset="0"/>
              </a:rPr>
              <a:t>elif</a:t>
            </a:r>
            <a:r>
              <a:rPr kumimoji="0" lang="en-US" sz="2000" b="0" i="0" u="none" strike="noStrike" cap="none" normalizeH="0" baseline="0" dirty="0" smtClean="0">
                <a:ln>
                  <a:noFill/>
                </a:ln>
                <a:solidFill>
                  <a:srgbClr val="000000"/>
                </a:solidFill>
                <a:effectLst/>
                <a:cs typeface="Consolas" pitchFamily="49" charset="0"/>
              </a:rPr>
              <a:t> amount </a:t>
            </a:r>
            <a:r>
              <a:rPr kumimoji="0" lang="en-US" sz="2000" b="0" i="0" u="none" strike="noStrike" cap="none" normalizeH="0" baseline="0" dirty="0" smtClean="0">
                <a:ln>
                  <a:noFill/>
                </a:ln>
                <a:solidFill>
                  <a:srgbClr val="9A6E3A"/>
                </a:solidFill>
                <a:effectLst/>
                <a:cs typeface="Consolas" pitchFamily="49" charset="0"/>
              </a:rPr>
              <a:t>&lt;</a:t>
            </a:r>
            <a:r>
              <a:rPr kumimoji="0" lang="en-US" sz="2000" b="0" i="0" u="none" strike="noStrike" cap="none" normalizeH="0" baseline="0" dirty="0" smtClean="0">
                <a:ln>
                  <a:noFill/>
                </a:ln>
                <a:solidFill>
                  <a:srgbClr val="000000"/>
                </a:solidFill>
                <a:effectLst/>
                <a:cs typeface="Consolas" pitchFamily="49" charset="0"/>
              </a:rPr>
              <a:t> </a:t>
            </a:r>
            <a:r>
              <a:rPr kumimoji="0" lang="en-US" sz="2000" b="0" i="0" u="none" strike="noStrike" cap="none" normalizeH="0" baseline="0" dirty="0" smtClean="0">
                <a:ln>
                  <a:noFill/>
                </a:ln>
                <a:solidFill>
                  <a:srgbClr val="990055"/>
                </a:solidFill>
                <a:effectLst/>
                <a:cs typeface="Consolas" pitchFamily="49" charset="0"/>
              </a:rPr>
              <a:t>500</a:t>
            </a:r>
            <a:r>
              <a:rPr kumimoji="0" lang="en-US" sz="2000" b="0" i="0" u="none" strike="noStrike" cap="none" normalizeH="0" baseline="0" dirty="0" smtClean="0">
                <a:ln>
                  <a:noFill/>
                </a:ln>
                <a:solidFill>
                  <a:srgbClr val="000000"/>
                </a:solidFill>
                <a:effectLst/>
                <a:cs typeface="Consolas" pitchFamily="49" charset="0"/>
              </a:rPr>
              <a:t> </a:t>
            </a:r>
            <a:r>
              <a:rPr kumimoji="0" lang="en-US" sz="2000" b="0" i="0" u="none" strike="noStrike" cap="none" normalizeH="0" baseline="0" dirty="0" smtClean="0">
                <a:ln>
                  <a:noFill/>
                </a:ln>
                <a:solidFill>
                  <a:srgbClr val="0077AA"/>
                </a:solidFill>
                <a:effectLst/>
                <a:cs typeface="Consolas" pitchFamily="49" charset="0"/>
              </a:rPr>
              <a:t>and</a:t>
            </a:r>
            <a:r>
              <a:rPr kumimoji="0" lang="en-US" sz="2000" b="0" i="0" u="none" strike="noStrike" cap="none" normalizeH="0" baseline="0" dirty="0" smtClean="0">
                <a:ln>
                  <a:noFill/>
                </a:ln>
                <a:solidFill>
                  <a:srgbClr val="000000"/>
                </a:solidFill>
                <a:effectLst/>
                <a:cs typeface="Consolas" pitchFamily="49" charset="0"/>
              </a:rPr>
              <a:t> amount </a:t>
            </a:r>
            <a:r>
              <a:rPr kumimoji="0" lang="en-US" sz="2000" b="0" i="0" u="none" strike="noStrike" cap="none" normalizeH="0" baseline="0" dirty="0" smtClean="0">
                <a:ln>
                  <a:noFill/>
                </a:ln>
                <a:solidFill>
                  <a:srgbClr val="9A6E3A"/>
                </a:solidFill>
                <a:effectLst/>
                <a:cs typeface="Consolas" pitchFamily="49" charset="0"/>
              </a:rPr>
              <a:t>&gt;</a:t>
            </a:r>
            <a:r>
              <a:rPr kumimoji="0" lang="en-US" sz="2000" b="0" i="0" u="none" strike="noStrike" cap="none" normalizeH="0" baseline="0" dirty="0" smtClean="0">
                <a:ln>
                  <a:noFill/>
                </a:ln>
                <a:solidFill>
                  <a:srgbClr val="000000"/>
                </a:solidFill>
                <a:effectLst/>
                <a:cs typeface="Consolas" pitchFamily="49" charset="0"/>
              </a:rPr>
              <a:t> </a:t>
            </a:r>
            <a:r>
              <a:rPr kumimoji="0" lang="en-US" sz="2000" b="0" i="0" u="none" strike="noStrike" cap="none" normalizeH="0" baseline="0" dirty="0" smtClean="0">
                <a:ln>
                  <a:noFill/>
                </a:ln>
                <a:solidFill>
                  <a:srgbClr val="990055"/>
                </a:solidFill>
                <a:effectLst/>
                <a:cs typeface="Consolas" pitchFamily="49" charset="0"/>
              </a:rPr>
              <a:t>300</a:t>
            </a:r>
            <a:r>
              <a:rPr kumimoji="0" lang="en-US" sz="2000" b="0" i="0" u="none" strike="noStrike" cap="none" normalizeH="0" baseline="0" dirty="0" smtClean="0">
                <a:ln>
                  <a:noFill/>
                </a:ln>
                <a:solidFill>
                  <a:srgbClr val="413F3F"/>
                </a:solidFill>
                <a:effectLst/>
                <a:cs typeface="Consolas" pitchFamily="49" charset="0"/>
              </a:rPr>
              <a:t>:</a:t>
            </a:r>
            <a:r>
              <a:rPr kumimoji="0" lang="en-US" sz="2000" b="0" i="0" u="none" strike="noStrike" cap="none" normalizeH="0" baseline="0" dirty="0" smtClean="0">
                <a:ln>
                  <a:noFill/>
                </a:ln>
                <a:solidFill>
                  <a:srgbClr val="000000"/>
                </a:solidFill>
                <a:effectLst/>
                <a:cs typeface="Consolas" pitchFamily="49" charset="0"/>
              </a:rPr>
              <a:t> </a:t>
            </a:r>
          </a:p>
          <a:p>
            <a:pPr marL="0" marR="0" lvl="0" indent="0" algn="l" defTabSz="914400" rtl="0" eaLnBrk="1" fontAlgn="base" latinLnBrk="0" hangingPunct="1">
              <a:lnSpc>
                <a:spcPct val="100000"/>
              </a:lnSpc>
              <a:spcBef>
                <a:spcPct val="0"/>
              </a:spcBef>
              <a:spcAft>
                <a:spcPct val="0"/>
              </a:spcAft>
              <a:buClrTx/>
              <a:buSzTx/>
              <a:buFontTx/>
              <a:buNone/>
              <a:tabLst/>
            </a:pPr>
            <a:r>
              <a:rPr lang="en-US" sz="2000" dirty="0" smtClean="0">
                <a:solidFill>
                  <a:srgbClr val="000000"/>
                </a:solidFill>
                <a:cs typeface="Consolas" pitchFamily="49" charset="0"/>
              </a:rPr>
              <a:t>	       </a:t>
            </a:r>
            <a:r>
              <a:rPr kumimoji="0" lang="en-US" sz="2000" b="0" i="0" u="none" strike="noStrike" cap="none" normalizeH="0" baseline="0" dirty="0" smtClean="0">
                <a:ln>
                  <a:noFill/>
                </a:ln>
                <a:solidFill>
                  <a:srgbClr val="0077AA"/>
                </a:solidFill>
                <a:effectLst/>
                <a:cs typeface="Consolas" pitchFamily="49" charset="0"/>
              </a:rPr>
              <a:t>print</a:t>
            </a:r>
            <a:r>
              <a:rPr kumimoji="0" lang="en-US" sz="2000" b="0" i="0" u="none" strike="noStrike" cap="none" normalizeH="0" baseline="0" dirty="0" smtClean="0">
                <a:ln>
                  <a:noFill/>
                </a:ln>
                <a:solidFill>
                  <a:srgbClr val="413F3F"/>
                </a:solidFill>
                <a:effectLst/>
                <a:cs typeface="Consolas" pitchFamily="49" charset="0"/>
              </a:rPr>
              <a:t>(</a:t>
            </a:r>
            <a:r>
              <a:rPr kumimoji="0" lang="en-US" sz="2000" b="0" i="0" u="none" strike="noStrike" cap="none" normalizeH="0" baseline="0" dirty="0" smtClean="0">
                <a:ln>
                  <a:noFill/>
                </a:ln>
                <a:solidFill>
                  <a:srgbClr val="669900"/>
                </a:solidFill>
                <a:effectLst/>
                <a:cs typeface="Consolas" pitchFamily="49" charset="0"/>
              </a:rPr>
              <a:t>"Amount is between 300 and 500"</a:t>
            </a:r>
            <a:r>
              <a:rPr kumimoji="0" lang="en-US" sz="2000" b="0" i="0" u="none" strike="noStrike" cap="none" normalizeH="0" baseline="0" dirty="0" smtClean="0">
                <a:ln>
                  <a:noFill/>
                </a:ln>
                <a:solidFill>
                  <a:srgbClr val="413F3F"/>
                </a:solidFill>
                <a:effectLst/>
                <a:cs typeface="Consolas" pitchFamily="49" charset="0"/>
              </a:rPr>
              <a:t>)</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dirty="0" smtClean="0">
                <a:ln>
                  <a:noFill/>
                </a:ln>
                <a:solidFill>
                  <a:srgbClr val="000000"/>
                </a:solidFill>
                <a:effectLst/>
                <a:cs typeface="Consolas" pitchFamily="49" charset="0"/>
              </a:rPr>
              <a:t>                 </a:t>
            </a:r>
            <a:r>
              <a:rPr kumimoji="0" lang="en-US" sz="2000" b="0" i="0" u="none" strike="noStrike" cap="none" normalizeH="0" baseline="0" dirty="0" smtClean="0">
                <a:ln>
                  <a:noFill/>
                </a:ln>
                <a:solidFill>
                  <a:srgbClr val="0077AA"/>
                </a:solidFill>
                <a:effectLst/>
                <a:cs typeface="Consolas" pitchFamily="49" charset="0"/>
              </a:rPr>
              <a:t>else</a:t>
            </a:r>
            <a:r>
              <a:rPr kumimoji="0" lang="en-US" sz="2000" b="0" i="0" u="none" strike="noStrike" cap="none" normalizeH="0" baseline="0" dirty="0" smtClean="0">
                <a:ln>
                  <a:noFill/>
                </a:ln>
                <a:solidFill>
                  <a:srgbClr val="413F3F"/>
                </a:solidFill>
                <a:effectLst/>
                <a:cs typeface="Consolas" pitchFamily="49" charset="0"/>
              </a:rPr>
              <a:t>:</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dirty="0" smtClean="0">
                <a:ln>
                  <a:noFill/>
                </a:ln>
                <a:solidFill>
                  <a:srgbClr val="000000"/>
                </a:solidFill>
                <a:effectLst/>
                <a:cs typeface="Consolas" pitchFamily="49" charset="0"/>
              </a:rPr>
              <a:t>                     </a:t>
            </a:r>
            <a:r>
              <a:rPr kumimoji="0" lang="en-US" sz="2000" b="0" i="0" u="none" strike="noStrike" cap="none" normalizeH="0" baseline="0" dirty="0" smtClean="0">
                <a:ln>
                  <a:noFill/>
                </a:ln>
                <a:solidFill>
                  <a:srgbClr val="0077AA"/>
                </a:solidFill>
                <a:effectLst/>
                <a:cs typeface="Consolas" pitchFamily="49" charset="0"/>
              </a:rPr>
              <a:t>print</a:t>
            </a:r>
            <a:r>
              <a:rPr kumimoji="0" lang="en-US" sz="2000" b="0" i="0" u="none" strike="noStrike" cap="none" normalizeH="0" baseline="0" dirty="0" smtClean="0">
                <a:ln>
                  <a:noFill/>
                </a:ln>
                <a:solidFill>
                  <a:srgbClr val="413F3F"/>
                </a:solidFill>
                <a:effectLst/>
                <a:cs typeface="Consolas" pitchFamily="49" charset="0"/>
              </a:rPr>
              <a:t>(</a:t>
            </a:r>
            <a:r>
              <a:rPr kumimoji="0" lang="en-US" sz="2000" b="0" i="0" u="none" strike="noStrike" cap="none" normalizeH="0" baseline="0" dirty="0" smtClean="0">
                <a:ln>
                  <a:noFill/>
                </a:ln>
                <a:solidFill>
                  <a:srgbClr val="669900"/>
                </a:solidFill>
                <a:effectLst/>
                <a:cs typeface="Consolas" pitchFamily="49" charset="0"/>
              </a:rPr>
              <a:t>"Amount is between 200 and 500"</a:t>
            </a:r>
            <a:r>
              <a:rPr kumimoji="0" lang="en-US" sz="2000" b="0" i="0" u="none" strike="noStrike" cap="none" normalizeH="0" baseline="0" dirty="0" smtClean="0">
                <a:ln>
                  <a:noFill/>
                </a:ln>
                <a:solidFill>
                  <a:srgbClr val="413F3F"/>
                </a:solidFill>
                <a:effectLst/>
                <a:cs typeface="Consolas" pitchFamily="49" charset="0"/>
              </a:rPr>
              <a:t>)</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dirty="0" smtClean="0">
                <a:ln>
                  <a:noFill/>
                </a:ln>
                <a:solidFill>
                  <a:srgbClr val="000000"/>
                </a:solidFill>
                <a:effectLst/>
                <a:cs typeface="Consolas" pitchFamily="49" charset="0"/>
              </a:rPr>
              <a:t>   </a:t>
            </a:r>
            <a:r>
              <a:rPr kumimoji="0" lang="en-US" sz="2000" b="0" i="0" u="none" strike="noStrike" cap="none" normalizeH="0" baseline="0" dirty="0" err="1" smtClean="0">
                <a:ln>
                  <a:noFill/>
                </a:ln>
                <a:solidFill>
                  <a:srgbClr val="0077AA"/>
                </a:solidFill>
                <a:effectLst/>
                <a:cs typeface="Consolas" pitchFamily="49" charset="0"/>
              </a:rPr>
              <a:t>elif</a:t>
            </a:r>
            <a:r>
              <a:rPr kumimoji="0" lang="en-US" sz="2000" b="0" i="0" u="none" strike="noStrike" cap="none" normalizeH="0" baseline="0" dirty="0" smtClean="0">
                <a:ln>
                  <a:noFill/>
                </a:ln>
                <a:solidFill>
                  <a:srgbClr val="000000"/>
                </a:solidFill>
                <a:effectLst/>
                <a:cs typeface="Consolas" pitchFamily="49" charset="0"/>
              </a:rPr>
              <a:t> amount </a:t>
            </a:r>
            <a:r>
              <a:rPr kumimoji="0" lang="en-US" sz="2000" b="0" i="0" u="none" strike="noStrike" cap="none" normalizeH="0" baseline="0" dirty="0" smtClean="0">
                <a:ln>
                  <a:noFill/>
                </a:ln>
                <a:solidFill>
                  <a:srgbClr val="9A6E3A"/>
                </a:solidFill>
                <a:effectLst/>
                <a:cs typeface="Consolas" pitchFamily="49" charset="0"/>
              </a:rPr>
              <a:t>==</a:t>
            </a:r>
            <a:r>
              <a:rPr kumimoji="0" lang="en-US" sz="2000" b="0" i="0" u="none" strike="noStrike" cap="none" normalizeH="0" baseline="0" dirty="0" smtClean="0">
                <a:ln>
                  <a:noFill/>
                </a:ln>
                <a:solidFill>
                  <a:srgbClr val="000000"/>
                </a:solidFill>
                <a:effectLst/>
                <a:cs typeface="Consolas" pitchFamily="49" charset="0"/>
              </a:rPr>
              <a:t> </a:t>
            </a:r>
            <a:r>
              <a:rPr kumimoji="0" lang="en-US" sz="2000" b="0" i="0" u="none" strike="noStrike" cap="none" normalizeH="0" baseline="0" dirty="0" smtClean="0">
                <a:ln>
                  <a:noFill/>
                </a:ln>
                <a:solidFill>
                  <a:srgbClr val="990055"/>
                </a:solidFill>
                <a:effectLst/>
                <a:cs typeface="Consolas" pitchFamily="49" charset="0"/>
              </a:rPr>
              <a:t>100</a:t>
            </a:r>
            <a:r>
              <a:rPr kumimoji="0" lang="en-US" sz="2000" b="0" i="0" u="none" strike="noStrike" cap="none" normalizeH="0" baseline="0" dirty="0" smtClean="0">
                <a:ln>
                  <a:noFill/>
                </a:ln>
                <a:solidFill>
                  <a:srgbClr val="413F3F"/>
                </a:solidFill>
                <a:effectLst/>
                <a:cs typeface="Consolas" pitchFamily="49" charset="0"/>
              </a:rPr>
              <a:t>:</a:t>
            </a:r>
            <a:r>
              <a:rPr kumimoji="0" lang="en-US" sz="2000" b="0" i="0" u="none" strike="noStrike" cap="none" normalizeH="0" baseline="0" dirty="0" smtClean="0">
                <a:ln>
                  <a:noFill/>
                </a:ln>
                <a:solidFill>
                  <a:srgbClr val="000000"/>
                </a:solidFill>
                <a:effectLst/>
                <a:cs typeface="Consolas" pitchFamily="49" charset="0"/>
              </a:rPr>
              <a:t> </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dirty="0" smtClean="0">
                <a:ln>
                  <a:noFill/>
                </a:ln>
                <a:solidFill>
                  <a:srgbClr val="0077AA"/>
                </a:solidFill>
                <a:effectLst/>
                <a:cs typeface="Consolas" pitchFamily="49" charset="0"/>
              </a:rPr>
              <a:t>      print</a:t>
            </a:r>
            <a:r>
              <a:rPr kumimoji="0" lang="en-US" sz="2000" b="0" i="0" u="none" strike="noStrike" cap="none" normalizeH="0" baseline="0" dirty="0" smtClean="0">
                <a:ln>
                  <a:noFill/>
                </a:ln>
                <a:solidFill>
                  <a:srgbClr val="413F3F"/>
                </a:solidFill>
                <a:effectLst/>
                <a:cs typeface="Consolas" pitchFamily="49" charset="0"/>
              </a:rPr>
              <a:t>(</a:t>
            </a:r>
            <a:r>
              <a:rPr kumimoji="0" lang="en-US" sz="2000" b="0" i="0" u="none" strike="noStrike" cap="none" normalizeH="0" baseline="0" dirty="0" smtClean="0">
                <a:ln>
                  <a:noFill/>
                </a:ln>
                <a:solidFill>
                  <a:srgbClr val="669900"/>
                </a:solidFill>
                <a:effectLst/>
                <a:cs typeface="Consolas" pitchFamily="49" charset="0"/>
              </a:rPr>
              <a:t>"Amount is 100"</a:t>
            </a:r>
            <a:r>
              <a:rPr kumimoji="0" lang="en-US" sz="2000" b="0" i="0" u="none" strike="noStrike" cap="none" normalizeH="0" baseline="0" dirty="0" smtClean="0">
                <a:ln>
                  <a:noFill/>
                </a:ln>
                <a:solidFill>
                  <a:srgbClr val="413F3F"/>
                </a:solidFill>
                <a:effectLst/>
                <a:cs typeface="Consolas" pitchFamily="49" charset="0"/>
              </a:rPr>
              <a:t>)</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dirty="0" smtClean="0">
                <a:ln>
                  <a:noFill/>
                </a:ln>
                <a:solidFill>
                  <a:srgbClr val="000000"/>
                </a:solidFill>
                <a:effectLst/>
                <a:cs typeface="Consolas" pitchFamily="49" charset="0"/>
              </a:rPr>
              <a:t>   </a:t>
            </a:r>
            <a:r>
              <a:rPr kumimoji="0" lang="en-US" sz="2000" b="0" i="0" u="none" strike="noStrike" cap="none" normalizeH="0" baseline="0" dirty="0" smtClean="0">
                <a:ln>
                  <a:noFill/>
                </a:ln>
                <a:solidFill>
                  <a:srgbClr val="0077AA"/>
                </a:solidFill>
                <a:effectLst/>
                <a:cs typeface="Consolas" pitchFamily="49" charset="0"/>
              </a:rPr>
              <a:t>else</a:t>
            </a:r>
            <a:r>
              <a:rPr kumimoji="0" lang="en-US" sz="2000" b="0" i="0" u="none" strike="noStrike" cap="none" normalizeH="0" baseline="0" dirty="0" smtClean="0">
                <a:ln>
                  <a:noFill/>
                </a:ln>
                <a:solidFill>
                  <a:srgbClr val="413F3F"/>
                </a:solidFill>
                <a:effectLst/>
                <a:cs typeface="Consolas" pitchFamily="49" charset="0"/>
              </a:rPr>
              <a:t>:</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dirty="0" smtClean="0">
                <a:ln>
                  <a:noFill/>
                </a:ln>
                <a:solidFill>
                  <a:srgbClr val="000000"/>
                </a:solidFill>
                <a:effectLst/>
                <a:cs typeface="Consolas" pitchFamily="49" charset="0"/>
              </a:rPr>
              <a:t>     </a:t>
            </a:r>
            <a:r>
              <a:rPr kumimoji="0" lang="en-US" sz="2000" b="0" i="0" u="none" strike="noStrike" cap="none" normalizeH="0" baseline="0" dirty="0" smtClean="0">
                <a:ln>
                  <a:noFill/>
                </a:ln>
                <a:solidFill>
                  <a:srgbClr val="0077AA"/>
                </a:solidFill>
                <a:effectLst/>
                <a:cs typeface="Consolas" pitchFamily="49" charset="0"/>
              </a:rPr>
              <a:t>print</a:t>
            </a:r>
            <a:r>
              <a:rPr kumimoji="0" lang="en-US" sz="2000" b="0" i="0" u="none" strike="noStrike" cap="none" normalizeH="0" baseline="0" dirty="0" smtClean="0">
                <a:ln>
                  <a:noFill/>
                </a:ln>
                <a:solidFill>
                  <a:srgbClr val="413F3F"/>
                </a:solidFill>
                <a:effectLst/>
                <a:cs typeface="Consolas" pitchFamily="49" charset="0"/>
              </a:rPr>
              <a:t>(</a:t>
            </a:r>
            <a:r>
              <a:rPr kumimoji="0" lang="en-US" sz="2000" b="0" i="0" u="none" strike="noStrike" cap="none" normalizeH="0" baseline="0" dirty="0" smtClean="0">
                <a:ln>
                  <a:noFill/>
                </a:ln>
                <a:solidFill>
                  <a:srgbClr val="669900"/>
                </a:solidFill>
                <a:effectLst/>
                <a:cs typeface="Consolas" pitchFamily="49" charset="0"/>
              </a:rPr>
              <a:t>"Amount is less than 100"</a:t>
            </a:r>
            <a:r>
              <a:rPr kumimoji="0" lang="en-US" sz="2000" b="0" i="0" u="none" strike="noStrike" cap="none" normalizeH="0" baseline="0" dirty="0" smtClean="0">
                <a:ln>
                  <a:noFill/>
                </a:ln>
                <a:solidFill>
                  <a:srgbClr val="413F3F"/>
                </a:solidFill>
                <a:effectLst/>
                <a:cs typeface="Consolas" pitchFamily="49" charset="0"/>
              </a:rPr>
              <a:t>)</a:t>
            </a:r>
            <a:r>
              <a:rPr kumimoji="0" lang="en-US" sz="2000" b="0" i="0" u="none" strike="noStrike" cap="none" normalizeH="0" baseline="0" dirty="0" smtClean="0">
                <a:ln>
                  <a:noFill/>
                </a:ln>
                <a:solidFill>
                  <a:schemeClr val="tx1"/>
                </a:solidFill>
                <a:effectLst/>
                <a:cs typeface="Arial" pitchFamily="34" charset="0"/>
              </a:rPr>
              <a:t> </a:t>
            </a:r>
          </a:p>
        </p:txBody>
      </p:sp>
      <p:sp>
        <p:nvSpPr>
          <p:cNvPr id="3" name="Rectangle 2"/>
          <p:cNvSpPr/>
          <p:nvPr/>
        </p:nvSpPr>
        <p:spPr>
          <a:xfrm>
            <a:off x="2209800" y="152400"/>
            <a:ext cx="4459041" cy="523220"/>
          </a:xfrm>
          <a:prstGeom prst="rect">
            <a:avLst/>
          </a:prstGeom>
        </p:spPr>
        <p:txBody>
          <a:bodyPr wrap="none">
            <a:spAutoFit/>
          </a:bodyPr>
          <a:lstStyle/>
          <a:p>
            <a:r>
              <a:rPr lang="en-US" sz="2800" dirty="0" smtClean="0">
                <a:solidFill>
                  <a:srgbClr val="00B0F0"/>
                </a:solidFill>
              </a:rPr>
              <a:t>Nested if, </a:t>
            </a:r>
            <a:r>
              <a:rPr lang="en-US" sz="2800" dirty="0" err="1" smtClean="0">
                <a:solidFill>
                  <a:srgbClr val="00B0F0"/>
                </a:solidFill>
              </a:rPr>
              <a:t>elif</a:t>
            </a:r>
            <a:r>
              <a:rPr lang="en-US" sz="2800" dirty="0" smtClean="0">
                <a:solidFill>
                  <a:srgbClr val="00B0F0"/>
                </a:solidFill>
              </a:rPr>
              <a:t>, else Conditions</a:t>
            </a:r>
            <a:endParaRPr lang="en-US" sz="2800" dirty="0">
              <a:solidFill>
                <a:srgbClr val="00B0F0"/>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2578607" y="4178808"/>
            <a:ext cx="5055235" cy="2235835"/>
            <a:chOff x="2578607" y="4178808"/>
            <a:chExt cx="5055235" cy="2235835"/>
          </a:xfrm>
        </p:grpSpPr>
        <p:sp>
          <p:nvSpPr>
            <p:cNvPr id="3" name="object 3"/>
            <p:cNvSpPr/>
            <p:nvPr/>
          </p:nvSpPr>
          <p:spPr>
            <a:xfrm>
              <a:off x="2591561" y="4191762"/>
              <a:ext cx="5029200" cy="2209800"/>
            </a:xfrm>
            <a:custGeom>
              <a:avLst/>
              <a:gdLst/>
              <a:ahLst/>
              <a:cxnLst/>
              <a:rect l="l" t="t" r="r" b="b"/>
              <a:pathLst>
                <a:path w="5029200" h="2209800">
                  <a:moveTo>
                    <a:pt x="4660899" y="0"/>
                  </a:moveTo>
                  <a:lnTo>
                    <a:pt x="368300" y="0"/>
                  </a:lnTo>
                  <a:lnTo>
                    <a:pt x="322091" y="2868"/>
                  </a:lnTo>
                  <a:lnTo>
                    <a:pt x="277599" y="11245"/>
                  </a:lnTo>
                  <a:lnTo>
                    <a:pt x="235166" y="24784"/>
                  </a:lnTo>
                  <a:lnTo>
                    <a:pt x="195139" y="43142"/>
                  </a:lnTo>
                  <a:lnTo>
                    <a:pt x="157861" y="65974"/>
                  </a:lnTo>
                  <a:lnTo>
                    <a:pt x="123678" y="92934"/>
                  </a:lnTo>
                  <a:lnTo>
                    <a:pt x="92934" y="123678"/>
                  </a:lnTo>
                  <a:lnTo>
                    <a:pt x="65974" y="157861"/>
                  </a:lnTo>
                  <a:lnTo>
                    <a:pt x="43142" y="195139"/>
                  </a:lnTo>
                  <a:lnTo>
                    <a:pt x="24784" y="235166"/>
                  </a:lnTo>
                  <a:lnTo>
                    <a:pt x="11245" y="277599"/>
                  </a:lnTo>
                  <a:lnTo>
                    <a:pt x="2868" y="322091"/>
                  </a:lnTo>
                  <a:lnTo>
                    <a:pt x="0" y="368300"/>
                  </a:lnTo>
                  <a:lnTo>
                    <a:pt x="0" y="1841487"/>
                  </a:lnTo>
                  <a:lnTo>
                    <a:pt x="2868" y="1887688"/>
                  </a:lnTo>
                  <a:lnTo>
                    <a:pt x="11245" y="1932176"/>
                  </a:lnTo>
                  <a:lnTo>
                    <a:pt x="24784" y="1974606"/>
                  </a:lnTo>
                  <a:lnTo>
                    <a:pt x="43142" y="2014634"/>
                  </a:lnTo>
                  <a:lnTo>
                    <a:pt x="65974" y="2051913"/>
                  </a:lnTo>
                  <a:lnTo>
                    <a:pt x="92934" y="2086099"/>
                  </a:lnTo>
                  <a:lnTo>
                    <a:pt x="123678" y="2116847"/>
                  </a:lnTo>
                  <a:lnTo>
                    <a:pt x="157861" y="2143811"/>
                  </a:lnTo>
                  <a:lnTo>
                    <a:pt x="195139" y="2166646"/>
                  </a:lnTo>
                  <a:lnTo>
                    <a:pt x="235166" y="2185008"/>
                  </a:lnTo>
                  <a:lnTo>
                    <a:pt x="277599" y="2198551"/>
                  </a:lnTo>
                  <a:lnTo>
                    <a:pt x="322091" y="2206930"/>
                  </a:lnTo>
                  <a:lnTo>
                    <a:pt x="368300" y="2209800"/>
                  </a:lnTo>
                  <a:lnTo>
                    <a:pt x="4660899" y="2209800"/>
                  </a:lnTo>
                  <a:lnTo>
                    <a:pt x="4707108" y="2206930"/>
                  </a:lnTo>
                  <a:lnTo>
                    <a:pt x="4751600" y="2198551"/>
                  </a:lnTo>
                  <a:lnTo>
                    <a:pt x="4794033" y="2185008"/>
                  </a:lnTo>
                  <a:lnTo>
                    <a:pt x="4834060" y="2166646"/>
                  </a:lnTo>
                  <a:lnTo>
                    <a:pt x="4871338" y="2143811"/>
                  </a:lnTo>
                  <a:lnTo>
                    <a:pt x="4905521" y="2116847"/>
                  </a:lnTo>
                  <a:lnTo>
                    <a:pt x="4936265" y="2086099"/>
                  </a:lnTo>
                  <a:lnTo>
                    <a:pt x="4963225" y="2051913"/>
                  </a:lnTo>
                  <a:lnTo>
                    <a:pt x="4986057" y="2014634"/>
                  </a:lnTo>
                  <a:lnTo>
                    <a:pt x="5004415" y="1974606"/>
                  </a:lnTo>
                  <a:lnTo>
                    <a:pt x="5017954" y="1932176"/>
                  </a:lnTo>
                  <a:lnTo>
                    <a:pt x="5026331" y="1887688"/>
                  </a:lnTo>
                  <a:lnTo>
                    <a:pt x="5029199" y="1841487"/>
                  </a:lnTo>
                  <a:lnTo>
                    <a:pt x="5029199" y="368300"/>
                  </a:lnTo>
                  <a:lnTo>
                    <a:pt x="5026331" y="322091"/>
                  </a:lnTo>
                  <a:lnTo>
                    <a:pt x="5017954" y="277599"/>
                  </a:lnTo>
                  <a:lnTo>
                    <a:pt x="5004415" y="235166"/>
                  </a:lnTo>
                  <a:lnTo>
                    <a:pt x="4986057" y="195139"/>
                  </a:lnTo>
                  <a:lnTo>
                    <a:pt x="4963225" y="157861"/>
                  </a:lnTo>
                  <a:lnTo>
                    <a:pt x="4936265" y="123678"/>
                  </a:lnTo>
                  <a:lnTo>
                    <a:pt x="4905521" y="92934"/>
                  </a:lnTo>
                  <a:lnTo>
                    <a:pt x="4871338" y="65974"/>
                  </a:lnTo>
                  <a:lnTo>
                    <a:pt x="4834060" y="43142"/>
                  </a:lnTo>
                  <a:lnTo>
                    <a:pt x="4794033" y="24784"/>
                  </a:lnTo>
                  <a:lnTo>
                    <a:pt x="4751600" y="11245"/>
                  </a:lnTo>
                  <a:lnTo>
                    <a:pt x="4707108" y="2868"/>
                  </a:lnTo>
                  <a:lnTo>
                    <a:pt x="4660899" y="0"/>
                  </a:lnTo>
                  <a:close/>
                </a:path>
              </a:pathLst>
            </a:custGeom>
            <a:solidFill>
              <a:srgbClr val="77923B"/>
            </a:solidFill>
          </p:spPr>
          <p:txBody>
            <a:bodyPr wrap="square" lIns="0" tIns="0" rIns="0" bIns="0" rtlCol="0"/>
            <a:lstStyle/>
            <a:p>
              <a:endParaRPr/>
            </a:p>
          </p:txBody>
        </p:sp>
        <p:sp>
          <p:nvSpPr>
            <p:cNvPr id="4" name="object 4"/>
            <p:cNvSpPr/>
            <p:nvPr/>
          </p:nvSpPr>
          <p:spPr>
            <a:xfrm>
              <a:off x="2591561" y="4191762"/>
              <a:ext cx="5029200" cy="2209800"/>
            </a:xfrm>
            <a:custGeom>
              <a:avLst/>
              <a:gdLst/>
              <a:ahLst/>
              <a:cxnLst/>
              <a:rect l="l" t="t" r="r" b="b"/>
              <a:pathLst>
                <a:path w="5029200" h="2209800">
                  <a:moveTo>
                    <a:pt x="0" y="368300"/>
                  </a:moveTo>
                  <a:lnTo>
                    <a:pt x="2868" y="322091"/>
                  </a:lnTo>
                  <a:lnTo>
                    <a:pt x="11245" y="277599"/>
                  </a:lnTo>
                  <a:lnTo>
                    <a:pt x="24784" y="235166"/>
                  </a:lnTo>
                  <a:lnTo>
                    <a:pt x="43142" y="195139"/>
                  </a:lnTo>
                  <a:lnTo>
                    <a:pt x="65974" y="157861"/>
                  </a:lnTo>
                  <a:lnTo>
                    <a:pt x="92934" y="123678"/>
                  </a:lnTo>
                  <a:lnTo>
                    <a:pt x="123678" y="92934"/>
                  </a:lnTo>
                  <a:lnTo>
                    <a:pt x="157861" y="65974"/>
                  </a:lnTo>
                  <a:lnTo>
                    <a:pt x="195139" y="43142"/>
                  </a:lnTo>
                  <a:lnTo>
                    <a:pt x="235166" y="24784"/>
                  </a:lnTo>
                  <a:lnTo>
                    <a:pt x="277599" y="11245"/>
                  </a:lnTo>
                  <a:lnTo>
                    <a:pt x="322091" y="2868"/>
                  </a:lnTo>
                  <a:lnTo>
                    <a:pt x="368300" y="0"/>
                  </a:lnTo>
                  <a:lnTo>
                    <a:pt x="4660899" y="0"/>
                  </a:lnTo>
                  <a:lnTo>
                    <a:pt x="4707108" y="2868"/>
                  </a:lnTo>
                  <a:lnTo>
                    <a:pt x="4751600" y="11245"/>
                  </a:lnTo>
                  <a:lnTo>
                    <a:pt x="4794033" y="24784"/>
                  </a:lnTo>
                  <a:lnTo>
                    <a:pt x="4834060" y="43142"/>
                  </a:lnTo>
                  <a:lnTo>
                    <a:pt x="4871338" y="65974"/>
                  </a:lnTo>
                  <a:lnTo>
                    <a:pt x="4905521" y="92934"/>
                  </a:lnTo>
                  <a:lnTo>
                    <a:pt x="4936265" y="123678"/>
                  </a:lnTo>
                  <a:lnTo>
                    <a:pt x="4963225" y="157861"/>
                  </a:lnTo>
                  <a:lnTo>
                    <a:pt x="4986057" y="195139"/>
                  </a:lnTo>
                  <a:lnTo>
                    <a:pt x="5004415" y="235166"/>
                  </a:lnTo>
                  <a:lnTo>
                    <a:pt x="5017954" y="277599"/>
                  </a:lnTo>
                  <a:lnTo>
                    <a:pt x="5026331" y="322091"/>
                  </a:lnTo>
                  <a:lnTo>
                    <a:pt x="5029199" y="368300"/>
                  </a:lnTo>
                  <a:lnTo>
                    <a:pt x="5029199" y="1841487"/>
                  </a:lnTo>
                  <a:lnTo>
                    <a:pt x="5026331" y="1887688"/>
                  </a:lnTo>
                  <a:lnTo>
                    <a:pt x="5017954" y="1932176"/>
                  </a:lnTo>
                  <a:lnTo>
                    <a:pt x="5004415" y="1974606"/>
                  </a:lnTo>
                  <a:lnTo>
                    <a:pt x="4986057" y="2014634"/>
                  </a:lnTo>
                  <a:lnTo>
                    <a:pt x="4963225" y="2051913"/>
                  </a:lnTo>
                  <a:lnTo>
                    <a:pt x="4936265" y="2086099"/>
                  </a:lnTo>
                  <a:lnTo>
                    <a:pt x="4905521" y="2116847"/>
                  </a:lnTo>
                  <a:lnTo>
                    <a:pt x="4871338" y="2143811"/>
                  </a:lnTo>
                  <a:lnTo>
                    <a:pt x="4834060" y="2166646"/>
                  </a:lnTo>
                  <a:lnTo>
                    <a:pt x="4794033" y="2185008"/>
                  </a:lnTo>
                  <a:lnTo>
                    <a:pt x="4751600" y="2198551"/>
                  </a:lnTo>
                  <a:lnTo>
                    <a:pt x="4707108" y="2206930"/>
                  </a:lnTo>
                  <a:lnTo>
                    <a:pt x="4660899" y="2209800"/>
                  </a:lnTo>
                  <a:lnTo>
                    <a:pt x="368300" y="2209800"/>
                  </a:lnTo>
                  <a:lnTo>
                    <a:pt x="322091" y="2206930"/>
                  </a:lnTo>
                  <a:lnTo>
                    <a:pt x="277599" y="2198551"/>
                  </a:lnTo>
                  <a:lnTo>
                    <a:pt x="235166" y="2185008"/>
                  </a:lnTo>
                  <a:lnTo>
                    <a:pt x="195139" y="2166646"/>
                  </a:lnTo>
                  <a:lnTo>
                    <a:pt x="157861" y="2143811"/>
                  </a:lnTo>
                  <a:lnTo>
                    <a:pt x="123678" y="2116847"/>
                  </a:lnTo>
                  <a:lnTo>
                    <a:pt x="92934" y="2086099"/>
                  </a:lnTo>
                  <a:lnTo>
                    <a:pt x="65974" y="2051913"/>
                  </a:lnTo>
                  <a:lnTo>
                    <a:pt x="43142" y="2014634"/>
                  </a:lnTo>
                  <a:lnTo>
                    <a:pt x="24784" y="1974606"/>
                  </a:lnTo>
                  <a:lnTo>
                    <a:pt x="11245" y="1932176"/>
                  </a:lnTo>
                  <a:lnTo>
                    <a:pt x="2868" y="1887688"/>
                  </a:lnTo>
                  <a:lnTo>
                    <a:pt x="0" y="1841487"/>
                  </a:lnTo>
                  <a:lnTo>
                    <a:pt x="0" y="368300"/>
                  </a:lnTo>
                  <a:close/>
                </a:path>
              </a:pathLst>
            </a:custGeom>
            <a:ln w="25908">
              <a:solidFill>
                <a:srgbClr val="385D89"/>
              </a:solidFill>
            </a:ln>
          </p:spPr>
          <p:txBody>
            <a:bodyPr wrap="square" lIns="0" tIns="0" rIns="0" bIns="0" rtlCol="0"/>
            <a:lstStyle/>
            <a:p>
              <a:endParaRPr/>
            </a:p>
          </p:txBody>
        </p:sp>
      </p:grpSp>
      <p:sp>
        <p:nvSpPr>
          <p:cNvPr id="5" name="object 5"/>
          <p:cNvSpPr txBox="1"/>
          <p:nvPr/>
        </p:nvSpPr>
        <p:spPr>
          <a:xfrm>
            <a:off x="535940" y="138215"/>
            <a:ext cx="8150859" cy="5878195"/>
          </a:xfrm>
          <a:prstGeom prst="rect">
            <a:avLst/>
          </a:prstGeom>
        </p:spPr>
        <p:txBody>
          <a:bodyPr vert="horz" wrap="square" lIns="0" tIns="110489" rIns="0" bIns="0" rtlCol="0">
            <a:spAutoFit/>
          </a:bodyPr>
          <a:lstStyle/>
          <a:p>
            <a:pPr marL="447040">
              <a:lnSpc>
                <a:spcPct val="100000"/>
              </a:lnSpc>
              <a:spcBef>
                <a:spcPts val="869"/>
              </a:spcBef>
            </a:pPr>
            <a:r>
              <a:rPr sz="3200" b="1" spc="-10" dirty="0">
                <a:solidFill>
                  <a:srgbClr val="FF0000"/>
                </a:solidFill>
                <a:latin typeface="Calibri"/>
                <a:cs typeface="Calibri"/>
              </a:rPr>
              <a:t>CONTROL </a:t>
            </a:r>
            <a:r>
              <a:rPr sz="3200" b="1" spc="-65" dirty="0">
                <a:solidFill>
                  <a:srgbClr val="FF0000"/>
                </a:solidFill>
                <a:latin typeface="Calibri"/>
                <a:cs typeface="Calibri"/>
              </a:rPr>
              <a:t>STATEMENT </a:t>
            </a:r>
            <a:r>
              <a:rPr sz="3200" b="1" dirty="0">
                <a:solidFill>
                  <a:srgbClr val="FF0000"/>
                </a:solidFill>
                <a:latin typeface="Calibri"/>
                <a:cs typeface="Calibri"/>
              </a:rPr>
              <a:t>(Looping</a:t>
            </a:r>
            <a:r>
              <a:rPr sz="3200" b="1" spc="35" dirty="0">
                <a:solidFill>
                  <a:srgbClr val="FF0000"/>
                </a:solidFill>
                <a:latin typeface="Calibri"/>
                <a:cs typeface="Calibri"/>
              </a:rPr>
              <a:t> </a:t>
            </a:r>
            <a:r>
              <a:rPr sz="3200" b="1" spc="-15" dirty="0">
                <a:solidFill>
                  <a:srgbClr val="FF0000"/>
                </a:solidFill>
                <a:latin typeface="Calibri"/>
                <a:cs typeface="Calibri"/>
              </a:rPr>
              <a:t>Statement)</a:t>
            </a:r>
            <a:endParaRPr sz="3200">
              <a:latin typeface="Calibri"/>
              <a:cs typeface="Calibri"/>
            </a:endParaRPr>
          </a:p>
          <a:p>
            <a:pPr marL="355600" marR="5715" indent="-342900" algn="just">
              <a:lnSpc>
                <a:spcPct val="100000"/>
              </a:lnSpc>
              <a:spcBef>
                <a:spcPts val="770"/>
              </a:spcBef>
              <a:buSzPct val="96875"/>
              <a:buFont typeface="Wingdings"/>
              <a:buChar char=""/>
              <a:tabLst>
                <a:tab pos="376555" algn="l"/>
              </a:tabLst>
            </a:pPr>
            <a:r>
              <a:rPr sz="3200" spc="-20" dirty="0">
                <a:latin typeface="Calibri"/>
                <a:cs typeface="Calibri"/>
              </a:rPr>
              <a:t>Program statement </a:t>
            </a:r>
            <a:r>
              <a:rPr sz="3200" spc="-15" dirty="0">
                <a:latin typeface="Calibri"/>
                <a:cs typeface="Calibri"/>
              </a:rPr>
              <a:t>are </a:t>
            </a:r>
            <a:r>
              <a:rPr sz="3200" spc="-20" dirty="0">
                <a:latin typeface="Calibri"/>
                <a:cs typeface="Calibri"/>
              </a:rPr>
              <a:t>executed </a:t>
            </a:r>
            <a:r>
              <a:rPr sz="3200" spc="-5" dirty="0">
                <a:latin typeface="Calibri"/>
                <a:cs typeface="Calibri"/>
              </a:rPr>
              <a:t>sequentially  one </a:t>
            </a:r>
            <a:r>
              <a:rPr sz="3200" spc="-15" dirty="0">
                <a:latin typeface="Calibri"/>
                <a:cs typeface="Calibri"/>
              </a:rPr>
              <a:t>after </a:t>
            </a:r>
            <a:r>
              <a:rPr sz="3200" spc="-40" dirty="0">
                <a:latin typeface="Calibri"/>
                <a:cs typeface="Calibri"/>
              </a:rPr>
              <a:t>another. </a:t>
            </a:r>
            <a:r>
              <a:rPr sz="3200" spc="-5" dirty="0">
                <a:latin typeface="Calibri"/>
                <a:cs typeface="Calibri"/>
              </a:rPr>
              <a:t>In </a:t>
            </a:r>
            <a:r>
              <a:rPr sz="3200" dirty="0">
                <a:latin typeface="Calibri"/>
                <a:cs typeface="Calibri"/>
              </a:rPr>
              <a:t>some </a:t>
            </a:r>
            <a:r>
              <a:rPr sz="3200" spc="-5" dirty="0">
                <a:latin typeface="Calibri"/>
                <a:cs typeface="Calibri"/>
              </a:rPr>
              <a:t>situations, </a:t>
            </a:r>
            <a:r>
              <a:rPr sz="3200" dirty="0">
                <a:latin typeface="Calibri"/>
                <a:cs typeface="Calibri"/>
              </a:rPr>
              <a:t>a block  of </a:t>
            </a:r>
            <a:r>
              <a:rPr sz="3200" spc="-10" dirty="0">
                <a:latin typeface="Calibri"/>
                <a:cs typeface="Calibri"/>
              </a:rPr>
              <a:t>code </a:t>
            </a:r>
            <a:r>
              <a:rPr sz="3200" spc="-5" dirty="0">
                <a:latin typeface="Calibri"/>
                <a:cs typeface="Calibri"/>
              </a:rPr>
              <a:t>needs </a:t>
            </a:r>
            <a:r>
              <a:rPr sz="3200" dirty="0">
                <a:latin typeface="Calibri"/>
                <a:cs typeface="Calibri"/>
              </a:rPr>
              <a:t>of</a:t>
            </a:r>
            <a:r>
              <a:rPr sz="3200" spc="-30" dirty="0">
                <a:latin typeface="Calibri"/>
                <a:cs typeface="Calibri"/>
              </a:rPr>
              <a:t> </a:t>
            </a:r>
            <a:r>
              <a:rPr sz="3200" spc="-5" dirty="0">
                <a:latin typeface="Calibri"/>
                <a:cs typeface="Calibri"/>
              </a:rPr>
              <a:t>times.</a:t>
            </a:r>
            <a:endParaRPr sz="3200">
              <a:latin typeface="Calibri"/>
              <a:cs typeface="Calibri"/>
            </a:endParaRPr>
          </a:p>
          <a:p>
            <a:pPr marL="355600" marR="5080" indent="-342900" algn="just">
              <a:lnSpc>
                <a:spcPct val="100000"/>
              </a:lnSpc>
              <a:spcBef>
                <a:spcPts val="770"/>
              </a:spcBef>
              <a:buSzPct val="96875"/>
              <a:buFont typeface="Wingdings"/>
              <a:buChar char=""/>
              <a:tabLst>
                <a:tab pos="376555" algn="l"/>
              </a:tabLst>
            </a:pPr>
            <a:r>
              <a:rPr sz="3200" spc="-5" dirty="0">
                <a:latin typeface="Calibri"/>
                <a:cs typeface="Calibri"/>
              </a:rPr>
              <a:t>These </a:t>
            </a:r>
            <a:r>
              <a:rPr sz="3200" spc="-15" dirty="0">
                <a:latin typeface="Calibri"/>
                <a:cs typeface="Calibri"/>
              </a:rPr>
              <a:t>are repetitive program </a:t>
            </a:r>
            <a:r>
              <a:rPr sz="3200" spc="-10" dirty="0">
                <a:latin typeface="Calibri"/>
                <a:cs typeface="Calibri"/>
              </a:rPr>
              <a:t>codes, </a:t>
            </a:r>
            <a:r>
              <a:rPr sz="3200" dirty="0">
                <a:latin typeface="Calibri"/>
                <a:cs typeface="Calibri"/>
              </a:rPr>
              <a:t>the  </a:t>
            </a:r>
            <a:r>
              <a:rPr sz="3200" spc="-15" dirty="0">
                <a:latin typeface="Calibri"/>
                <a:cs typeface="Calibri"/>
              </a:rPr>
              <a:t>computers </a:t>
            </a:r>
            <a:r>
              <a:rPr sz="3200" spc="-25" dirty="0">
                <a:latin typeface="Calibri"/>
                <a:cs typeface="Calibri"/>
              </a:rPr>
              <a:t>have </a:t>
            </a:r>
            <a:r>
              <a:rPr sz="3200" spc="-15" dirty="0">
                <a:latin typeface="Calibri"/>
                <a:cs typeface="Calibri"/>
              </a:rPr>
              <a:t>to perform </a:t>
            </a:r>
            <a:r>
              <a:rPr sz="3200" spc="-25" dirty="0">
                <a:latin typeface="Calibri"/>
                <a:cs typeface="Calibri"/>
              </a:rPr>
              <a:t>to </a:t>
            </a:r>
            <a:r>
              <a:rPr sz="3200" spc="-15" dirty="0">
                <a:latin typeface="Calibri"/>
                <a:cs typeface="Calibri"/>
              </a:rPr>
              <a:t>complete tasks.  </a:t>
            </a:r>
            <a:r>
              <a:rPr sz="3200" spc="-5" dirty="0">
                <a:latin typeface="Calibri"/>
                <a:cs typeface="Calibri"/>
              </a:rPr>
              <a:t>The </a:t>
            </a:r>
            <a:r>
              <a:rPr sz="3200" spc="-15" dirty="0">
                <a:latin typeface="Calibri"/>
                <a:cs typeface="Calibri"/>
              </a:rPr>
              <a:t>following are </a:t>
            </a:r>
            <a:r>
              <a:rPr sz="3200" dirty="0">
                <a:latin typeface="Calibri"/>
                <a:cs typeface="Calibri"/>
              </a:rPr>
              <a:t>the loop </a:t>
            </a:r>
            <a:r>
              <a:rPr sz="3200" spc="-10" dirty="0">
                <a:latin typeface="Calibri"/>
                <a:cs typeface="Calibri"/>
              </a:rPr>
              <a:t>structures available  </a:t>
            </a:r>
            <a:r>
              <a:rPr sz="3200" spc="-5" dirty="0">
                <a:latin typeface="Calibri"/>
                <a:cs typeface="Calibri"/>
              </a:rPr>
              <a:t>in</a:t>
            </a:r>
            <a:r>
              <a:rPr sz="3200" dirty="0">
                <a:latin typeface="Calibri"/>
                <a:cs typeface="Calibri"/>
              </a:rPr>
              <a:t> </a:t>
            </a:r>
            <a:r>
              <a:rPr sz="3200" spc="-5" dirty="0">
                <a:latin typeface="Calibri"/>
                <a:cs typeface="Calibri"/>
              </a:rPr>
              <a:t>python.</a:t>
            </a:r>
            <a:endParaRPr sz="3200">
              <a:latin typeface="Calibri"/>
              <a:cs typeface="Calibri"/>
            </a:endParaRPr>
          </a:p>
          <a:p>
            <a:pPr marL="2578100" lvl="1" indent="-324485">
              <a:lnSpc>
                <a:spcPct val="100000"/>
              </a:lnSpc>
              <a:spcBef>
                <a:spcPts val="1525"/>
              </a:spcBef>
              <a:buSzPct val="96875"/>
              <a:buFont typeface="Wingdings"/>
              <a:buChar char=""/>
              <a:tabLst>
                <a:tab pos="2578735" algn="l"/>
              </a:tabLst>
            </a:pPr>
            <a:r>
              <a:rPr sz="3200" b="1" spc="-5" dirty="0">
                <a:solidFill>
                  <a:srgbClr val="FFFFFF"/>
                </a:solidFill>
                <a:latin typeface="Calibri"/>
                <a:cs typeface="Calibri"/>
              </a:rPr>
              <a:t>while</a:t>
            </a:r>
            <a:r>
              <a:rPr sz="3200" b="1" spc="-10" dirty="0">
                <a:solidFill>
                  <a:srgbClr val="FFFFFF"/>
                </a:solidFill>
                <a:latin typeface="Calibri"/>
                <a:cs typeface="Calibri"/>
              </a:rPr>
              <a:t> </a:t>
            </a:r>
            <a:r>
              <a:rPr sz="3200" b="1" spc="-20" dirty="0">
                <a:solidFill>
                  <a:srgbClr val="FFFFFF"/>
                </a:solidFill>
                <a:latin typeface="Calibri"/>
                <a:cs typeface="Calibri"/>
              </a:rPr>
              <a:t>statement</a:t>
            </a:r>
            <a:endParaRPr sz="3200">
              <a:latin typeface="Calibri"/>
              <a:cs typeface="Calibri"/>
            </a:endParaRPr>
          </a:p>
          <a:p>
            <a:pPr marL="2578100" lvl="1" indent="-324485">
              <a:lnSpc>
                <a:spcPct val="100000"/>
              </a:lnSpc>
              <a:spcBef>
                <a:spcPts val="5"/>
              </a:spcBef>
              <a:buSzPct val="96875"/>
              <a:buFont typeface="Wingdings"/>
              <a:buChar char=""/>
              <a:tabLst>
                <a:tab pos="2578735" algn="l"/>
              </a:tabLst>
            </a:pPr>
            <a:r>
              <a:rPr sz="3200" b="1" spc="-20" dirty="0">
                <a:solidFill>
                  <a:srgbClr val="FFFFFF"/>
                </a:solidFill>
                <a:latin typeface="Calibri"/>
                <a:cs typeface="Calibri"/>
              </a:rPr>
              <a:t>for </a:t>
            </a:r>
            <a:r>
              <a:rPr sz="3200" b="1" dirty="0">
                <a:solidFill>
                  <a:srgbClr val="FFFFFF"/>
                </a:solidFill>
                <a:latin typeface="Calibri"/>
                <a:cs typeface="Calibri"/>
              </a:rPr>
              <a:t>loop</a:t>
            </a:r>
            <a:r>
              <a:rPr sz="3200" b="1" spc="25" dirty="0">
                <a:solidFill>
                  <a:srgbClr val="FFFFFF"/>
                </a:solidFill>
                <a:latin typeface="Calibri"/>
                <a:cs typeface="Calibri"/>
              </a:rPr>
              <a:t> </a:t>
            </a:r>
            <a:r>
              <a:rPr sz="3200" b="1" spc="-20" dirty="0">
                <a:solidFill>
                  <a:srgbClr val="FFFFFF"/>
                </a:solidFill>
                <a:latin typeface="Calibri"/>
                <a:cs typeface="Calibri"/>
              </a:rPr>
              <a:t>statement</a:t>
            </a:r>
            <a:endParaRPr sz="3200">
              <a:latin typeface="Calibri"/>
              <a:cs typeface="Calibri"/>
            </a:endParaRPr>
          </a:p>
          <a:p>
            <a:pPr marL="2578100" lvl="1" indent="-324485">
              <a:lnSpc>
                <a:spcPct val="100000"/>
              </a:lnSpc>
              <a:buSzPct val="96875"/>
              <a:buFont typeface="Wingdings"/>
              <a:buChar char=""/>
              <a:tabLst>
                <a:tab pos="2578735" algn="l"/>
              </a:tabLst>
            </a:pPr>
            <a:r>
              <a:rPr sz="3200" b="1" spc="-10" dirty="0">
                <a:solidFill>
                  <a:srgbClr val="FFFFFF"/>
                </a:solidFill>
                <a:latin typeface="Calibri"/>
                <a:cs typeface="Calibri"/>
              </a:rPr>
              <a:t>Nested </a:t>
            </a:r>
            <a:r>
              <a:rPr sz="3200" b="1" dirty="0">
                <a:solidFill>
                  <a:srgbClr val="FFFFFF"/>
                </a:solidFill>
                <a:latin typeface="Calibri"/>
                <a:cs typeface="Calibri"/>
              </a:rPr>
              <a:t>loop</a:t>
            </a:r>
            <a:r>
              <a:rPr sz="3200" b="1" spc="-25" dirty="0">
                <a:solidFill>
                  <a:srgbClr val="FFFFFF"/>
                </a:solidFill>
                <a:latin typeface="Calibri"/>
                <a:cs typeface="Calibri"/>
              </a:rPr>
              <a:t> </a:t>
            </a:r>
            <a:r>
              <a:rPr sz="3200" b="1" spc="-10" dirty="0">
                <a:solidFill>
                  <a:srgbClr val="FFFFFF"/>
                </a:solidFill>
                <a:latin typeface="Calibri"/>
                <a:cs typeface="Calibri"/>
              </a:rPr>
              <a:t>staement</a:t>
            </a:r>
            <a:endParaRPr sz="3200">
              <a:latin typeface="Calibri"/>
              <a:cs typeface="Calibri"/>
            </a:endParaRP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pPr marL="38100">
                <a:lnSpc>
                  <a:spcPts val="1240"/>
                </a:lnSpc>
              </a:pPr>
              <a:t>17</a:t>
            </a:fld>
            <a:endParaRPr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535940" y="367639"/>
            <a:ext cx="8148320" cy="2285882"/>
          </a:xfrm>
          <a:prstGeom prst="rect">
            <a:avLst/>
          </a:prstGeom>
        </p:spPr>
        <p:txBody>
          <a:bodyPr vert="horz" wrap="square" lIns="0" tIns="109855" rIns="0" bIns="0" rtlCol="0">
            <a:spAutoFit/>
          </a:bodyPr>
          <a:lstStyle/>
          <a:p>
            <a:pPr marL="12700" algn="just">
              <a:lnSpc>
                <a:spcPct val="100000"/>
              </a:lnSpc>
              <a:spcBef>
                <a:spcPts val="865"/>
              </a:spcBef>
            </a:pPr>
            <a:r>
              <a:rPr sz="3200" b="1" spc="-5" dirty="0">
                <a:solidFill>
                  <a:srgbClr val="FF0000"/>
                </a:solidFill>
                <a:latin typeface="Calibri"/>
                <a:cs typeface="Calibri"/>
              </a:rPr>
              <a:t>While </a:t>
            </a:r>
            <a:r>
              <a:rPr sz="3200" b="1" dirty="0">
                <a:solidFill>
                  <a:srgbClr val="FF0000"/>
                </a:solidFill>
                <a:latin typeface="Calibri"/>
                <a:cs typeface="Calibri"/>
              </a:rPr>
              <a:t>loop</a:t>
            </a:r>
            <a:r>
              <a:rPr sz="3200" b="1" spc="-20" dirty="0">
                <a:solidFill>
                  <a:srgbClr val="FF0000"/>
                </a:solidFill>
                <a:latin typeface="Calibri"/>
                <a:cs typeface="Calibri"/>
              </a:rPr>
              <a:t> statement</a:t>
            </a:r>
            <a:endParaRPr sz="3200">
              <a:latin typeface="Calibri"/>
              <a:cs typeface="Calibri"/>
            </a:endParaRPr>
          </a:p>
          <a:p>
            <a:pPr marL="355600" marR="5080" indent="-342900">
              <a:lnSpc>
                <a:spcPct val="100000"/>
              </a:lnSpc>
              <a:spcBef>
                <a:spcPts val="770"/>
              </a:spcBef>
              <a:buFont typeface="Wingdings"/>
              <a:buChar char=""/>
              <a:tabLst>
                <a:tab pos="447675" algn="l"/>
              </a:tabLst>
            </a:pPr>
            <a:r>
              <a:rPr sz="2400" dirty="0">
                <a:latin typeface="Calibri"/>
                <a:cs typeface="Calibri"/>
              </a:rPr>
              <a:t>A </a:t>
            </a:r>
            <a:r>
              <a:rPr sz="2400" b="1" dirty="0">
                <a:latin typeface="Calibri"/>
                <a:cs typeface="Calibri"/>
              </a:rPr>
              <a:t>while </a:t>
            </a:r>
            <a:r>
              <a:rPr sz="2400" dirty="0">
                <a:latin typeface="Calibri"/>
                <a:cs typeface="Calibri"/>
              </a:rPr>
              <a:t>loop </a:t>
            </a:r>
            <a:r>
              <a:rPr sz="2400" spc="-20" dirty="0">
                <a:latin typeface="Calibri"/>
                <a:cs typeface="Calibri"/>
              </a:rPr>
              <a:t>statement </a:t>
            </a:r>
            <a:r>
              <a:rPr sz="2400" dirty="0">
                <a:latin typeface="Calibri"/>
                <a:cs typeface="Calibri"/>
              </a:rPr>
              <a:t>in </a:t>
            </a:r>
            <a:r>
              <a:rPr sz="2400" spc="5">
                <a:latin typeface="Calibri"/>
                <a:cs typeface="Calibri"/>
              </a:rPr>
              <a:t>Python  </a:t>
            </a:r>
            <a:r>
              <a:rPr lang="en-US" sz="2400" spc="5" dirty="0" smtClean="0">
                <a:latin typeface="Calibri"/>
                <a:cs typeface="Calibri"/>
              </a:rPr>
              <a:t>p</a:t>
            </a:r>
            <a:r>
              <a:rPr sz="2400" spc="-10" smtClean="0">
                <a:latin typeface="Calibri"/>
                <a:cs typeface="Calibri"/>
              </a:rPr>
              <a:t>rogramming </a:t>
            </a:r>
            <a:r>
              <a:rPr sz="2400" dirty="0">
                <a:latin typeface="Calibri"/>
                <a:cs typeface="Calibri"/>
              </a:rPr>
              <a:t>language </a:t>
            </a:r>
            <a:r>
              <a:rPr sz="2400" spc="-15" dirty="0">
                <a:latin typeface="Calibri"/>
                <a:cs typeface="Calibri"/>
              </a:rPr>
              <a:t>repeatedly </a:t>
            </a:r>
            <a:r>
              <a:rPr sz="2400" spc="-25" dirty="0">
                <a:latin typeface="Calibri"/>
                <a:cs typeface="Calibri"/>
              </a:rPr>
              <a:t>executes </a:t>
            </a:r>
            <a:r>
              <a:rPr sz="2400" dirty="0">
                <a:latin typeface="Calibri"/>
                <a:cs typeface="Calibri"/>
              </a:rPr>
              <a:t>a  </a:t>
            </a:r>
            <a:r>
              <a:rPr sz="2400" spc="-20" dirty="0">
                <a:latin typeface="Calibri"/>
                <a:cs typeface="Calibri"/>
              </a:rPr>
              <a:t>target statement </a:t>
            </a:r>
            <a:r>
              <a:rPr sz="2400" dirty="0">
                <a:latin typeface="Calibri"/>
                <a:cs typeface="Calibri"/>
              </a:rPr>
              <a:t>as long </a:t>
            </a:r>
            <a:r>
              <a:rPr sz="2400" spc="5" dirty="0">
                <a:latin typeface="Calibri"/>
                <a:cs typeface="Calibri"/>
              </a:rPr>
              <a:t>as </a:t>
            </a:r>
            <a:r>
              <a:rPr sz="2400" dirty="0">
                <a:latin typeface="Calibri"/>
                <a:cs typeface="Calibri"/>
              </a:rPr>
              <a:t>a </a:t>
            </a:r>
            <a:r>
              <a:rPr sz="2400" spc="-5" dirty="0">
                <a:latin typeface="Calibri"/>
                <a:cs typeface="Calibri"/>
              </a:rPr>
              <a:t>given condition is  true.</a:t>
            </a:r>
            <a:endParaRPr sz="2400">
              <a:latin typeface="Calibri"/>
              <a:cs typeface="Calibri"/>
            </a:endParaRPr>
          </a:p>
          <a:p>
            <a:pPr marL="103505" algn="just">
              <a:lnSpc>
                <a:spcPct val="100000"/>
              </a:lnSpc>
              <a:spcBef>
                <a:spcPts val="770"/>
              </a:spcBef>
            </a:pPr>
            <a:r>
              <a:rPr sz="2400" b="1" spc="-25" dirty="0">
                <a:solidFill>
                  <a:srgbClr val="FF0000"/>
                </a:solidFill>
                <a:latin typeface="Calibri"/>
                <a:cs typeface="Calibri"/>
              </a:rPr>
              <a:t>Syntax </a:t>
            </a:r>
            <a:r>
              <a:rPr sz="2400" b="1" dirty="0">
                <a:solidFill>
                  <a:srgbClr val="FF0000"/>
                </a:solidFill>
                <a:latin typeface="Calibri"/>
                <a:cs typeface="Calibri"/>
              </a:rPr>
              <a:t>of </a:t>
            </a:r>
            <a:r>
              <a:rPr sz="2400" b="1" spc="-5" dirty="0">
                <a:solidFill>
                  <a:srgbClr val="FF0000"/>
                </a:solidFill>
                <a:latin typeface="Calibri"/>
                <a:cs typeface="Calibri"/>
              </a:rPr>
              <a:t>while</a:t>
            </a:r>
            <a:r>
              <a:rPr sz="2400" b="1" spc="-10" dirty="0">
                <a:solidFill>
                  <a:srgbClr val="FF0000"/>
                </a:solidFill>
                <a:latin typeface="Calibri"/>
                <a:cs typeface="Calibri"/>
              </a:rPr>
              <a:t> </a:t>
            </a:r>
            <a:r>
              <a:rPr sz="2400" b="1" dirty="0">
                <a:solidFill>
                  <a:srgbClr val="FF0000"/>
                </a:solidFill>
                <a:latin typeface="Calibri"/>
                <a:cs typeface="Calibri"/>
              </a:rPr>
              <a:t>loop</a:t>
            </a:r>
            <a:endParaRPr sz="2400">
              <a:latin typeface="Calibri"/>
              <a:cs typeface="Calibri"/>
            </a:endParaRPr>
          </a:p>
        </p:txBody>
      </p:sp>
      <p:sp>
        <p:nvSpPr>
          <p:cNvPr id="4" name="object 4"/>
          <p:cNvSpPr txBox="1"/>
          <p:nvPr/>
        </p:nvSpPr>
        <p:spPr>
          <a:xfrm>
            <a:off x="304800" y="3048000"/>
            <a:ext cx="3733800" cy="1600200"/>
          </a:xfrm>
          <a:prstGeom prst="rect">
            <a:avLst/>
          </a:prstGeom>
          <a:solidFill>
            <a:srgbClr val="4F81BC"/>
          </a:solidFill>
          <a:ln w="25907">
            <a:solidFill>
              <a:srgbClr val="385D89"/>
            </a:solidFill>
          </a:ln>
        </p:spPr>
        <p:txBody>
          <a:bodyPr vert="horz" wrap="square" lIns="0" tIns="287020" rIns="0" bIns="0" rtlCol="0">
            <a:spAutoFit/>
          </a:bodyPr>
          <a:lstStyle/>
          <a:p>
            <a:pPr marL="1005205" marR="613410" indent="-753110">
              <a:lnSpc>
                <a:spcPct val="100000"/>
              </a:lnSpc>
              <a:spcBef>
                <a:spcPts val="2260"/>
              </a:spcBef>
            </a:pPr>
            <a:r>
              <a:rPr sz="3200" dirty="0">
                <a:solidFill>
                  <a:srgbClr val="FFFFFF"/>
                </a:solidFill>
                <a:latin typeface="Calibri"/>
                <a:cs typeface="Calibri"/>
              </a:rPr>
              <a:t>while</a:t>
            </a:r>
            <a:r>
              <a:rPr sz="3200" spc="-85" dirty="0">
                <a:solidFill>
                  <a:srgbClr val="FFFFFF"/>
                </a:solidFill>
                <a:latin typeface="Calibri"/>
                <a:cs typeface="Calibri"/>
              </a:rPr>
              <a:t> </a:t>
            </a:r>
            <a:r>
              <a:rPr sz="3200" spc="-10" dirty="0">
                <a:solidFill>
                  <a:srgbClr val="FFFFFF"/>
                </a:solidFill>
                <a:latin typeface="Calibri"/>
                <a:cs typeface="Calibri"/>
              </a:rPr>
              <a:t>expression:  </a:t>
            </a:r>
            <a:r>
              <a:rPr sz="3200" spc="-15" dirty="0">
                <a:solidFill>
                  <a:srgbClr val="FFFFFF"/>
                </a:solidFill>
                <a:latin typeface="Calibri"/>
                <a:cs typeface="Calibri"/>
              </a:rPr>
              <a:t>statement(s)</a:t>
            </a:r>
            <a:endParaRPr sz="3200">
              <a:latin typeface="Calibri"/>
              <a:cs typeface="Calibri"/>
            </a:endParaRP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pPr marL="38100">
                <a:lnSpc>
                  <a:spcPts val="1240"/>
                </a:lnSpc>
              </a:pPr>
              <a:t>18</a:t>
            </a:fld>
            <a:endParaRPr dirty="0"/>
          </a:p>
        </p:txBody>
      </p:sp>
      <p:pic>
        <p:nvPicPr>
          <p:cNvPr id="1026" name="Picture 2"/>
          <p:cNvPicPr>
            <a:picLocks noChangeAspect="1" noChangeArrowheads="1"/>
          </p:cNvPicPr>
          <p:nvPr/>
        </p:nvPicPr>
        <p:blipFill>
          <a:blip r:embed="rId2"/>
          <a:srcRect/>
          <a:stretch>
            <a:fillRect/>
          </a:stretch>
        </p:blipFill>
        <p:spPr bwMode="auto">
          <a:xfrm>
            <a:off x="4191000" y="1981200"/>
            <a:ext cx="4800600" cy="4495800"/>
          </a:xfrm>
          <a:prstGeom prst="rect">
            <a:avLst/>
          </a:prstGeom>
          <a:noFill/>
          <a:ln w="9525">
            <a:noFill/>
            <a:miter lim="800000"/>
            <a:headEnd/>
            <a:tailEnd/>
          </a:ln>
          <a:effec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 name="object 9"/>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pPr marL="38100">
                <a:lnSpc>
                  <a:spcPts val="1240"/>
                </a:lnSpc>
              </a:pPr>
              <a:t>19</a:t>
            </a:fld>
            <a:endParaRPr dirty="0"/>
          </a:p>
        </p:txBody>
      </p:sp>
      <p:sp>
        <p:nvSpPr>
          <p:cNvPr id="5122" name="Rectangle 2"/>
          <p:cNvSpPr>
            <a:spLocks noChangeArrowheads="1"/>
          </p:cNvSpPr>
          <p:nvPr/>
        </p:nvSpPr>
        <p:spPr bwMode="auto">
          <a:xfrm>
            <a:off x="381000" y="533400"/>
            <a:ext cx="8305800" cy="4431983"/>
          </a:xfrm>
          <a:prstGeom prst="rect">
            <a:avLst/>
          </a:prstGeom>
          <a:solidFill>
            <a:schemeClr val="bg1"/>
          </a:solidFill>
          <a:ln w="9525">
            <a:solidFill>
              <a:schemeClr val="bg1"/>
            </a:solidFill>
            <a:miter lim="800000"/>
            <a:headEnd/>
            <a:tailEnd/>
          </a:ln>
          <a:effectLst/>
        </p:spPr>
        <p:txBody>
          <a:bodyPr vert="horz" wrap="square" lIns="0" tIns="0" rIns="0" bIns="0" numCol="1" anchor="ctr" anchorCtr="0" compatLnSpc="1">
            <a:prstTxWarp prst="textNoShape">
              <a:avLst/>
            </a:prstTxWarp>
            <a:spAutoFit/>
          </a:bodyPr>
          <a:lstStyle/>
          <a:p>
            <a:pPr marL="0" marR="0" lvl="0" indent="0" algn="l" defTabSz="914400" rtl="0" eaLnBrk="1" fontAlgn="base" latinLnBrk="0" hangingPunct="1">
              <a:lnSpc>
                <a:spcPct val="150000"/>
              </a:lnSpc>
              <a:spcBef>
                <a:spcPct val="0"/>
              </a:spcBef>
              <a:spcAft>
                <a:spcPct val="0"/>
              </a:spcAft>
              <a:buClrTx/>
              <a:buSzTx/>
              <a:buFontTx/>
              <a:buNone/>
              <a:tabLst/>
            </a:pPr>
            <a:r>
              <a:rPr kumimoji="0" lang="en-US" sz="2400" b="0" i="0" u="none" strike="noStrike" cap="none" normalizeH="0" baseline="0" dirty="0" smtClean="0">
                <a:ln>
                  <a:noFill/>
                </a:ln>
                <a:effectLst/>
                <a:cs typeface="Arial" pitchFamily="34" charset="0"/>
              </a:rPr>
              <a:t># Program to add natural</a:t>
            </a:r>
          </a:p>
          <a:p>
            <a:pPr marL="0" marR="0" lvl="0" indent="0" algn="l" defTabSz="914400" rtl="0" eaLnBrk="1" fontAlgn="base" latinLnBrk="0" hangingPunct="1">
              <a:lnSpc>
                <a:spcPct val="150000"/>
              </a:lnSpc>
              <a:spcBef>
                <a:spcPct val="0"/>
              </a:spcBef>
              <a:spcAft>
                <a:spcPct val="0"/>
              </a:spcAft>
              <a:buClrTx/>
              <a:buSzTx/>
              <a:buFontTx/>
              <a:buNone/>
              <a:tabLst/>
            </a:pPr>
            <a:r>
              <a:rPr kumimoji="0" lang="en-US" sz="2400" b="0" i="0" u="none" strike="noStrike" cap="none" normalizeH="0" baseline="0" dirty="0" smtClean="0">
                <a:ln>
                  <a:noFill/>
                </a:ln>
                <a:effectLst/>
                <a:cs typeface="Arial" pitchFamily="34" charset="0"/>
              </a:rPr>
              <a:t>n  = </a:t>
            </a:r>
            <a:r>
              <a:rPr kumimoji="0" lang="en-US" sz="2400" b="0" i="0" u="none" strike="noStrike" cap="none" normalizeH="0" baseline="0" dirty="0" err="1" smtClean="0">
                <a:ln>
                  <a:noFill/>
                </a:ln>
                <a:effectLst/>
                <a:cs typeface="Arial" pitchFamily="34" charset="0"/>
              </a:rPr>
              <a:t>int</a:t>
            </a:r>
            <a:r>
              <a:rPr kumimoji="0" lang="en-US" sz="2400" b="0" i="0" u="none" strike="noStrike" cap="none" normalizeH="0" baseline="0" dirty="0" smtClean="0">
                <a:ln>
                  <a:noFill/>
                </a:ln>
                <a:effectLst/>
                <a:cs typeface="Arial" pitchFamily="34" charset="0"/>
              </a:rPr>
              <a:t>(input("Enter n: ")) </a:t>
            </a:r>
          </a:p>
          <a:p>
            <a:pPr marL="0" marR="0" lvl="0" indent="0" algn="l" defTabSz="914400" rtl="0" eaLnBrk="1" fontAlgn="base" latinLnBrk="0" hangingPunct="1">
              <a:lnSpc>
                <a:spcPct val="150000"/>
              </a:lnSpc>
              <a:spcBef>
                <a:spcPct val="0"/>
              </a:spcBef>
              <a:spcAft>
                <a:spcPct val="0"/>
              </a:spcAft>
              <a:buClrTx/>
              <a:buSzTx/>
              <a:buFontTx/>
              <a:buNone/>
              <a:tabLst/>
            </a:pPr>
            <a:r>
              <a:rPr kumimoji="0" lang="en-US" sz="2400" b="0" i="0" u="none" strike="noStrike" cap="none" normalizeH="0" baseline="0" dirty="0" smtClean="0">
                <a:ln>
                  <a:noFill/>
                </a:ln>
                <a:effectLst/>
                <a:cs typeface="Arial" pitchFamily="34" charset="0"/>
              </a:rPr>
              <a:t> sum = 0</a:t>
            </a:r>
          </a:p>
          <a:p>
            <a:pPr marL="0" marR="0" lvl="0" indent="0" algn="l" defTabSz="914400" rtl="0" eaLnBrk="1" fontAlgn="base" latinLnBrk="0" hangingPunct="1">
              <a:lnSpc>
                <a:spcPct val="150000"/>
              </a:lnSpc>
              <a:spcBef>
                <a:spcPct val="0"/>
              </a:spcBef>
              <a:spcAft>
                <a:spcPct val="0"/>
              </a:spcAft>
              <a:buClrTx/>
              <a:buSzTx/>
              <a:buFontTx/>
              <a:buNone/>
              <a:tabLst/>
            </a:pPr>
            <a:r>
              <a:rPr kumimoji="0" lang="en-US" sz="2400" b="0" i="0" u="none" strike="noStrike" cap="none" normalizeH="0" baseline="0" dirty="0" smtClean="0">
                <a:ln>
                  <a:noFill/>
                </a:ln>
                <a:effectLst/>
                <a:cs typeface="Arial" pitchFamily="34" charset="0"/>
              </a:rPr>
              <a:t> </a:t>
            </a:r>
            <a:r>
              <a:rPr kumimoji="0" lang="en-US" sz="2400" b="0" i="0" u="none" strike="noStrike" cap="none" normalizeH="0" baseline="0" dirty="0" err="1" smtClean="0">
                <a:ln>
                  <a:noFill/>
                </a:ln>
                <a:effectLst/>
                <a:cs typeface="Arial" pitchFamily="34" charset="0"/>
              </a:rPr>
              <a:t>i</a:t>
            </a:r>
            <a:r>
              <a:rPr kumimoji="0" lang="en-US" sz="2400" b="0" i="0" u="none" strike="noStrike" cap="none" normalizeH="0" baseline="0" dirty="0" smtClean="0">
                <a:ln>
                  <a:noFill/>
                </a:ln>
                <a:effectLst/>
                <a:cs typeface="Arial" pitchFamily="34" charset="0"/>
              </a:rPr>
              <a:t> = 1 </a:t>
            </a:r>
          </a:p>
          <a:p>
            <a:pPr marL="0" marR="0" lvl="0" indent="0" algn="l" defTabSz="914400" rtl="0" eaLnBrk="1" fontAlgn="base" latinLnBrk="0" hangingPunct="1">
              <a:lnSpc>
                <a:spcPct val="150000"/>
              </a:lnSpc>
              <a:spcBef>
                <a:spcPct val="0"/>
              </a:spcBef>
              <a:spcAft>
                <a:spcPct val="0"/>
              </a:spcAft>
              <a:buClrTx/>
              <a:buSzTx/>
              <a:buFontTx/>
              <a:buNone/>
              <a:tabLst/>
            </a:pPr>
            <a:r>
              <a:rPr kumimoji="0" lang="en-US" sz="2400" b="0" i="0" u="none" strike="noStrike" cap="none" normalizeH="0" baseline="0" dirty="0" smtClean="0">
                <a:ln>
                  <a:noFill/>
                </a:ln>
                <a:effectLst/>
                <a:cs typeface="Arial" pitchFamily="34" charset="0"/>
              </a:rPr>
              <a:t>while </a:t>
            </a:r>
            <a:r>
              <a:rPr kumimoji="0" lang="en-US" sz="2400" b="0" i="0" u="none" strike="noStrike" cap="none" normalizeH="0" baseline="0" dirty="0" err="1" smtClean="0">
                <a:ln>
                  <a:noFill/>
                </a:ln>
                <a:effectLst/>
                <a:cs typeface="Arial" pitchFamily="34" charset="0"/>
              </a:rPr>
              <a:t>i</a:t>
            </a:r>
            <a:r>
              <a:rPr kumimoji="0" lang="en-US" sz="2400" b="0" i="0" u="none" strike="noStrike" cap="none" normalizeH="0" baseline="0" dirty="0" smtClean="0">
                <a:ln>
                  <a:noFill/>
                </a:ln>
                <a:effectLst/>
                <a:cs typeface="Arial" pitchFamily="34" charset="0"/>
              </a:rPr>
              <a:t> &lt;= n</a:t>
            </a:r>
            <a:r>
              <a:rPr kumimoji="0" lang="en-US" sz="2400" b="1" i="0" u="none" strike="noStrike" cap="none" normalizeH="0" baseline="0" dirty="0" smtClean="0">
                <a:ln>
                  <a:noFill/>
                </a:ln>
                <a:effectLst/>
                <a:cs typeface="Arial" pitchFamily="34" charset="0"/>
              </a:rPr>
              <a:t>:</a:t>
            </a:r>
          </a:p>
          <a:p>
            <a:pPr marL="0" marR="0" lvl="0" indent="0" algn="l" defTabSz="914400" rtl="0" eaLnBrk="1" fontAlgn="base" latinLnBrk="0" hangingPunct="1">
              <a:lnSpc>
                <a:spcPct val="150000"/>
              </a:lnSpc>
              <a:spcBef>
                <a:spcPct val="0"/>
              </a:spcBef>
              <a:spcAft>
                <a:spcPct val="0"/>
              </a:spcAft>
              <a:buClrTx/>
              <a:buSzTx/>
              <a:buFontTx/>
              <a:buNone/>
              <a:tabLst/>
            </a:pPr>
            <a:r>
              <a:rPr kumimoji="0" lang="en-US" sz="2400" b="0" i="0" u="none" strike="noStrike" cap="none" normalizeH="0" baseline="0" dirty="0" smtClean="0">
                <a:ln>
                  <a:noFill/>
                </a:ln>
                <a:effectLst/>
                <a:cs typeface="Arial" pitchFamily="34" charset="0"/>
              </a:rPr>
              <a:t>	sum = sum + i</a:t>
            </a:r>
            <a:endParaRPr lang="en-US" sz="2400" dirty="0" smtClean="0">
              <a:cs typeface="Arial" pitchFamily="34" charset="0"/>
            </a:endParaRPr>
          </a:p>
          <a:p>
            <a:pPr marL="0" marR="0" lvl="0" indent="0" algn="l" defTabSz="914400" rtl="0" eaLnBrk="1" fontAlgn="base" latinLnBrk="0" hangingPunct="1">
              <a:lnSpc>
                <a:spcPct val="150000"/>
              </a:lnSpc>
              <a:spcBef>
                <a:spcPct val="0"/>
              </a:spcBef>
              <a:spcAft>
                <a:spcPct val="0"/>
              </a:spcAft>
              <a:buClrTx/>
              <a:buSzTx/>
              <a:buFontTx/>
              <a:buNone/>
              <a:tabLst/>
            </a:pPr>
            <a:r>
              <a:rPr kumimoji="0" lang="en-US" sz="2400" b="0" i="0" u="none" strike="noStrike" cap="none" normalizeH="0" baseline="0" dirty="0" smtClean="0">
                <a:ln>
                  <a:noFill/>
                </a:ln>
                <a:effectLst/>
                <a:cs typeface="Arial" pitchFamily="34" charset="0"/>
              </a:rPr>
              <a:t> 	</a:t>
            </a:r>
            <a:r>
              <a:rPr kumimoji="0" lang="en-US" sz="2400" b="0" i="0" u="none" strike="noStrike" cap="none" normalizeH="0" baseline="0" dirty="0" err="1" smtClean="0">
                <a:ln>
                  <a:noFill/>
                </a:ln>
                <a:effectLst/>
                <a:cs typeface="Arial" pitchFamily="34" charset="0"/>
              </a:rPr>
              <a:t>i</a:t>
            </a:r>
            <a:r>
              <a:rPr kumimoji="0" lang="en-US" sz="2400" b="0" i="0" u="none" strike="noStrike" cap="none" normalizeH="0" baseline="0" dirty="0" smtClean="0">
                <a:ln>
                  <a:noFill/>
                </a:ln>
                <a:effectLst/>
                <a:cs typeface="Arial" pitchFamily="34" charset="0"/>
              </a:rPr>
              <a:t> = i+1 </a:t>
            </a:r>
          </a:p>
          <a:p>
            <a:pPr marL="0" marR="0" lvl="0" indent="0" algn="l" defTabSz="914400" rtl="0" eaLnBrk="1" fontAlgn="base" latinLnBrk="0" hangingPunct="1">
              <a:lnSpc>
                <a:spcPct val="150000"/>
              </a:lnSpc>
              <a:spcBef>
                <a:spcPct val="0"/>
              </a:spcBef>
              <a:spcAft>
                <a:spcPct val="0"/>
              </a:spcAft>
              <a:buClrTx/>
              <a:buSzTx/>
              <a:buFontTx/>
              <a:buNone/>
              <a:tabLst/>
            </a:pPr>
            <a:r>
              <a:rPr kumimoji="0" lang="en-US" sz="2400" b="0" i="0" u="none" strike="noStrike" cap="none" normalizeH="0" baseline="0" dirty="0" smtClean="0">
                <a:ln>
                  <a:noFill/>
                </a:ln>
                <a:effectLst/>
                <a:cs typeface="Arial" pitchFamily="34" charset="0"/>
              </a:rPr>
              <a:t>print("The sum is", sum) </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04800" y="381000"/>
            <a:ext cx="6172200" cy="3416320"/>
          </a:xfrm>
          <a:prstGeom prst="rect">
            <a:avLst/>
          </a:prstGeom>
          <a:ln>
            <a:solidFill>
              <a:srgbClr val="C00000"/>
            </a:solidFill>
          </a:ln>
        </p:spPr>
        <p:txBody>
          <a:bodyPr wrap="square">
            <a:spAutoFit/>
          </a:bodyPr>
          <a:lstStyle/>
          <a:p>
            <a:r>
              <a:rPr lang="en-US" sz="2400" dirty="0" smtClean="0"/>
              <a:t># Print numbers until the user enters 0</a:t>
            </a:r>
          </a:p>
          <a:p>
            <a:r>
              <a:rPr lang="en-US" sz="2400" dirty="0" smtClean="0"/>
              <a:t>number = </a:t>
            </a:r>
            <a:r>
              <a:rPr lang="en-US" sz="2400" dirty="0" err="1" smtClean="0"/>
              <a:t>int</a:t>
            </a:r>
            <a:r>
              <a:rPr lang="en-US" sz="2400" dirty="0" smtClean="0"/>
              <a:t>(input('Enter a number: '))</a:t>
            </a:r>
          </a:p>
          <a:p>
            <a:endParaRPr lang="en-US" sz="2400" dirty="0" smtClean="0"/>
          </a:p>
          <a:p>
            <a:r>
              <a:rPr lang="en-US" sz="2400" dirty="0" smtClean="0"/>
              <a:t># iterate until the user enters 0</a:t>
            </a:r>
          </a:p>
          <a:p>
            <a:r>
              <a:rPr lang="en-US" sz="2400" dirty="0" smtClean="0"/>
              <a:t>while number != 0:</a:t>
            </a:r>
          </a:p>
          <a:p>
            <a:r>
              <a:rPr lang="en-US" sz="2400" dirty="0" smtClean="0"/>
              <a:t>    print("You entered {number}.", number)</a:t>
            </a:r>
          </a:p>
          <a:p>
            <a:r>
              <a:rPr lang="en-US" sz="2400" dirty="0" smtClean="0"/>
              <a:t>    number = </a:t>
            </a:r>
            <a:r>
              <a:rPr lang="en-US" sz="2400" dirty="0" err="1" smtClean="0"/>
              <a:t>int</a:t>
            </a:r>
            <a:r>
              <a:rPr lang="en-US" sz="2400" dirty="0" smtClean="0"/>
              <a:t>(input('Enter a number: '))</a:t>
            </a:r>
          </a:p>
          <a:p>
            <a:endParaRPr lang="en-US" sz="2400" dirty="0" smtClean="0"/>
          </a:p>
          <a:p>
            <a:r>
              <a:rPr lang="en-US" sz="2400" dirty="0" smtClean="0"/>
              <a:t>print('The end.')</a:t>
            </a:r>
            <a:endParaRPr lang="en-US" sz="2400" dirty="0"/>
          </a:p>
        </p:txBody>
      </p:sp>
      <p:sp>
        <p:nvSpPr>
          <p:cNvPr id="5" name="Rectangle 4"/>
          <p:cNvSpPr/>
          <p:nvPr/>
        </p:nvSpPr>
        <p:spPr>
          <a:xfrm>
            <a:off x="3733800" y="4191000"/>
            <a:ext cx="4572000" cy="1938992"/>
          </a:xfrm>
          <a:prstGeom prst="rect">
            <a:avLst/>
          </a:prstGeom>
          <a:ln>
            <a:solidFill>
              <a:srgbClr val="C00000"/>
            </a:solidFill>
          </a:ln>
        </p:spPr>
        <p:txBody>
          <a:bodyPr>
            <a:spAutoFit/>
          </a:bodyPr>
          <a:lstStyle/>
          <a:p>
            <a:r>
              <a:rPr lang="en-US" sz="2400" dirty="0" smtClean="0"/>
              <a:t>age = 32</a:t>
            </a:r>
          </a:p>
          <a:p>
            <a:endParaRPr lang="en-US" sz="2400" dirty="0" smtClean="0"/>
          </a:p>
          <a:p>
            <a:r>
              <a:rPr lang="en-US" sz="2400" dirty="0" smtClean="0"/>
              <a:t># The test condition is always True</a:t>
            </a:r>
          </a:p>
          <a:p>
            <a:r>
              <a:rPr lang="en-US" sz="2400" dirty="0" smtClean="0"/>
              <a:t>while age &gt; 18:</a:t>
            </a:r>
          </a:p>
          <a:p>
            <a:r>
              <a:rPr lang="en-US" sz="2400" dirty="0" smtClean="0"/>
              <a:t>    print('You can vote')</a:t>
            </a:r>
            <a:endParaRPr lang="en-US" sz="2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81000" y="457200"/>
            <a:ext cx="4572000" cy="1938992"/>
          </a:xfrm>
          <a:prstGeom prst="rect">
            <a:avLst/>
          </a:prstGeom>
          <a:ln>
            <a:solidFill>
              <a:srgbClr val="C00000"/>
            </a:solidFill>
          </a:ln>
        </p:spPr>
        <p:txBody>
          <a:bodyPr>
            <a:spAutoFit/>
          </a:bodyPr>
          <a:lstStyle/>
          <a:p>
            <a:r>
              <a:rPr lang="en-US" sz="2400" dirty="0" smtClean="0"/>
              <a:t>a = 1</a:t>
            </a:r>
          </a:p>
          <a:p>
            <a:endParaRPr lang="en-US" sz="2400" dirty="0" smtClean="0"/>
          </a:p>
          <a:p>
            <a:r>
              <a:rPr lang="en-US" sz="2400" dirty="0" smtClean="0"/>
              <a:t>while a &lt; 10:</a:t>
            </a:r>
          </a:p>
          <a:p>
            <a:r>
              <a:rPr lang="en-US" sz="2400" dirty="0" smtClean="0"/>
              <a:t>    print(a, end=',')</a:t>
            </a:r>
          </a:p>
          <a:p>
            <a:r>
              <a:rPr lang="en-US" sz="2400" dirty="0" smtClean="0"/>
              <a:t>    a += 1</a:t>
            </a:r>
            <a:endParaRPr lang="en-US" sz="2400" dirty="0"/>
          </a:p>
        </p:txBody>
      </p:sp>
      <p:sp>
        <p:nvSpPr>
          <p:cNvPr id="6" name="Rectangle 5"/>
          <p:cNvSpPr/>
          <p:nvPr/>
        </p:nvSpPr>
        <p:spPr>
          <a:xfrm>
            <a:off x="5105400" y="1143000"/>
            <a:ext cx="3352800" cy="954107"/>
          </a:xfrm>
          <a:prstGeom prst="rect">
            <a:avLst/>
          </a:prstGeom>
          <a:ln>
            <a:solidFill>
              <a:srgbClr val="C00000"/>
            </a:solidFill>
          </a:ln>
        </p:spPr>
        <p:txBody>
          <a:bodyPr wrap="square">
            <a:spAutoFit/>
          </a:bodyPr>
          <a:lstStyle/>
          <a:p>
            <a:r>
              <a:rPr lang="en-US" sz="2800" dirty="0" smtClean="0"/>
              <a:t>for a in range(10):</a:t>
            </a:r>
          </a:p>
          <a:p>
            <a:r>
              <a:rPr lang="en-US" sz="2800" dirty="0" smtClean="0"/>
              <a:t>    print(a, end=" ")</a:t>
            </a:r>
            <a:endParaRPr lang="en-US" sz="2800" dirty="0"/>
          </a:p>
        </p:txBody>
      </p:sp>
      <p:sp>
        <p:nvSpPr>
          <p:cNvPr id="7" name="Rectangle 6"/>
          <p:cNvSpPr/>
          <p:nvPr/>
        </p:nvSpPr>
        <p:spPr>
          <a:xfrm>
            <a:off x="228600" y="3200400"/>
            <a:ext cx="8686800" cy="967957"/>
          </a:xfrm>
          <a:prstGeom prst="rect">
            <a:avLst/>
          </a:prstGeom>
        </p:spPr>
        <p:txBody>
          <a:bodyPr wrap="square">
            <a:spAutoFit/>
          </a:bodyPr>
          <a:lstStyle/>
          <a:p>
            <a:pPr>
              <a:lnSpc>
                <a:spcPct val="150000"/>
              </a:lnSpc>
            </a:pPr>
            <a:r>
              <a:rPr lang="en-US" sz="2000" dirty="0" smtClean="0"/>
              <a:t>Write a Python program to print the square of all numbers from 0 to 10.</a:t>
            </a:r>
          </a:p>
          <a:p>
            <a:pPr>
              <a:lnSpc>
                <a:spcPct val="150000"/>
              </a:lnSpc>
            </a:pPr>
            <a:r>
              <a:rPr lang="en-US" sz="2000" dirty="0" smtClean="0"/>
              <a:t>Write a Python program to find the sum of all even numbers from 0 to 10.</a:t>
            </a:r>
            <a:endParaRPr lang="en-US" sz="2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7340" y="389890"/>
            <a:ext cx="5866130" cy="482600"/>
          </a:xfrm>
          <a:prstGeom prst="rect">
            <a:avLst/>
          </a:prstGeom>
        </p:spPr>
        <p:txBody>
          <a:bodyPr vert="horz" wrap="square" lIns="0" tIns="12700" rIns="0" bIns="0" rtlCol="0">
            <a:spAutoFit/>
          </a:bodyPr>
          <a:lstStyle/>
          <a:p>
            <a:pPr marL="12700">
              <a:lnSpc>
                <a:spcPct val="100000"/>
              </a:lnSpc>
              <a:spcBef>
                <a:spcPts val="100"/>
              </a:spcBef>
            </a:pPr>
            <a:r>
              <a:rPr sz="3000" spc="-5" dirty="0">
                <a:solidFill>
                  <a:srgbClr val="FF0000"/>
                </a:solidFill>
              </a:rPr>
              <a:t>Using else </a:t>
            </a:r>
            <a:r>
              <a:rPr sz="3000" spc="-20" dirty="0">
                <a:solidFill>
                  <a:srgbClr val="FF0000"/>
                </a:solidFill>
              </a:rPr>
              <a:t>statement </a:t>
            </a:r>
            <a:r>
              <a:rPr sz="3000" dirty="0">
                <a:solidFill>
                  <a:srgbClr val="FF0000"/>
                </a:solidFill>
              </a:rPr>
              <a:t>with </a:t>
            </a:r>
            <a:r>
              <a:rPr sz="3000" spc="-5" dirty="0">
                <a:solidFill>
                  <a:srgbClr val="FF0000"/>
                </a:solidFill>
              </a:rPr>
              <a:t>while</a:t>
            </a:r>
            <a:r>
              <a:rPr sz="3000" spc="-65" dirty="0">
                <a:solidFill>
                  <a:srgbClr val="FF0000"/>
                </a:solidFill>
              </a:rPr>
              <a:t> </a:t>
            </a:r>
            <a:r>
              <a:rPr sz="3000" spc="-5" dirty="0">
                <a:solidFill>
                  <a:srgbClr val="FF0000"/>
                </a:solidFill>
              </a:rPr>
              <a:t>loops</a:t>
            </a:r>
            <a:endParaRPr sz="3000"/>
          </a:p>
        </p:txBody>
      </p:sp>
      <p:sp>
        <p:nvSpPr>
          <p:cNvPr id="3" name="object 3"/>
          <p:cNvSpPr txBox="1"/>
          <p:nvPr/>
        </p:nvSpPr>
        <p:spPr>
          <a:xfrm>
            <a:off x="307340" y="938529"/>
            <a:ext cx="8530590" cy="2974340"/>
          </a:xfrm>
          <a:prstGeom prst="rect">
            <a:avLst/>
          </a:prstGeom>
        </p:spPr>
        <p:txBody>
          <a:bodyPr vert="horz" wrap="square" lIns="0" tIns="12700" rIns="0" bIns="0" rtlCol="0">
            <a:spAutoFit/>
          </a:bodyPr>
          <a:lstStyle/>
          <a:p>
            <a:pPr marL="355600" marR="5080" indent="-342900">
              <a:lnSpc>
                <a:spcPct val="100000"/>
              </a:lnSpc>
              <a:spcBef>
                <a:spcPts val="100"/>
              </a:spcBef>
              <a:buFont typeface="Wingdings"/>
              <a:buChar char=""/>
              <a:tabLst>
                <a:tab pos="354965" algn="l"/>
                <a:tab pos="355600" algn="l"/>
              </a:tabLst>
            </a:pPr>
            <a:r>
              <a:rPr sz="3000" dirty="0">
                <a:latin typeface="Calibri"/>
                <a:cs typeface="Calibri"/>
              </a:rPr>
              <a:t>Python </a:t>
            </a:r>
            <a:r>
              <a:rPr sz="3000" spc="-5" dirty="0">
                <a:latin typeface="Calibri"/>
                <a:cs typeface="Calibri"/>
              </a:rPr>
              <a:t>supports </a:t>
            </a:r>
            <a:r>
              <a:rPr sz="3000" spc="-10" dirty="0" smtClean="0">
                <a:latin typeface="Calibri"/>
                <a:cs typeface="Calibri"/>
              </a:rPr>
              <a:t>else </a:t>
            </a:r>
            <a:r>
              <a:rPr sz="3000" spc="-25" dirty="0">
                <a:latin typeface="Calibri"/>
                <a:cs typeface="Calibri"/>
              </a:rPr>
              <a:t>statement </a:t>
            </a:r>
            <a:r>
              <a:rPr sz="3000" spc="-10" dirty="0">
                <a:latin typeface="Calibri"/>
                <a:cs typeface="Calibri"/>
              </a:rPr>
              <a:t>associated  </a:t>
            </a:r>
            <a:r>
              <a:rPr sz="3000" dirty="0">
                <a:latin typeface="Calibri"/>
                <a:cs typeface="Calibri"/>
              </a:rPr>
              <a:t>with a loop</a:t>
            </a:r>
            <a:r>
              <a:rPr sz="3000" spc="-15" dirty="0">
                <a:latin typeface="Calibri"/>
                <a:cs typeface="Calibri"/>
              </a:rPr>
              <a:t> </a:t>
            </a:r>
            <a:r>
              <a:rPr sz="3000" spc="-20" dirty="0">
                <a:latin typeface="Calibri"/>
                <a:cs typeface="Calibri"/>
              </a:rPr>
              <a:t>statement.</a:t>
            </a:r>
            <a:endParaRPr sz="3000" dirty="0">
              <a:latin typeface="Calibri"/>
              <a:cs typeface="Calibri"/>
            </a:endParaRPr>
          </a:p>
          <a:p>
            <a:pPr marL="355600" marR="5080" indent="-342900">
              <a:lnSpc>
                <a:spcPct val="100000"/>
              </a:lnSpc>
              <a:spcBef>
                <a:spcPts val="720"/>
              </a:spcBef>
              <a:buFont typeface="Wingdings"/>
              <a:buChar char=""/>
              <a:tabLst>
                <a:tab pos="354965" algn="l"/>
                <a:tab pos="355600" algn="l"/>
              </a:tabLst>
            </a:pPr>
            <a:r>
              <a:rPr sz="3000" dirty="0">
                <a:latin typeface="Calibri"/>
                <a:cs typeface="Calibri"/>
              </a:rPr>
              <a:t>If the </a:t>
            </a:r>
            <a:r>
              <a:rPr sz="3000" spc="-5" dirty="0">
                <a:latin typeface="Calibri"/>
                <a:cs typeface="Calibri"/>
              </a:rPr>
              <a:t>else </a:t>
            </a:r>
            <a:r>
              <a:rPr sz="3000" spc="-25" dirty="0">
                <a:latin typeface="Calibri"/>
                <a:cs typeface="Calibri"/>
              </a:rPr>
              <a:t>statement </a:t>
            </a:r>
            <a:r>
              <a:rPr sz="3000" spc="-5" dirty="0">
                <a:latin typeface="Calibri"/>
                <a:cs typeface="Calibri"/>
              </a:rPr>
              <a:t>is </a:t>
            </a:r>
            <a:r>
              <a:rPr sz="3000" spc="-10" dirty="0">
                <a:latin typeface="Calibri"/>
                <a:cs typeface="Calibri"/>
              </a:rPr>
              <a:t>used </a:t>
            </a:r>
            <a:r>
              <a:rPr sz="3000" dirty="0">
                <a:latin typeface="Calibri"/>
                <a:cs typeface="Calibri"/>
              </a:rPr>
              <a:t>with a </a:t>
            </a:r>
            <a:r>
              <a:rPr sz="3000" spc="-5" dirty="0">
                <a:latin typeface="Calibri"/>
                <a:cs typeface="Calibri"/>
              </a:rPr>
              <a:t>while </a:t>
            </a:r>
            <a:r>
              <a:rPr sz="3000" dirty="0">
                <a:latin typeface="Calibri"/>
                <a:cs typeface="Calibri"/>
              </a:rPr>
              <a:t>loop, the  </a:t>
            </a:r>
            <a:r>
              <a:rPr sz="3000" spc="-5" dirty="0">
                <a:latin typeface="Calibri"/>
                <a:cs typeface="Calibri"/>
              </a:rPr>
              <a:t>else </a:t>
            </a:r>
            <a:r>
              <a:rPr sz="3000" spc="-20" dirty="0">
                <a:latin typeface="Calibri"/>
                <a:cs typeface="Calibri"/>
              </a:rPr>
              <a:t>statement </a:t>
            </a:r>
            <a:r>
              <a:rPr sz="3000" spc="-5" dirty="0">
                <a:latin typeface="Calibri"/>
                <a:cs typeface="Calibri"/>
              </a:rPr>
              <a:t>is </a:t>
            </a:r>
            <a:r>
              <a:rPr sz="3000" spc="-25" dirty="0">
                <a:latin typeface="Calibri"/>
                <a:cs typeface="Calibri"/>
              </a:rPr>
              <a:t>executed </a:t>
            </a:r>
            <a:r>
              <a:rPr sz="3000" dirty="0">
                <a:latin typeface="Calibri"/>
                <a:cs typeface="Calibri"/>
              </a:rPr>
              <a:t>when the </a:t>
            </a:r>
            <a:r>
              <a:rPr sz="3000" spc="-10" dirty="0">
                <a:latin typeface="Calibri"/>
                <a:cs typeface="Calibri"/>
              </a:rPr>
              <a:t>condition</a:t>
            </a:r>
            <a:r>
              <a:rPr sz="3000" spc="-25" dirty="0">
                <a:latin typeface="Calibri"/>
                <a:cs typeface="Calibri"/>
              </a:rPr>
              <a:t> </a:t>
            </a:r>
            <a:r>
              <a:rPr sz="3000" spc="-15" dirty="0">
                <a:latin typeface="Calibri"/>
                <a:cs typeface="Calibri"/>
              </a:rPr>
              <a:t>false.</a:t>
            </a:r>
            <a:endParaRPr sz="3000" dirty="0">
              <a:latin typeface="Calibri"/>
              <a:cs typeface="Calibri"/>
            </a:endParaRPr>
          </a:p>
          <a:p>
            <a:pPr marL="12700">
              <a:lnSpc>
                <a:spcPct val="100000"/>
              </a:lnSpc>
              <a:spcBef>
                <a:spcPts val="720"/>
              </a:spcBef>
            </a:pPr>
            <a:r>
              <a:rPr sz="3000" spc="-20" dirty="0">
                <a:solidFill>
                  <a:srgbClr val="FF0000"/>
                </a:solidFill>
                <a:latin typeface="Calibri"/>
                <a:cs typeface="Calibri"/>
              </a:rPr>
              <a:t>Program </a:t>
            </a:r>
            <a:r>
              <a:rPr sz="3000" spc="-15" dirty="0">
                <a:solidFill>
                  <a:srgbClr val="FF0000"/>
                </a:solidFill>
                <a:latin typeface="Calibri"/>
                <a:cs typeface="Calibri"/>
              </a:rPr>
              <a:t>to </a:t>
            </a:r>
            <a:r>
              <a:rPr sz="3000" spc="-20" dirty="0">
                <a:solidFill>
                  <a:srgbClr val="FF0000"/>
                </a:solidFill>
                <a:latin typeface="Calibri"/>
                <a:cs typeface="Calibri"/>
              </a:rPr>
              <a:t>illustrate </a:t>
            </a:r>
            <a:r>
              <a:rPr sz="3000" dirty="0">
                <a:solidFill>
                  <a:srgbClr val="FF0000"/>
                </a:solidFill>
                <a:latin typeface="Calibri"/>
                <a:cs typeface="Calibri"/>
              </a:rPr>
              <a:t>the </a:t>
            </a:r>
            <a:r>
              <a:rPr sz="3000" spc="-5" dirty="0">
                <a:solidFill>
                  <a:srgbClr val="FF0000"/>
                </a:solidFill>
                <a:latin typeface="Calibri"/>
                <a:cs typeface="Calibri"/>
              </a:rPr>
              <a:t>else in </a:t>
            </a:r>
            <a:r>
              <a:rPr sz="3000" spc="-5">
                <a:solidFill>
                  <a:srgbClr val="FF0000"/>
                </a:solidFill>
                <a:latin typeface="Calibri"/>
                <a:cs typeface="Calibri"/>
              </a:rPr>
              <a:t>while</a:t>
            </a:r>
            <a:r>
              <a:rPr sz="3000" spc="20">
                <a:solidFill>
                  <a:srgbClr val="FF0000"/>
                </a:solidFill>
                <a:latin typeface="Calibri"/>
                <a:cs typeface="Calibri"/>
              </a:rPr>
              <a:t> </a:t>
            </a:r>
            <a:r>
              <a:rPr sz="3000" smtClean="0">
                <a:solidFill>
                  <a:srgbClr val="FF0000"/>
                </a:solidFill>
                <a:latin typeface="Calibri"/>
                <a:cs typeface="Calibri"/>
              </a:rPr>
              <a:t>loop</a:t>
            </a:r>
            <a:endParaRPr sz="3000" dirty="0">
              <a:latin typeface="Calibri"/>
              <a:cs typeface="Calibri"/>
            </a:endParaRPr>
          </a:p>
          <a:p>
            <a:pPr marL="12700">
              <a:lnSpc>
                <a:spcPct val="100000"/>
              </a:lnSpc>
              <a:spcBef>
                <a:spcPts val="655"/>
              </a:spcBef>
            </a:pPr>
            <a:r>
              <a:rPr sz="2600" spc="-15" dirty="0">
                <a:latin typeface="Calibri"/>
                <a:cs typeface="Calibri"/>
              </a:rPr>
              <a:t>counter </a:t>
            </a:r>
            <a:r>
              <a:rPr sz="2600" dirty="0">
                <a:latin typeface="Calibri"/>
                <a:cs typeface="Calibri"/>
              </a:rPr>
              <a:t>=</a:t>
            </a:r>
            <a:r>
              <a:rPr sz="2600" spc="-5" dirty="0">
                <a:latin typeface="Calibri"/>
                <a:cs typeface="Calibri"/>
              </a:rPr>
              <a:t> </a:t>
            </a:r>
            <a:r>
              <a:rPr sz="2600" dirty="0">
                <a:latin typeface="Calibri"/>
                <a:cs typeface="Calibri"/>
              </a:rPr>
              <a:t>0</a:t>
            </a:r>
          </a:p>
        </p:txBody>
      </p:sp>
      <p:sp>
        <p:nvSpPr>
          <p:cNvPr id="4" name="object 4"/>
          <p:cNvSpPr txBox="1"/>
          <p:nvPr/>
        </p:nvSpPr>
        <p:spPr>
          <a:xfrm>
            <a:off x="307340" y="3887190"/>
            <a:ext cx="3248025" cy="2403475"/>
          </a:xfrm>
          <a:prstGeom prst="rect">
            <a:avLst/>
          </a:prstGeom>
        </p:spPr>
        <p:txBody>
          <a:bodyPr vert="horz" wrap="square" lIns="0" tIns="12700" rIns="0" bIns="0" rtlCol="0">
            <a:spAutoFit/>
          </a:bodyPr>
          <a:lstStyle/>
          <a:p>
            <a:pPr marL="355600" marR="5080" indent="-342900">
              <a:lnSpc>
                <a:spcPct val="120000"/>
              </a:lnSpc>
              <a:spcBef>
                <a:spcPts val="100"/>
              </a:spcBef>
            </a:pPr>
            <a:r>
              <a:rPr sz="2600" dirty="0">
                <a:latin typeface="Calibri"/>
                <a:cs typeface="Calibri"/>
              </a:rPr>
              <a:t>while </a:t>
            </a:r>
            <a:r>
              <a:rPr sz="2600" spc="-15" dirty="0">
                <a:latin typeface="Calibri"/>
                <a:cs typeface="Calibri"/>
              </a:rPr>
              <a:t>counter </a:t>
            </a:r>
            <a:r>
              <a:rPr sz="2600" dirty="0">
                <a:latin typeface="Calibri"/>
                <a:cs typeface="Calibri"/>
              </a:rPr>
              <a:t>&lt; 3:  </a:t>
            </a:r>
            <a:r>
              <a:rPr sz="2600" spc="-5" dirty="0">
                <a:latin typeface="Calibri"/>
                <a:cs typeface="Calibri"/>
              </a:rPr>
              <a:t>print("Inside </a:t>
            </a:r>
            <a:r>
              <a:rPr sz="2600" dirty="0">
                <a:latin typeface="Calibri"/>
                <a:cs typeface="Calibri"/>
              </a:rPr>
              <a:t>loop")  </a:t>
            </a:r>
            <a:r>
              <a:rPr sz="2600" spc="-15" dirty="0">
                <a:latin typeface="Calibri"/>
                <a:cs typeface="Calibri"/>
              </a:rPr>
              <a:t>counter </a:t>
            </a:r>
            <a:r>
              <a:rPr sz="2600" dirty="0">
                <a:latin typeface="Calibri"/>
                <a:cs typeface="Calibri"/>
              </a:rPr>
              <a:t>= </a:t>
            </a:r>
            <a:r>
              <a:rPr sz="2600" spc="-15" dirty="0">
                <a:latin typeface="Calibri"/>
                <a:cs typeface="Calibri"/>
              </a:rPr>
              <a:t>counter </a:t>
            </a:r>
            <a:r>
              <a:rPr sz="2600" dirty="0">
                <a:latin typeface="Calibri"/>
                <a:cs typeface="Calibri"/>
              </a:rPr>
              <a:t>+</a:t>
            </a:r>
            <a:r>
              <a:rPr sz="2600" spc="-35" dirty="0">
                <a:latin typeface="Calibri"/>
                <a:cs typeface="Calibri"/>
              </a:rPr>
              <a:t> </a:t>
            </a:r>
            <a:r>
              <a:rPr sz="2600" dirty="0">
                <a:latin typeface="Calibri"/>
                <a:cs typeface="Calibri"/>
              </a:rPr>
              <a:t>1</a:t>
            </a:r>
            <a:endParaRPr sz="2600">
              <a:latin typeface="Calibri"/>
              <a:cs typeface="Calibri"/>
            </a:endParaRPr>
          </a:p>
          <a:p>
            <a:pPr marL="12700">
              <a:lnSpc>
                <a:spcPct val="100000"/>
              </a:lnSpc>
              <a:spcBef>
                <a:spcPts val="625"/>
              </a:spcBef>
            </a:pPr>
            <a:r>
              <a:rPr sz="2600" dirty="0">
                <a:latin typeface="Calibri"/>
                <a:cs typeface="Calibri"/>
              </a:rPr>
              <a:t>else:</a:t>
            </a:r>
            <a:endParaRPr sz="2600">
              <a:latin typeface="Calibri"/>
              <a:cs typeface="Calibri"/>
            </a:endParaRPr>
          </a:p>
          <a:p>
            <a:pPr marL="355600">
              <a:lnSpc>
                <a:spcPct val="100000"/>
              </a:lnSpc>
              <a:spcBef>
                <a:spcPts val="625"/>
              </a:spcBef>
            </a:pPr>
            <a:r>
              <a:rPr sz="2600" spc="-5" dirty="0">
                <a:latin typeface="Calibri"/>
                <a:cs typeface="Calibri"/>
              </a:rPr>
              <a:t>print(“Outside</a:t>
            </a:r>
            <a:r>
              <a:rPr sz="2600" spc="-90" dirty="0">
                <a:latin typeface="Calibri"/>
                <a:cs typeface="Calibri"/>
              </a:rPr>
              <a:t> </a:t>
            </a:r>
            <a:r>
              <a:rPr sz="2600" dirty="0">
                <a:latin typeface="Calibri"/>
                <a:cs typeface="Calibri"/>
              </a:rPr>
              <a:t>loop")</a:t>
            </a:r>
            <a:endParaRPr sz="2600">
              <a:latin typeface="Calibri"/>
              <a:cs typeface="Calibri"/>
            </a:endParaRPr>
          </a:p>
        </p:txBody>
      </p:sp>
      <p:grpSp>
        <p:nvGrpSpPr>
          <p:cNvPr id="5" name="object 5"/>
          <p:cNvGrpSpPr/>
          <p:nvPr/>
        </p:nvGrpSpPr>
        <p:grpSpPr>
          <a:xfrm>
            <a:off x="4864608" y="3569208"/>
            <a:ext cx="3607435" cy="2693035"/>
            <a:chOff x="4864608" y="3569208"/>
            <a:chExt cx="3607435" cy="2693035"/>
          </a:xfrm>
        </p:grpSpPr>
        <p:sp>
          <p:nvSpPr>
            <p:cNvPr id="6" name="object 6"/>
            <p:cNvSpPr/>
            <p:nvPr/>
          </p:nvSpPr>
          <p:spPr>
            <a:xfrm>
              <a:off x="4877562" y="3582162"/>
              <a:ext cx="3581400" cy="2667000"/>
            </a:xfrm>
            <a:custGeom>
              <a:avLst/>
              <a:gdLst/>
              <a:ahLst/>
              <a:cxnLst/>
              <a:rect l="l" t="t" r="r" b="b"/>
              <a:pathLst>
                <a:path w="3581400" h="2667000">
                  <a:moveTo>
                    <a:pt x="3136899" y="0"/>
                  </a:moveTo>
                  <a:lnTo>
                    <a:pt x="444500" y="0"/>
                  </a:lnTo>
                  <a:lnTo>
                    <a:pt x="396066" y="2608"/>
                  </a:lnTo>
                  <a:lnTo>
                    <a:pt x="349144" y="10252"/>
                  </a:lnTo>
                  <a:lnTo>
                    <a:pt x="304003" y="22660"/>
                  </a:lnTo>
                  <a:lnTo>
                    <a:pt x="260915" y="39562"/>
                  </a:lnTo>
                  <a:lnTo>
                    <a:pt x="220152" y="60687"/>
                  </a:lnTo>
                  <a:lnTo>
                    <a:pt x="181983" y="85762"/>
                  </a:lnTo>
                  <a:lnTo>
                    <a:pt x="146682" y="114517"/>
                  </a:lnTo>
                  <a:lnTo>
                    <a:pt x="114517" y="146682"/>
                  </a:lnTo>
                  <a:lnTo>
                    <a:pt x="85762" y="181983"/>
                  </a:lnTo>
                  <a:lnTo>
                    <a:pt x="60687" y="220152"/>
                  </a:lnTo>
                  <a:lnTo>
                    <a:pt x="39562" y="260915"/>
                  </a:lnTo>
                  <a:lnTo>
                    <a:pt x="22660" y="304003"/>
                  </a:lnTo>
                  <a:lnTo>
                    <a:pt x="10252" y="349144"/>
                  </a:lnTo>
                  <a:lnTo>
                    <a:pt x="2608" y="396066"/>
                  </a:lnTo>
                  <a:lnTo>
                    <a:pt x="0" y="444500"/>
                  </a:lnTo>
                  <a:lnTo>
                    <a:pt x="0" y="2222487"/>
                  </a:lnTo>
                  <a:lnTo>
                    <a:pt x="2608" y="2270922"/>
                  </a:lnTo>
                  <a:lnTo>
                    <a:pt x="10252" y="2317847"/>
                  </a:lnTo>
                  <a:lnTo>
                    <a:pt x="22660" y="2362990"/>
                  </a:lnTo>
                  <a:lnTo>
                    <a:pt x="39562" y="2406079"/>
                  </a:lnTo>
                  <a:lnTo>
                    <a:pt x="60687" y="2446844"/>
                  </a:lnTo>
                  <a:lnTo>
                    <a:pt x="85762" y="2485013"/>
                  </a:lnTo>
                  <a:lnTo>
                    <a:pt x="114517" y="2520315"/>
                  </a:lnTo>
                  <a:lnTo>
                    <a:pt x="146682" y="2552480"/>
                  </a:lnTo>
                  <a:lnTo>
                    <a:pt x="181983" y="2581236"/>
                  </a:lnTo>
                  <a:lnTo>
                    <a:pt x="220152" y="2606312"/>
                  </a:lnTo>
                  <a:lnTo>
                    <a:pt x="260915" y="2627436"/>
                  </a:lnTo>
                  <a:lnTo>
                    <a:pt x="304003" y="2644339"/>
                  </a:lnTo>
                  <a:lnTo>
                    <a:pt x="349144" y="2656747"/>
                  </a:lnTo>
                  <a:lnTo>
                    <a:pt x="396066" y="2664391"/>
                  </a:lnTo>
                  <a:lnTo>
                    <a:pt x="444500" y="2667000"/>
                  </a:lnTo>
                  <a:lnTo>
                    <a:pt x="3136899" y="2667000"/>
                  </a:lnTo>
                  <a:lnTo>
                    <a:pt x="3185333" y="2664391"/>
                  </a:lnTo>
                  <a:lnTo>
                    <a:pt x="3232255" y="2656747"/>
                  </a:lnTo>
                  <a:lnTo>
                    <a:pt x="3277396" y="2644339"/>
                  </a:lnTo>
                  <a:lnTo>
                    <a:pt x="3320484" y="2627436"/>
                  </a:lnTo>
                  <a:lnTo>
                    <a:pt x="3361247" y="2606312"/>
                  </a:lnTo>
                  <a:lnTo>
                    <a:pt x="3399416" y="2581236"/>
                  </a:lnTo>
                  <a:lnTo>
                    <a:pt x="3434717" y="2552480"/>
                  </a:lnTo>
                  <a:lnTo>
                    <a:pt x="3466882" y="2520315"/>
                  </a:lnTo>
                  <a:lnTo>
                    <a:pt x="3495637" y="2485013"/>
                  </a:lnTo>
                  <a:lnTo>
                    <a:pt x="3520712" y="2446844"/>
                  </a:lnTo>
                  <a:lnTo>
                    <a:pt x="3541837" y="2406079"/>
                  </a:lnTo>
                  <a:lnTo>
                    <a:pt x="3558739" y="2362990"/>
                  </a:lnTo>
                  <a:lnTo>
                    <a:pt x="3571147" y="2317847"/>
                  </a:lnTo>
                  <a:lnTo>
                    <a:pt x="3578791" y="2270922"/>
                  </a:lnTo>
                  <a:lnTo>
                    <a:pt x="3581399" y="2222487"/>
                  </a:lnTo>
                  <a:lnTo>
                    <a:pt x="3581399" y="444500"/>
                  </a:lnTo>
                  <a:lnTo>
                    <a:pt x="3578791" y="396066"/>
                  </a:lnTo>
                  <a:lnTo>
                    <a:pt x="3571147" y="349144"/>
                  </a:lnTo>
                  <a:lnTo>
                    <a:pt x="3558739" y="304003"/>
                  </a:lnTo>
                  <a:lnTo>
                    <a:pt x="3541837" y="260915"/>
                  </a:lnTo>
                  <a:lnTo>
                    <a:pt x="3520712" y="220152"/>
                  </a:lnTo>
                  <a:lnTo>
                    <a:pt x="3495637" y="181983"/>
                  </a:lnTo>
                  <a:lnTo>
                    <a:pt x="3466882" y="146682"/>
                  </a:lnTo>
                  <a:lnTo>
                    <a:pt x="3434717" y="114517"/>
                  </a:lnTo>
                  <a:lnTo>
                    <a:pt x="3399416" y="85762"/>
                  </a:lnTo>
                  <a:lnTo>
                    <a:pt x="3361247" y="60687"/>
                  </a:lnTo>
                  <a:lnTo>
                    <a:pt x="3320484" y="39562"/>
                  </a:lnTo>
                  <a:lnTo>
                    <a:pt x="3277396" y="22660"/>
                  </a:lnTo>
                  <a:lnTo>
                    <a:pt x="3232255" y="10252"/>
                  </a:lnTo>
                  <a:lnTo>
                    <a:pt x="3185333" y="2608"/>
                  </a:lnTo>
                  <a:lnTo>
                    <a:pt x="3136899" y="0"/>
                  </a:lnTo>
                  <a:close/>
                </a:path>
              </a:pathLst>
            </a:custGeom>
            <a:solidFill>
              <a:srgbClr val="548ED4"/>
            </a:solidFill>
          </p:spPr>
          <p:txBody>
            <a:bodyPr wrap="square" lIns="0" tIns="0" rIns="0" bIns="0" rtlCol="0"/>
            <a:lstStyle/>
            <a:p>
              <a:endParaRPr/>
            </a:p>
          </p:txBody>
        </p:sp>
        <p:sp>
          <p:nvSpPr>
            <p:cNvPr id="7" name="object 7"/>
            <p:cNvSpPr/>
            <p:nvPr/>
          </p:nvSpPr>
          <p:spPr>
            <a:xfrm>
              <a:off x="4877562" y="3582162"/>
              <a:ext cx="3581400" cy="2667000"/>
            </a:xfrm>
            <a:custGeom>
              <a:avLst/>
              <a:gdLst/>
              <a:ahLst/>
              <a:cxnLst/>
              <a:rect l="l" t="t" r="r" b="b"/>
              <a:pathLst>
                <a:path w="3581400" h="2667000">
                  <a:moveTo>
                    <a:pt x="0" y="444500"/>
                  </a:moveTo>
                  <a:lnTo>
                    <a:pt x="2608" y="396066"/>
                  </a:lnTo>
                  <a:lnTo>
                    <a:pt x="10252" y="349144"/>
                  </a:lnTo>
                  <a:lnTo>
                    <a:pt x="22660" y="304003"/>
                  </a:lnTo>
                  <a:lnTo>
                    <a:pt x="39562" y="260915"/>
                  </a:lnTo>
                  <a:lnTo>
                    <a:pt x="60687" y="220152"/>
                  </a:lnTo>
                  <a:lnTo>
                    <a:pt x="85762" y="181983"/>
                  </a:lnTo>
                  <a:lnTo>
                    <a:pt x="114517" y="146682"/>
                  </a:lnTo>
                  <a:lnTo>
                    <a:pt x="146682" y="114517"/>
                  </a:lnTo>
                  <a:lnTo>
                    <a:pt x="181983" y="85762"/>
                  </a:lnTo>
                  <a:lnTo>
                    <a:pt x="220152" y="60687"/>
                  </a:lnTo>
                  <a:lnTo>
                    <a:pt x="260915" y="39562"/>
                  </a:lnTo>
                  <a:lnTo>
                    <a:pt x="304003" y="22660"/>
                  </a:lnTo>
                  <a:lnTo>
                    <a:pt x="349144" y="10252"/>
                  </a:lnTo>
                  <a:lnTo>
                    <a:pt x="396066" y="2608"/>
                  </a:lnTo>
                  <a:lnTo>
                    <a:pt x="444500" y="0"/>
                  </a:lnTo>
                  <a:lnTo>
                    <a:pt x="3136899" y="0"/>
                  </a:lnTo>
                  <a:lnTo>
                    <a:pt x="3185333" y="2608"/>
                  </a:lnTo>
                  <a:lnTo>
                    <a:pt x="3232255" y="10252"/>
                  </a:lnTo>
                  <a:lnTo>
                    <a:pt x="3277396" y="22660"/>
                  </a:lnTo>
                  <a:lnTo>
                    <a:pt x="3320484" y="39562"/>
                  </a:lnTo>
                  <a:lnTo>
                    <a:pt x="3361247" y="60687"/>
                  </a:lnTo>
                  <a:lnTo>
                    <a:pt x="3399416" y="85762"/>
                  </a:lnTo>
                  <a:lnTo>
                    <a:pt x="3434717" y="114517"/>
                  </a:lnTo>
                  <a:lnTo>
                    <a:pt x="3466882" y="146682"/>
                  </a:lnTo>
                  <a:lnTo>
                    <a:pt x="3495637" y="181983"/>
                  </a:lnTo>
                  <a:lnTo>
                    <a:pt x="3520712" y="220152"/>
                  </a:lnTo>
                  <a:lnTo>
                    <a:pt x="3541837" y="260915"/>
                  </a:lnTo>
                  <a:lnTo>
                    <a:pt x="3558739" y="304003"/>
                  </a:lnTo>
                  <a:lnTo>
                    <a:pt x="3571147" y="349144"/>
                  </a:lnTo>
                  <a:lnTo>
                    <a:pt x="3578791" y="396066"/>
                  </a:lnTo>
                  <a:lnTo>
                    <a:pt x="3581399" y="444500"/>
                  </a:lnTo>
                  <a:lnTo>
                    <a:pt x="3581399" y="2222487"/>
                  </a:lnTo>
                  <a:lnTo>
                    <a:pt x="3578791" y="2270922"/>
                  </a:lnTo>
                  <a:lnTo>
                    <a:pt x="3571147" y="2317847"/>
                  </a:lnTo>
                  <a:lnTo>
                    <a:pt x="3558739" y="2362990"/>
                  </a:lnTo>
                  <a:lnTo>
                    <a:pt x="3541837" y="2406079"/>
                  </a:lnTo>
                  <a:lnTo>
                    <a:pt x="3520712" y="2446844"/>
                  </a:lnTo>
                  <a:lnTo>
                    <a:pt x="3495637" y="2485013"/>
                  </a:lnTo>
                  <a:lnTo>
                    <a:pt x="3466882" y="2520315"/>
                  </a:lnTo>
                  <a:lnTo>
                    <a:pt x="3434717" y="2552480"/>
                  </a:lnTo>
                  <a:lnTo>
                    <a:pt x="3399416" y="2581236"/>
                  </a:lnTo>
                  <a:lnTo>
                    <a:pt x="3361247" y="2606312"/>
                  </a:lnTo>
                  <a:lnTo>
                    <a:pt x="3320484" y="2627436"/>
                  </a:lnTo>
                  <a:lnTo>
                    <a:pt x="3277396" y="2644339"/>
                  </a:lnTo>
                  <a:lnTo>
                    <a:pt x="3232255" y="2656747"/>
                  </a:lnTo>
                  <a:lnTo>
                    <a:pt x="3185333" y="2664391"/>
                  </a:lnTo>
                  <a:lnTo>
                    <a:pt x="3136899" y="2667000"/>
                  </a:lnTo>
                  <a:lnTo>
                    <a:pt x="444500" y="2667000"/>
                  </a:lnTo>
                  <a:lnTo>
                    <a:pt x="396066" y="2664391"/>
                  </a:lnTo>
                  <a:lnTo>
                    <a:pt x="349144" y="2656747"/>
                  </a:lnTo>
                  <a:lnTo>
                    <a:pt x="304003" y="2644339"/>
                  </a:lnTo>
                  <a:lnTo>
                    <a:pt x="260915" y="2627436"/>
                  </a:lnTo>
                  <a:lnTo>
                    <a:pt x="220152" y="2606312"/>
                  </a:lnTo>
                  <a:lnTo>
                    <a:pt x="181983" y="2581236"/>
                  </a:lnTo>
                  <a:lnTo>
                    <a:pt x="146682" y="2552480"/>
                  </a:lnTo>
                  <a:lnTo>
                    <a:pt x="114517" y="2520315"/>
                  </a:lnTo>
                  <a:lnTo>
                    <a:pt x="85762" y="2485013"/>
                  </a:lnTo>
                  <a:lnTo>
                    <a:pt x="60687" y="2446844"/>
                  </a:lnTo>
                  <a:lnTo>
                    <a:pt x="39562" y="2406079"/>
                  </a:lnTo>
                  <a:lnTo>
                    <a:pt x="22660" y="2362990"/>
                  </a:lnTo>
                  <a:lnTo>
                    <a:pt x="10252" y="2317847"/>
                  </a:lnTo>
                  <a:lnTo>
                    <a:pt x="2608" y="2270922"/>
                  </a:lnTo>
                  <a:lnTo>
                    <a:pt x="0" y="2222487"/>
                  </a:lnTo>
                  <a:lnTo>
                    <a:pt x="0" y="444500"/>
                  </a:lnTo>
                  <a:close/>
                </a:path>
              </a:pathLst>
            </a:custGeom>
            <a:ln w="25908">
              <a:solidFill>
                <a:srgbClr val="000000"/>
              </a:solidFill>
            </a:ln>
          </p:spPr>
          <p:txBody>
            <a:bodyPr wrap="square" lIns="0" tIns="0" rIns="0" bIns="0" rtlCol="0"/>
            <a:lstStyle/>
            <a:p>
              <a:endParaRPr/>
            </a:p>
          </p:txBody>
        </p:sp>
      </p:grpSp>
      <p:sp>
        <p:nvSpPr>
          <p:cNvPr id="8" name="object 8"/>
          <p:cNvSpPr txBox="1"/>
          <p:nvPr/>
        </p:nvSpPr>
        <p:spPr>
          <a:xfrm>
            <a:off x="5086603" y="3877436"/>
            <a:ext cx="1680210" cy="1854835"/>
          </a:xfrm>
          <a:prstGeom prst="rect">
            <a:avLst/>
          </a:prstGeom>
        </p:spPr>
        <p:txBody>
          <a:bodyPr vert="horz" wrap="square" lIns="0" tIns="12700" rIns="0" bIns="0" rtlCol="0">
            <a:spAutoFit/>
          </a:bodyPr>
          <a:lstStyle/>
          <a:p>
            <a:pPr marL="12700">
              <a:lnSpc>
                <a:spcPct val="100000"/>
              </a:lnSpc>
              <a:spcBef>
                <a:spcPts val="100"/>
              </a:spcBef>
            </a:pPr>
            <a:r>
              <a:rPr sz="2400" spc="-10" dirty="0">
                <a:solidFill>
                  <a:srgbClr val="FFFFFF"/>
                </a:solidFill>
                <a:latin typeface="Calibri"/>
                <a:cs typeface="Calibri"/>
              </a:rPr>
              <a:t>OUTPUT</a:t>
            </a:r>
            <a:endParaRPr sz="2400">
              <a:latin typeface="Calibri"/>
              <a:cs typeface="Calibri"/>
            </a:endParaRPr>
          </a:p>
          <a:p>
            <a:pPr marL="12700" marR="5080">
              <a:lnSpc>
                <a:spcPct val="100000"/>
              </a:lnSpc>
            </a:pPr>
            <a:r>
              <a:rPr sz="2400" spc="-5" dirty="0">
                <a:solidFill>
                  <a:srgbClr val="FFFFFF"/>
                </a:solidFill>
                <a:latin typeface="Calibri"/>
                <a:cs typeface="Calibri"/>
              </a:rPr>
              <a:t>Inside </a:t>
            </a:r>
            <a:r>
              <a:rPr sz="2400" dirty="0">
                <a:solidFill>
                  <a:srgbClr val="FFFFFF"/>
                </a:solidFill>
                <a:latin typeface="Calibri"/>
                <a:cs typeface="Calibri"/>
              </a:rPr>
              <a:t>loop  </a:t>
            </a:r>
            <a:r>
              <a:rPr sz="2400" spc="-5" dirty="0">
                <a:solidFill>
                  <a:srgbClr val="FFFFFF"/>
                </a:solidFill>
                <a:latin typeface="Calibri"/>
                <a:cs typeface="Calibri"/>
              </a:rPr>
              <a:t>Inside </a:t>
            </a:r>
            <a:r>
              <a:rPr sz="2400" dirty="0">
                <a:solidFill>
                  <a:srgbClr val="FFFFFF"/>
                </a:solidFill>
                <a:latin typeface="Calibri"/>
                <a:cs typeface="Calibri"/>
              </a:rPr>
              <a:t>loop  </a:t>
            </a:r>
            <a:r>
              <a:rPr sz="2400" spc="-5" dirty="0">
                <a:solidFill>
                  <a:srgbClr val="FFFFFF"/>
                </a:solidFill>
                <a:latin typeface="Calibri"/>
                <a:cs typeface="Calibri"/>
              </a:rPr>
              <a:t>Inside loop  Outside</a:t>
            </a:r>
            <a:r>
              <a:rPr sz="2400" spc="-45" dirty="0">
                <a:solidFill>
                  <a:srgbClr val="FFFFFF"/>
                </a:solidFill>
                <a:latin typeface="Calibri"/>
                <a:cs typeface="Calibri"/>
              </a:rPr>
              <a:t> </a:t>
            </a:r>
            <a:r>
              <a:rPr sz="2400" dirty="0">
                <a:solidFill>
                  <a:srgbClr val="FFFFFF"/>
                </a:solidFill>
                <a:latin typeface="Calibri"/>
                <a:cs typeface="Calibri"/>
              </a:rPr>
              <a:t>loop</a:t>
            </a:r>
            <a:endParaRPr sz="2400">
              <a:latin typeface="Calibri"/>
              <a:cs typeface="Calibri"/>
            </a:endParaRPr>
          </a:p>
        </p:txBody>
      </p:sp>
      <p:sp>
        <p:nvSpPr>
          <p:cNvPr id="9" name="object 9"/>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pPr marL="38100">
                <a:lnSpc>
                  <a:spcPts val="1240"/>
                </a:lnSpc>
              </a:pPr>
              <a:t>22</a:t>
            </a:fld>
            <a:endParaRPr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pPr marL="38100">
                <a:lnSpc>
                  <a:spcPts val="1240"/>
                </a:lnSpc>
              </a:pPr>
              <a:t>23</a:t>
            </a:fld>
            <a:endParaRPr dirty="0"/>
          </a:p>
        </p:txBody>
      </p:sp>
      <p:sp>
        <p:nvSpPr>
          <p:cNvPr id="2" name="object 2"/>
          <p:cNvSpPr txBox="1">
            <a:spLocks noGrp="1"/>
          </p:cNvSpPr>
          <p:nvPr>
            <p:ph type="title"/>
          </p:nvPr>
        </p:nvSpPr>
        <p:spPr>
          <a:xfrm>
            <a:off x="535940" y="312165"/>
            <a:ext cx="3170555" cy="513715"/>
          </a:xfrm>
          <a:prstGeom prst="rect">
            <a:avLst/>
          </a:prstGeom>
        </p:spPr>
        <p:txBody>
          <a:bodyPr vert="horz" wrap="square" lIns="0" tIns="12700" rIns="0" bIns="0" rtlCol="0">
            <a:spAutoFit/>
          </a:bodyPr>
          <a:lstStyle/>
          <a:p>
            <a:pPr marL="12700">
              <a:lnSpc>
                <a:spcPct val="100000"/>
              </a:lnSpc>
              <a:spcBef>
                <a:spcPts val="100"/>
              </a:spcBef>
            </a:pPr>
            <a:r>
              <a:rPr sz="3200" spc="-15" dirty="0">
                <a:solidFill>
                  <a:srgbClr val="FF0000"/>
                </a:solidFill>
              </a:rPr>
              <a:t>For </a:t>
            </a:r>
            <a:r>
              <a:rPr sz="3200" dirty="0">
                <a:solidFill>
                  <a:srgbClr val="FF0000"/>
                </a:solidFill>
              </a:rPr>
              <a:t>loop</a:t>
            </a:r>
            <a:r>
              <a:rPr sz="3200" spc="-65" dirty="0">
                <a:solidFill>
                  <a:srgbClr val="FF0000"/>
                </a:solidFill>
              </a:rPr>
              <a:t> </a:t>
            </a:r>
            <a:r>
              <a:rPr sz="3200" spc="-20" dirty="0">
                <a:solidFill>
                  <a:srgbClr val="FF0000"/>
                </a:solidFill>
              </a:rPr>
              <a:t>statement</a:t>
            </a:r>
            <a:endParaRPr sz="3200"/>
          </a:p>
        </p:txBody>
      </p:sp>
      <p:sp>
        <p:nvSpPr>
          <p:cNvPr id="3" name="object 3"/>
          <p:cNvSpPr txBox="1"/>
          <p:nvPr/>
        </p:nvSpPr>
        <p:spPr>
          <a:xfrm>
            <a:off x="535940" y="897382"/>
            <a:ext cx="3261995" cy="513715"/>
          </a:xfrm>
          <a:prstGeom prst="rect">
            <a:avLst/>
          </a:prstGeom>
        </p:spPr>
        <p:txBody>
          <a:bodyPr vert="horz" wrap="square" lIns="0" tIns="13335" rIns="0" bIns="0" rtlCol="0">
            <a:spAutoFit/>
          </a:bodyPr>
          <a:lstStyle/>
          <a:p>
            <a:pPr marL="375920" indent="-363855">
              <a:lnSpc>
                <a:spcPct val="100000"/>
              </a:lnSpc>
              <a:spcBef>
                <a:spcPts val="105"/>
              </a:spcBef>
              <a:buSzPct val="96875"/>
              <a:buFont typeface="Wingdings"/>
              <a:buChar char=""/>
              <a:tabLst>
                <a:tab pos="376555" algn="l"/>
                <a:tab pos="1256030" algn="l"/>
                <a:tab pos="1993900" algn="l"/>
                <a:tab pos="2997200" algn="l"/>
              </a:tabLst>
            </a:pPr>
            <a:r>
              <a:rPr sz="3200" spc="-5" dirty="0">
                <a:latin typeface="Calibri"/>
                <a:cs typeface="Calibri"/>
              </a:rPr>
              <a:t>Th</a:t>
            </a:r>
            <a:r>
              <a:rPr sz="3200" dirty="0">
                <a:latin typeface="Calibri"/>
                <a:cs typeface="Calibri"/>
              </a:rPr>
              <a:t>e	</a:t>
            </a:r>
            <a:r>
              <a:rPr sz="3200" spc="-80" dirty="0">
                <a:latin typeface="Calibri"/>
                <a:cs typeface="Calibri"/>
              </a:rPr>
              <a:t>f</a:t>
            </a:r>
            <a:r>
              <a:rPr sz="3200" spc="-5" dirty="0">
                <a:latin typeface="Calibri"/>
                <a:cs typeface="Calibri"/>
              </a:rPr>
              <a:t>o</a:t>
            </a:r>
            <a:r>
              <a:rPr sz="3200" dirty="0">
                <a:latin typeface="Calibri"/>
                <a:cs typeface="Calibri"/>
              </a:rPr>
              <a:t>r	loop	</a:t>
            </a:r>
            <a:r>
              <a:rPr sz="3200" spc="-5" dirty="0">
                <a:latin typeface="Calibri"/>
                <a:cs typeface="Calibri"/>
              </a:rPr>
              <a:t>is</a:t>
            </a:r>
            <a:endParaRPr sz="3200">
              <a:latin typeface="Calibri"/>
              <a:cs typeface="Calibri"/>
            </a:endParaRPr>
          </a:p>
        </p:txBody>
      </p:sp>
      <p:sp>
        <p:nvSpPr>
          <p:cNvPr id="4" name="object 4"/>
          <p:cNvSpPr txBox="1"/>
          <p:nvPr/>
        </p:nvSpPr>
        <p:spPr>
          <a:xfrm>
            <a:off x="4040251" y="897382"/>
            <a:ext cx="4645660" cy="513715"/>
          </a:xfrm>
          <a:prstGeom prst="rect">
            <a:avLst/>
          </a:prstGeom>
        </p:spPr>
        <p:txBody>
          <a:bodyPr vert="horz" wrap="square" lIns="0" tIns="13335" rIns="0" bIns="0" rtlCol="0">
            <a:spAutoFit/>
          </a:bodyPr>
          <a:lstStyle/>
          <a:p>
            <a:pPr marL="12700">
              <a:lnSpc>
                <a:spcPct val="100000"/>
              </a:lnSpc>
              <a:spcBef>
                <a:spcPts val="105"/>
              </a:spcBef>
              <a:tabLst>
                <a:tab pos="1597660" algn="l"/>
                <a:tab pos="3458845" algn="l"/>
              </a:tabLst>
            </a:pPr>
            <a:r>
              <a:rPr sz="3200" dirty="0">
                <a:latin typeface="Calibri"/>
                <a:cs typeface="Calibri"/>
              </a:rPr>
              <a:t>another	</a:t>
            </a:r>
            <a:r>
              <a:rPr sz="3200" spc="-10" dirty="0">
                <a:latin typeface="Calibri"/>
                <a:cs typeface="Calibri"/>
              </a:rPr>
              <a:t>repetitive	</a:t>
            </a:r>
            <a:r>
              <a:rPr sz="3200" spc="-20" dirty="0">
                <a:latin typeface="Calibri"/>
                <a:cs typeface="Calibri"/>
              </a:rPr>
              <a:t>control</a:t>
            </a:r>
            <a:endParaRPr sz="3200">
              <a:latin typeface="Calibri"/>
              <a:cs typeface="Calibri"/>
            </a:endParaRPr>
          </a:p>
        </p:txBody>
      </p:sp>
      <p:sp>
        <p:nvSpPr>
          <p:cNvPr id="5" name="object 5"/>
          <p:cNvSpPr txBox="1">
            <a:spLocks noGrp="1"/>
          </p:cNvSpPr>
          <p:nvPr>
            <p:ph type="body" idx="1"/>
          </p:nvPr>
        </p:nvSpPr>
        <p:spPr>
          <a:prstGeom prst="rect">
            <a:avLst/>
          </a:prstGeom>
        </p:spPr>
        <p:txBody>
          <a:bodyPr vert="horz" wrap="square" lIns="0" tIns="13335" rIns="0" bIns="0" rtlCol="0">
            <a:spAutoFit/>
          </a:bodyPr>
          <a:lstStyle/>
          <a:p>
            <a:pPr marL="355600" marR="5080" algn="just">
              <a:lnSpc>
                <a:spcPct val="100000"/>
              </a:lnSpc>
              <a:spcBef>
                <a:spcPts val="105"/>
              </a:spcBef>
            </a:pPr>
            <a:r>
              <a:rPr spc="-10" dirty="0"/>
              <a:t>structure, </a:t>
            </a:r>
            <a:r>
              <a:rPr dirty="0"/>
              <a:t>and </a:t>
            </a:r>
            <a:r>
              <a:rPr spc="-5" dirty="0"/>
              <a:t>is used </a:t>
            </a:r>
            <a:r>
              <a:rPr spc="-15" dirty="0"/>
              <a:t>to</a:t>
            </a:r>
            <a:r>
              <a:rPr spc="690" dirty="0"/>
              <a:t> </a:t>
            </a:r>
            <a:r>
              <a:rPr spc="-30" dirty="0"/>
              <a:t>execute </a:t>
            </a:r>
            <a:r>
              <a:rPr dirty="0"/>
              <a:t>a </a:t>
            </a:r>
            <a:r>
              <a:rPr spc="-10" dirty="0"/>
              <a:t>set </a:t>
            </a:r>
            <a:r>
              <a:rPr dirty="0"/>
              <a:t>of  </a:t>
            </a:r>
            <a:r>
              <a:rPr spc="-5" dirty="0"/>
              <a:t>instructions </a:t>
            </a:r>
            <a:r>
              <a:rPr spc="-30" dirty="0"/>
              <a:t>repeatedly, </a:t>
            </a:r>
            <a:r>
              <a:rPr spc="-10" dirty="0"/>
              <a:t>until </a:t>
            </a:r>
            <a:r>
              <a:rPr dirty="0"/>
              <a:t>the </a:t>
            </a:r>
            <a:r>
              <a:rPr spc="-5" dirty="0"/>
              <a:t>condition  </a:t>
            </a:r>
            <a:r>
              <a:rPr spc="-10" dirty="0"/>
              <a:t>becomes</a:t>
            </a:r>
            <a:r>
              <a:rPr spc="-25" dirty="0"/>
              <a:t> </a:t>
            </a:r>
            <a:r>
              <a:rPr spc="-15" dirty="0"/>
              <a:t>false.</a:t>
            </a:r>
          </a:p>
          <a:p>
            <a:pPr marL="355600" marR="6350" indent="-342900" algn="just">
              <a:lnSpc>
                <a:spcPct val="100000"/>
              </a:lnSpc>
              <a:spcBef>
                <a:spcPts val="770"/>
              </a:spcBef>
              <a:buSzPct val="96875"/>
              <a:buFont typeface="Wingdings"/>
              <a:buChar char=""/>
              <a:tabLst>
                <a:tab pos="376555" algn="l"/>
              </a:tabLst>
            </a:pPr>
            <a:r>
              <a:rPr spc="-5" dirty="0"/>
              <a:t>The </a:t>
            </a:r>
            <a:r>
              <a:rPr spc="-30" dirty="0"/>
              <a:t>for </a:t>
            </a:r>
            <a:r>
              <a:rPr dirty="0"/>
              <a:t>loop in </a:t>
            </a:r>
            <a:r>
              <a:rPr spc="5" dirty="0"/>
              <a:t>Python </a:t>
            </a:r>
            <a:r>
              <a:rPr spc="-5" dirty="0"/>
              <a:t>is </a:t>
            </a:r>
            <a:r>
              <a:rPr dirty="0"/>
              <a:t>used </a:t>
            </a:r>
            <a:r>
              <a:rPr spc="-25" dirty="0"/>
              <a:t>to iterate </a:t>
            </a:r>
            <a:r>
              <a:rPr spc="-15" dirty="0"/>
              <a:t>over </a:t>
            </a:r>
            <a:r>
              <a:rPr dirty="0"/>
              <a:t>a  </a:t>
            </a:r>
            <a:r>
              <a:rPr spc="-5" dirty="0"/>
              <a:t>sequence </a:t>
            </a:r>
            <a:r>
              <a:rPr spc="-10" dirty="0"/>
              <a:t>(</a:t>
            </a:r>
            <a:r>
              <a:rPr u="heavy" spc="-10" dirty="0">
                <a:solidFill>
                  <a:srgbClr val="0000FF"/>
                </a:solidFill>
                <a:uFill>
                  <a:solidFill>
                    <a:srgbClr val="0000FF"/>
                  </a:solidFill>
                </a:uFill>
                <a:hlinkClick r:id="rId2"/>
              </a:rPr>
              <a:t>list</a:t>
            </a:r>
            <a:r>
              <a:rPr spc="-10" dirty="0"/>
              <a:t>,</a:t>
            </a:r>
            <a:r>
              <a:rPr spc="-10" dirty="0">
                <a:solidFill>
                  <a:srgbClr val="0000FF"/>
                </a:solidFill>
                <a:hlinkClick r:id="rId3"/>
              </a:rPr>
              <a:t> </a:t>
            </a:r>
            <a:r>
              <a:rPr u="heavy" dirty="0">
                <a:solidFill>
                  <a:srgbClr val="0000FF"/>
                </a:solidFill>
                <a:uFill>
                  <a:solidFill>
                    <a:srgbClr val="0000FF"/>
                  </a:solidFill>
                </a:uFill>
                <a:hlinkClick r:id="rId3"/>
              </a:rPr>
              <a:t>tuple</a:t>
            </a:r>
            <a:r>
              <a:rPr dirty="0"/>
              <a:t>,</a:t>
            </a:r>
            <a:r>
              <a:rPr dirty="0">
                <a:solidFill>
                  <a:srgbClr val="0000FF"/>
                </a:solidFill>
                <a:hlinkClick r:id="rId4"/>
              </a:rPr>
              <a:t> </a:t>
            </a:r>
            <a:r>
              <a:rPr u="heavy" spc="-5" dirty="0">
                <a:solidFill>
                  <a:srgbClr val="0000FF"/>
                </a:solidFill>
                <a:uFill>
                  <a:solidFill>
                    <a:srgbClr val="0000FF"/>
                  </a:solidFill>
                </a:uFill>
                <a:hlinkClick r:id="rId4"/>
              </a:rPr>
              <a:t>string</a:t>
            </a:r>
            <a:r>
              <a:rPr spc="-5" dirty="0"/>
              <a:t>) </a:t>
            </a:r>
            <a:r>
              <a:rPr dirty="0"/>
              <a:t>or </a:t>
            </a:r>
            <a:r>
              <a:rPr spc="-5" dirty="0"/>
              <a:t>other </a:t>
            </a:r>
            <a:r>
              <a:rPr spc="-15" dirty="0"/>
              <a:t>iterable  </a:t>
            </a:r>
            <a:r>
              <a:rPr spc="-5" dirty="0"/>
              <a:t>objects. </a:t>
            </a:r>
            <a:r>
              <a:rPr spc="-15" dirty="0"/>
              <a:t>Iterating</a:t>
            </a:r>
            <a:r>
              <a:rPr spc="690" dirty="0"/>
              <a:t> </a:t>
            </a:r>
            <a:r>
              <a:rPr spc="-15" dirty="0"/>
              <a:t>over  </a:t>
            </a:r>
            <a:r>
              <a:rPr dirty="0"/>
              <a:t>a </a:t>
            </a:r>
            <a:r>
              <a:rPr spc="-5" dirty="0"/>
              <a:t>sequence is</a:t>
            </a:r>
            <a:r>
              <a:rPr spc="635" dirty="0"/>
              <a:t> </a:t>
            </a:r>
            <a:r>
              <a:rPr spc="-5" dirty="0"/>
              <a:t>called</a:t>
            </a:r>
          </a:p>
        </p:txBody>
      </p:sp>
      <p:sp>
        <p:nvSpPr>
          <p:cNvPr id="6" name="object 6"/>
          <p:cNvSpPr txBox="1"/>
          <p:nvPr/>
        </p:nvSpPr>
        <p:spPr>
          <a:xfrm>
            <a:off x="535940" y="4312005"/>
            <a:ext cx="1893570" cy="1196975"/>
          </a:xfrm>
          <a:prstGeom prst="rect">
            <a:avLst/>
          </a:prstGeom>
        </p:spPr>
        <p:txBody>
          <a:bodyPr vert="horz" wrap="square" lIns="0" tIns="110489" rIns="0" bIns="0" rtlCol="0">
            <a:spAutoFit/>
          </a:bodyPr>
          <a:lstStyle/>
          <a:p>
            <a:pPr marL="355600">
              <a:lnSpc>
                <a:spcPct val="100000"/>
              </a:lnSpc>
              <a:spcBef>
                <a:spcPts val="869"/>
              </a:spcBef>
            </a:pPr>
            <a:r>
              <a:rPr sz="3200" spc="-25" dirty="0">
                <a:latin typeface="Calibri"/>
                <a:cs typeface="Calibri"/>
              </a:rPr>
              <a:t>traversal.</a:t>
            </a:r>
            <a:endParaRPr sz="3200">
              <a:latin typeface="Calibri"/>
              <a:cs typeface="Calibri"/>
            </a:endParaRPr>
          </a:p>
          <a:p>
            <a:pPr marL="12700">
              <a:lnSpc>
                <a:spcPct val="100000"/>
              </a:lnSpc>
              <a:spcBef>
                <a:spcPts val="770"/>
              </a:spcBef>
            </a:pPr>
            <a:r>
              <a:rPr sz="3200" b="1" spc="-25" dirty="0">
                <a:solidFill>
                  <a:srgbClr val="FF0000"/>
                </a:solidFill>
                <a:latin typeface="Calibri"/>
                <a:cs typeface="Calibri"/>
              </a:rPr>
              <a:t>Syntax</a:t>
            </a:r>
            <a:endParaRPr sz="3200">
              <a:latin typeface="Calibri"/>
              <a:cs typeface="Calibri"/>
            </a:endParaRPr>
          </a:p>
        </p:txBody>
      </p:sp>
      <p:sp>
        <p:nvSpPr>
          <p:cNvPr id="7" name="object 7"/>
          <p:cNvSpPr txBox="1"/>
          <p:nvPr/>
        </p:nvSpPr>
        <p:spPr>
          <a:xfrm>
            <a:off x="2439161" y="4496561"/>
            <a:ext cx="4343400" cy="1219200"/>
          </a:xfrm>
          <a:prstGeom prst="rect">
            <a:avLst/>
          </a:prstGeom>
          <a:solidFill>
            <a:srgbClr val="4F81BC"/>
          </a:solidFill>
          <a:ln w="25907">
            <a:solidFill>
              <a:srgbClr val="385D89"/>
            </a:solidFill>
          </a:ln>
        </p:spPr>
        <p:txBody>
          <a:bodyPr vert="horz" wrap="square" lIns="0" tIns="159385" rIns="0" bIns="0" rtlCol="0">
            <a:spAutoFit/>
          </a:bodyPr>
          <a:lstStyle/>
          <a:p>
            <a:pPr marL="1005205" marR="1009650" indent="-753745">
              <a:lnSpc>
                <a:spcPct val="100000"/>
              </a:lnSpc>
              <a:spcBef>
                <a:spcPts val="1255"/>
              </a:spcBef>
            </a:pPr>
            <a:r>
              <a:rPr sz="2800" spc="-25" dirty="0">
                <a:solidFill>
                  <a:srgbClr val="FFFFFF"/>
                </a:solidFill>
                <a:latin typeface="Calibri"/>
                <a:cs typeface="Calibri"/>
              </a:rPr>
              <a:t>for </a:t>
            </a:r>
            <a:r>
              <a:rPr sz="2800" spc="-15" dirty="0">
                <a:solidFill>
                  <a:srgbClr val="FFFFFF"/>
                </a:solidFill>
                <a:latin typeface="Calibri"/>
                <a:cs typeface="Calibri"/>
              </a:rPr>
              <a:t>val </a:t>
            </a:r>
            <a:r>
              <a:rPr sz="2800" spc="-5" dirty="0">
                <a:solidFill>
                  <a:srgbClr val="FFFFFF"/>
                </a:solidFill>
                <a:latin typeface="Calibri"/>
                <a:cs typeface="Calibri"/>
              </a:rPr>
              <a:t>in sequence:  Body of </a:t>
            </a:r>
            <a:r>
              <a:rPr sz="2800" spc="-25" dirty="0">
                <a:solidFill>
                  <a:srgbClr val="FFFFFF"/>
                </a:solidFill>
                <a:latin typeface="Calibri"/>
                <a:cs typeface="Calibri"/>
              </a:rPr>
              <a:t>for</a:t>
            </a:r>
            <a:r>
              <a:rPr sz="2800" spc="-65" dirty="0">
                <a:solidFill>
                  <a:srgbClr val="FFFFFF"/>
                </a:solidFill>
                <a:latin typeface="Calibri"/>
                <a:cs typeface="Calibri"/>
              </a:rPr>
              <a:t> </a:t>
            </a:r>
            <a:r>
              <a:rPr sz="2800" spc="-5" dirty="0">
                <a:solidFill>
                  <a:srgbClr val="FFFFFF"/>
                </a:solidFill>
                <a:latin typeface="Calibri"/>
                <a:cs typeface="Calibri"/>
              </a:rPr>
              <a:t>loop</a:t>
            </a:r>
            <a:endParaRPr sz="2800" dirty="0">
              <a:latin typeface="Calibri"/>
              <a:cs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7340" y="312165"/>
            <a:ext cx="3157220" cy="513715"/>
          </a:xfrm>
          <a:prstGeom prst="rect">
            <a:avLst/>
          </a:prstGeom>
        </p:spPr>
        <p:txBody>
          <a:bodyPr vert="horz" wrap="square" lIns="0" tIns="12700" rIns="0" bIns="0" rtlCol="0">
            <a:spAutoFit/>
          </a:bodyPr>
          <a:lstStyle/>
          <a:p>
            <a:pPr marL="12700">
              <a:lnSpc>
                <a:spcPct val="100000"/>
              </a:lnSpc>
              <a:spcBef>
                <a:spcPts val="100"/>
              </a:spcBef>
            </a:pPr>
            <a:r>
              <a:rPr sz="3200" spc="-15" dirty="0">
                <a:solidFill>
                  <a:srgbClr val="FF0000"/>
                </a:solidFill>
              </a:rPr>
              <a:t>For </a:t>
            </a:r>
            <a:r>
              <a:rPr sz="3200" dirty="0">
                <a:solidFill>
                  <a:srgbClr val="FF0000"/>
                </a:solidFill>
              </a:rPr>
              <a:t>loop </a:t>
            </a:r>
            <a:r>
              <a:rPr sz="3200" spc="-5" dirty="0">
                <a:solidFill>
                  <a:srgbClr val="FF0000"/>
                </a:solidFill>
              </a:rPr>
              <a:t>flow</a:t>
            </a:r>
            <a:r>
              <a:rPr sz="3200" spc="-70" dirty="0">
                <a:solidFill>
                  <a:srgbClr val="FF0000"/>
                </a:solidFill>
              </a:rPr>
              <a:t> </a:t>
            </a:r>
            <a:r>
              <a:rPr sz="3200" dirty="0">
                <a:solidFill>
                  <a:srgbClr val="FF0000"/>
                </a:solidFill>
              </a:rPr>
              <a:t>chart</a:t>
            </a:r>
            <a:endParaRPr sz="3200"/>
          </a:p>
        </p:txBody>
      </p:sp>
      <p:sp>
        <p:nvSpPr>
          <p:cNvPr id="3" name="object 3"/>
          <p:cNvSpPr/>
          <p:nvPr/>
        </p:nvSpPr>
        <p:spPr>
          <a:xfrm>
            <a:off x="457200" y="1066800"/>
            <a:ext cx="3081402" cy="4905747"/>
          </a:xfrm>
          <a:prstGeom prst="rect">
            <a:avLst/>
          </a:prstGeom>
          <a:blipFill>
            <a:blip r:embed="rId2" cstate="print"/>
            <a:stretch>
              <a:fillRect/>
            </a:stretch>
          </a:blipFill>
        </p:spPr>
        <p:txBody>
          <a:bodyPr wrap="square" lIns="0" tIns="0" rIns="0" bIns="0" rtlCol="0"/>
          <a:lstStyle/>
          <a:p>
            <a:endParaRPr/>
          </a:p>
        </p:txBody>
      </p:sp>
      <p:sp>
        <p:nvSpPr>
          <p:cNvPr id="4" name="object 4"/>
          <p:cNvSpPr txBox="1"/>
          <p:nvPr/>
        </p:nvSpPr>
        <p:spPr>
          <a:xfrm>
            <a:off x="3962400" y="304800"/>
            <a:ext cx="4743450" cy="2777683"/>
          </a:xfrm>
          <a:prstGeom prst="rect">
            <a:avLst/>
          </a:prstGeom>
        </p:spPr>
        <p:txBody>
          <a:bodyPr vert="horz" wrap="square" lIns="0" tIns="12700" rIns="0" bIns="0" rtlCol="0">
            <a:spAutoFit/>
          </a:bodyPr>
          <a:lstStyle/>
          <a:p>
            <a:pPr marL="12700" marR="5080">
              <a:lnSpc>
                <a:spcPct val="110000"/>
              </a:lnSpc>
              <a:spcBef>
                <a:spcPts val="100"/>
              </a:spcBef>
            </a:pPr>
            <a:r>
              <a:rPr sz="2700" dirty="0" smtClean="0">
                <a:solidFill>
                  <a:srgbClr val="FF0000"/>
                </a:solidFill>
                <a:latin typeface="Calibri"/>
                <a:cs typeface="Calibri"/>
              </a:rPr>
              <a:t>Addition </a:t>
            </a:r>
            <a:r>
              <a:rPr sz="2700" spc="-5" dirty="0">
                <a:solidFill>
                  <a:srgbClr val="FF0000"/>
                </a:solidFill>
                <a:latin typeface="Calibri"/>
                <a:cs typeface="Calibri"/>
              </a:rPr>
              <a:t>of number using </a:t>
            </a:r>
            <a:r>
              <a:rPr sz="2700" spc="-25" dirty="0">
                <a:solidFill>
                  <a:srgbClr val="FF0000"/>
                </a:solidFill>
                <a:latin typeface="Calibri"/>
                <a:cs typeface="Calibri"/>
              </a:rPr>
              <a:t>for </a:t>
            </a:r>
            <a:r>
              <a:rPr sz="2700" spc="-5" dirty="0" smtClean="0">
                <a:solidFill>
                  <a:srgbClr val="FF0000"/>
                </a:solidFill>
                <a:latin typeface="Calibri"/>
                <a:cs typeface="Calibri"/>
              </a:rPr>
              <a:t>loop</a:t>
            </a:r>
            <a:endParaRPr lang="en-US" sz="2700" spc="-5" dirty="0" smtClean="0">
              <a:solidFill>
                <a:srgbClr val="FF0000"/>
              </a:solidFill>
              <a:latin typeface="Calibri"/>
              <a:cs typeface="Calibri"/>
            </a:endParaRPr>
          </a:p>
          <a:p>
            <a:pPr marL="12700" marR="5080">
              <a:lnSpc>
                <a:spcPct val="110000"/>
              </a:lnSpc>
              <a:spcBef>
                <a:spcPts val="100"/>
              </a:spcBef>
            </a:pPr>
            <a:r>
              <a:rPr lang="en-US" sz="2700" spc="-5" dirty="0" smtClean="0">
                <a:cs typeface="Calibri"/>
              </a:rPr>
              <a:t>sum1 </a:t>
            </a:r>
            <a:r>
              <a:rPr lang="en-US" sz="2700" dirty="0" smtClean="0">
                <a:cs typeface="Calibri"/>
              </a:rPr>
              <a:t>=</a:t>
            </a:r>
            <a:r>
              <a:rPr lang="en-US" sz="2700" spc="-5" dirty="0" smtClean="0">
                <a:cs typeface="Calibri"/>
              </a:rPr>
              <a:t> </a:t>
            </a:r>
            <a:r>
              <a:rPr lang="en-US" sz="2700" dirty="0" smtClean="0">
                <a:cs typeface="Calibri"/>
              </a:rPr>
              <a:t>0</a:t>
            </a:r>
          </a:p>
          <a:p>
            <a:pPr marL="12700" marR="5080">
              <a:lnSpc>
                <a:spcPct val="110000"/>
              </a:lnSpc>
              <a:spcBef>
                <a:spcPts val="100"/>
              </a:spcBef>
            </a:pPr>
            <a:r>
              <a:rPr lang="en-US" sz="2700" spc="-5" dirty="0" smtClean="0">
                <a:latin typeface="Calibri"/>
                <a:cs typeface="Calibri"/>
              </a:rPr>
              <a:t>x= range(10)</a:t>
            </a:r>
            <a:r>
              <a:rPr sz="2700" spc="-5" dirty="0" smtClean="0">
                <a:latin typeface="Calibri"/>
                <a:cs typeface="Calibri"/>
              </a:rPr>
              <a:t>  </a:t>
            </a:r>
            <a:endParaRPr sz="2700" spc="-5" dirty="0">
              <a:latin typeface="Calibri"/>
              <a:cs typeface="Calibri"/>
            </a:endParaRPr>
          </a:p>
          <a:p>
            <a:pPr marL="12700" marR="2116455">
              <a:lnSpc>
                <a:spcPct val="110000"/>
              </a:lnSpc>
              <a:spcBef>
                <a:spcPts val="5"/>
              </a:spcBef>
            </a:pPr>
            <a:r>
              <a:rPr sz="2700" spc="-25" dirty="0" smtClean="0">
                <a:latin typeface="Calibri"/>
                <a:cs typeface="Calibri"/>
              </a:rPr>
              <a:t>for </a:t>
            </a:r>
            <a:r>
              <a:rPr sz="2700" spc="-15" dirty="0" err="1">
                <a:latin typeface="Calibri"/>
                <a:cs typeface="Calibri"/>
              </a:rPr>
              <a:t>val</a:t>
            </a:r>
            <a:r>
              <a:rPr sz="2700" spc="-15" dirty="0">
                <a:latin typeface="Calibri"/>
                <a:cs typeface="Calibri"/>
              </a:rPr>
              <a:t> </a:t>
            </a:r>
            <a:r>
              <a:rPr sz="2700" dirty="0" smtClean="0">
                <a:latin typeface="Calibri"/>
                <a:cs typeface="Calibri"/>
              </a:rPr>
              <a:t>in</a:t>
            </a:r>
            <a:r>
              <a:rPr lang="en-US" sz="2700" dirty="0" smtClean="0">
                <a:latin typeface="Calibri"/>
                <a:cs typeface="Calibri"/>
              </a:rPr>
              <a:t> x</a:t>
            </a:r>
            <a:r>
              <a:rPr sz="2700" dirty="0" smtClean="0">
                <a:latin typeface="Calibri"/>
                <a:cs typeface="Calibri"/>
              </a:rPr>
              <a:t> </a:t>
            </a:r>
            <a:r>
              <a:rPr sz="2700" spc="-15" dirty="0" smtClean="0">
                <a:latin typeface="Calibri"/>
                <a:cs typeface="Calibri"/>
              </a:rPr>
              <a:t>:  </a:t>
            </a:r>
            <a:endParaRPr lang="en-US" sz="2700" spc="-15" dirty="0" smtClean="0">
              <a:latin typeface="Calibri"/>
              <a:cs typeface="Calibri"/>
            </a:endParaRPr>
          </a:p>
          <a:p>
            <a:pPr marL="12700" marR="2116455">
              <a:lnSpc>
                <a:spcPct val="110000"/>
              </a:lnSpc>
              <a:spcBef>
                <a:spcPts val="5"/>
              </a:spcBef>
            </a:pPr>
            <a:r>
              <a:rPr sz="2700" spc="-5" dirty="0" smtClean="0">
                <a:latin typeface="Calibri"/>
                <a:cs typeface="Calibri"/>
              </a:rPr>
              <a:t>sum1 </a:t>
            </a:r>
            <a:r>
              <a:rPr sz="2700" dirty="0">
                <a:latin typeface="Calibri"/>
                <a:cs typeface="Calibri"/>
              </a:rPr>
              <a:t>=</a:t>
            </a:r>
            <a:r>
              <a:rPr sz="2700" spc="-30" dirty="0">
                <a:latin typeface="Calibri"/>
                <a:cs typeface="Calibri"/>
              </a:rPr>
              <a:t> </a:t>
            </a:r>
            <a:r>
              <a:rPr sz="2700" spc="-10" dirty="0">
                <a:latin typeface="Calibri"/>
                <a:cs typeface="Calibri"/>
              </a:rPr>
              <a:t>sum1+val</a:t>
            </a:r>
            <a:endParaRPr sz="2700" dirty="0">
              <a:latin typeface="Calibri"/>
              <a:cs typeface="Calibri"/>
            </a:endParaRPr>
          </a:p>
          <a:p>
            <a:pPr marL="12700">
              <a:lnSpc>
                <a:spcPct val="100000"/>
              </a:lnSpc>
              <a:spcBef>
                <a:spcPts val="325"/>
              </a:spcBef>
            </a:pPr>
            <a:r>
              <a:rPr sz="2700" spc="-10" dirty="0">
                <a:latin typeface="Calibri"/>
                <a:cs typeface="Calibri"/>
              </a:rPr>
              <a:t>print("The </a:t>
            </a:r>
            <a:r>
              <a:rPr sz="2700" spc="-5" dirty="0">
                <a:latin typeface="Calibri"/>
                <a:cs typeface="Calibri"/>
              </a:rPr>
              <a:t>sum </a:t>
            </a:r>
            <a:r>
              <a:rPr sz="2700" dirty="0">
                <a:latin typeface="Calibri"/>
                <a:cs typeface="Calibri"/>
              </a:rPr>
              <a:t>is",</a:t>
            </a:r>
            <a:r>
              <a:rPr sz="2700" spc="-35" dirty="0">
                <a:latin typeface="Calibri"/>
                <a:cs typeface="Calibri"/>
              </a:rPr>
              <a:t> </a:t>
            </a:r>
            <a:r>
              <a:rPr sz="2700" spc="-5" dirty="0">
                <a:latin typeface="Calibri"/>
                <a:cs typeface="Calibri"/>
              </a:rPr>
              <a:t>sum1)</a:t>
            </a:r>
            <a:endParaRPr sz="2700" dirty="0">
              <a:latin typeface="Calibri"/>
              <a:cs typeface="Calibri"/>
            </a:endParaRPr>
          </a:p>
        </p:txBody>
      </p:sp>
      <p:sp>
        <p:nvSpPr>
          <p:cNvPr id="8" name="object 8"/>
          <p:cNvSpPr txBox="1"/>
          <p:nvPr/>
        </p:nvSpPr>
        <p:spPr>
          <a:xfrm>
            <a:off x="4114800" y="3581400"/>
            <a:ext cx="4191000" cy="1602362"/>
          </a:xfrm>
          <a:prstGeom prst="rect">
            <a:avLst/>
          </a:prstGeom>
          <a:ln>
            <a:solidFill>
              <a:srgbClr val="C00000"/>
            </a:solidFill>
          </a:ln>
        </p:spPr>
        <p:txBody>
          <a:bodyPr vert="horz" wrap="square" lIns="0" tIns="194945" rIns="0" bIns="0" rtlCol="0">
            <a:spAutoFit/>
          </a:bodyPr>
          <a:lstStyle/>
          <a:p>
            <a:pPr marL="12700">
              <a:lnSpc>
                <a:spcPct val="100000"/>
              </a:lnSpc>
              <a:spcBef>
                <a:spcPts val="1535"/>
              </a:spcBef>
            </a:pPr>
            <a:r>
              <a:rPr sz="2000" spc="-10" dirty="0">
                <a:solidFill>
                  <a:srgbClr val="FFFFFF"/>
                </a:solidFill>
                <a:latin typeface="Calibri"/>
                <a:cs typeface="Calibri"/>
              </a:rPr>
              <a:t>OUTPUT</a:t>
            </a:r>
            <a:endParaRPr sz="2000" dirty="0">
              <a:latin typeface="Calibri"/>
              <a:cs typeface="Calibri"/>
            </a:endParaRPr>
          </a:p>
          <a:p>
            <a:pPr marL="12700">
              <a:lnSpc>
                <a:spcPct val="100000"/>
              </a:lnSpc>
              <a:spcBef>
                <a:spcPts val="1440"/>
              </a:spcBef>
            </a:pPr>
            <a:r>
              <a:rPr lang="en-US" sz="2400" dirty="0" smtClean="0"/>
              <a:t>range(stop) </a:t>
            </a:r>
          </a:p>
          <a:p>
            <a:pPr marL="12700">
              <a:lnSpc>
                <a:spcPct val="100000"/>
              </a:lnSpc>
              <a:spcBef>
                <a:spcPts val="1440"/>
              </a:spcBef>
            </a:pPr>
            <a:r>
              <a:rPr lang="en-US" sz="2400" dirty="0" smtClean="0"/>
              <a:t>range(start, </a:t>
            </a:r>
            <a:r>
              <a:rPr lang="en-US" sz="2400" dirty="0" err="1" smtClean="0"/>
              <a:t>stop,step</a:t>
            </a:r>
            <a:r>
              <a:rPr lang="en-US" sz="2400" dirty="0" smtClean="0"/>
              <a:t>)</a:t>
            </a:r>
            <a:r>
              <a:rPr sz="2400" spc="-5" dirty="0" smtClean="0">
                <a:solidFill>
                  <a:srgbClr val="FFFFFF"/>
                </a:solidFill>
                <a:latin typeface="Calibri"/>
                <a:cs typeface="Calibri"/>
              </a:rPr>
              <a:t>m </a:t>
            </a:r>
            <a:r>
              <a:rPr sz="2400" dirty="0">
                <a:solidFill>
                  <a:srgbClr val="FFFFFF"/>
                </a:solidFill>
                <a:latin typeface="Calibri"/>
                <a:cs typeface="Calibri"/>
              </a:rPr>
              <a:t>is</a:t>
            </a:r>
            <a:r>
              <a:rPr sz="2400" spc="-75" dirty="0">
                <a:solidFill>
                  <a:srgbClr val="FFFFFF"/>
                </a:solidFill>
                <a:latin typeface="Calibri"/>
                <a:cs typeface="Calibri"/>
              </a:rPr>
              <a:t> </a:t>
            </a:r>
            <a:r>
              <a:rPr lang="en-US" sz="2400" spc="-10" dirty="0" smtClean="0">
                <a:solidFill>
                  <a:srgbClr val="FFFFFF"/>
                </a:solidFill>
                <a:latin typeface="Calibri"/>
                <a:cs typeface="Calibri"/>
              </a:rPr>
              <a:t>55</a:t>
            </a:r>
            <a:endParaRPr sz="2400" dirty="0">
              <a:latin typeface="Calibri"/>
              <a:cs typeface="Calibri"/>
            </a:endParaRPr>
          </a:p>
        </p:txBody>
      </p:sp>
      <p:sp>
        <p:nvSpPr>
          <p:cNvPr id="9" name="object 9"/>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pPr marL="38100">
                <a:lnSpc>
                  <a:spcPts val="1240"/>
                </a:lnSpc>
              </a:pPr>
              <a:t>24</a:t>
            </a:fld>
            <a:endParaRPr dirty="0"/>
          </a:p>
        </p:txBody>
      </p:sp>
      <p:sp>
        <p:nvSpPr>
          <p:cNvPr id="10" name="Rectangle 9"/>
          <p:cNvSpPr/>
          <p:nvPr/>
        </p:nvSpPr>
        <p:spPr>
          <a:xfrm>
            <a:off x="4038600" y="5410200"/>
            <a:ext cx="4876800" cy="830997"/>
          </a:xfrm>
          <a:prstGeom prst="rect">
            <a:avLst/>
          </a:prstGeom>
        </p:spPr>
        <p:txBody>
          <a:bodyPr wrap="square">
            <a:spAutoFit/>
          </a:bodyPr>
          <a:lstStyle/>
          <a:p>
            <a:pPr algn="just"/>
            <a:r>
              <a:rPr lang="en-US" sz="2400" dirty="0" smtClean="0"/>
              <a:t>Range function return a sequence of integers , which is an AP </a:t>
            </a:r>
            <a:endParaRPr lang="en-US" sz="24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5940" y="324357"/>
            <a:ext cx="7240905" cy="696595"/>
          </a:xfrm>
          <a:prstGeom prst="rect">
            <a:avLst/>
          </a:prstGeom>
        </p:spPr>
        <p:txBody>
          <a:bodyPr vert="horz" wrap="square" lIns="0" tIns="12700" rIns="0" bIns="0" rtlCol="0">
            <a:spAutoFit/>
          </a:bodyPr>
          <a:lstStyle/>
          <a:p>
            <a:pPr marL="12700">
              <a:lnSpc>
                <a:spcPct val="100000"/>
              </a:lnSpc>
              <a:spcBef>
                <a:spcPts val="100"/>
              </a:spcBef>
            </a:pPr>
            <a:r>
              <a:rPr sz="4400" b="1" spc="-25" dirty="0">
                <a:solidFill>
                  <a:srgbClr val="FF0000"/>
                </a:solidFill>
                <a:latin typeface="Calibri"/>
                <a:cs typeface="Calibri"/>
              </a:rPr>
              <a:t>for </a:t>
            </a:r>
            <a:r>
              <a:rPr sz="4400" b="1" spc="-5" dirty="0">
                <a:solidFill>
                  <a:srgbClr val="FF0000"/>
                </a:solidFill>
                <a:latin typeface="Calibri"/>
                <a:cs typeface="Calibri"/>
              </a:rPr>
              <a:t>Loop </a:t>
            </a:r>
            <a:r>
              <a:rPr sz="4400" b="1" dirty="0">
                <a:solidFill>
                  <a:srgbClr val="FF0000"/>
                </a:solidFill>
                <a:latin typeface="Calibri"/>
                <a:cs typeface="Calibri"/>
              </a:rPr>
              <a:t>and </a:t>
            </a:r>
            <a:r>
              <a:rPr sz="4400" b="1" spc="-25" dirty="0">
                <a:solidFill>
                  <a:srgbClr val="FF0000"/>
                </a:solidFill>
                <a:latin typeface="Calibri"/>
                <a:cs typeface="Calibri"/>
              </a:rPr>
              <a:t>for </a:t>
            </a:r>
            <a:r>
              <a:rPr sz="4400" b="1" dirty="0">
                <a:solidFill>
                  <a:srgbClr val="FF0000"/>
                </a:solidFill>
                <a:latin typeface="Calibri"/>
                <a:cs typeface="Calibri"/>
              </a:rPr>
              <a:t>Loop </a:t>
            </a:r>
            <a:r>
              <a:rPr sz="4400" b="1" spc="-5" dirty="0">
                <a:solidFill>
                  <a:srgbClr val="FF0000"/>
                </a:solidFill>
                <a:latin typeface="Calibri"/>
                <a:cs typeface="Calibri"/>
              </a:rPr>
              <a:t>with</a:t>
            </a:r>
            <a:r>
              <a:rPr sz="4400" b="1" spc="-15" dirty="0">
                <a:solidFill>
                  <a:srgbClr val="FF0000"/>
                </a:solidFill>
                <a:latin typeface="Calibri"/>
                <a:cs typeface="Calibri"/>
              </a:rPr>
              <a:t> </a:t>
            </a:r>
            <a:r>
              <a:rPr sz="4400" b="1" spc="-5" dirty="0">
                <a:solidFill>
                  <a:srgbClr val="FF0000"/>
                </a:solidFill>
                <a:latin typeface="Calibri"/>
                <a:cs typeface="Calibri"/>
              </a:rPr>
              <a:t>else</a:t>
            </a:r>
            <a:endParaRPr sz="4400">
              <a:latin typeface="Calibri"/>
              <a:cs typeface="Calibri"/>
            </a:endParaRPr>
          </a:p>
        </p:txBody>
      </p:sp>
      <p:sp>
        <p:nvSpPr>
          <p:cNvPr id="8" name="object 8"/>
          <p:cNvSpPr txBox="1"/>
          <p:nvPr/>
        </p:nvSpPr>
        <p:spPr>
          <a:xfrm>
            <a:off x="5593841" y="1119886"/>
            <a:ext cx="1580515" cy="1977389"/>
          </a:xfrm>
          <a:prstGeom prst="rect">
            <a:avLst/>
          </a:prstGeom>
        </p:spPr>
        <p:txBody>
          <a:bodyPr vert="horz" wrap="square" lIns="0" tIns="13335" rIns="0" bIns="0" rtlCol="0">
            <a:spAutoFit/>
          </a:bodyPr>
          <a:lstStyle/>
          <a:p>
            <a:pPr marL="12700">
              <a:lnSpc>
                <a:spcPct val="100000"/>
              </a:lnSpc>
              <a:spcBef>
                <a:spcPts val="105"/>
              </a:spcBef>
            </a:pPr>
            <a:r>
              <a:rPr sz="3200" spc="-5" dirty="0">
                <a:solidFill>
                  <a:srgbClr val="FFFFFF"/>
                </a:solidFill>
                <a:latin typeface="Calibri"/>
                <a:cs typeface="Calibri"/>
              </a:rPr>
              <a:t>OUTPUT</a:t>
            </a:r>
            <a:endParaRPr sz="3200" dirty="0">
              <a:latin typeface="Calibri"/>
              <a:cs typeface="Calibri"/>
            </a:endParaRPr>
          </a:p>
          <a:p>
            <a:pPr marL="12700" marR="5080" algn="just">
              <a:lnSpc>
                <a:spcPct val="100000"/>
              </a:lnSpc>
            </a:pPr>
            <a:r>
              <a:rPr sz="3200" dirty="0">
                <a:solidFill>
                  <a:srgbClr val="FFFFFF"/>
                </a:solidFill>
                <a:latin typeface="Calibri"/>
                <a:cs typeface="Calibri"/>
              </a:rPr>
              <a:t>I </a:t>
            </a:r>
            <a:r>
              <a:rPr sz="3200" spc="-30" dirty="0">
                <a:solidFill>
                  <a:srgbClr val="FFFFFF"/>
                </a:solidFill>
                <a:latin typeface="Calibri"/>
                <a:cs typeface="Calibri"/>
              </a:rPr>
              <a:t>like </a:t>
            </a:r>
            <a:r>
              <a:rPr sz="3200" dirty="0">
                <a:solidFill>
                  <a:srgbClr val="FFFFFF"/>
                </a:solidFill>
                <a:latin typeface="Calibri"/>
                <a:cs typeface="Calibri"/>
              </a:rPr>
              <a:t>pop  I </a:t>
            </a:r>
            <a:r>
              <a:rPr sz="3200" spc="-30" dirty="0">
                <a:solidFill>
                  <a:srgbClr val="FFFFFF"/>
                </a:solidFill>
                <a:latin typeface="Calibri"/>
                <a:cs typeface="Calibri"/>
              </a:rPr>
              <a:t>like</a:t>
            </a:r>
            <a:r>
              <a:rPr sz="3200" spc="-80" dirty="0">
                <a:solidFill>
                  <a:srgbClr val="FFFFFF"/>
                </a:solidFill>
                <a:latin typeface="Calibri"/>
                <a:cs typeface="Calibri"/>
              </a:rPr>
              <a:t> </a:t>
            </a:r>
            <a:r>
              <a:rPr sz="3200" spc="-15" dirty="0">
                <a:solidFill>
                  <a:srgbClr val="FFFFFF"/>
                </a:solidFill>
                <a:latin typeface="Calibri"/>
                <a:cs typeface="Calibri"/>
              </a:rPr>
              <a:t>rock  </a:t>
            </a:r>
            <a:r>
              <a:rPr sz="3200" dirty="0">
                <a:solidFill>
                  <a:srgbClr val="FFFFFF"/>
                </a:solidFill>
                <a:latin typeface="Calibri"/>
                <a:cs typeface="Calibri"/>
              </a:rPr>
              <a:t>I </a:t>
            </a:r>
            <a:r>
              <a:rPr sz="3200" spc="-30" dirty="0">
                <a:solidFill>
                  <a:srgbClr val="FFFFFF"/>
                </a:solidFill>
                <a:latin typeface="Calibri"/>
                <a:cs typeface="Calibri"/>
              </a:rPr>
              <a:t>like</a:t>
            </a:r>
            <a:r>
              <a:rPr sz="3200" spc="-50" dirty="0">
                <a:solidFill>
                  <a:srgbClr val="FFFFFF"/>
                </a:solidFill>
                <a:latin typeface="Calibri"/>
                <a:cs typeface="Calibri"/>
              </a:rPr>
              <a:t> </a:t>
            </a:r>
            <a:r>
              <a:rPr sz="3200" spc="-5" dirty="0">
                <a:solidFill>
                  <a:srgbClr val="FFFFFF"/>
                </a:solidFill>
                <a:latin typeface="Calibri"/>
                <a:cs typeface="Calibri"/>
              </a:rPr>
              <a:t>jazz</a:t>
            </a:r>
            <a:endParaRPr sz="3200" dirty="0">
              <a:latin typeface="Calibri"/>
              <a:cs typeface="Calibri"/>
            </a:endParaRPr>
          </a:p>
        </p:txBody>
      </p:sp>
      <p:sp>
        <p:nvSpPr>
          <p:cNvPr id="12" name="object 12"/>
          <p:cNvSpPr txBox="1"/>
          <p:nvPr/>
        </p:nvSpPr>
        <p:spPr>
          <a:xfrm>
            <a:off x="5707507" y="3924680"/>
            <a:ext cx="2254250" cy="2465070"/>
          </a:xfrm>
          <a:prstGeom prst="rect">
            <a:avLst/>
          </a:prstGeom>
        </p:spPr>
        <p:txBody>
          <a:bodyPr vert="horz" wrap="square" lIns="0" tIns="12700" rIns="0" bIns="0" rtlCol="0">
            <a:spAutoFit/>
          </a:bodyPr>
          <a:lstStyle/>
          <a:p>
            <a:pPr marL="12700">
              <a:lnSpc>
                <a:spcPct val="100000"/>
              </a:lnSpc>
              <a:spcBef>
                <a:spcPts val="100"/>
              </a:spcBef>
            </a:pPr>
            <a:r>
              <a:rPr sz="3200" spc="-5" dirty="0">
                <a:solidFill>
                  <a:srgbClr val="FFFFFF"/>
                </a:solidFill>
                <a:latin typeface="Calibri"/>
                <a:cs typeface="Calibri"/>
              </a:rPr>
              <a:t>OUTPUT</a:t>
            </a:r>
            <a:endParaRPr sz="3200" dirty="0">
              <a:latin typeface="Calibri"/>
              <a:cs typeface="Calibri"/>
            </a:endParaRPr>
          </a:p>
          <a:p>
            <a:pPr marL="12700" marR="678815" algn="just">
              <a:lnSpc>
                <a:spcPct val="100000"/>
              </a:lnSpc>
            </a:pPr>
            <a:r>
              <a:rPr sz="3200" dirty="0">
                <a:solidFill>
                  <a:srgbClr val="FFFFFF"/>
                </a:solidFill>
                <a:latin typeface="Calibri"/>
                <a:cs typeface="Calibri"/>
              </a:rPr>
              <a:t>I </a:t>
            </a:r>
            <a:r>
              <a:rPr sz="3200" spc="-30" dirty="0">
                <a:solidFill>
                  <a:srgbClr val="FFFFFF"/>
                </a:solidFill>
                <a:latin typeface="Calibri"/>
                <a:cs typeface="Calibri"/>
              </a:rPr>
              <a:t>like </a:t>
            </a:r>
            <a:r>
              <a:rPr sz="3200" dirty="0">
                <a:solidFill>
                  <a:srgbClr val="FFFFFF"/>
                </a:solidFill>
                <a:latin typeface="Calibri"/>
                <a:cs typeface="Calibri"/>
              </a:rPr>
              <a:t>pop  I </a:t>
            </a:r>
            <a:r>
              <a:rPr sz="3200" spc="-30" dirty="0">
                <a:solidFill>
                  <a:srgbClr val="FFFFFF"/>
                </a:solidFill>
                <a:latin typeface="Calibri"/>
                <a:cs typeface="Calibri"/>
              </a:rPr>
              <a:t>like</a:t>
            </a:r>
            <a:r>
              <a:rPr sz="3200" spc="-85" dirty="0">
                <a:solidFill>
                  <a:srgbClr val="FFFFFF"/>
                </a:solidFill>
                <a:latin typeface="Calibri"/>
                <a:cs typeface="Calibri"/>
              </a:rPr>
              <a:t> </a:t>
            </a:r>
            <a:r>
              <a:rPr sz="3200" spc="-15" dirty="0">
                <a:solidFill>
                  <a:srgbClr val="FFFFFF"/>
                </a:solidFill>
                <a:latin typeface="Calibri"/>
                <a:cs typeface="Calibri"/>
              </a:rPr>
              <a:t>rock  </a:t>
            </a:r>
            <a:r>
              <a:rPr sz="3200" dirty="0">
                <a:solidFill>
                  <a:srgbClr val="FFFFFF"/>
                </a:solidFill>
                <a:latin typeface="Calibri"/>
                <a:cs typeface="Calibri"/>
              </a:rPr>
              <a:t>I </a:t>
            </a:r>
            <a:r>
              <a:rPr sz="3200" spc="-30" dirty="0">
                <a:solidFill>
                  <a:srgbClr val="FFFFFF"/>
                </a:solidFill>
                <a:latin typeface="Calibri"/>
                <a:cs typeface="Calibri"/>
              </a:rPr>
              <a:t>like</a:t>
            </a:r>
            <a:r>
              <a:rPr sz="3200" spc="-55" dirty="0">
                <a:solidFill>
                  <a:srgbClr val="FFFFFF"/>
                </a:solidFill>
                <a:latin typeface="Calibri"/>
                <a:cs typeface="Calibri"/>
              </a:rPr>
              <a:t> </a:t>
            </a:r>
            <a:r>
              <a:rPr sz="3200" dirty="0">
                <a:solidFill>
                  <a:srgbClr val="FFFFFF"/>
                </a:solidFill>
                <a:latin typeface="Calibri"/>
                <a:cs typeface="Calibri"/>
              </a:rPr>
              <a:t>jazz</a:t>
            </a:r>
            <a:endParaRPr sz="3200" dirty="0">
              <a:latin typeface="Calibri"/>
              <a:cs typeface="Calibri"/>
            </a:endParaRPr>
          </a:p>
          <a:p>
            <a:pPr marL="12700" algn="just">
              <a:lnSpc>
                <a:spcPct val="100000"/>
              </a:lnSpc>
              <a:spcBef>
                <a:spcPts val="5"/>
              </a:spcBef>
            </a:pPr>
            <a:r>
              <a:rPr sz="3200" dirty="0">
                <a:solidFill>
                  <a:srgbClr val="FFFFFF"/>
                </a:solidFill>
                <a:latin typeface="Calibri"/>
                <a:cs typeface="Calibri"/>
              </a:rPr>
              <a:t>No </a:t>
            </a:r>
            <a:r>
              <a:rPr sz="3200" spc="-15" dirty="0">
                <a:solidFill>
                  <a:srgbClr val="FFFFFF"/>
                </a:solidFill>
                <a:latin typeface="Calibri"/>
                <a:cs typeface="Calibri"/>
              </a:rPr>
              <a:t>items</a:t>
            </a:r>
            <a:r>
              <a:rPr sz="3200" spc="-50" dirty="0">
                <a:solidFill>
                  <a:srgbClr val="FFFFFF"/>
                </a:solidFill>
                <a:latin typeface="Calibri"/>
                <a:cs typeface="Calibri"/>
              </a:rPr>
              <a:t> </a:t>
            </a:r>
            <a:r>
              <a:rPr sz="3200" spc="-10" dirty="0">
                <a:solidFill>
                  <a:srgbClr val="FFFFFF"/>
                </a:solidFill>
                <a:latin typeface="Calibri"/>
                <a:cs typeface="Calibri"/>
              </a:rPr>
              <a:t>left.</a:t>
            </a:r>
            <a:endParaRPr sz="3200" dirty="0">
              <a:latin typeface="Calibri"/>
              <a:cs typeface="Calibri"/>
            </a:endParaRPr>
          </a:p>
        </p:txBody>
      </p:sp>
      <p:sp>
        <p:nvSpPr>
          <p:cNvPr id="6" name="Rectangle 5"/>
          <p:cNvSpPr/>
          <p:nvPr/>
        </p:nvSpPr>
        <p:spPr>
          <a:xfrm>
            <a:off x="457200" y="1371600"/>
            <a:ext cx="7467600" cy="1569660"/>
          </a:xfrm>
          <a:prstGeom prst="rect">
            <a:avLst/>
          </a:prstGeom>
          <a:ln>
            <a:solidFill>
              <a:srgbClr val="92D050"/>
            </a:solidFill>
          </a:ln>
        </p:spPr>
        <p:txBody>
          <a:bodyPr wrap="square">
            <a:spAutoFit/>
          </a:bodyPr>
          <a:lstStyle/>
          <a:p>
            <a:r>
              <a:rPr lang="en-US" sz="2400" dirty="0" smtClean="0"/>
              <a:t>Numbers = range(2,101)</a:t>
            </a:r>
          </a:p>
          <a:p>
            <a:r>
              <a:rPr lang="en-US" sz="2400" dirty="0" smtClean="0"/>
              <a:t>for num in numbers:</a:t>
            </a:r>
          </a:p>
          <a:p>
            <a:r>
              <a:rPr lang="en-US" sz="2400" dirty="0" smtClean="0"/>
              <a:t>	if num%2==0:</a:t>
            </a:r>
          </a:p>
          <a:p>
            <a:r>
              <a:rPr lang="en-US" sz="2400" dirty="0" smtClean="0"/>
              <a:t>	print ('the list contains an even number‘)</a:t>
            </a:r>
          </a:p>
        </p:txBody>
      </p:sp>
      <p:sp>
        <p:nvSpPr>
          <p:cNvPr id="7" name="Rectangle 6"/>
          <p:cNvSpPr/>
          <p:nvPr/>
        </p:nvSpPr>
        <p:spPr>
          <a:xfrm>
            <a:off x="533400" y="3657600"/>
            <a:ext cx="7924800" cy="1569660"/>
          </a:xfrm>
          <a:prstGeom prst="rect">
            <a:avLst/>
          </a:prstGeom>
          <a:ln>
            <a:solidFill>
              <a:srgbClr val="FFC000"/>
            </a:solidFill>
          </a:ln>
        </p:spPr>
        <p:txBody>
          <a:bodyPr wrap="square">
            <a:spAutoFit/>
          </a:bodyPr>
          <a:lstStyle/>
          <a:p>
            <a:r>
              <a:rPr lang="en-US" sz="2400" dirty="0" smtClean="0"/>
              <a:t>for letter in 'Python': 		# traversal of a string sequence</a:t>
            </a:r>
          </a:p>
          <a:p>
            <a:r>
              <a:rPr lang="en-US" sz="2400" dirty="0" smtClean="0"/>
              <a:t>	print ('Current Letter :', letter)</a:t>
            </a:r>
          </a:p>
          <a:p>
            <a:r>
              <a:rPr lang="en-US" sz="2400" dirty="0" smtClean="0"/>
              <a:t>print()</a:t>
            </a:r>
          </a:p>
          <a:p>
            <a:r>
              <a:rPr lang="en-US" sz="2400" dirty="0" smtClean="0"/>
              <a:t>print ("Good bye!")</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524000" y="2286000"/>
            <a:ext cx="4572000" cy="2677656"/>
          </a:xfrm>
          <a:prstGeom prst="rect">
            <a:avLst/>
          </a:prstGeom>
          <a:ln>
            <a:solidFill>
              <a:srgbClr val="FF0000"/>
            </a:solidFill>
          </a:ln>
        </p:spPr>
        <p:txBody>
          <a:bodyPr>
            <a:spAutoFit/>
          </a:bodyPr>
          <a:lstStyle/>
          <a:p>
            <a:r>
              <a:rPr lang="en-US" sz="2400" dirty="0" smtClean="0"/>
              <a:t>x = range(2,10)</a:t>
            </a:r>
          </a:p>
          <a:p>
            <a:endParaRPr lang="en-US" sz="2400" dirty="0" smtClean="0"/>
          </a:p>
          <a:p>
            <a:r>
              <a:rPr lang="en-US" sz="2400" dirty="0" smtClean="0"/>
              <a:t>for  </a:t>
            </a:r>
            <a:r>
              <a:rPr lang="en-US" sz="2400" dirty="0" err="1" smtClean="0"/>
              <a:t>i</a:t>
            </a:r>
            <a:r>
              <a:rPr lang="en-US" sz="2400" dirty="0" smtClean="0"/>
              <a:t>  in x:</a:t>
            </a:r>
          </a:p>
          <a:p>
            <a:r>
              <a:rPr lang="en-US" sz="2400" dirty="0" smtClean="0"/>
              <a:t>    if </a:t>
            </a:r>
            <a:r>
              <a:rPr lang="en-US" sz="2400" dirty="0" err="1" smtClean="0"/>
              <a:t>i</a:t>
            </a:r>
            <a:r>
              <a:rPr lang="en-US" sz="2400" dirty="0" smtClean="0"/>
              <a:t> % 2 == 0:</a:t>
            </a:r>
          </a:p>
          <a:p>
            <a:r>
              <a:rPr lang="en-US" sz="2400" dirty="0" smtClean="0"/>
              <a:t>        print ("Even numbers:",</a:t>
            </a:r>
            <a:r>
              <a:rPr lang="en-US" sz="2400" dirty="0" err="1" smtClean="0"/>
              <a:t>i</a:t>
            </a:r>
            <a:r>
              <a:rPr lang="en-US" sz="2400" dirty="0" smtClean="0"/>
              <a:t>)</a:t>
            </a:r>
          </a:p>
          <a:p>
            <a:r>
              <a:rPr lang="en-US" sz="2400" dirty="0" smtClean="0"/>
              <a:t>   else:</a:t>
            </a:r>
          </a:p>
          <a:p>
            <a:r>
              <a:rPr lang="en-US" sz="2400" dirty="0" smtClean="0"/>
              <a:t>         print ("Odd numbers are:",</a:t>
            </a:r>
            <a:r>
              <a:rPr lang="en-US" sz="2400" dirty="0" err="1" smtClean="0"/>
              <a:t>i</a:t>
            </a:r>
            <a:r>
              <a:rPr lang="en-US" sz="2400" dirty="0" smtClean="0"/>
              <a:t>)</a:t>
            </a:r>
            <a:endParaRPr lang="en-US" sz="2400" dirty="0"/>
          </a:p>
        </p:txBody>
      </p:sp>
      <p:sp>
        <p:nvSpPr>
          <p:cNvPr id="6" name="TextBox 5"/>
          <p:cNvSpPr txBox="1"/>
          <p:nvPr/>
        </p:nvSpPr>
        <p:spPr>
          <a:xfrm>
            <a:off x="1371600" y="381000"/>
            <a:ext cx="4948791" cy="584775"/>
          </a:xfrm>
          <a:prstGeom prst="rect">
            <a:avLst/>
          </a:prstGeom>
          <a:solidFill>
            <a:srgbClr val="FFFF00"/>
          </a:solidFill>
        </p:spPr>
        <p:txBody>
          <a:bodyPr wrap="none" rtlCol="0">
            <a:spAutoFit/>
          </a:bodyPr>
          <a:lstStyle/>
          <a:p>
            <a:r>
              <a:rPr lang="en-US" sz="3200" dirty="0" smtClean="0">
                <a:solidFill>
                  <a:srgbClr val="FF0000"/>
                </a:solidFill>
              </a:rPr>
              <a:t>For loop with else statement</a:t>
            </a:r>
            <a:endParaRPr lang="en-US" sz="3200" dirty="0">
              <a:solidFill>
                <a:srgbClr val="FF0000"/>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381000" y="380999"/>
            <a:ext cx="8534400" cy="8402300"/>
          </a:xfrm>
          <a:prstGeom prst="rect">
            <a:avLst/>
          </a:prstGeom>
        </p:spPr>
        <p:txBody>
          <a:bodyPr wrap="square">
            <a:spAutoFit/>
          </a:bodyPr>
          <a:lstStyle/>
          <a:p>
            <a:r>
              <a:rPr lang="en-US" dirty="0" smtClean="0"/>
              <a:t>start = 25</a:t>
            </a:r>
          </a:p>
          <a:p>
            <a:r>
              <a:rPr lang="en-US" dirty="0" smtClean="0"/>
              <a:t>end = 50</a:t>
            </a:r>
          </a:p>
          <a:p>
            <a:r>
              <a:rPr lang="en-US" dirty="0" smtClean="0"/>
              <a:t>print("Prime numbers between", start, "and", end, "are:")</a:t>
            </a:r>
          </a:p>
          <a:p>
            <a:endParaRPr lang="en-US" dirty="0" smtClean="0"/>
          </a:p>
          <a:p>
            <a:r>
              <a:rPr lang="en-US" dirty="0" smtClean="0"/>
              <a:t>for num in range(start, end + 1):</a:t>
            </a:r>
          </a:p>
          <a:p>
            <a:r>
              <a:rPr lang="en-US" dirty="0" smtClean="0"/>
              <a:t>    # all prime numbers are greater than 1</a:t>
            </a:r>
          </a:p>
          <a:p>
            <a:r>
              <a:rPr lang="en-US" dirty="0" smtClean="0"/>
              <a:t>    # if number is less than or equal to 1, it is not prime</a:t>
            </a:r>
          </a:p>
          <a:p>
            <a:r>
              <a:rPr lang="en-US" dirty="0" smtClean="0"/>
              <a:t>    if num &gt; 1:</a:t>
            </a:r>
          </a:p>
          <a:p>
            <a:r>
              <a:rPr lang="en-US" dirty="0" smtClean="0"/>
              <a:t>        for </a:t>
            </a:r>
            <a:r>
              <a:rPr lang="en-US" dirty="0" err="1" smtClean="0"/>
              <a:t>i</a:t>
            </a:r>
            <a:r>
              <a:rPr lang="en-US" dirty="0" smtClean="0"/>
              <a:t> in range(2, num):</a:t>
            </a:r>
          </a:p>
          <a:p>
            <a:r>
              <a:rPr lang="en-US" dirty="0" smtClean="0"/>
              <a:t>            # check for factors</a:t>
            </a:r>
          </a:p>
          <a:p>
            <a:r>
              <a:rPr lang="en-US" dirty="0" smtClean="0"/>
              <a:t>            if (num % </a:t>
            </a:r>
            <a:r>
              <a:rPr lang="en-US" dirty="0" err="1" smtClean="0"/>
              <a:t>i</a:t>
            </a:r>
            <a:r>
              <a:rPr lang="en-US" dirty="0" smtClean="0"/>
              <a:t>) == 0:</a:t>
            </a:r>
          </a:p>
          <a:p>
            <a:r>
              <a:rPr lang="en-US" dirty="0" smtClean="0"/>
              <a:t>                # not a prime number so break inner loop and</a:t>
            </a:r>
          </a:p>
          <a:p>
            <a:r>
              <a:rPr lang="en-US" dirty="0" smtClean="0"/>
              <a:t>                # look for next number</a:t>
            </a:r>
          </a:p>
          <a:p>
            <a:r>
              <a:rPr lang="en-US" dirty="0" smtClean="0"/>
              <a:t>                break</a:t>
            </a:r>
          </a:p>
          <a:p>
            <a:r>
              <a:rPr lang="en-US" dirty="0" smtClean="0"/>
              <a:t>        else:</a:t>
            </a:r>
          </a:p>
          <a:p>
            <a:r>
              <a:rPr lang="en-US" dirty="0" smtClean="0"/>
              <a:t>            print(num)</a:t>
            </a:r>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r>
              <a:rPr lang="en-US" dirty="0" smtClean="0"/>
              <a:t> </a:t>
            </a:r>
            <a:endParaRPr lang="en-US" dirty="0"/>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533400" y="304800"/>
            <a:ext cx="8077200" cy="523220"/>
          </a:xfrm>
          <a:prstGeom prst="rect">
            <a:avLst/>
          </a:prstGeom>
          <a:solidFill>
            <a:srgbClr val="FFFF00"/>
          </a:solidFill>
        </p:spPr>
        <p:txBody>
          <a:bodyPr wrap="square" rtlCol="0">
            <a:spAutoFit/>
          </a:bodyPr>
          <a:lstStyle/>
          <a:p>
            <a:pPr algn="ctr"/>
            <a:r>
              <a:rPr lang="en-US" sz="2800" dirty="0" smtClean="0">
                <a:solidFill>
                  <a:srgbClr val="C00000"/>
                </a:solidFill>
                <a:latin typeface="Arial" pitchFamily="34" charset="0"/>
                <a:cs typeface="Arial" pitchFamily="34" charset="0"/>
              </a:rPr>
              <a:t>break, continue, and pass statements in Python</a:t>
            </a:r>
            <a:endParaRPr lang="en-US" sz="2800" dirty="0">
              <a:solidFill>
                <a:srgbClr val="C00000"/>
              </a:solidFill>
              <a:latin typeface="Arial" pitchFamily="34" charset="0"/>
              <a:cs typeface="Arial" pitchFamily="34" charset="0"/>
            </a:endParaRPr>
          </a:p>
        </p:txBody>
      </p:sp>
      <p:sp>
        <p:nvSpPr>
          <p:cNvPr id="29699" name="Rectangle 3"/>
          <p:cNvSpPr>
            <a:spLocks noChangeArrowheads="1"/>
          </p:cNvSpPr>
          <p:nvPr/>
        </p:nvSpPr>
        <p:spPr bwMode="auto">
          <a:xfrm>
            <a:off x="914400" y="1981200"/>
            <a:ext cx="7696200" cy="3592216"/>
          </a:xfrm>
          <a:prstGeom prst="rect">
            <a:avLst/>
          </a:prstGeom>
          <a:solidFill>
            <a:schemeClr val="bg1"/>
          </a:solidFill>
          <a:ln w="9525">
            <a:solidFill>
              <a:schemeClr val="bg1"/>
            </a:solidFill>
            <a:miter lim="800000"/>
            <a:headEnd/>
            <a:tailEnd/>
          </a:ln>
          <a:effectLst/>
        </p:spPr>
        <p:txBody>
          <a:bodyPr vert="horz" wrap="square" lIns="91440" tIns="268203" rIns="91440" bIns="88872" numCol="1" anchor="ctr" anchorCtr="0" compatLnSpc="1">
            <a:prstTxWarp prst="textNoShape">
              <a:avLst/>
            </a:prstTxWarp>
            <a:spAutoFit/>
          </a:bodyPr>
          <a:lstStyle/>
          <a:p>
            <a:pPr marL="0" marR="0" lvl="0" indent="0" algn="just" defTabSz="914400" rtl="0" eaLnBrk="1" fontAlgn="base" latinLnBrk="0" hangingPunct="1">
              <a:lnSpc>
                <a:spcPct val="150000"/>
              </a:lnSpc>
              <a:spcBef>
                <a:spcPct val="0"/>
              </a:spcBef>
              <a:spcAft>
                <a:spcPct val="0"/>
              </a:spcAft>
              <a:buClrTx/>
              <a:buSzTx/>
              <a:buFontTx/>
              <a:buNone/>
              <a:tabLst/>
            </a:pPr>
            <a:r>
              <a:rPr kumimoji="0" lang="en-US" sz="2000" i="0" u="none" strike="noStrike" cap="none" normalizeH="0" baseline="0" dirty="0" smtClean="0">
                <a:ln>
                  <a:noFill/>
                </a:ln>
                <a:solidFill>
                  <a:srgbClr val="C00000"/>
                </a:solidFill>
                <a:effectLst/>
                <a:latin typeface="Arial" pitchFamily="34" charset="0"/>
                <a:cs typeface="Arial" pitchFamily="34" charset="0"/>
              </a:rPr>
              <a:t>Break Statement</a:t>
            </a:r>
          </a:p>
          <a:p>
            <a:pPr marL="0" marR="0" lvl="0" indent="0" algn="just" defTabSz="914400" rtl="0" eaLnBrk="0" fontAlgn="base" latinLnBrk="0" hangingPunct="0">
              <a:lnSpc>
                <a:spcPct val="150000"/>
              </a:lnSpc>
              <a:spcBef>
                <a:spcPct val="0"/>
              </a:spcBef>
              <a:spcAft>
                <a:spcPct val="0"/>
              </a:spcAft>
              <a:buClrTx/>
              <a:buSzTx/>
              <a:buFontTx/>
              <a:buNone/>
              <a:tabLst/>
            </a:pPr>
            <a:r>
              <a:rPr kumimoji="0" lang="en-US" sz="2400" b="0" i="0" u="none" strike="noStrike" cap="none" normalizeH="0" baseline="0" dirty="0" smtClean="0">
                <a:ln>
                  <a:noFill/>
                </a:ln>
                <a:solidFill>
                  <a:srgbClr val="333333"/>
                </a:solidFill>
                <a:effectLst/>
                <a:cs typeface="Arial" pitchFamily="34" charset="0"/>
              </a:rPr>
              <a:t>In Python, the </a:t>
            </a:r>
            <a:r>
              <a:rPr kumimoji="0" lang="en-US" sz="2400" b="0" i="0" u="none" strike="noStrike" cap="none" normalizeH="0" baseline="0" dirty="0" smtClean="0">
                <a:ln>
                  <a:noFill/>
                </a:ln>
                <a:solidFill>
                  <a:srgbClr val="545454"/>
                </a:solidFill>
                <a:effectLst/>
                <a:cs typeface="Arial" pitchFamily="34" charset="0"/>
              </a:rPr>
              <a:t>break</a:t>
            </a:r>
            <a:r>
              <a:rPr kumimoji="0" lang="en-US" sz="2400" b="0" i="0" u="none" strike="noStrike" cap="none" normalizeH="0" baseline="0" dirty="0" smtClean="0">
                <a:ln>
                  <a:noFill/>
                </a:ln>
                <a:solidFill>
                  <a:srgbClr val="333333"/>
                </a:solidFill>
                <a:effectLst/>
                <a:cs typeface="Arial" pitchFamily="34" charset="0"/>
              </a:rPr>
              <a:t> statement provides you with the opportunity to exit out of a loop when an external condition is triggered. You’ll put the </a:t>
            </a:r>
            <a:r>
              <a:rPr kumimoji="0" lang="en-US" sz="2400" b="0" i="0" u="none" strike="noStrike" cap="none" normalizeH="0" baseline="0" dirty="0" smtClean="0">
                <a:ln>
                  <a:noFill/>
                </a:ln>
                <a:solidFill>
                  <a:srgbClr val="545454"/>
                </a:solidFill>
                <a:effectLst/>
                <a:cs typeface="Arial" pitchFamily="34" charset="0"/>
              </a:rPr>
              <a:t>break</a:t>
            </a:r>
            <a:r>
              <a:rPr kumimoji="0" lang="en-US" sz="2400" b="0" i="0" u="none" strike="noStrike" cap="none" normalizeH="0" baseline="0" dirty="0" smtClean="0">
                <a:ln>
                  <a:noFill/>
                </a:ln>
                <a:solidFill>
                  <a:srgbClr val="333333"/>
                </a:solidFill>
                <a:effectLst/>
                <a:cs typeface="Arial" pitchFamily="34" charset="0"/>
              </a:rPr>
              <a:t> statement within the block of code under your loop statement, usually after a conditional </a:t>
            </a:r>
            <a:r>
              <a:rPr kumimoji="0" lang="en-US" sz="2400" b="0" i="0" u="none" strike="noStrike" cap="none" normalizeH="0" baseline="0" dirty="0" smtClean="0">
                <a:ln>
                  <a:noFill/>
                </a:ln>
                <a:solidFill>
                  <a:srgbClr val="545454"/>
                </a:solidFill>
                <a:effectLst/>
                <a:cs typeface="Arial" pitchFamily="34" charset="0"/>
              </a:rPr>
              <a:t>if</a:t>
            </a:r>
            <a:r>
              <a:rPr kumimoji="0" lang="en-US" sz="2400" b="0" i="0" u="none" strike="noStrike" cap="none" normalizeH="0" baseline="0" dirty="0" smtClean="0">
                <a:ln>
                  <a:noFill/>
                </a:ln>
                <a:solidFill>
                  <a:srgbClr val="333333"/>
                </a:solidFill>
                <a:effectLst/>
                <a:cs typeface="Arial" pitchFamily="34" charset="0"/>
              </a:rPr>
              <a:t> statement.</a:t>
            </a:r>
            <a:endParaRPr kumimoji="0" lang="en-US" sz="2400" b="0" i="0" u="none" strike="noStrike" cap="none" normalizeH="0" baseline="0" dirty="0" smtClean="0">
              <a:ln>
                <a:noFill/>
              </a:ln>
              <a:solidFill>
                <a:schemeClr val="tx1"/>
              </a:solidFill>
              <a:effectLst/>
              <a:cs typeface="Arial" pitchFamily="34" charset="0"/>
            </a:endParaRP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How the break statement works in Python"/>
          <p:cNvPicPr>
            <a:picLocks noChangeAspect="1" noChangeArrowheads="1"/>
          </p:cNvPicPr>
          <p:nvPr/>
        </p:nvPicPr>
        <p:blipFill>
          <a:blip r:embed="rId2" cstate="print"/>
          <a:srcRect/>
          <a:stretch>
            <a:fillRect/>
          </a:stretch>
        </p:blipFill>
        <p:spPr bwMode="auto">
          <a:xfrm>
            <a:off x="1752600" y="685800"/>
            <a:ext cx="5638800" cy="5257800"/>
          </a:xfrm>
          <a:prstGeom prst="rect">
            <a:avLst/>
          </a:prstGeom>
          <a:noFill/>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Rectangle 1"/>
          <p:cNvSpPr>
            <a:spLocks noChangeArrowheads="1"/>
          </p:cNvSpPr>
          <p:nvPr/>
        </p:nvSpPr>
        <p:spPr bwMode="auto">
          <a:xfrm>
            <a:off x="838200" y="228600"/>
            <a:ext cx="5867400" cy="1846659"/>
          </a:xfrm>
          <a:prstGeom prst="rect">
            <a:avLst/>
          </a:prstGeom>
          <a:solidFill>
            <a:schemeClr val="bg1"/>
          </a:solidFill>
          <a:ln w="9525">
            <a:solidFill>
              <a:srgbClr val="FF0000"/>
            </a:solidFill>
            <a:miter lim="800000"/>
            <a:headEnd/>
            <a:tailEnd/>
          </a:ln>
          <a:effectLst/>
        </p:spPr>
        <p:txBody>
          <a:bodyPr vert="horz" wrap="square" lIns="0" tIns="0" rIns="0" bIns="0" numCol="1" anchor="ctr" anchorCtr="0" compatLnSpc="1">
            <a:prstTxWarp prst="textNoShape">
              <a:avLst/>
            </a:prstTxWarp>
            <a:spAutoFit/>
          </a:bodyPr>
          <a:lstStyle/>
          <a:p>
            <a:pPr lvl="0" fontAlgn="base">
              <a:spcBef>
                <a:spcPct val="0"/>
              </a:spcBef>
              <a:spcAft>
                <a:spcPct val="0"/>
              </a:spcAft>
            </a:pPr>
            <a:r>
              <a:rPr lang="en-US" sz="2400" dirty="0" smtClean="0">
                <a:solidFill>
                  <a:schemeClr val="tx1">
                    <a:lumMod val="85000"/>
                    <a:lumOff val="15000"/>
                  </a:schemeClr>
                </a:solidFill>
                <a:latin typeface="Arial" pitchFamily="34" charset="0"/>
                <a:cs typeface="Arial" pitchFamily="34" charset="0"/>
              </a:rPr>
              <a:t>for </a:t>
            </a:r>
            <a:r>
              <a:rPr lang="en-US" sz="2400" dirty="0" err="1" smtClean="0">
                <a:solidFill>
                  <a:schemeClr val="tx1">
                    <a:lumMod val="85000"/>
                    <a:lumOff val="15000"/>
                  </a:schemeClr>
                </a:solidFill>
                <a:latin typeface="Arial" pitchFamily="34" charset="0"/>
                <a:cs typeface="Arial" pitchFamily="34" charset="0"/>
              </a:rPr>
              <a:t>ch</a:t>
            </a:r>
            <a:r>
              <a:rPr lang="en-US" sz="2400" dirty="0" smtClean="0">
                <a:solidFill>
                  <a:schemeClr val="tx1">
                    <a:lumMod val="85000"/>
                    <a:lumOff val="15000"/>
                  </a:schemeClr>
                </a:solidFill>
                <a:latin typeface="Arial" pitchFamily="34" charset="0"/>
                <a:cs typeface="Arial" pitchFamily="34" charset="0"/>
              </a:rPr>
              <a:t> in "python":</a:t>
            </a:r>
          </a:p>
          <a:p>
            <a:pPr lvl="0" fontAlgn="base">
              <a:spcBef>
                <a:spcPct val="0"/>
              </a:spcBef>
              <a:spcAft>
                <a:spcPct val="0"/>
              </a:spcAft>
            </a:pPr>
            <a:r>
              <a:rPr lang="en-US" sz="2400" dirty="0" smtClean="0">
                <a:solidFill>
                  <a:schemeClr val="tx1">
                    <a:lumMod val="85000"/>
                    <a:lumOff val="15000"/>
                  </a:schemeClr>
                </a:solidFill>
                <a:latin typeface="Arial" pitchFamily="34" charset="0"/>
                <a:cs typeface="Arial" pitchFamily="34" charset="0"/>
              </a:rPr>
              <a:t>    if </a:t>
            </a:r>
            <a:r>
              <a:rPr lang="en-US" sz="2400" dirty="0" err="1" smtClean="0">
                <a:solidFill>
                  <a:schemeClr val="tx1">
                    <a:lumMod val="85000"/>
                    <a:lumOff val="15000"/>
                  </a:schemeClr>
                </a:solidFill>
                <a:latin typeface="Arial" pitchFamily="34" charset="0"/>
                <a:cs typeface="Arial" pitchFamily="34" charset="0"/>
              </a:rPr>
              <a:t>ch</a:t>
            </a:r>
            <a:r>
              <a:rPr lang="en-US" sz="2400" dirty="0" smtClean="0">
                <a:solidFill>
                  <a:schemeClr val="tx1">
                    <a:lumMod val="85000"/>
                    <a:lumOff val="15000"/>
                  </a:schemeClr>
                </a:solidFill>
                <a:latin typeface="Arial" pitchFamily="34" charset="0"/>
                <a:cs typeface="Arial" pitchFamily="34" charset="0"/>
              </a:rPr>
              <a:t> == "h":</a:t>
            </a:r>
          </a:p>
          <a:p>
            <a:pPr lvl="0" fontAlgn="base">
              <a:spcBef>
                <a:spcPct val="0"/>
              </a:spcBef>
              <a:spcAft>
                <a:spcPct val="0"/>
              </a:spcAft>
            </a:pPr>
            <a:r>
              <a:rPr lang="en-US" sz="2400" dirty="0" smtClean="0">
                <a:solidFill>
                  <a:schemeClr val="tx1">
                    <a:lumMod val="85000"/>
                    <a:lumOff val="15000"/>
                  </a:schemeClr>
                </a:solidFill>
                <a:latin typeface="Arial" pitchFamily="34" charset="0"/>
                <a:cs typeface="Arial" pitchFamily="34" charset="0"/>
              </a:rPr>
              <a:t>        break</a:t>
            </a:r>
          </a:p>
          <a:p>
            <a:pPr lvl="0" fontAlgn="base">
              <a:spcBef>
                <a:spcPct val="0"/>
              </a:spcBef>
              <a:spcAft>
                <a:spcPct val="0"/>
              </a:spcAft>
            </a:pPr>
            <a:r>
              <a:rPr lang="en-US" sz="2400" dirty="0" smtClean="0">
                <a:solidFill>
                  <a:schemeClr val="tx1">
                    <a:lumMod val="85000"/>
                    <a:lumOff val="15000"/>
                  </a:schemeClr>
                </a:solidFill>
                <a:latin typeface="Arial" pitchFamily="34" charset="0"/>
                <a:cs typeface="Arial" pitchFamily="34" charset="0"/>
              </a:rPr>
              <a:t>    print(</a:t>
            </a:r>
            <a:r>
              <a:rPr lang="en-US" sz="2400" dirty="0" err="1" smtClean="0">
                <a:solidFill>
                  <a:schemeClr val="tx1">
                    <a:lumMod val="85000"/>
                    <a:lumOff val="15000"/>
                  </a:schemeClr>
                </a:solidFill>
                <a:latin typeface="Arial" pitchFamily="34" charset="0"/>
                <a:cs typeface="Arial" pitchFamily="34" charset="0"/>
              </a:rPr>
              <a:t>ch</a:t>
            </a:r>
            <a:r>
              <a:rPr lang="en-US" sz="2400" dirty="0" smtClean="0">
                <a:solidFill>
                  <a:schemeClr val="tx1">
                    <a:lumMod val="85000"/>
                    <a:lumOff val="15000"/>
                  </a:schemeClr>
                </a:solidFill>
                <a:latin typeface="Arial" pitchFamily="34" charset="0"/>
                <a:cs typeface="Arial" pitchFamily="34" charset="0"/>
              </a:rPr>
              <a:t>)</a:t>
            </a:r>
          </a:p>
          <a:p>
            <a:pPr lvl="0" fontAlgn="base">
              <a:spcBef>
                <a:spcPct val="0"/>
              </a:spcBef>
              <a:spcAft>
                <a:spcPct val="0"/>
              </a:spcAft>
            </a:pPr>
            <a:r>
              <a:rPr lang="en-US" sz="2400" dirty="0" smtClean="0">
                <a:solidFill>
                  <a:schemeClr val="tx1">
                    <a:lumMod val="85000"/>
                    <a:lumOff val="15000"/>
                  </a:schemeClr>
                </a:solidFill>
                <a:latin typeface="Arial" pitchFamily="34" charset="0"/>
                <a:cs typeface="Arial" pitchFamily="34" charset="0"/>
              </a:rPr>
              <a:t>print("end")</a:t>
            </a:r>
            <a:endParaRPr kumimoji="0" lang="en-US" sz="2400" b="0" i="0" u="none" strike="noStrike" cap="none" normalizeH="0" baseline="0" dirty="0" smtClean="0">
              <a:ln>
                <a:noFill/>
              </a:ln>
              <a:solidFill>
                <a:schemeClr val="tx1">
                  <a:lumMod val="85000"/>
                  <a:lumOff val="15000"/>
                </a:schemeClr>
              </a:solidFill>
              <a:effectLst/>
              <a:latin typeface="Arial" pitchFamily="34" charset="0"/>
              <a:cs typeface="Arial" pitchFamily="34" charset="0"/>
            </a:endParaRPr>
          </a:p>
        </p:txBody>
      </p:sp>
      <p:sp>
        <p:nvSpPr>
          <p:cNvPr id="35842" name="Rectangle 2"/>
          <p:cNvSpPr>
            <a:spLocks noChangeArrowheads="1"/>
          </p:cNvSpPr>
          <p:nvPr/>
        </p:nvSpPr>
        <p:spPr bwMode="auto">
          <a:xfrm>
            <a:off x="762000" y="2819400"/>
            <a:ext cx="7696200" cy="2308324"/>
          </a:xfrm>
          <a:prstGeom prst="rect">
            <a:avLst/>
          </a:prstGeom>
          <a:solidFill>
            <a:schemeClr val="bg1"/>
          </a:solidFill>
          <a:ln w="9525">
            <a:solidFill>
              <a:srgbClr val="C00000"/>
            </a:solidFill>
            <a:miter lim="800000"/>
            <a:headEnd/>
            <a:tailEnd/>
          </a:ln>
          <a:effectLst/>
        </p:spPr>
        <p:txBody>
          <a:bodyPr vert="horz" wrap="square" lIns="91440" tIns="45720" rIns="91440" bIns="45720" numCol="1" anchor="ctr" anchorCtr="0" compatLnSpc="1">
            <a:prstTxWarp prst="textNoShape">
              <a:avLst/>
            </a:prstTxWarp>
            <a:spAutoFit/>
          </a:bodyPr>
          <a:lstStyle/>
          <a:p>
            <a:pPr fontAlgn="base">
              <a:spcBef>
                <a:spcPct val="0"/>
              </a:spcBef>
              <a:spcAft>
                <a:spcPct val="0"/>
              </a:spcAft>
            </a:pPr>
            <a:r>
              <a:rPr lang="en-US" sz="2400" dirty="0" smtClean="0">
                <a:solidFill>
                  <a:schemeClr val="tx1">
                    <a:lumMod val="85000"/>
                    <a:lumOff val="15000"/>
                  </a:schemeClr>
                </a:solidFill>
                <a:latin typeface="Droid Sans Mono"/>
                <a:cs typeface="Arial" pitchFamily="34" charset="0"/>
              </a:rPr>
              <a:t>for </a:t>
            </a:r>
            <a:r>
              <a:rPr lang="en-US" sz="2400" dirty="0" err="1" smtClean="0">
                <a:solidFill>
                  <a:schemeClr val="tx1">
                    <a:lumMod val="85000"/>
                    <a:lumOff val="15000"/>
                  </a:schemeClr>
                </a:solidFill>
                <a:latin typeface="Droid Sans Mono"/>
                <a:cs typeface="Arial" pitchFamily="34" charset="0"/>
              </a:rPr>
              <a:t>i</a:t>
            </a:r>
            <a:r>
              <a:rPr lang="en-US" sz="2400" dirty="0" smtClean="0">
                <a:solidFill>
                  <a:schemeClr val="tx1">
                    <a:lumMod val="85000"/>
                    <a:lumOff val="15000"/>
                  </a:schemeClr>
                </a:solidFill>
                <a:latin typeface="Droid Sans Mono"/>
                <a:cs typeface="Arial" pitchFamily="34" charset="0"/>
              </a:rPr>
              <a:t> in range(4):</a:t>
            </a:r>
          </a:p>
          <a:p>
            <a:pPr fontAlgn="base">
              <a:spcBef>
                <a:spcPct val="0"/>
              </a:spcBef>
              <a:spcAft>
                <a:spcPct val="0"/>
              </a:spcAft>
            </a:pPr>
            <a:r>
              <a:rPr lang="en-US" sz="2400" dirty="0" smtClean="0">
                <a:solidFill>
                  <a:schemeClr val="tx1">
                    <a:lumMod val="85000"/>
                    <a:lumOff val="15000"/>
                  </a:schemeClr>
                </a:solidFill>
                <a:latin typeface="Droid Sans Mono"/>
                <a:cs typeface="Arial" pitchFamily="34" charset="0"/>
              </a:rPr>
              <a:t>    for j in range(4):</a:t>
            </a:r>
          </a:p>
          <a:p>
            <a:pPr fontAlgn="base">
              <a:spcBef>
                <a:spcPct val="0"/>
              </a:spcBef>
              <a:spcAft>
                <a:spcPct val="0"/>
              </a:spcAft>
            </a:pPr>
            <a:r>
              <a:rPr lang="en-US" sz="2400" dirty="0" smtClean="0">
                <a:solidFill>
                  <a:schemeClr val="tx1">
                    <a:lumMod val="85000"/>
                    <a:lumOff val="15000"/>
                  </a:schemeClr>
                </a:solidFill>
                <a:latin typeface="Droid Sans Mono"/>
                <a:cs typeface="Arial" pitchFamily="34" charset="0"/>
              </a:rPr>
              <a:t>        if j==2:</a:t>
            </a:r>
          </a:p>
          <a:p>
            <a:pPr fontAlgn="base">
              <a:spcBef>
                <a:spcPct val="0"/>
              </a:spcBef>
              <a:spcAft>
                <a:spcPct val="0"/>
              </a:spcAft>
            </a:pPr>
            <a:r>
              <a:rPr lang="en-US" sz="2400" dirty="0" smtClean="0">
                <a:solidFill>
                  <a:schemeClr val="tx1">
                    <a:lumMod val="85000"/>
                    <a:lumOff val="15000"/>
                  </a:schemeClr>
                </a:solidFill>
                <a:latin typeface="Droid Sans Mono"/>
                <a:cs typeface="Arial" pitchFamily="34" charset="0"/>
              </a:rPr>
              <a:t>            break</a:t>
            </a:r>
          </a:p>
          <a:p>
            <a:pPr fontAlgn="base">
              <a:spcBef>
                <a:spcPct val="0"/>
              </a:spcBef>
              <a:spcAft>
                <a:spcPct val="0"/>
              </a:spcAft>
            </a:pPr>
            <a:r>
              <a:rPr lang="en-US" sz="2400" dirty="0" smtClean="0">
                <a:solidFill>
                  <a:schemeClr val="tx1">
                    <a:lumMod val="85000"/>
                    <a:lumOff val="15000"/>
                  </a:schemeClr>
                </a:solidFill>
                <a:latin typeface="Droid Sans Mono"/>
                <a:cs typeface="Arial" pitchFamily="34" charset="0"/>
              </a:rPr>
              <a:t>        print(</a:t>
            </a:r>
            <a:r>
              <a:rPr lang="en-US" sz="2400" dirty="0" err="1" smtClean="0">
                <a:solidFill>
                  <a:schemeClr val="tx1">
                    <a:lumMod val="85000"/>
                    <a:lumOff val="15000"/>
                  </a:schemeClr>
                </a:solidFill>
                <a:latin typeface="Droid Sans Mono"/>
                <a:cs typeface="Arial" pitchFamily="34" charset="0"/>
              </a:rPr>
              <a:t>i,j</a:t>
            </a:r>
            <a:r>
              <a:rPr lang="en-US" sz="2400" dirty="0" smtClean="0">
                <a:solidFill>
                  <a:schemeClr val="tx1">
                    <a:lumMod val="85000"/>
                    <a:lumOff val="15000"/>
                  </a:schemeClr>
                </a:solidFill>
                <a:latin typeface="Droid Sans Mono"/>
                <a:cs typeface="Arial" pitchFamily="34" charset="0"/>
              </a:rPr>
              <a:t>)</a:t>
            </a:r>
          </a:p>
          <a:p>
            <a:pPr fontAlgn="base">
              <a:spcBef>
                <a:spcPct val="0"/>
              </a:spcBef>
              <a:spcAft>
                <a:spcPct val="0"/>
              </a:spcAft>
            </a:pPr>
            <a:r>
              <a:rPr lang="en-US" sz="2400" dirty="0" smtClean="0">
                <a:solidFill>
                  <a:schemeClr val="tx1">
                    <a:lumMod val="85000"/>
                    <a:lumOff val="15000"/>
                  </a:schemeClr>
                </a:solidFill>
                <a:latin typeface="Droid Sans Mono"/>
                <a:cs typeface="Arial" pitchFamily="34" charset="0"/>
              </a:rPr>
              <a:t> </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ChangeArrowheads="1"/>
          </p:cNvSpPr>
          <p:nvPr/>
        </p:nvSpPr>
        <p:spPr bwMode="auto">
          <a:xfrm>
            <a:off x="381000" y="0"/>
            <a:ext cx="8382000" cy="2299554"/>
          </a:xfrm>
          <a:prstGeom prst="rect">
            <a:avLst/>
          </a:prstGeom>
          <a:solidFill>
            <a:schemeClr val="bg1"/>
          </a:solidFill>
          <a:ln w="9525">
            <a:solidFill>
              <a:schemeClr val="bg1"/>
            </a:solidFill>
            <a:miter lim="800000"/>
            <a:headEnd/>
            <a:tailEnd/>
          </a:ln>
          <a:effectLst/>
        </p:spPr>
        <p:txBody>
          <a:bodyPr vert="horz" wrap="square" lIns="91440" tIns="268203" rIns="91440" bIns="88872" numCol="1" anchor="ctr" anchorCtr="0" compatLnSpc="1">
            <a:prstTxWarp prst="textNoShape">
              <a:avLst/>
            </a:prstTxWarp>
            <a:spAutoFit/>
          </a:bodyPr>
          <a:lstStyle/>
          <a:p>
            <a:pPr marL="0" marR="0" lvl="0" indent="0" algn="just" defTabSz="914400" rtl="0" eaLnBrk="1" fontAlgn="base" latinLnBrk="0" hangingPunct="1">
              <a:lnSpc>
                <a:spcPct val="150000"/>
              </a:lnSpc>
              <a:spcBef>
                <a:spcPct val="0"/>
              </a:spcBef>
              <a:spcAft>
                <a:spcPct val="0"/>
              </a:spcAft>
              <a:buClrTx/>
              <a:buSzTx/>
              <a:buFontTx/>
              <a:buNone/>
              <a:tabLst/>
            </a:pPr>
            <a:r>
              <a:rPr kumimoji="0" lang="en-US" sz="2000" b="1" i="0" u="none" strike="noStrike" cap="none" normalizeH="0" baseline="0" dirty="0" smtClean="0">
                <a:ln>
                  <a:noFill/>
                </a:ln>
                <a:solidFill>
                  <a:srgbClr val="C00000"/>
                </a:solidFill>
                <a:effectLst/>
                <a:latin typeface="Arial" pitchFamily="34" charset="0"/>
                <a:cs typeface="Arial" pitchFamily="34" charset="0"/>
              </a:rPr>
              <a:t>Continue Statement</a:t>
            </a:r>
          </a:p>
          <a:p>
            <a:pPr marL="0" marR="0" lvl="0" indent="0" algn="just" defTabSz="914400" rtl="0" eaLnBrk="0" fontAlgn="base" latinLnBrk="0" hangingPunct="0">
              <a:lnSpc>
                <a:spcPct val="150000"/>
              </a:lnSpc>
              <a:spcBef>
                <a:spcPct val="0"/>
              </a:spcBef>
              <a:spcAft>
                <a:spcPct val="0"/>
              </a:spcAft>
              <a:buClrTx/>
              <a:buSzTx/>
              <a:buFontTx/>
              <a:buNone/>
              <a:tabLst/>
            </a:pPr>
            <a:r>
              <a:rPr kumimoji="0" lang="en-US" sz="1600" b="0" i="0" u="none" strike="noStrike" cap="none" normalizeH="0" baseline="0" dirty="0" smtClean="0">
                <a:ln>
                  <a:noFill/>
                </a:ln>
                <a:solidFill>
                  <a:srgbClr val="333333"/>
                </a:solidFill>
                <a:effectLst/>
                <a:latin typeface="Arial" pitchFamily="34" charset="0"/>
                <a:cs typeface="Arial" pitchFamily="34" charset="0"/>
              </a:rPr>
              <a:t>The </a:t>
            </a:r>
            <a:r>
              <a:rPr kumimoji="0" lang="en-US" sz="1600" b="0" i="0" u="none" strike="noStrike" cap="none" normalizeH="0" baseline="0" dirty="0" smtClean="0">
                <a:ln>
                  <a:noFill/>
                </a:ln>
                <a:solidFill>
                  <a:srgbClr val="545454"/>
                </a:solidFill>
                <a:effectLst/>
                <a:latin typeface="Arial" pitchFamily="34" charset="0"/>
                <a:cs typeface="Arial" pitchFamily="34" charset="0"/>
              </a:rPr>
              <a:t>continue</a:t>
            </a:r>
            <a:r>
              <a:rPr kumimoji="0" lang="en-US" sz="1600" b="0" i="0" u="none" strike="noStrike" cap="none" normalizeH="0" baseline="0" dirty="0" smtClean="0">
                <a:ln>
                  <a:noFill/>
                </a:ln>
                <a:solidFill>
                  <a:srgbClr val="333333"/>
                </a:solidFill>
                <a:effectLst/>
                <a:latin typeface="Arial" pitchFamily="34" charset="0"/>
                <a:cs typeface="Arial" pitchFamily="34" charset="0"/>
              </a:rPr>
              <a:t> statement gives you the option to skip over the part of a loop where an external condition is triggered, but to go on to complete the rest of the loop. That is, the current iteration of the loop will be disrupted, but the program will return to the top of the loop.</a:t>
            </a:r>
            <a:endParaRPr kumimoji="0" lang="en-US" sz="1600" b="0" i="0" u="none" strike="noStrike" cap="none" normalizeH="0" baseline="0" dirty="0" smtClean="0">
              <a:ln>
                <a:noFill/>
              </a:ln>
              <a:solidFill>
                <a:schemeClr val="tx1"/>
              </a:solidFill>
              <a:effectLst/>
              <a:latin typeface="Arial" pitchFamily="34" charset="0"/>
              <a:cs typeface="Arial" pitchFamily="34" charset="0"/>
            </a:endParaRPr>
          </a:p>
        </p:txBody>
      </p:sp>
      <p:sp>
        <p:nvSpPr>
          <p:cNvPr id="4" name="Rectangle 3"/>
          <p:cNvSpPr/>
          <p:nvPr/>
        </p:nvSpPr>
        <p:spPr>
          <a:xfrm>
            <a:off x="4953000" y="2286000"/>
            <a:ext cx="3124200" cy="1323439"/>
          </a:xfrm>
          <a:prstGeom prst="rect">
            <a:avLst/>
          </a:prstGeom>
          <a:ln>
            <a:solidFill>
              <a:srgbClr val="C00000"/>
            </a:solidFill>
          </a:ln>
        </p:spPr>
        <p:txBody>
          <a:bodyPr wrap="square">
            <a:spAutoFit/>
          </a:bodyPr>
          <a:lstStyle/>
          <a:p>
            <a:r>
              <a:rPr lang="en-US" sz="2000" dirty="0" smtClean="0"/>
              <a:t>for </a:t>
            </a:r>
            <a:r>
              <a:rPr lang="en-US" sz="2000" dirty="0" err="1" smtClean="0"/>
              <a:t>i</a:t>
            </a:r>
            <a:r>
              <a:rPr lang="en-US" sz="2000" dirty="0" smtClean="0"/>
              <a:t> in range(4):</a:t>
            </a:r>
          </a:p>
          <a:p>
            <a:r>
              <a:rPr lang="en-US" sz="2000" dirty="0" smtClean="0"/>
              <a:t>    if </a:t>
            </a:r>
            <a:r>
              <a:rPr lang="en-US" sz="2000" dirty="0" err="1" smtClean="0"/>
              <a:t>i</a:t>
            </a:r>
            <a:r>
              <a:rPr lang="en-US" sz="2000" dirty="0" smtClean="0"/>
              <a:t>==2:</a:t>
            </a:r>
          </a:p>
          <a:p>
            <a:r>
              <a:rPr lang="en-US" sz="2000" dirty="0" smtClean="0"/>
              <a:t>        continue</a:t>
            </a:r>
          </a:p>
          <a:p>
            <a:r>
              <a:rPr lang="en-US" sz="2000" dirty="0" smtClean="0"/>
              <a:t>    print(</a:t>
            </a:r>
            <a:r>
              <a:rPr lang="en-US" sz="2000" dirty="0" err="1" smtClean="0"/>
              <a:t>i</a:t>
            </a:r>
            <a:r>
              <a:rPr lang="en-US" sz="2000" dirty="0" smtClean="0"/>
              <a:t>)</a:t>
            </a:r>
            <a:endParaRPr lang="en-US" sz="2000" dirty="0"/>
          </a:p>
        </p:txBody>
      </p:sp>
      <p:pic>
        <p:nvPicPr>
          <p:cNvPr id="1026" name="Picture 2"/>
          <p:cNvPicPr>
            <a:picLocks noChangeAspect="1" noChangeArrowheads="1"/>
          </p:cNvPicPr>
          <p:nvPr/>
        </p:nvPicPr>
        <p:blipFill>
          <a:blip r:embed="rId2"/>
          <a:srcRect/>
          <a:stretch>
            <a:fillRect/>
          </a:stretch>
        </p:blipFill>
        <p:spPr bwMode="auto">
          <a:xfrm>
            <a:off x="1066800" y="2209800"/>
            <a:ext cx="3069336" cy="4343400"/>
          </a:xfrm>
          <a:prstGeom prst="rect">
            <a:avLst/>
          </a:prstGeom>
          <a:noFill/>
          <a:ln w="9525">
            <a:noFill/>
            <a:miter lim="800000"/>
            <a:headEnd/>
            <a:tailEnd/>
          </a:ln>
          <a:effectLst/>
        </p:spPr>
      </p:pic>
      <p:sp>
        <p:nvSpPr>
          <p:cNvPr id="6" name="Rectangle 5"/>
          <p:cNvSpPr/>
          <p:nvPr/>
        </p:nvSpPr>
        <p:spPr>
          <a:xfrm>
            <a:off x="4343400" y="4114800"/>
            <a:ext cx="4572000" cy="2585323"/>
          </a:xfrm>
          <a:prstGeom prst="rect">
            <a:avLst/>
          </a:prstGeom>
          <a:ln>
            <a:solidFill>
              <a:srgbClr val="C00000"/>
            </a:solidFill>
          </a:ln>
        </p:spPr>
        <p:txBody>
          <a:bodyPr>
            <a:spAutoFit/>
          </a:bodyPr>
          <a:lstStyle/>
          <a:p>
            <a:r>
              <a:rPr lang="en-US" dirty="0" smtClean="0"/>
              <a:t>number = 6</a:t>
            </a:r>
          </a:p>
          <a:p>
            <a:endParaRPr lang="en-US" dirty="0" smtClean="0"/>
          </a:p>
          <a:p>
            <a:r>
              <a:rPr lang="en-US" dirty="0" smtClean="0"/>
              <a:t>while number &gt; 0:</a:t>
            </a:r>
          </a:p>
          <a:p>
            <a:r>
              <a:rPr lang="en-US" dirty="0" smtClean="0"/>
              <a:t>    number -= 1</a:t>
            </a:r>
          </a:p>
          <a:p>
            <a:r>
              <a:rPr lang="en-US" dirty="0" smtClean="0"/>
              <a:t>    if number == 2:</a:t>
            </a:r>
          </a:p>
          <a:p>
            <a:r>
              <a:rPr lang="en-US" dirty="0" smtClean="0"/>
              <a:t>        continue</a:t>
            </a:r>
          </a:p>
          <a:p>
            <a:r>
              <a:rPr lang="en-US" dirty="0" smtClean="0"/>
              <a:t>    print(number)</a:t>
            </a:r>
          </a:p>
          <a:p>
            <a:endParaRPr lang="en-US" dirty="0" smtClean="0"/>
          </a:p>
          <a:p>
            <a:r>
              <a:rPr lang="en-US" dirty="0" smtClean="0"/>
              <a:t>print("Loop ended")</a:t>
            </a:r>
            <a:endParaRPr lang="en-US" dirty="0"/>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533400" y="228600"/>
            <a:ext cx="7848600" cy="10064294"/>
          </a:xfrm>
          <a:prstGeom prst="rect">
            <a:avLst/>
          </a:prstGeom>
        </p:spPr>
        <p:txBody>
          <a:bodyPr wrap="square">
            <a:spAutoFit/>
          </a:bodyPr>
          <a:lstStyle/>
          <a:p>
            <a:r>
              <a:rPr lang="en-US" dirty="0" smtClean="0"/>
              <a:t># Initialize a counter</a:t>
            </a:r>
          </a:p>
          <a:p>
            <a:r>
              <a:rPr lang="en-US" dirty="0" smtClean="0"/>
              <a:t>number = 0</a:t>
            </a:r>
          </a:p>
          <a:p>
            <a:endParaRPr lang="en-US" dirty="0" smtClean="0"/>
          </a:p>
          <a:p>
            <a:r>
              <a:rPr lang="en-US" dirty="0" smtClean="0"/>
              <a:t># Loop as long as the number is less than 10</a:t>
            </a:r>
          </a:p>
          <a:p>
            <a:r>
              <a:rPr lang="en-US" dirty="0" smtClean="0"/>
              <a:t>while number &lt; 10:</a:t>
            </a:r>
          </a:p>
          <a:p>
            <a:r>
              <a:rPr lang="en-US" dirty="0" smtClean="0"/>
              <a:t>    # Increment the counter FIRST to avoid an infinite loop if the continue condition is met</a:t>
            </a:r>
          </a:p>
          <a:p>
            <a:r>
              <a:rPr lang="en-US" dirty="0" smtClean="0"/>
              <a:t>    number += 1</a:t>
            </a:r>
          </a:p>
          <a:p>
            <a:r>
              <a:rPr lang="en-US" dirty="0" smtClean="0"/>
              <a:t>    </a:t>
            </a:r>
          </a:p>
          <a:p>
            <a:r>
              <a:rPr lang="en-US" dirty="0" smtClean="0"/>
              <a:t>    # Check if the number is a multiple of 3 (using the modulo operator %)</a:t>
            </a:r>
          </a:p>
          <a:p>
            <a:r>
              <a:rPr lang="en-US" dirty="0" smtClean="0"/>
              <a:t>    if number % 3 == 0:</a:t>
            </a:r>
          </a:p>
          <a:p>
            <a:r>
              <a:rPr lang="en-US" dirty="0" smtClean="0"/>
              <a:t>        # If it is, the 'continue' statement stops the current iteration</a:t>
            </a:r>
          </a:p>
          <a:p>
            <a:r>
              <a:rPr lang="en-US" dirty="0" smtClean="0"/>
              <a:t>        # and jumps back to the start of the while loop for the next iteration</a:t>
            </a:r>
          </a:p>
          <a:p>
            <a:r>
              <a:rPr lang="en-US" dirty="0" smtClean="0"/>
              <a:t>        continue</a:t>
            </a:r>
          </a:p>
          <a:p>
            <a:r>
              <a:rPr lang="en-US" dirty="0" smtClean="0"/>
              <a:t>        </a:t>
            </a:r>
          </a:p>
          <a:p>
            <a:r>
              <a:rPr lang="en-US" dirty="0" smtClean="0"/>
              <a:t>    # This print statement is only reached if the 'continue' was NOT executed</a:t>
            </a:r>
          </a:p>
          <a:p>
            <a:r>
              <a:rPr lang="en-US" dirty="0" smtClean="0"/>
              <a:t>    print(number)</a:t>
            </a:r>
          </a:p>
          <a:p>
            <a:endParaRPr lang="en-US" dirty="0" smtClean="0"/>
          </a:p>
          <a:p>
            <a:r>
              <a:rPr lang="en-US" dirty="0" smtClean="0"/>
              <a:t>print("Loop finished.")</a:t>
            </a:r>
          </a:p>
          <a:p>
            <a:endParaRPr lang="en-US" dirty="0" smtClean="0"/>
          </a:p>
          <a:p>
            <a:endParaRPr lang="en-US" dirty="0" smtClean="0"/>
          </a:p>
          <a:p>
            <a:r>
              <a:rPr lang="en-US" dirty="0" smtClean="0"/>
              <a:t>	</a:t>
            </a:r>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r>
              <a:rPr lang="en-US" dirty="0" smtClean="0"/>
              <a:t> </a:t>
            </a:r>
            <a:endParaRPr lang="en-US" dirty="0"/>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685800" y="533400"/>
            <a:ext cx="7772400" cy="2126864"/>
          </a:xfrm>
          <a:prstGeom prst="rect">
            <a:avLst/>
          </a:prstGeom>
        </p:spPr>
        <p:txBody>
          <a:bodyPr wrap="square">
            <a:spAutoFit/>
          </a:bodyPr>
          <a:lstStyle/>
          <a:p>
            <a:pPr>
              <a:lnSpc>
                <a:spcPct val="150000"/>
              </a:lnSpc>
            </a:pPr>
            <a:r>
              <a:rPr lang="en-US" dirty="0" smtClean="0"/>
              <a:t>rows = 5</a:t>
            </a:r>
          </a:p>
          <a:p>
            <a:pPr>
              <a:lnSpc>
                <a:spcPct val="150000"/>
              </a:lnSpc>
            </a:pPr>
            <a:r>
              <a:rPr lang="en-US" dirty="0" smtClean="0"/>
              <a:t>for </a:t>
            </a:r>
            <a:r>
              <a:rPr lang="en-US" dirty="0" err="1" smtClean="0"/>
              <a:t>i</a:t>
            </a:r>
            <a:r>
              <a:rPr lang="en-US" dirty="0" smtClean="0"/>
              <a:t> in range(1, rows + 1):  # Outer loop for rows (1 to 5)</a:t>
            </a:r>
          </a:p>
          <a:p>
            <a:pPr>
              <a:lnSpc>
                <a:spcPct val="150000"/>
              </a:lnSpc>
            </a:pPr>
            <a:r>
              <a:rPr lang="en-US" dirty="0" smtClean="0"/>
              <a:t>    for j in range(</a:t>
            </a:r>
            <a:r>
              <a:rPr lang="en-US" dirty="0" err="1" smtClean="0"/>
              <a:t>i</a:t>
            </a:r>
            <a:r>
              <a:rPr lang="en-US" dirty="0" smtClean="0"/>
              <a:t>):  # Inner loop for columns (0 to i-1)</a:t>
            </a:r>
          </a:p>
          <a:p>
            <a:pPr>
              <a:lnSpc>
                <a:spcPct val="150000"/>
              </a:lnSpc>
            </a:pPr>
            <a:r>
              <a:rPr lang="en-US" dirty="0" smtClean="0"/>
              <a:t>        print("*", end=" ") # Print star and stay on the same line</a:t>
            </a:r>
          </a:p>
          <a:p>
            <a:pPr>
              <a:lnSpc>
                <a:spcPct val="150000"/>
              </a:lnSpc>
            </a:pPr>
            <a:r>
              <a:rPr lang="en-US" dirty="0" smtClean="0"/>
              <a:t>    print()  # Move to the next line after the row is complete</a:t>
            </a:r>
            <a:endParaRPr lang="en-US"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533400" y="381000"/>
            <a:ext cx="7086600" cy="5632311"/>
          </a:xfrm>
          <a:prstGeom prst="rect">
            <a:avLst/>
          </a:prstGeom>
        </p:spPr>
        <p:txBody>
          <a:bodyPr wrap="square">
            <a:spAutoFit/>
          </a:bodyPr>
          <a:lstStyle/>
          <a:p>
            <a:r>
              <a:rPr lang="en-US" sz="2400" dirty="0" smtClean="0"/>
              <a:t>start = </a:t>
            </a:r>
            <a:r>
              <a:rPr lang="en-US" sz="2400" dirty="0" err="1" smtClean="0"/>
              <a:t>int</a:t>
            </a:r>
            <a:r>
              <a:rPr lang="en-US" sz="2400" dirty="0" smtClean="0"/>
              <a:t>(input("Enter start value: "))</a:t>
            </a:r>
          </a:p>
          <a:p>
            <a:r>
              <a:rPr lang="en-US" sz="2400" dirty="0" smtClean="0"/>
              <a:t>end = </a:t>
            </a:r>
            <a:r>
              <a:rPr lang="en-US" sz="2400" dirty="0" err="1" smtClean="0"/>
              <a:t>int</a:t>
            </a:r>
            <a:r>
              <a:rPr lang="en-US" sz="2400" dirty="0" smtClean="0"/>
              <a:t>(input("Enter end value: "))</a:t>
            </a:r>
          </a:p>
          <a:p>
            <a:endParaRPr lang="en-US" sz="2400" dirty="0" smtClean="0"/>
          </a:p>
          <a:p>
            <a:r>
              <a:rPr lang="en-US" sz="2400" dirty="0" smtClean="0"/>
              <a:t>print("Prime numbers between", start, "and", end, "are:")</a:t>
            </a:r>
          </a:p>
          <a:p>
            <a:endParaRPr lang="en-US" sz="2400" dirty="0" smtClean="0"/>
          </a:p>
          <a:p>
            <a:r>
              <a:rPr lang="en-US" sz="2400" dirty="0" smtClean="0"/>
              <a:t>for num in range(start, end + 1):</a:t>
            </a:r>
          </a:p>
          <a:p>
            <a:r>
              <a:rPr lang="en-US" sz="2400" dirty="0" smtClean="0"/>
              <a:t>    if num &lt;= 1:</a:t>
            </a:r>
          </a:p>
          <a:p>
            <a:r>
              <a:rPr lang="en-US" sz="2400" dirty="0" smtClean="0"/>
              <a:t>        continue      # skip non-prime numbers</a:t>
            </a:r>
          </a:p>
          <a:p>
            <a:endParaRPr lang="en-US" sz="2400" dirty="0" smtClean="0"/>
          </a:p>
          <a:p>
            <a:r>
              <a:rPr lang="en-US" sz="2400" dirty="0" smtClean="0"/>
              <a:t>    for </a:t>
            </a:r>
            <a:r>
              <a:rPr lang="en-US" sz="2400" dirty="0" err="1" smtClean="0"/>
              <a:t>i</a:t>
            </a:r>
            <a:r>
              <a:rPr lang="en-US" sz="2400" dirty="0" smtClean="0"/>
              <a:t> in range(2, num):</a:t>
            </a:r>
          </a:p>
          <a:p>
            <a:r>
              <a:rPr lang="en-US" sz="2400" dirty="0" smtClean="0"/>
              <a:t>        if num % </a:t>
            </a:r>
            <a:r>
              <a:rPr lang="en-US" sz="2400" dirty="0" err="1" smtClean="0"/>
              <a:t>i</a:t>
            </a:r>
            <a:r>
              <a:rPr lang="en-US" sz="2400" dirty="0" smtClean="0"/>
              <a:t> == 0:</a:t>
            </a:r>
          </a:p>
          <a:p>
            <a:r>
              <a:rPr lang="en-US" sz="2400" dirty="0" smtClean="0"/>
              <a:t>            break</a:t>
            </a:r>
          </a:p>
          <a:p>
            <a:r>
              <a:rPr lang="en-US" sz="2400" dirty="0" smtClean="0"/>
              <a:t>    else:</a:t>
            </a:r>
          </a:p>
          <a:p>
            <a:r>
              <a:rPr lang="en-US" sz="2400" dirty="0" smtClean="0"/>
              <a:t>        print(num)</a:t>
            </a:r>
            <a:endParaRPr lang="en-US" sz="24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762000" y="304800"/>
            <a:ext cx="7772400" cy="6186309"/>
          </a:xfrm>
          <a:prstGeom prst="rect">
            <a:avLst/>
          </a:prstGeom>
        </p:spPr>
        <p:txBody>
          <a:bodyPr wrap="square">
            <a:spAutoFit/>
          </a:bodyPr>
          <a:lstStyle/>
          <a:p>
            <a:r>
              <a:rPr lang="en-US" sz="2200" dirty="0" smtClean="0"/>
              <a:t>start = </a:t>
            </a:r>
            <a:r>
              <a:rPr lang="en-US" sz="2200" dirty="0" err="1" smtClean="0"/>
              <a:t>int</a:t>
            </a:r>
            <a:r>
              <a:rPr lang="en-US" sz="2200" dirty="0" smtClean="0"/>
              <a:t>(input("Enter start value: "))</a:t>
            </a:r>
          </a:p>
          <a:p>
            <a:r>
              <a:rPr lang="en-US" sz="2200" dirty="0" smtClean="0"/>
              <a:t>end = </a:t>
            </a:r>
            <a:r>
              <a:rPr lang="en-US" sz="2200" dirty="0" err="1" smtClean="0"/>
              <a:t>int</a:t>
            </a:r>
            <a:r>
              <a:rPr lang="en-US" sz="2200" dirty="0" smtClean="0"/>
              <a:t>(input("Enter end value: "))</a:t>
            </a:r>
          </a:p>
          <a:p>
            <a:endParaRPr lang="en-US" sz="2200" dirty="0" smtClean="0"/>
          </a:p>
          <a:p>
            <a:r>
              <a:rPr lang="en-US" sz="2200" dirty="0" smtClean="0"/>
              <a:t>print("Prime numbers are:")</a:t>
            </a:r>
          </a:p>
          <a:p>
            <a:endParaRPr lang="en-US" sz="2200" dirty="0" smtClean="0"/>
          </a:p>
          <a:p>
            <a:r>
              <a:rPr lang="en-US" sz="2200" dirty="0" smtClean="0"/>
              <a:t>for num in range(start, end + 1):</a:t>
            </a:r>
          </a:p>
          <a:p>
            <a:r>
              <a:rPr lang="en-US" sz="2200" dirty="0" smtClean="0"/>
              <a:t>    if num &lt;= 1:</a:t>
            </a:r>
          </a:p>
          <a:p>
            <a:r>
              <a:rPr lang="en-US" sz="2200" dirty="0" smtClean="0"/>
              <a:t>        continue</a:t>
            </a:r>
          </a:p>
          <a:p>
            <a:endParaRPr lang="en-US" sz="2200" dirty="0" smtClean="0"/>
          </a:p>
          <a:p>
            <a:r>
              <a:rPr lang="en-US" sz="2200" dirty="0" smtClean="0"/>
              <a:t>    </a:t>
            </a:r>
            <a:r>
              <a:rPr lang="en-US" sz="2200" dirty="0" err="1" smtClean="0"/>
              <a:t>is_prime</a:t>
            </a:r>
            <a:r>
              <a:rPr lang="en-US" sz="2200" dirty="0" smtClean="0"/>
              <a:t> = True</a:t>
            </a:r>
          </a:p>
          <a:p>
            <a:endParaRPr lang="en-US" sz="2200" dirty="0" smtClean="0"/>
          </a:p>
          <a:p>
            <a:r>
              <a:rPr lang="en-US" sz="2200" dirty="0" smtClean="0"/>
              <a:t>    for </a:t>
            </a:r>
            <a:r>
              <a:rPr lang="en-US" sz="2200" dirty="0" err="1" smtClean="0"/>
              <a:t>i</a:t>
            </a:r>
            <a:r>
              <a:rPr lang="en-US" sz="2200" dirty="0" smtClean="0"/>
              <a:t> in range(2, num):</a:t>
            </a:r>
          </a:p>
          <a:p>
            <a:r>
              <a:rPr lang="en-US" sz="2200" dirty="0" smtClean="0"/>
              <a:t>        if num % </a:t>
            </a:r>
            <a:r>
              <a:rPr lang="en-US" sz="2200" dirty="0" err="1" smtClean="0"/>
              <a:t>i</a:t>
            </a:r>
            <a:r>
              <a:rPr lang="en-US" sz="2200" dirty="0" smtClean="0"/>
              <a:t> == 0:</a:t>
            </a:r>
          </a:p>
          <a:p>
            <a:r>
              <a:rPr lang="en-US" sz="2200" dirty="0" smtClean="0"/>
              <a:t>            </a:t>
            </a:r>
            <a:r>
              <a:rPr lang="en-US" sz="2200" dirty="0" err="1" smtClean="0"/>
              <a:t>is_prime</a:t>
            </a:r>
            <a:r>
              <a:rPr lang="en-US" sz="2200" dirty="0" smtClean="0"/>
              <a:t> = False</a:t>
            </a:r>
          </a:p>
          <a:p>
            <a:r>
              <a:rPr lang="en-US" sz="2200" dirty="0" smtClean="0"/>
              <a:t>            continue</a:t>
            </a:r>
          </a:p>
          <a:p>
            <a:endParaRPr lang="en-US" sz="2200" dirty="0" smtClean="0"/>
          </a:p>
          <a:p>
            <a:r>
              <a:rPr lang="en-US" sz="2200" dirty="0" smtClean="0"/>
              <a:t>    if </a:t>
            </a:r>
            <a:r>
              <a:rPr lang="en-US" sz="2200" dirty="0" err="1" smtClean="0"/>
              <a:t>is_prime</a:t>
            </a:r>
            <a:r>
              <a:rPr lang="en-US" sz="2200" dirty="0" smtClean="0"/>
              <a:t>:</a:t>
            </a:r>
          </a:p>
          <a:p>
            <a:r>
              <a:rPr lang="en-US" sz="2200" dirty="0" smtClean="0"/>
              <a:t>        print(num)</a:t>
            </a:r>
            <a:endParaRPr lang="en-US" sz="22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Rectangle 1"/>
          <p:cNvSpPr>
            <a:spLocks noChangeArrowheads="1"/>
          </p:cNvSpPr>
          <p:nvPr/>
        </p:nvSpPr>
        <p:spPr bwMode="auto">
          <a:xfrm>
            <a:off x="304800" y="125597"/>
            <a:ext cx="8382000" cy="2161055"/>
          </a:xfrm>
          <a:prstGeom prst="rect">
            <a:avLst/>
          </a:prstGeom>
          <a:solidFill>
            <a:schemeClr val="bg1"/>
          </a:solidFill>
          <a:ln w="9525">
            <a:solidFill>
              <a:schemeClr val="bg1"/>
            </a:solidFill>
            <a:miter lim="800000"/>
            <a:headEnd/>
            <a:tailEnd/>
          </a:ln>
          <a:effectLst/>
        </p:spPr>
        <p:txBody>
          <a:bodyPr vert="horz" wrap="square" lIns="91440" tIns="268203" rIns="91440" bIns="88872" numCol="1" anchor="ctr" anchorCtr="0" compatLnSpc="1">
            <a:prstTxWarp prst="textNoShape">
              <a:avLst/>
            </a:prstTxWarp>
            <a:spAutoFit/>
          </a:body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en-US" sz="2400" b="1" i="0" u="none" strike="noStrike" cap="none" normalizeH="0" baseline="0" dirty="0" smtClean="0">
                <a:ln>
                  <a:noFill/>
                </a:ln>
                <a:solidFill>
                  <a:srgbClr val="C00000"/>
                </a:solidFill>
                <a:effectLst/>
                <a:latin typeface="Arial" pitchFamily="34" charset="0"/>
                <a:cs typeface="Arial" pitchFamily="34" charset="0"/>
              </a:rPr>
              <a:t>Pass Statement</a:t>
            </a:r>
          </a:p>
          <a:p>
            <a:pPr marL="0" marR="0" lvl="0" indent="0" algn="just" defTabSz="914400" rtl="0" eaLnBrk="0" fontAlgn="base" latinLnBrk="0" hangingPunct="0">
              <a:lnSpc>
                <a:spcPct val="150000"/>
              </a:lnSpc>
              <a:spcBef>
                <a:spcPct val="0"/>
              </a:spcBef>
              <a:spcAft>
                <a:spcPct val="0"/>
              </a:spcAft>
              <a:buClrTx/>
              <a:buSzTx/>
              <a:buFontTx/>
              <a:buNone/>
              <a:tabLst/>
            </a:pPr>
            <a:r>
              <a:rPr kumimoji="0" lang="en-US" b="0" i="0" u="none" strike="noStrike" cap="none" normalizeH="0" baseline="0" dirty="0" smtClean="0">
                <a:ln>
                  <a:noFill/>
                </a:ln>
                <a:solidFill>
                  <a:srgbClr val="333333"/>
                </a:solidFill>
                <a:effectLst/>
                <a:latin typeface="Arial" pitchFamily="34" charset="0"/>
                <a:cs typeface="Arial" pitchFamily="34" charset="0"/>
              </a:rPr>
              <a:t>When an external condition is triggered, the </a:t>
            </a:r>
            <a:r>
              <a:rPr kumimoji="0" lang="en-US" b="0" i="0" u="none" strike="noStrike" cap="none" normalizeH="0" baseline="0" dirty="0" smtClean="0">
                <a:ln>
                  <a:noFill/>
                </a:ln>
                <a:solidFill>
                  <a:srgbClr val="545454"/>
                </a:solidFill>
                <a:effectLst/>
                <a:latin typeface="Arial" pitchFamily="34" charset="0"/>
                <a:cs typeface="Arial" pitchFamily="34" charset="0"/>
              </a:rPr>
              <a:t>pass</a:t>
            </a:r>
            <a:r>
              <a:rPr kumimoji="0" lang="en-US" b="0" i="0" u="none" strike="noStrike" cap="none" normalizeH="0" baseline="0" dirty="0" smtClean="0">
                <a:ln>
                  <a:noFill/>
                </a:ln>
                <a:solidFill>
                  <a:srgbClr val="333333"/>
                </a:solidFill>
                <a:effectLst/>
                <a:latin typeface="Arial" pitchFamily="34" charset="0"/>
                <a:cs typeface="Arial" pitchFamily="34" charset="0"/>
              </a:rPr>
              <a:t> statement allows you to handle the condition without the loop being impacted in any way; all of the code will continue to be read unless a </a:t>
            </a:r>
            <a:r>
              <a:rPr kumimoji="0" lang="en-US" b="0" i="0" u="none" strike="noStrike" cap="none" normalizeH="0" baseline="0" dirty="0" smtClean="0">
                <a:ln>
                  <a:noFill/>
                </a:ln>
                <a:solidFill>
                  <a:srgbClr val="545454"/>
                </a:solidFill>
                <a:effectLst/>
                <a:latin typeface="Arial" pitchFamily="34" charset="0"/>
                <a:cs typeface="Arial" pitchFamily="34" charset="0"/>
              </a:rPr>
              <a:t>break</a:t>
            </a:r>
            <a:r>
              <a:rPr kumimoji="0" lang="en-US" b="0" i="0" u="none" strike="noStrike" cap="none" normalizeH="0" baseline="0" dirty="0" smtClean="0">
                <a:ln>
                  <a:noFill/>
                </a:ln>
                <a:solidFill>
                  <a:srgbClr val="333333"/>
                </a:solidFill>
                <a:effectLst/>
                <a:latin typeface="Arial" pitchFamily="34" charset="0"/>
                <a:cs typeface="Arial" pitchFamily="34" charset="0"/>
              </a:rPr>
              <a:t> or other statement occurs.</a:t>
            </a:r>
            <a:endParaRPr kumimoji="0" lang="en-US" b="0" i="0" u="none" strike="noStrike" cap="none" normalizeH="0" baseline="0" dirty="0" smtClean="0">
              <a:ln>
                <a:noFill/>
              </a:ln>
              <a:solidFill>
                <a:schemeClr val="tx1"/>
              </a:solidFill>
              <a:effectLst/>
              <a:latin typeface="Arial" pitchFamily="34" charset="0"/>
              <a:cs typeface="Arial" pitchFamily="34" charset="0"/>
            </a:endParaRPr>
          </a:p>
        </p:txBody>
      </p:sp>
      <p:sp>
        <p:nvSpPr>
          <p:cNvPr id="4" name="Rectangle 3"/>
          <p:cNvSpPr/>
          <p:nvPr/>
        </p:nvSpPr>
        <p:spPr>
          <a:xfrm>
            <a:off x="533400" y="3124200"/>
            <a:ext cx="2971800" cy="2400657"/>
          </a:xfrm>
          <a:prstGeom prst="rect">
            <a:avLst/>
          </a:prstGeom>
          <a:ln>
            <a:solidFill>
              <a:srgbClr val="C00000"/>
            </a:solidFill>
          </a:ln>
        </p:spPr>
        <p:txBody>
          <a:bodyPr wrap="square">
            <a:spAutoFit/>
          </a:bodyPr>
          <a:lstStyle/>
          <a:p>
            <a:pPr>
              <a:lnSpc>
                <a:spcPct val="150000"/>
              </a:lnSpc>
            </a:pPr>
            <a:r>
              <a:rPr lang="en-US" sz="2000" dirty="0" smtClean="0"/>
              <a:t>for number in range(10):</a:t>
            </a:r>
          </a:p>
          <a:p>
            <a:pPr>
              <a:lnSpc>
                <a:spcPct val="150000"/>
              </a:lnSpc>
            </a:pPr>
            <a:r>
              <a:rPr lang="en-US" sz="2000" dirty="0" smtClean="0"/>
              <a:t>    if number %2 ==0:</a:t>
            </a:r>
          </a:p>
          <a:p>
            <a:pPr>
              <a:lnSpc>
                <a:spcPct val="150000"/>
              </a:lnSpc>
            </a:pPr>
            <a:r>
              <a:rPr lang="en-US" sz="2000" dirty="0" smtClean="0"/>
              <a:t>        pass</a:t>
            </a:r>
          </a:p>
          <a:p>
            <a:pPr>
              <a:lnSpc>
                <a:spcPct val="150000"/>
              </a:lnSpc>
            </a:pPr>
            <a:r>
              <a:rPr lang="en-US" sz="2000" dirty="0" smtClean="0"/>
              <a:t>     else:</a:t>
            </a:r>
          </a:p>
          <a:p>
            <a:pPr>
              <a:lnSpc>
                <a:spcPct val="150000"/>
              </a:lnSpc>
            </a:pPr>
            <a:r>
              <a:rPr lang="en-US" sz="2000" dirty="0" smtClean="0"/>
              <a:t>        print(number)</a:t>
            </a:r>
            <a:endParaRPr lang="en-US" sz="2000" dirty="0"/>
          </a:p>
        </p:txBody>
      </p:sp>
      <p:sp>
        <p:nvSpPr>
          <p:cNvPr id="5" name="Rectangle 4"/>
          <p:cNvSpPr/>
          <p:nvPr/>
        </p:nvSpPr>
        <p:spPr>
          <a:xfrm>
            <a:off x="4191000" y="3810000"/>
            <a:ext cx="4572000" cy="2031325"/>
          </a:xfrm>
          <a:prstGeom prst="rect">
            <a:avLst/>
          </a:prstGeom>
          <a:ln>
            <a:solidFill>
              <a:srgbClr val="C00000"/>
            </a:solidFill>
          </a:ln>
        </p:spPr>
        <p:txBody>
          <a:bodyPr>
            <a:spAutoFit/>
          </a:bodyPr>
          <a:lstStyle/>
          <a:p>
            <a:r>
              <a:rPr lang="en-US" dirty="0" smtClean="0"/>
              <a:t>n = 10</a:t>
            </a:r>
          </a:p>
          <a:p>
            <a:endParaRPr lang="en-US" dirty="0" smtClean="0"/>
          </a:p>
          <a:p>
            <a:r>
              <a:rPr lang="en-US" dirty="0" smtClean="0"/>
              <a:t># use pass inside if statement</a:t>
            </a:r>
          </a:p>
          <a:p>
            <a:r>
              <a:rPr lang="en-US" dirty="0" smtClean="0"/>
              <a:t>if n &gt; 10:</a:t>
            </a:r>
          </a:p>
          <a:p>
            <a:r>
              <a:rPr lang="en-US" dirty="0" smtClean="0"/>
              <a:t>    pass</a:t>
            </a:r>
          </a:p>
          <a:p>
            <a:endParaRPr lang="en-US" dirty="0" smtClean="0"/>
          </a:p>
          <a:p>
            <a:r>
              <a:rPr lang="en-US" dirty="0" smtClean="0"/>
              <a:t>print('Hello')</a:t>
            </a:r>
            <a:endParaRPr lang="en-US" dirty="0"/>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3769</TotalTime>
  <Words>1835</Words>
  <Application>Microsoft Office PowerPoint</Application>
  <PresentationFormat>On-screen Show (4:3)</PresentationFormat>
  <Paragraphs>375</Paragraphs>
  <Slides>37</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37</vt:i4>
      </vt:variant>
    </vt:vector>
  </HeadingPairs>
  <TitlesOfParts>
    <vt:vector size="46" baseType="lpstr">
      <vt:lpstr>Arial</vt:lpstr>
      <vt:lpstr>Calibri</vt:lpstr>
      <vt:lpstr>Consolas</vt:lpstr>
      <vt:lpstr>Courier New</vt:lpstr>
      <vt:lpstr>Droid Sans Mono</vt:lpstr>
      <vt:lpstr>Google Sans</vt:lpstr>
      <vt:lpstr>Times New Roman</vt:lpstr>
      <vt:lpstr>Wingdings</vt:lpstr>
      <vt:lpstr>Office Theme</vt:lpstr>
      <vt:lpstr>CONDITIONAL STATEMENTS and  CONTROL STATEMENTS</vt:lpstr>
      <vt:lpstr>CONDITIONAL STATEMENTS (Decision Making)</vt:lpstr>
      <vt:lpstr>PowerPoint Presentation</vt:lpstr>
      <vt:lpstr>PowerPoint Presentation</vt:lpstr>
      <vt:lpstr>Example program i=int(input(“Enter the number:”))  If (i&lt;=10):</vt:lpstr>
      <vt:lpstr>PowerPoint Presentation</vt:lpstr>
      <vt:lpstr>PowerPoint Presentation</vt:lpstr>
      <vt:lpstr>PowerPoint Presentation</vt:lpstr>
      <vt:lpstr>Write a program to check if a number is Odd or Even  num = int(input(“Enter the number:”))</vt:lpstr>
      <vt:lpstr>elif Statements</vt:lpstr>
      <vt:lpstr>elif condition Flowchart</vt:lpstr>
      <vt:lpstr>Example: largest among three numbers</vt:lpstr>
      <vt:lpstr> Nested if … else Statements</vt:lpstr>
      <vt:lpstr>Syntax if expression1:</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Using else statement with while loops</vt:lpstr>
      <vt:lpstr>For loop statement</vt:lpstr>
      <vt:lpstr>For loop flow chart</vt:lpstr>
      <vt:lpstr>for Loop and for Loop with else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CONDITIONAL STATEMENTS and  CONTROL STATEMENTS</dc:title>
  <dc:creator>HOD MCA</dc:creator>
  <cp:lastModifiedBy>SILICON</cp:lastModifiedBy>
  <cp:revision>104</cp:revision>
  <dcterms:created xsi:type="dcterms:W3CDTF">2021-01-22T04:47:43Z</dcterms:created>
  <dcterms:modified xsi:type="dcterms:W3CDTF">2026-08-17T04:11:27Z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2017-10-23T00:00:00Z</vt:filetime>
  </property>
  <property fmtid="{D5CDD505-2E9C-101B-9397-08002B2CF9AE}" pid="3" name="Creator">
    <vt:lpwstr>Microsoft® PowerPoint® 2013</vt:lpwstr>
  </property>
  <property fmtid="{D5CDD505-2E9C-101B-9397-08002B2CF9AE}" pid="4" name="LastSaved">
    <vt:filetime>2021-01-22T00:00:00Z</vt:filetime>
  </property>
</Properties>
</file>