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3" r:id="rId4"/>
    <p:sldId id="264" r:id="rId5"/>
    <p:sldId id="265" r:id="rId6"/>
    <p:sldId id="266" r:id="rId7"/>
    <p:sldId id="272" r:id="rId8"/>
    <p:sldId id="273" r:id="rId9"/>
    <p:sldId id="274" r:id="rId10"/>
    <p:sldId id="277" r:id="rId1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04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7380" y="1655191"/>
            <a:ext cx="7889239" cy="1215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4642" y="1945639"/>
            <a:ext cx="8414715" cy="270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048000" y="533400"/>
            <a:ext cx="2438400" cy="1990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5548955" cy="64633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Input and Output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57159" y="4872354"/>
            <a:ext cx="8429684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 indent="-90170">
              <a:lnSpc>
                <a:spcPct val="100000"/>
              </a:lnSpc>
              <a:spcBef>
                <a:spcPts val="100"/>
              </a:spcBef>
              <a:buSzPct val="95000"/>
              <a:buFont typeface="Arial"/>
              <a:buChar char="•"/>
              <a:tabLst>
                <a:tab pos="102870" algn="l"/>
              </a:tabLst>
            </a:pPr>
            <a:r>
              <a:rPr sz="2400" spc="-5" dirty="0">
                <a:cs typeface="Constantia"/>
              </a:rPr>
              <a:t>Python </a:t>
            </a:r>
            <a:r>
              <a:rPr sz="2400" dirty="0">
                <a:cs typeface="Constantia"/>
              </a:rPr>
              <a:t>offers </a:t>
            </a:r>
            <a:r>
              <a:rPr sz="2400" spc="-25" dirty="0">
                <a:cs typeface="Constantia"/>
              </a:rPr>
              <a:t>two </a:t>
            </a:r>
            <a:r>
              <a:rPr sz="2400" spc="-5" dirty="0">
                <a:cs typeface="Constantia"/>
              </a:rPr>
              <a:t>function int() and </a:t>
            </a:r>
            <a:r>
              <a:rPr sz="2400" spc="20" dirty="0">
                <a:cs typeface="Constantia"/>
              </a:rPr>
              <a:t>float() </a:t>
            </a:r>
            <a:r>
              <a:rPr sz="2400" spc="-15" dirty="0">
                <a:cs typeface="Constantia"/>
              </a:rPr>
              <a:t>to </a:t>
            </a:r>
            <a:r>
              <a:rPr sz="2400" spc="-25" dirty="0">
                <a:cs typeface="Constantia"/>
              </a:rPr>
              <a:t>convert </a:t>
            </a:r>
            <a:r>
              <a:rPr sz="2400" spc="-5" dirty="0">
                <a:cs typeface="Constantia"/>
              </a:rPr>
              <a:t>the value</a:t>
            </a:r>
            <a:r>
              <a:rPr sz="2400" spc="-130" dirty="0">
                <a:cs typeface="Constantia"/>
              </a:rPr>
              <a:t> </a:t>
            </a:r>
            <a:r>
              <a:rPr sz="2400" spc="-20" dirty="0">
                <a:cs typeface="Constantia"/>
              </a:rPr>
              <a:t>in</a:t>
            </a:r>
            <a:endParaRPr sz="2400" dirty="0">
              <a:cs typeface="Constantia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cs typeface="Constantia"/>
              </a:rPr>
              <a:t>integer </a:t>
            </a:r>
            <a:r>
              <a:rPr sz="2400" spc="-5" dirty="0">
                <a:cs typeface="Constantia"/>
              </a:rPr>
              <a:t>and </a:t>
            </a:r>
            <a:r>
              <a:rPr sz="2400" spc="30" dirty="0">
                <a:cs typeface="Constantia"/>
              </a:rPr>
              <a:t>float</a:t>
            </a:r>
            <a:r>
              <a:rPr sz="2400" spc="-5" dirty="0">
                <a:cs typeface="Constantia"/>
              </a:rPr>
              <a:t> </a:t>
            </a:r>
            <a:r>
              <a:rPr sz="2400" spc="-5">
                <a:cs typeface="Constantia"/>
              </a:rPr>
              <a:t>type</a:t>
            </a:r>
            <a:r>
              <a:rPr sz="2400" spc="-5" smtClean="0">
                <a:cs typeface="Constantia"/>
              </a:rPr>
              <a:t>.</a:t>
            </a:r>
            <a:endParaRPr lang="en-US" sz="2400" spc="-5" dirty="0" smtClean="0">
              <a:cs typeface="Constantia"/>
            </a:endParaRPr>
          </a:p>
          <a:p>
            <a:pPr marL="12700">
              <a:lnSpc>
                <a:spcPct val="100000"/>
              </a:lnSpc>
            </a:pPr>
            <a:endParaRPr sz="2400" dirty="0">
              <a:cs typeface="Constantia"/>
            </a:endParaRPr>
          </a:p>
          <a:p>
            <a:pPr marL="102235" indent="-90170">
              <a:lnSpc>
                <a:spcPct val="100000"/>
              </a:lnSpc>
              <a:buSzPct val="95000"/>
              <a:buFont typeface="Arial"/>
              <a:buChar char="•"/>
              <a:tabLst>
                <a:tab pos="102870" algn="l"/>
              </a:tabLst>
            </a:pPr>
            <a:r>
              <a:rPr sz="2400" spc="-5" dirty="0">
                <a:cs typeface="Constantia"/>
              </a:rPr>
              <a:t>bool() can </a:t>
            </a:r>
            <a:r>
              <a:rPr sz="2400" dirty="0">
                <a:cs typeface="Constantia"/>
              </a:rPr>
              <a:t>also be used </a:t>
            </a:r>
            <a:r>
              <a:rPr sz="2400" spc="-15" dirty="0">
                <a:cs typeface="Constantia"/>
              </a:rPr>
              <a:t>to </a:t>
            </a:r>
            <a:r>
              <a:rPr sz="2400" dirty="0">
                <a:cs typeface="Constantia"/>
              </a:rPr>
              <a:t>get </a:t>
            </a:r>
            <a:r>
              <a:rPr sz="2400" spc="-10" dirty="0">
                <a:cs typeface="Constantia"/>
              </a:rPr>
              <a:t>data </a:t>
            </a:r>
            <a:r>
              <a:rPr sz="2400" spc="-5" dirty="0">
                <a:cs typeface="Constantia"/>
              </a:rPr>
              <a:t>in</a:t>
            </a:r>
            <a:r>
              <a:rPr sz="2400" spc="20" dirty="0">
                <a:cs typeface="Constantia"/>
              </a:rPr>
              <a:t> </a:t>
            </a:r>
            <a:r>
              <a:rPr sz="2400" spc="-5" dirty="0">
                <a:cs typeface="Constantia"/>
              </a:rPr>
              <a:t>true/false</a:t>
            </a:r>
            <a:endParaRPr sz="2400" dirty="0">
              <a:cs typeface="Constant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072371" y="2429255"/>
            <a:ext cx="71755" cy="635"/>
          </a:xfrm>
          <a:custGeom>
            <a:avLst/>
            <a:gdLst/>
            <a:ahLst/>
            <a:cxnLst/>
            <a:rect l="l" t="t" r="r" b="b"/>
            <a:pathLst>
              <a:path w="71754" h="635">
                <a:moveTo>
                  <a:pt x="-6096" y="63"/>
                </a:moveTo>
                <a:lnTo>
                  <a:pt x="77723" y="63"/>
                </a:lnTo>
              </a:path>
            </a:pathLst>
          </a:custGeom>
          <a:ln w="12319">
            <a:solidFill>
              <a:srgbClr val="A4B5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072371" y="2712720"/>
            <a:ext cx="71755" cy="635"/>
          </a:xfrm>
          <a:custGeom>
            <a:avLst/>
            <a:gdLst/>
            <a:ahLst/>
            <a:cxnLst/>
            <a:rect l="l" t="t" r="r" b="b"/>
            <a:pathLst>
              <a:path w="71754" h="635">
                <a:moveTo>
                  <a:pt x="-6096" y="63"/>
                </a:moveTo>
                <a:lnTo>
                  <a:pt x="77723" y="63"/>
                </a:lnTo>
              </a:path>
            </a:pathLst>
          </a:custGeom>
          <a:ln w="12319">
            <a:solidFill>
              <a:srgbClr val="A4B5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9872" y="1642872"/>
            <a:ext cx="4000500" cy="26502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43628" y="1642872"/>
            <a:ext cx="4000500" cy="26441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76400" y="457200"/>
            <a:ext cx="5397760" cy="64633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/>
              <a:t>Input function in Python 3.x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2000" y="838200"/>
            <a:ext cx="78016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nstantia"/>
                <a:cs typeface="Constantia"/>
              </a:rPr>
              <a:t>Input() </a:t>
            </a:r>
            <a:r>
              <a:rPr sz="2400" spc="-5" dirty="0">
                <a:latin typeface="Constantia"/>
                <a:cs typeface="Constantia"/>
              </a:rPr>
              <a:t>function </a:t>
            </a:r>
            <a:r>
              <a:rPr sz="2400" dirty="0">
                <a:latin typeface="Constantia"/>
                <a:cs typeface="Constantia"/>
              </a:rPr>
              <a:t>in Python </a:t>
            </a:r>
            <a:r>
              <a:rPr sz="2400" spc="-5" dirty="0">
                <a:latin typeface="Constantia"/>
                <a:cs typeface="Constantia"/>
              </a:rPr>
              <a:t>3.x </a:t>
            </a:r>
            <a:r>
              <a:rPr sz="2400" dirty="0">
                <a:latin typeface="Constantia"/>
                <a:cs typeface="Constantia"/>
              </a:rPr>
              <a:t>should </a:t>
            </a:r>
            <a:r>
              <a:rPr sz="2400" spc="-15" dirty="0">
                <a:latin typeface="Constantia"/>
                <a:cs typeface="Constantia"/>
              </a:rPr>
              <a:t>require </a:t>
            </a:r>
            <a:r>
              <a:rPr sz="2400" spc="-5" dirty="0">
                <a:latin typeface="Constantia"/>
                <a:cs typeface="Constantia"/>
              </a:rPr>
              <a:t>type</a:t>
            </a:r>
            <a:r>
              <a:rPr lang="en-US" sz="2400" spc="-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casting  </a:t>
            </a:r>
            <a:r>
              <a:rPr sz="2400" dirty="0">
                <a:latin typeface="Constantia"/>
                <a:cs typeface="Constantia"/>
              </a:rPr>
              <a:t>as</a:t>
            </a:r>
            <a:r>
              <a:rPr sz="2400" spc="-5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it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lang="en-US" sz="2400" dirty="0">
                <a:latin typeface="Constantia"/>
                <a:cs typeface="Constantia"/>
              </a:rPr>
              <a:t>  </a:t>
            </a:r>
            <a:r>
              <a:rPr sz="2400" spc="-20" dirty="0">
                <a:latin typeface="Constantia"/>
                <a:cs typeface="Constantia"/>
              </a:rPr>
              <a:t>generate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data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in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string</a:t>
            </a:r>
            <a:r>
              <a:rPr sz="2400" spc="-2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type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by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default.</a:t>
            </a:r>
            <a:endParaRPr sz="2400" dirty="0">
              <a:latin typeface="Constantia"/>
              <a:cs typeface="Constant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57158" y="1714488"/>
            <a:ext cx="8358246" cy="4857784"/>
            <a:chOff x="1019555" y="3233895"/>
            <a:chExt cx="7000240" cy="3499485"/>
          </a:xfrm>
        </p:grpSpPr>
        <p:sp>
          <p:nvSpPr>
            <p:cNvPr id="6" name="object 6"/>
            <p:cNvSpPr/>
            <p:nvPr/>
          </p:nvSpPr>
          <p:spPr>
            <a:xfrm>
              <a:off x="1019555" y="3233895"/>
              <a:ext cx="6999732" cy="34991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14627" y="3429000"/>
              <a:ext cx="6429756" cy="292912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28596" y="642918"/>
            <a:ext cx="4714908" cy="1857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57818" y="642918"/>
            <a:ext cx="3500462" cy="18573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0034" y="2786058"/>
            <a:ext cx="8358246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5"/>
              </a:spcBef>
            </a:pPr>
            <a:r>
              <a:rPr sz="2400" spc="-95" dirty="0">
                <a:solidFill>
                  <a:srgbClr val="212512"/>
                </a:solidFill>
              </a:rPr>
              <a:t>To </a:t>
            </a:r>
            <a:r>
              <a:rPr sz="2400" spc="-15" dirty="0">
                <a:solidFill>
                  <a:srgbClr val="212512"/>
                </a:solidFill>
              </a:rPr>
              <a:t>take </a:t>
            </a:r>
            <a:r>
              <a:rPr sz="2400" spc="-5" dirty="0">
                <a:solidFill>
                  <a:srgbClr val="212512"/>
                </a:solidFill>
              </a:rPr>
              <a:t>input from user </a:t>
            </a:r>
            <a:r>
              <a:rPr sz="2400" spc="-25" dirty="0">
                <a:solidFill>
                  <a:srgbClr val="212512"/>
                </a:solidFill>
              </a:rPr>
              <a:t>we </a:t>
            </a:r>
            <a:r>
              <a:rPr sz="2400" spc="-10" dirty="0">
                <a:solidFill>
                  <a:srgbClr val="212512"/>
                </a:solidFill>
              </a:rPr>
              <a:t>took </a:t>
            </a:r>
            <a:r>
              <a:rPr sz="2400" spc="-20" dirty="0">
                <a:solidFill>
                  <a:srgbClr val="212512"/>
                </a:solidFill>
              </a:rPr>
              <a:t>two </a:t>
            </a:r>
            <a:r>
              <a:rPr sz="2400" spc="-5" dirty="0">
                <a:solidFill>
                  <a:srgbClr val="212512"/>
                </a:solidFill>
              </a:rPr>
              <a:t>input </a:t>
            </a:r>
            <a:r>
              <a:rPr sz="2400" dirty="0">
                <a:solidFill>
                  <a:srgbClr val="212512"/>
                </a:solidFill>
              </a:rPr>
              <a:t>function and </a:t>
            </a:r>
            <a:r>
              <a:rPr sz="2400" spc="-20" dirty="0">
                <a:solidFill>
                  <a:srgbClr val="212512"/>
                </a:solidFill>
              </a:rPr>
              <a:t>two </a:t>
            </a:r>
            <a:r>
              <a:rPr sz="2400" spc="-5" dirty="0">
                <a:solidFill>
                  <a:srgbClr val="212512"/>
                </a:solidFill>
              </a:rPr>
              <a:t>lines</a:t>
            </a:r>
            <a:r>
              <a:rPr sz="2400" spc="-5">
                <a:solidFill>
                  <a:srgbClr val="212512"/>
                </a:solidFill>
              </a:rPr>
              <a:t>.</a:t>
            </a:r>
            <a:r>
              <a:rPr sz="2400" spc="-210">
                <a:solidFill>
                  <a:srgbClr val="212512"/>
                </a:solidFill>
              </a:rPr>
              <a:t> </a:t>
            </a:r>
            <a:r>
              <a:rPr sz="2400" smtClean="0">
                <a:solidFill>
                  <a:srgbClr val="212512"/>
                </a:solidFill>
              </a:rPr>
              <a:t>What</a:t>
            </a:r>
            <a:r>
              <a:rPr lang="en-US" sz="2400" dirty="0" smtClean="0">
                <a:solidFill>
                  <a:srgbClr val="212512"/>
                </a:solidFill>
              </a:rPr>
              <a:t> </a:t>
            </a:r>
            <a:r>
              <a:rPr sz="2400" spc="-5" smtClean="0">
                <a:solidFill>
                  <a:srgbClr val="212512"/>
                </a:solidFill>
              </a:rPr>
              <a:t>if </a:t>
            </a:r>
            <a:r>
              <a:rPr sz="2400" spc="-25" dirty="0">
                <a:solidFill>
                  <a:srgbClr val="212512"/>
                </a:solidFill>
              </a:rPr>
              <a:t>we</a:t>
            </a:r>
            <a:r>
              <a:rPr sz="2400" spc="-110" dirty="0">
                <a:solidFill>
                  <a:srgbClr val="212512"/>
                </a:solidFill>
              </a:rPr>
              <a:t> </a:t>
            </a:r>
            <a:r>
              <a:rPr sz="2400" spc="-10" dirty="0">
                <a:solidFill>
                  <a:srgbClr val="212512"/>
                </a:solidFill>
              </a:rPr>
              <a:t>want</a:t>
            </a:r>
            <a:r>
              <a:rPr sz="2400" spc="-70" dirty="0">
                <a:solidFill>
                  <a:srgbClr val="212512"/>
                </a:solidFill>
              </a:rPr>
              <a:t> </a:t>
            </a:r>
            <a:r>
              <a:rPr sz="2400" spc="-5" dirty="0">
                <a:solidFill>
                  <a:srgbClr val="212512"/>
                </a:solidFill>
              </a:rPr>
              <a:t>this</a:t>
            </a:r>
            <a:r>
              <a:rPr sz="2400" spc="-85" dirty="0">
                <a:solidFill>
                  <a:srgbClr val="212512"/>
                </a:solidFill>
              </a:rPr>
              <a:t> </a:t>
            </a:r>
            <a:r>
              <a:rPr sz="2400" spc="-10" dirty="0">
                <a:solidFill>
                  <a:srgbClr val="212512"/>
                </a:solidFill>
              </a:rPr>
              <a:t>process</a:t>
            </a:r>
            <a:r>
              <a:rPr sz="2400" spc="-50" dirty="0">
                <a:solidFill>
                  <a:srgbClr val="212512"/>
                </a:solidFill>
              </a:rPr>
              <a:t> </a:t>
            </a:r>
            <a:r>
              <a:rPr sz="2400" dirty="0">
                <a:solidFill>
                  <a:srgbClr val="212512"/>
                </a:solidFill>
              </a:rPr>
              <a:t>in</a:t>
            </a:r>
            <a:r>
              <a:rPr sz="2400" spc="-95" dirty="0">
                <a:solidFill>
                  <a:srgbClr val="212512"/>
                </a:solidFill>
              </a:rPr>
              <a:t> </a:t>
            </a:r>
            <a:r>
              <a:rPr sz="2400" dirty="0">
                <a:solidFill>
                  <a:srgbClr val="212512"/>
                </a:solidFill>
              </a:rPr>
              <a:t>one</a:t>
            </a:r>
            <a:r>
              <a:rPr sz="2400" spc="-95" dirty="0">
                <a:solidFill>
                  <a:srgbClr val="212512"/>
                </a:solidFill>
              </a:rPr>
              <a:t> </a:t>
            </a:r>
            <a:r>
              <a:rPr sz="2400" spc="-5" dirty="0">
                <a:solidFill>
                  <a:srgbClr val="212512"/>
                </a:solidFill>
              </a:rPr>
              <a:t>single</a:t>
            </a:r>
            <a:r>
              <a:rPr sz="2400" spc="-55" dirty="0">
                <a:solidFill>
                  <a:srgbClr val="212512"/>
                </a:solidFill>
              </a:rPr>
              <a:t> </a:t>
            </a:r>
            <a:r>
              <a:rPr sz="2400" dirty="0">
                <a:solidFill>
                  <a:srgbClr val="212512"/>
                </a:solidFill>
              </a:rPr>
              <a:t>line</a:t>
            </a:r>
            <a:r>
              <a:rPr sz="2400">
                <a:solidFill>
                  <a:srgbClr val="212512"/>
                </a:solidFill>
              </a:rPr>
              <a:t>?</a:t>
            </a:r>
            <a:r>
              <a:rPr sz="2400" spc="-10">
                <a:solidFill>
                  <a:srgbClr val="212512"/>
                </a:solidFill>
              </a:rPr>
              <a:t> </a:t>
            </a:r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499872" y="3928870"/>
            <a:ext cx="8144256" cy="13575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0034" y="5214950"/>
            <a:ext cx="8148828" cy="12851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42910" y="1214422"/>
            <a:ext cx="642942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text = "geeks for geeks"</a:t>
            </a:r>
          </a:p>
          <a:p>
            <a:r>
              <a:rPr lang="en-US" sz="2000" dirty="0" smtClean="0"/>
              <a:t>print(</a:t>
            </a:r>
            <a:r>
              <a:rPr lang="en-US" sz="2000" dirty="0" err="1" smtClean="0"/>
              <a:t>text.split</a:t>
            </a:r>
            <a:r>
              <a:rPr lang="en-US" sz="2000" dirty="0" smtClean="0"/>
              <a:t>())</a:t>
            </a:r>
          </a:p>
          <a:p>
            <a:endParaRPr lang="en-US" sz="2000" dirty="0" smtClean="0"/>
          </a:p>
          <a:p>
            <a:r>
              <a:rPr lang="en-US" sz="2000" dirty="0" smtClean="0"/>
              <a:t>text = "</a:t>
            </a:r>
            <a:r>
              <a:rPr lang="en-US" sz="2000" dirty="0" err="1" smtClean="0"/>
              <a:t>geeks,for,geeks</a:t>
            </a:r>
            <a:r>
              <a:rPr lang="en-US" sz="2000" dirty="0" smtClean="0"/>
              <a:t>"</a:t>
            </a:r>
          </a:p>
          <a:p>
            <a:r>
              <a:rPr lang="en-US" sz="2000" dirty="0" smtClean="0"/>
              <a:t>print(</a:t>
            </a:r>
            <a:r>
              <a:rPr lang="en-US" sz="2000" dirty="0" err="1" smtClean="0"/>
              <a:t>text.split</a:t>
            </a:r>
            <a:r>
              <a:rPr lang="en-US" sz="2000" dirty="0" smtClean="0"/>
              <a:t>(","))</a:t>
            </a:r>
          </a:p>
          <a:p>
            <a:endParaRPr lang="en-US" sz="2000" dirty="0" smtClean="0"/>
          </a:p>
          <a:p>
            <a:r>
              <a:rPr lang="en-US" sz="2000" dirty="0" smtClean="0"/>
              <a:t>text = "</a:t>
            </a:r>
            <a:r>
              <a:rPr lang="en-US" sz="2000" dirty="0" err="1" smtClean="0"/>
              <a:t>geeks:for:geeks</a:t>
            </a:r>
            <a:r>
              <a:rPr lang="en-US" sz="2000" dirty="0" smtClean="0"/>
              <a:t>"</a:t>
            </a:r>
          </a:p>
          <a:p>
            <a:r>
              <a:rPr lang="en-US" sz="2000" dirty="0" smtClean="0"/>
              <a:t>print(</a:t>
            </a:r>
            <a:r>
              <a:rPr lang="en-US" sz="2000" dirty="0" err="1" smtClean="0"/>
              <a:t>text.split</a:t>
            </a:r>
            <a:r>
              <a:rPr lang="en-US" sz="2000" dirty="0" smtClean="0"/>
              <a:t>(":"))</a:t>
            </a:r>
          </a:p>
          <a:p>
            <a:endParaRPr lang="en-US" sz="2000" dirty="0" smtClean="0"/>
          </a:p>
          <a:p>
            <a:r>
              <a:rPr lang="en-US" sz="2000" dirty="0" smtClean="0"/>
              <a:t>text = "</a:t>
            </a:r>
            <a:r>
              <a:rPr lang="en-US" sz="2000" dirty="0" err="1" smtClean="0"/>
              <a:t>CatBatSatFatOr</a:t>
            </a:r>
            <a:r>
              <a:rPr lang="en-US" sz="2000" dirty="0" smtClean="0"/>
              <a:t>"</a:t>
            </a:r>
          </a:p>
          <a:p>
            <a:r>
              <a:rPr lang="en-US" sz="2000" dirty="0" smtClean="0"/>
              <a:t>print(</a:t>
            </a:r>
            <a:r>
              <a:rPr lang="en-US" sz="2000" dirty="0" err="1" smtClean="0"/>
              <a:t>text.split</a:t>
            </a:r>
            <a:r>
              <a:rPr lang="en-US" sz="2000" dirty="0" smtClean="0"/>
              <a:t>("t</a:t>
            </a:r>
            <a:r>
              <a:rPr lang="en-US" sz="2000" dirty="0" smtClean="0"/>
              <a:t>"))</a:t>
            </a:r>
          </a:p>
          <a:p>
            <a:r>
              <a:rPr lang="en-US" sz="2000" dirty="0" smtClean="0"/>
              <a:t>#Output</a:t>
            </a:r>
            <a:endParaRPr lang="en-US" sz="2000" dirty="0" smtClean="0"/>
          </a:p>
          <a:p>
            <a:r>
              <a:rPr lang="en-US" sz="2000" dirty="0" smtClean="0"/>
              <a:t>['geeks', 'for', 'geeks'] </a:t>
            </a:r>
            <a:endParaRPr lang="en-US" sz="2000" dirty="0" smtClean="0"/>
          </a:p>
          <a:p>
            <a:r>
              <a:rPr lang="en-US" sz="2000" dirty="0" smtClean="0"/>
              <a:t>[</a:t>
            </a:r>
            <a:r>
              <a:rPr lang="en-US" sz="2000" dirty="0" smtClean="0"/>
              <a:t>'geeks', 'for', 'geeks'] </a:t>
            </a:r>
            <a:endParaRPr lang="en-US" sz="2000" dirty="0" smtClean="0"/>
          </a:p>
          <a:p>
            <a:r>
              <a:rPr lang="en-US" sz="2000" dirty="0" smtClean="0"/>
              <a:t>[</a:t>
            </a:r>
            <a:r>
              <a:rPr lang="en-US" sz="2000" dirty="0" smtClean="0"/>
              <a:t>'geeks', 'for', 'geeks'] </a:t>
            </a:r>
            <a:endParaRPr lang="en-US" sz="2000" dirty="0" smtClean="0"/>
          </a:p>
          <a:p>
            <a:r>
              <a:rPr lang="en-US" sz="2000" dirty="0" smtClean="0"/>
              <a:t>[</a:t>
            </a:r>
            <a:r>
              <a:rPr lang="en-US" sz="2000" dirty="0" smtClean="0"/>
              <a:t>'Ca', '</a:t>
            </a:r>
            <a:r>
              <a:rPr lang="en-US" sz="2000" dirty="0" err="1" smtClean="0"/>
              <a:t>Ba</a:t>
            </a:r>
            <a:r>
              <a:rPr lang="en-US" sz="2000" dirty="0" smtClean="0"/>
              <a:t>', 'Sa', '</a:t>
            </a:r>
            <a:r>
              <a:rPr lang="en-US" sz="2000" dirty="0" err="1" smtClean="0"/>
              <a:t>Fa</a:t>
            </a:r>
            <a:r>
              <a:rPr lang="en-US" sz="2000" dirty="0" smtClean="0"/>
              <a:t>', 'Or']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2643174" y="357166"/>
            <a:ext cx="39410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</a:rPr>
              <a:t>Python split() Method</a:t>
            </a:r>
            <a:endParaRPr lang="en-US" sz="32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457200" y="685800"/>
            <a:ext cx="8294370" cy="23987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2500" dirty="0">
              <a:latin typeface="Constantia"/>
              <a:cs typeface="Constantia"/>
            </a:endParaRPr>
          </a:p>
          <a:p>
            <a:pPr marL="286385" marR="5080" indent="-274320">
              <a:lnSpc>
                <a:spcPct val="100000"/>
              </a:lnSpc>
              <a:buClr>
                <a:srgbClr val="F3A346"/>
              </a:buClr>
              <a:buSzPct val="85416"/>
              <a:buFont typeface="Wingdings 2"/>
              <a:buChar char=""/>
              <a:tabLst>
                <a:tab pos="286385" algn="l"/>
                <a:tab pos="287020" algn="l"/>
              </a:tabLst>
            </a:pPr>
            <a:r>
              <a:rPr sz="2400" i="1" spc="-5" dirty="0">
                <a:latin typeface="Constantia"/>
                <a:cs typeface="Constantia"/>
              </a:rPr>
              <a:t>split()</a:t>
            </a:r>
            <a:r>
              <a:rPr sz="2400" i="1" spc="2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is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function/method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used</a:t>
            </a:r>
            <a:r>
              <a:rPr sz="2400" spc="-3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to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split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the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input()</a:t>
            </a:r>
            <a:r>
              <a:rPr sz="2400" spc="-2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function  </a:t>
            </a:r>
            <a:r>
              <a:rPr sz="2400" spc="-15" dirty="0">
                <a:latin typeface="Constantia"/>
                <a:cs typeface="Constantia"/>
              </a:rPr>
              <a:t>into </a:t>
            </a:r>
            <a:r>
              <a:rPr sz="2400" spc="-5" dirty="0">
                <a:latin typeface="Constantia"/>
                <a:cs typeface="Constantia"/>
              </a:rPr>
              <a:t>multiple</a:t>
            </a:r>
            <a:r>
              <a:rPr sz="2400" spc="-200" dirty="0">
                <a:latin typeface="Constantia"/>
                <a:cs typeface="Constantia"/>
              </a:rPr>
              <a:t> </a:t>
            </a:r>
            <a:r>
              <a:rPr lang="en-US" sz="2400" spc="-200" dirty="0">
                <a:latin typeface="Constantia"/>
                <a:cs typeface="Constantia"/>
              </a:rPr>
              <a:t>  </a:t>
            </a:r>
            <a:r>
              <a:rPr sz="2400" spc="-10" dirty="0">
                <a:latin typeface="Constantia"/>
                <a:cs typeface="Constantia"/>
              </a:rPr>
              <a:t>values.</a:t>
            </a:r>
            <a:endParaRPr sz="2400" dirty="0">
              <a:latin typeface="Constantia"/>
              <a:cs typeface="Constanti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F3A346"/>
              </a:buClr>
              <a:buSzPct val="85416"/>
              <a:buFont typeface="Wingdings 2"/>
              <a:buChar char=""/>
              <a:tabLst>
                <a:tab pos="286385" algn="l"/>
                <a:tab pos="287020" algn="l"/>
              </a:tabLst>
            </a:pPr>
            <a:r>
              <a:rPr sz="2400" spc="-5" dirty="0">
                <a:latin typeface="Constantia"/>
                <a:cs typeface="Constantia"/>
              </a:rPr>
              <a:t>The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method</a:t>
            </a:r>
            <a:r>
              <a:rPr sz="2400" spc="15" dirty="0">
                <a:latin typeface="Constantia"/>
                <a:cs typeface="Constantia"/>
              </a:rPr>
              <a:t> </a:t>
            </a:r>
            <a:r>
              <a:rPr sz="2400" i="1" spc="-5" dirty="0">
                <a:latin typeface="Constantia"/>
                <a:cs typeface="Constantia"/>
              </a:rPr>
              <a:t>split() </a:t>
            </a:r>
            <a:r>
              <a:rPr sz="2400" spc="-10" dirty="0">
                <a:latin typeface="Constantia"/>
                <a:cs typeface="Constantia"/>
              </a:rPr>
              <a:t>returns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list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of</a:t>
            </a:r>
            <a:r>
              <a:rPr sz="2400" spc="-1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all</a:t>
            </a:r>
            <a:r>
              <a:rPr sz="2400" spc="-3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the</a:t>
            </a:r>
            <a:r>
              <a:rPr sz="2400" spc="-12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words</a:t>
            </a:r>
            <a:r>
              <a:rPr sz="2400" spc="-3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in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the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string.</a:t>
            </a:r>
            <a:endParaRPr sz="2400" dirty="0">
              <a:latin typeface="Constantia"/>
              <a:cs typeface="Constantia"/>
            </a:endParaRPr>
          </a:p>
          <a:p>
            <a:pPr marL="286385" marR="312420" indent="-274320">
              <a:lnSpc>
                <a:spcPct val="100000"/>
              </a:lnSpc>
              <a:spcBef>
                <a:spcPts val="600"/>
              </a:spcBef>
              <a:buClr>
                <a:srgbClr val="F3A346"/>
              </a:buClr>
              <a:buSzPct val="85416"/>
              <a:buFont typeface="Wingdings 2"/>
              <a:buChar char=""/>
              <a:tabLst>
                <a:tab pos="286385" algn="l"/>
                <a:tab pos="287020" algn="l"/>
              </a:tabLst>
            </a:pPr>
            <a:r>
              <a:rPr sz="2400" i="1" spc="-5" dirty="0">
                <a:latin typeface="Constantia"/>
                <a:cs typeface="Constantia"/>
              </a:rPr>
              <a:t>split() </a:t>
            </a:r>
            <a:r>
              <a:rPr sz="2400" spc="-5" dirty="0">
                <a:latin typeface="Constantia"/>
                <a:cs typeface="Constantia"/>
              </a:rPr>
              <a:t>is opposite</a:t>
            </a:r>
            <a:r>
              <a:rPr sz="2400" spc="-45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of </a:t>
            </a:r>
            <a:r>
              <a:rPr sz="2400" spc="-10" dirty="0">
                <a:latin typeface="Constantia"/>
                <a:cs typeface="Constantia"/>
              </a:rPr>
              <a:t>concatenation which combines </a:t>
            </a:r>
            <a:r>
              <a:rPr sz="2400" spc="-5" dirty="0">
                <a:latin typeface="Constantia"/>
                <a:cs typeface="Constantia"/>
              </a:rPr>
              <a:t>strings  </a:t>
            </a:r>
            <a:r>
              <a:rPr sz="2400" spc="-15" dirty="0">
                <a:latin typeface="Constantia"/>
                <a:cs typeface="Constantia"/>
              </a:rPr>
              <a:t>into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lang="en-US" sz="2400" spc="-13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one.</a:t>
            </a:r>
            <a:endParaRPr sz="2400" dirty="0">
              <a:latin typeface="Constantia"/>
              <a:cs typeface="Constant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1000" y="3581400"/>
            <a:ext cx="8356600" cy="2847996"/>
            <a:chOff x="448055" y="4591773"/>
            <a:chExt cx="8356600" cy="1998345"/>
          </a:xfrm>
        </p:grpSpPr>
        <p:sp>
          <p:nvSpPr>
            <p:cNvPr id="9" name="object 9"/>
            <p:cNvSpPr/>
            <p:nvPr/>
          </p:nvSpPr>
          <p:spPr>
            <a:xfrm>
              <a:off x="448055" y="4591773"/>
              <a:ext cx="4498975" cy="19979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3127" y="4786884"/>
              <a:ext cx="3928872" cy="14279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63440" y="4591773"/>
              <a:ext cx="4140708" cy="199796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58511" y="4786884"/>
              <a:ext cx="3570732" cy="142798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534109"/>
            <a:ext cx="8081009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95"/>
              </a:spcBef>
              <a:tabLst>
                <a:tab pos="1132840" algn="l"/>
                <a:tab pos="1499870" algn="l"/>
                <a:tab pos="2780665" algn="l"/>
                <a:tab pos="4324350" algn="l"/>
                <a:tab pos="5444490" algn="l"/>
                <a:tab pos="6817995" algn="l"/>
                <a:tab pos="7897495" algn="l"/>
              </a:tabLst>
            </a:pPr>
            <a:r>
              <a:rPr sz="2600" dirty="0"/>
              <a:t>pr</a:t>
            </a:r>
            <a:r>
              <a:rPr sz="2600" spc="-15" dirty="0"/>
              <a:t>i</a:t>
            </a:r>
            <a:r>
              <a:rPr sz="2600" spc="-5" dirty="0"/>
              <a:t>nt(</a:t>
            </a:r>
            <a:r>
              <a:rPr sz="2600" dirty="0"/>
              <a:t>)	</a:t>
            </a:r>
            <a:r>
              <a:rPr sz="2600" spc="5" dirty="0"/>
              <a:t>:</a:t>
            </a:r>
            <a:r>
              <a:rPr sz="2600" dirty="0"/>
              <a:t>-	with</a:t>
            </a:r>
            <a:r>
              <a:rPr sz="2600" spc="-15" dirty="0"/>
              <a:t>o</a:t>
            </a:r>
            <a:r>
              <a:rPr sz="2600" spc="-5" dirty="0"/>
              <a:t>u</a:t>
            </a:r>
            <a:r>
              <a:rPr sz="2600" dirty="0"/>
              <a:t>t	a</a:t>
            </a:r>
            <a:r>
              <a:rPr sz="2600" spc="-40" dirty="0"/>
              <a:t>r</a:t>
            </a:r>
            <a:r>
              <a:rPr sz="2600" dirty="0"/>
              <a:t>gume</a:t>
            </a:r>
            <a:r>
              <a:rPr sz="2600" spc="-10" dirty="0"/>
              <a:t>n</a:t>
            </a:r>
            <a:r>
              <a:rPr sz="2600" dirty="0"/>
              <a:t>t	pr</a:t>
            </a:r>
            <a:r>
              <a:rPr sz="2600" spc="-15" dirty="0"/>
              <a:t>i</a:t>
            </a:r>
            <a:r>
              <a:rPr sz="2600" spc="-5" dirty="0"/>
              <a:t>nt(</a:t>
            </a:r>
            <a:r>
              <a:rPr sz="2600" dirty="0"/>
              <a:t>)	f</a:t>
            </a:r>
            <a:r>
              <a:rPr sz="2600" spc="-10" dirty="0"/>
              <a:t>u</a:t>
            </a:r>
            <a:r>
              <a:rPr sz="2600" spc="-5" dirty="0"/>
              <a:t>ncti</a:t>
            </a:r>
            <a:r>
              <a:rPr sz="2600" spc="-10" dirty="0"/>
              <a:t>o</a:t>
            </a:r>
            <a:r>
              <a:rPr sz="2600" dirty="0"/>
              <a:t>n	</a:t>
            </a:r>
            <a:r>
              <a:rPr sz="2800" spc="-5" dirty="0"/>
              <a:t>p</a:t>
            </a:r>
            <a:r>
              <a:rPr sz="2800" spc="-15" dirty="0"/>
              <a:t>r</a:t>
            </a:r>
            <a:r>
              <a:rPr sz="2800" spc="-10" dirty="0"/>
              <a:t>int</a:t>
            </a:r>
            <a:r>
              <a:rPr sz="2800" spc="-5" dirty="0"/>
              <a:t>s</a:t>
            </a:r>
            <a:r>
              <a:rPr sz="2800" dirty="0"/>
              <a:t>	</a:t>
            </a:r>
            <a:r>
              <a:rPr sz="2800" spc="-5" dirty="0"/>
              <a:t>a  blank</a:t>
            </a:r>
            <a:r>
              <a:rPr sz="2800" spc="-20" dirty="0"/>
              <a:t> </a:t>
            </a:r>
            <a:r>
              <a:rPr sz="2800" spc="-5" dirty="0"/>
              <a:t>line.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500034" y="857232"/>
            <a:ext cx="8072494" cy="5214974"/>
            <a:chOff x="371856" y="2234183"/>
            <a:chExt cx="4718685" cy="4570730"/>
          </a:xfrm>
        </p:grpSpPr>
        <p:sp>
          <p:nvSpPr>
            <p:cNvPr id="5" name="object 5"/>
            <p:cNvSpPr/>
            <p:nvPr/>
          </p:nvSpPr>
          <p:spPr>
            <a:xfrm>
              <a:off x="376428" y="2234183"/>
              <a:ext cx="4713732" cy="249783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1500" y="2429255"/>
              <a:ext cx="4143755" cy="19278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1856" y="4233724"/>
              <a:ext cx="4718431" cy="25709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6928" y="4428744"/>
              <a:ext cx="4148328" cy="20010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2872" y="3522091"/>
              <a:ext cx="3429000" cy="103505"/>
            </a:xfrm>
            <a:custGeom>
              <a:avLst/>
              <a:gdLst/>
              <a:ahLst/>
              <a:cxnLst/>
              <a:rect l="l" t="t" r="r" b="b"/>
              <a:pathLst>
                <a:path w="3429000" h="103504">
                  <a:moveTo>
                    <a:pt x="3340480" y="0"/>
                  </a:moveTo>
                  <a:lnTo>
                    <a:pt x="3336543" y="1016"/>
                  </a:lnTo>
                  <a:lnTo>
                    <a:pt x="3332988" y="7112"/>
                  </a:lnTo>
                  <a:lnTo>
                    <a:pt x="3334004" y="10922"/>
                  </a:lnTo>
                  <a:lnTo>
                    <a:pt x="3392824" y="45328"/>
                  </a:lnTo>
                  <a:lnTo>
                    <a:pt x="3416554" y="45338"/>
                  </a:lnTo>
                  <a:lnTo>
                    <a:pt x="3416554" y="58038"/>
                  </a:lnTo>
                  <a:lnTo>
                    <a:pt x="3393004" y="58038"/>
                  </a:lnTo>
                  <a:lnTo>
                    <a:pt x="3334004" y="92456"/>
                  </a:lnTo>
                  <a:lnTo>
                    <a:pt x="3332988" y="96266"/>
                  </a:lnTo>
                  <a:lnTo>
                    <a:pt x="3336543" y="102362"/>
                  </a:lnTo>
                  <a:lnTo>
                    <a:pt x="3340354" y="103378"/>
                  </a:lnTo>
                  <a:lnTo>
                    <a:pt x="3418109" y="58038"/>
                  </a:lnTo>
                  <a:lnTo>
                    <a:pt x="3416554" y="58038"/>
                  </a:lnTo>
                  <a:lnTo>
                    <a:pt x="3418127" y="58028"/>
                  </a:lnTo>
                  <a:lnTo>
                    <a:pt x="3429000" y="51688"/>
                  </a:lnTo>
                  <a:lnTo>
                    <a:pt x="3340480" y="0"/>
                  </a:lnTo>
                  <a:close/>
                </a:path>
                <a:path w="3429000" h="103504">
                  <a:moveTo>
                    <a:pt x="3403794" y="51744"/>
                  </a:moveTo>
                  <a:lnTo>
                    <a:pt x="3393022" y="58028"/>
                  </a:lnTo>
                  <a:lnTo>
                    <a:pt x="3416554" y="58038"/>
                  </a:lnTo>
                  <a:lnTo>
                    <a:pt x="3416554" y="57276"/>
                  </a:lnTo>
                  <a:lnTo>
                    <a:pt x="3413252" y="57276"/>
                  </a:lnTo>
                  <a:lnTo>
                    <a:pt x="3403794" y="51744"/>
                  </a:lnTo>
                  <a:close/>
                </a:path>
                <a:path w="3429000" h="103504">
                  <a:moveTo>
                    <a:pt x="0" y="43814"/>
                  </a:moveTo>
                  <a:lnTo>
                    <a:pt x="0" y="56514"/>
                  </a:lnTo>
                  <a:lnTo>
                    <a:pt x="3393022" y="58028"/>
                  </a:lnTo>
                  <a:lnTo>
                    <a:pt x="3403794" y="51744"/>
                  </a:lnTo>
                  <a:lnTo>
                    <a:pt x="3392824" y="45328"/>
                  </a:lnTo>
                  <a:lnTo>
                    <a:pt x="0" y="43814"/>
                  </a:lnTo>
                  <a:close/>
                </a:path>
                <a:path w="3429000" h="103504">
                  <a:moveTo>
                    <a:pt x="3413252" y="46228"/>
                  </a:moveTo>
                  <a:lnTo>
                    <a:pt x="3403794" y="51744"/>
                  </a:lnTo>
                  <a:lnTo>
                    <a:pt x="3413252" y="57276"/>
                  </a:lnTo>
                  <a:lnTo>
                    <a:pt x="3413252" y="46228"/>
                  </a:lnTo>
                  <a:close/>
                </a:path>
                <a:path w="3429000" h="103504">
                  <a:moveTo>
                    <a:pt x="3416554" y="46228"/>
                  </a:moveTo>
                  <a:lnTo>
                    <a:pt x="3413252" y="46228"/>
                  </a:lnTo>
                  <a:lnTo>
                    <a:pt x="3413252" y="57276"/>
                  </a:lnTo>
                  <a:lnTo>
                    <a:pt x="3416554" y="57276"/>
                  </a:lnTo>
                  <a:lnTo>
                    <a:pt x="3416554" y="46228"/>
                  </a:lnTo>
                  <a:close/>
                </a:path>
                <a:path w="3429000" h="103504">
                  <a:moveTo>
                    <a:pt x="3392824" y="45328"/>
                  </a:moveTo>
                  <a:lnTo>
                    <a:pt x="3403794" y="51744"/>
                  </a:lnTo>
                  <a:lnTo>
                    <a:pt x="3413252" y="46228"/>
                  </a:lnTo>
                  <a:lnTo>
                    <a:pt x="3416554" y="46228"/>
                  </a:lnTo>
                  <a:lnTo>
                    <a:pt x="3416554" y="45338"/>
                  </a:lnTo>
                  <a:lnTo>
                    <a:pt x="3392824" y="453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223128" y="3374516"/>
            <a:ext cx="15875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Line</a:t>
            </a:r>
            <a:r>
              <a:rPr sz="2000" spc="-14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separator</a:t>
            </a:r>
            <a:endParaRPr sz="20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535938"/>
            <a:ext cx="553910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/>
              <a:t>print(string) </a:t>
            </a:r>
            <a:r>
              <a:rPr sz="2600" dirty="0"/>
              <a:t>:- enclosed within</a:t>
            </a:r>
            <a:r>
              <a:rPr sz="2600" spc="-295" dirty="0"/>
              <a:t> </a:t>
            </a:r>
            <a:r>
              <a:rPr sz="2600" spc="-10" dirty="0"/>
              <a:t>quotes.</a:t>
            </a:r>
            <a:endParaRPr sz="2600"/>
          </a:p>
        </p:txBody>
      </p:sp>
      <p:sp>
        <p:nvSpPr>
          <p:cNvPr id="4" name="object 4"/>
          <p:cNvSpPr/>
          <p:nvPr/>
        </p:nvSpPr>
        <p:spPr>
          <a:xfrm>
            <a:off x="1142976" y="428604"/>
            <a:ext cx="6715172" cy="25012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08878" y="3149600"/>
            <a:ext cx="2499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FFFFFF"/>
                </a:solidFill>
                <a:latin typeface="Constantia"/>
                <a:cs typeface="Constantia"/>
              </a:rPr>
              <a:t>Allowed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escape</a:t>
            </a:r>
            <a:r>
              <a:rPr sz="1800" spc="-2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character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0100" y="3286124"/>
            <a:ext cx="7072362" cy="30718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7465" y="1153492"/>
            <a:ext cx="3743325" cy="126111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200" spc="-5" dirty="0"/>
              <a:t>What is the </a:t>
            </a:r>
            <a:r>
              <a:rPr sz="2200" spc="-15" dirty="0"/>
              <a:t>difference</a:t>
            </a:r>
            <a:r>
              <a:rPr sz="2200" spc="-390" dirty="0"/>
              <a:t> </a:t>
            </a:r>
            <a:r>
              <a:rPr sz="2200" spc="-10" dirty="0"/>
              <a:t>between</a:t>
            </a:r>
            <a:endParaRPr sz="2200"/>
          </a:p>
          <a:p>
            <a:pPr marL="12700" marR="290195">
              <a:lnSpc>
                <a:spcPct val="122700"/>
              </a:lnSpc>
              <a:tabLst>
                <a:tab pos="2989580" algn="l"/>
              </a:tabLst>
            </a:pPr>
            <a:r>
              <a:rPr sz="2200" spc="-5" dirty="0"/>
              <a:t>p</a:t>
            </a:r>
            <a:r>
              <a:rPr sz="2200" spc="-15" dirty="0"/>
              <a:t>r</a:t>
            </a:r>
            <a:r>
              <a:rPr sz="2200" spc="-10" dirty="0"/>
              <a:t>i</a:t>
            </a:r>
            <a:r>
              <a:rPr sz="2200" dirty="0"/>
              <a:t>n</a:t>
            </a:r>
            <a:r>
              <a:rPr sz="2200" spc="-10" dirty="0"/>
              <a:t>t(</a:t>
            </a:r>
            <a:r>
              <a:rPr sz="2200" spc="-15" dirty="0"/>
              <a:t>“</a:t>
            </a:r>
            <a:r>
              <a:rPr sz="2200" spc="-55" dirty="0"/>
              <a:t>H</a:t>
            </a:r>
            <a:r>
              <a:rPr sz="2200" spc="-5" dirty="0"/>
              <a:t>ell</a:t>
            </a:r>
            <a:r>
              <a:rPr sz="2200" spc="-85" dirty="0"/>
              <a:t>o</a:t>
            </a:r>
            <a:r>
              <a:rPr sz="2200" spc="-10" dirty="0"/>
              <a:t>”</a:t>
            </a:r>
            <a:r>
              <a:rPr sz="2200" spc="-5" dirty="0"/>
              <a:t>+ </a:t>
            </a:r>
            <a:r>
              <a:rPr sz="2200" spc="25" dirty="0"/>
              <a:t>“</a:t>
            </a:r>
            <a:r>
              <a:rPr sz="2200" spc="-160" dirty="0"/>
              <a:t>W</a:t>
            </a:r>
            <a:r>
              <a:rPr sz="2200" spc="-5" dirty="0"/>
              <a:t>o</a:t>
            </a:r>
            <a:r>
              <a:rPr sz="2200" spc="-30" dirty="0"/>
              <a:t>r</a:t>
            </a:r>
            <a:r>
              <a:rPr sz="2200" spc="-5" dirty="0"/>
              <a:t>ld</a:t>
            </a:r>
            <a:r>
              <a:rPr sz="2200" spc="-15" dirty="0"/>
              <a:t>”</a:t>
            </a:r>
            <a:r>
              <a:rPr sz="2200" spc="-5" dirty="0"/>
              <a:t>)</a:t>
            </a:r>
            <a:r>
              <a:rPr sz="2200" dirty="0"/>
              <a:t>	</a:t>
            </a:r>
            <a:r>
              <a:rPr sz="2200" spc="-5" dirty="0"/>
              <a:t>a</a:t>
            </a:r>
            <a:r>
              <a:rPr sz="2200" dirty="0"/>
              <a:t>n</a:t>
            </a:r>
            <a:r>
              <a:rPr sz="2200" spc="-5" dirty="0"/>
              <a:t>d  </a:t>
            </a:r>
            <a:r>
              <a:rPr sz="2200" spc="-15" dirty="0"/>
              <a:t>print(“Hello” </a:t>
            </a:r>
            <a:r>
              <a:rPr sz="2200" spc="-5" dirty="0"/>
              <a:t>, </a:t>
            </a:r>
            <a:r>
              <a:rPr sz="2200" spc="-25" dirty="0"/>
              <a:t>“World”)</a:t>
            </a:r>
            <a:endParaRPr sz="2200"/>
          </a:p>
        </p:txBody>
      </p:sp>
      <p:grpSp>
        <p:nvGrpSpPr>
          <p:cNvPr id="4" name="object 4"/>
          <p:cNvGrpSpPr/>
          <p:nvPr/>
        </p:nvGrpSpPr>
        <p:grpSpPr>
          <a:xfrm>
            <a:off x="928662" y="642918"/>
            <a:ext cx="7500990" cy="3714776"/>
            <a:chOff x="804672" y="2234183"/>
            <a:chExt cx="6124575" cy="2856230"/>
          </a:xfrm>
        </p:grpSpPr>
        <p:sp>
          <p:nvSpPr>
            <p:cNvPr id="5" name="object 5"/>
            <p:cNvSpPr/>
            <p:nvPr/>
          </p:nvSpPr>
          <p:spPr>
            <a:xfrm>
              <a:off x="804672" y="2234183"/>
              <a:ext cx="6062472" cy="28561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9744" y="2429255"/>
              <a:ext cx="5492496" cy="22860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2371" y="3592207"/>
              <a:ext cx="3856990" cy="675005"/>
            </a:xfrm>
            <a:custGeom>
              <a:avLst/>
              <a:gdLst/>
              <a:ahLst/>
              <a:cxnLst/>
              <a:rect l="l" t="t" r="r" b="b"/>
              <a:pathLst>
                <a:path w="3856990" h="675004">
                  <a:moveTo>
                    <a:pt x="3643388" y="51676"/>
                  </a:moveTo>
                  <a:lnTo>
                    <a:pt x="3554742" y="0"/>
                  </a:lnTo>
                  <a:lnTo>
                    <a:pt x="3550932" y="1003"/>
                  </a:lnTo>
                  <a:lnTo>
                    <a:pt x="3547376" y="7112"/>
                  </a:lnTo>
                  <a:lnTo>
                    <a:pt x="3548392" y="10909"/>
                  </a:lnTo>
                  <a:lnTo>
                    <a:pt x="3607117" y="45326"/>
                  </a:lnTo>
                  <a:lnTo>
                    <a:pt x="12" y="43802"/>
                  </a:lnTo>
                  <a:lnTo>
                    <a:pt x="0" y="56502"/>
                  </a:lnTo>
                  <a:lnTo>
                    <a:pt x="3607358" y="58026"/>
                  </a:lnTo>
                  <a:lnTo>
                    <a:pt x="3548253" y="92443"/>
                  </a:lnTo>
                  <a:lnTo>
                    <a:pt x="3547249" y="96380"/>
                  </a:lnTo>
                  <a:lnTo>
                    <a:pt x="3549027" y="99301"/>
                  </a:lnTo>
                  <a:lnTo>
                    <a:pt x="3550805" y="102349"/>
                  </a:lnTo>
                  <a:lnTo>
                    <a:pt x="3554742" y="103365"/>
                  </a:lnTo>
                  <a:lnTo>
                    <a:pt x="3632492" y="58026"/>
                  </a:lnTo>
                  <a:lnTo>
                    <a:pt x="3643388" y="51676"/>
                  </a:lnTo>
                  <a:close/>
                </a:path>
                <a:path w="3856990" h="675004">
                  <a:moveTo>
                    <a:pt x="3856748" y="623176"/>
                  </a:moveTo>
                  <a:lnTo>
                    <a:pt x="3768102" y="571487"/>
                  </a:lnTo>
                  <a:lnTo>
                    <a:pt x="3764292" y="572503"/>
                  </a:lnTo>
                  <a:lnTo>
                    <a:pt x="3760736" y="578599"/>
                  </a:lnTo>
                  <a:lnTo>
                    <a:pt x="3761752" y="582409"/>
                  </a:lnTo>
                  <a:lnTo>
                    <a:pt x="3820477" y="616826"/>
                  </a:lnTo>
                  <a:lnTo>
                    <a:pt x="213372" y="615302"/>
                  </a:lnTo>
                  <a:lnTo>
                    <a:pt x="213372" y="628002"/>
                  </a:lnTo>
                  <a:lnTo>
                    <a:pt x="3820718" y="629526"/>
                  </a:lnTo>
                  <a:lnTo>
                    <a:pt x="3761625" y="663943"/>
                  </a:lnTo>
                  <a:lnTo>
                    <a:pt x="3760609" y="667880"/>
                  </a:lnTo>
                  <a:lnTo>
                    <a:pt x="3762387" y="670801"/>
                  </a:lnTo>
                  <a:lnTo>
                    <a:pt x="3764165" y="673849"/>
                  </a:lnTo>
                  <a:lnTo>
                    <a:pt x="3768102" y="674865"/>
                  </a:lnTo>
                  <a:lnTo>
                    <a:pt x="3845852" y="629526"/>
                  </a:lnTo>
                  <a:lnTo>
                    <a:pt x="3856748" y="623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723380" y="3474465"/>
            <a:ext cx="1423670" cy="9029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No</a:t>
            </a:r>
            <a:r>
              <a:rPr sz="2000" spc="-8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Space</a:t>
            </a:r>
            <a:endParaRPr sz="20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Constantia"/>
              <a:cs typeface="Constantia"/>
            </a:endParaRPr>
          </a:p>
          <a:p>
            <a:pPr marL="226695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with</a:t>
            </a:r>
            <a:r>
              <a:rPr sz="2000" spc="-10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Space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65247" y="4793107"/>
            <a:ext cx="1479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First</a:t>
            </a:r>
            <a:r>
              <a:rPr sz="1800" spc="-14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argument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23003" y="4793107"/>
            <a:ext cx="175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Second</a:t>
            </a:r>
            <a:r>
              <a:rPr sz="18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argument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4348" y="4857760"/>
            <a:ext cx="7724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nstantia"/>
                <a:cs typeface="Constantia"/>
              </a:rPr>
              <a:t>print() </a:t>
            </a:r>
            <a:r>
              <a:rPr sz="2400" spc="-5" dirty="0">
                <a:latin typeface="Constantia"/>
                <a:cs typeface="Constantia"/>
              </a:rPr>
              <a:t>function insert </a:t>
            </a:r>
            <a:r>
              <a:rPr sz="2400" spc="-10" dirty="0">
                <a:latin typeface="Constantia"/>
                <a:cs typeface="Constantia"/>
              </a:rPr>
              <a:t>spaces between items</a:t>
            </a:r>
            <a:r>
              <a:rPr sz="2400" spc="-310" dirty="0">
                <a:latin typeface="Constantia"/>
                <a:cs typeface="Constantia"/>
              </a:rPr>
              <a:t> </a:t>
            </a:r>
            <a:r>
              <a:rPr lang="en-US" sz="2400" spc="-31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automatically.</a:t>
            </a:r>
            <a:endParaRPr sz="2400" dirty="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71472" y="285728"/>
            <a:ext cx="7929618" cy="6072230"/>
            <a:chOff x="304800" y="1376172"/>
            <a:chExt cx="5416550" cy="4482465"/>
          </a:xfrm>
        </p:grpSpPr>
        <p:sp>
          <p:nvSpPr>
            <p:cNvPr id="4" name="object 4"/>
            <p:cNvSpPr/>
            <p:nvPr/>
          </p:nvSpPr>
          <p:spPr>
            <a:xfrm>
              <a:off x="304800" y="1376172"/>
              <a:ext cx="5416296" cy="28561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9871" y="1571244"/>
              <a:ext cx="4846320" cy="22859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9871" y="3928872"/>
              <a:ext cx="4858512" cy="19293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42488" y="2286000"/>
              <a:ext cx="1905" cy="214629"/>
            </a:xfrm>
            <a:custGeom>
              <a:avLst/>
              <a:gdLst/>
              <a:ahLst/>
              <a:cxnLst/>
              <a:rect l="l" t="t" r="r" b="b"/>
              <a:pathLst>
                <a:path w="1905" h="214630">
                  <a:moveTo>
                    <a:pt x="1650" y="0"/>
                  </a:moveTo>
                  <a:lnTo>
                    <a:pt x="0" y="214375"/>
                  </a:lnTo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42488" y="2449194"/>
              <a:ext cx="2357755" cy="103505"/>
            </a:xfrm>
            <a:custGeom>
              <a:avLst/>
              <a:gdLst/>
              <a:ahLst/>
              <a:cxnLst/>
              <a:rect l="l" t="t" r="r" b="b"/>
              <a:pathLst>
                <a:path w="2357754" h="103505">
                  <a:moveTo>
                    <a:pt x="2268854" y="0"/>
                  </a:moveTo>
                  <a:lnTo>
                    <a:pt x="2265045" y="1015"/>
                  </a:lnTo>
                  <a:lnTo>
                    <a:pt x="2261489" y="7112"/>
                  </a:lnTo>
                  <a:lnTo>
                    <a:pt x="2262504" y="10921"/>
                  </a:lnTo>
                  <a:lnTo>
                    <a:pt x="2321223" y="45323"/>
                  </a:lnTo>
                  <a:lnTo>
                    <a:pt x="2344928" y="45338"/>
                  </a:lnTo>
                  <a:lnTo>
                    <a:pt x="2344928" y="58038"/>
                  </a:lnTo>
                  <a:lnTo>
                    <a:pt x="2321378" y="58038"/>
                  </a:lnTo>
                  <a:lnTo>
                    <a:pt x="2262378" y="92455"/>
                  </a:lnTo>
                  <a:lnTo>
                    <a:pt x="2261362" y="96265"/>
                  </a:lnTo>
                  <a:lnTo>
                    <a:pt x="2264917" y="102362"/>
                  </a:lnTo>
                  <a:lnTo>
                    <a:pt x="2268854" y="103377"/>
                  </a:lnTo>
                  <a:lnTo>
                    <a:pt x="2346802" y="58038"/>
                  </a:lnTo>
                  <a:lnTo>
                    <a:pt x="2344928" y="58038"/>
                  </a:lnTo>
                  <a:lnTo>
                    <a:pt x="2346828" y="58023"/>
                  </a:lnTo>
                  <a:lnTo>
                    <a:pt x="2357501" y="51815"/>
                  </a:lnTo>
                  <a:lnTo>
                    <a:pt x="2268854" y="0"/>
                  </a:lnTo>
                  <a:close/>
                </a:path>
                <a:path w="2357754" h="103505">
                  <a:moveTo>
                    <a:pt x="2332176" y="51740"/>
                  </a:moveTo>
                  <a:lnTo>
                    <a:pt x="2321404" y="58023"/>
                  </a:lnTo>
                  <a:lnTo>
                    <a:pt x="2344928" y="58038"/>
                  </a:lnTo>
                  <a:lnTo>
                    <a:pt x="2344928" y="57276"/>
                  </a:lnTo>
                  <a:lnTo>
                    <a:pt x="2341626" y="57276"/>
                  </a:lnTo>
                  <a:lnTo>
                    <a:pt x="2332176" y="51740"/>
                  </a:lnTo>
                  <a:close/>
                </a:path>
                <a:path w="2357754" h="103505">
                  <a:moveTo>
                    <a:pt x="0" y="43814"/>
                  </a:moveTo>
                  <a:lnTo>
                    <a:pt x="0" y="56514"/>
                  </a:lnTo>
                  <a:lnTo>
                    <a:pt x="2321404" y="58023"/>
                  </a:lnTo>
                  <a:lnTo>
                    <a:pt x="2332176" y="51740"/>
                  </a:lnTo>
                  <a:lnTo>
                    <a:pt x="2321223" y="45323"/>
                  </a:lnTo>
                  <a:lnTo>
                    <a:pt x="0" y="43814"/>
                  </a:lnTo>
                  <a:close/>
                </a:path>
                <a:path w="2357754" h="103505">
                  <a:moveTo>
                    <a:pt x="2341626" y="46227"/>
                  </a:moveTo>
                  <a:lnTo>
                    <a:pt x="2332176" y="51740"/>
                  </a:lnTo>
                  <a:lnTo>
                    <a:pt x="2341626" y="57276"/>
                  </a:lnTo>
                  <a:lnTo>
                    <a:pt x="2341626" y="46227"/>
                  </a:lnTo>
                  <a:close/>
                </a:path>
                <a:path w="2357754" h="103505">
                  <a:moveTo>
                    <a:pt x="2344928" y="46227"/>
                  </a:moveTo>
                  <a:lnTo>
                    <a:pt x="2341626" y="46227"/>
                  </a:lnTo>
                  <a:lnTo>
                    <a:pt x="2341626" y="57276"/>
                  </a:lnTo>
                  <a:lnTo>
                    <a:pt x="2344928" y="57276"/>
                  </a:lnTo>
                  <a:lnTo>
                    <a:pt x="2344928" y="46227"/>
                  </a:lnTo>
                  <a:close/>
                </a:path>
                <a:path w="2357754" h="103505">
                  <a:moveTo>
                    <a:pt x="2321223" y="45323"/>
                  </a:moveTo>
                  <a:lnTo>
                    <a:pt x="2332176" y="51740"/>
                  </a:lnTo>
                  <a:lnTo>
                    <a:pt x="2341626" y="46227"/>
                  </a:lnTo>
                  <a:lnTo>
                    <a:pt x="2344928" y="46227"/>
                  </a:lnTo>
                  <a:lnTo>
                    <a:pt x="2344928" y="45338"/>
                  </a:lnTo>
                  <a:lnTo>
                    <a:pt x="2321223" y="453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580379" y="2304415"/>
            <a:ext cx="2782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nstantia"/>
                <a:cs typeface="Constantia"/>
              </a:rPr>
              <a:t>End </a:t>
            </a:r>
            <a:r>
              <a:rPr sz="1800" dirty="0">
                <a:solidFill>
                  <a:srgbClr val="FFFFFF"/>
                </a:solidFill>
                <a:latin typeface="Constantia"/>
                <a:cs typeface="Constantia"/>
              </a:rPr>
              <a:t>with </a:t>
            </a:r>
            <a:r>
              <a:rPr sz="1800" spc="-10" dirty="0">
                <a:solidFill>
                  <a:srgbClr val="FFFFFF"/>
                </a:solidFill>
                <a:latin typeface="Constantia"/>
                <a:cs typeface="Constantia"/>
              </a:rPr>
              <a:t>space </a:t>
            </a:r>
            <a:r>
              <a:rPr sz="1800" spc="-5" dirty="0">
                <a:solidFill>
                  <a:srgbClr val="FFFFFF"/>
                </a:solidFill>
                <a:latin typeface="Constantia"/>
                <a:cs typeface="Constantia"/>
              </a:rPr>
              <a:t>not new</a:t>
            </a:r>
            <a:r>
              <a:rPr sz="1800" spc="-2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nstantia"/>
                <a:cs typeface="Constantia"/>
              </a:rPr>
              <a:t>line</a:t>
            </a:r>
            <a:endParaRPr sz="18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246</Words>
  <Application>Microsoft Office PowerPoint</Application>
  <PresentationFormat>On-screen Show (4:3)</PresentationFormat>
  <Paragraphs>42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To take input from user we took two input function and two lines. What if we want this process in one single line? </vt:lpstr>
      <vt:lpstr>Slide 5</vt:lpstr>
      <vt:lpstr>Slide 6</vt:lpstr>
      <vt:lpstr>print() :- without argument print() function prints a  blank line.</vt:lpstr>
      <vt:lpstr>print(string) :- enclosed within quotes.</vt:lpstr>
      <vt:lpstr>What is the difference between print(“Hello”+ “World”) and  print(“Hello” , “World”)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faith</dc:creator>
  <cp:lastModifiedBy>Dell</cp:lastModifiedBy>
  <cp:revision>21</cp:revision>
  <dcterms:created xsi:type="dcterms:W3CDTF">2021-01-21T04:21:55Z</dcterms:created>
  <dcterms:modified xsi:type="dcterms:W3CDTF">2026-08-14T04:14:45Z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2018-06-28T00:00:00Z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2021-01-21T00:00:00Z</vt:filetime>
  </property>
</Properties>
</file>